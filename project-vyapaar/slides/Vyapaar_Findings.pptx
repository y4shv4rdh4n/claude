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</c:v>
                </c:pt>
              </c:strCache>
            </c:strRef>
          </c:tx>
          <c:spPr>
            <a:solidFill>
              <a:srgbClr val="B8C2C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Beauty</c:v>
                  </c:pt>
                  <c:pt idx="1">
                    <c:v>Sports</c:v>
                  </c:pt>
                  <c:pt idx="2">
                    <c:v>Home &amp; Kitchen</c:v>
                  </c:pt>
                  <c:pt idx="3">
                    <c:v>Electronics</c:v>
                  </c:pt>
                  <c:pt idx="4">
                    <c:v>Office</c:v>
                  </c:pt>
                  <c:pt idx="5">
                    <c:v>Fashion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17</c:v>
                </c:pt>
                <c:pt idx="2">
                  <c:v>15.9</c:v>
                </c:pt>
                <c:pt idx="3">
                  <c:v>14.5</c:v>
                </c:pt>
                <c:pt idx="4">
                  <c:v>12.2</c:v>
                </c:pt>
                <c:pt idx="5">
                  <c:v>10.4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profit</c:v>
                </c:pt>
              </c:strCache>
            </c:strRef>
          </c:tx>
          <c:spPr>
            <a:solidFill>
              <a:srgbClr val="E3641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Beauty</c:v>
                  </c:pt>
                  <c:pt idx="1">
                    <c:v>Sports</c:v>
                  </c:pt>
                  <c:pt idx="2">
                    <c:v>Home &amp; Kitchen</c:v>
                  </c:pt>
                  <c:pt idx="3">
                    <c:v>Electronics</c:v>
                  </c:pt>
                  <c:pt idx="4">
                    <c:v>Office</c:v>
                  </c:pt>
                  <c:pt idx="5">
                    <c:v>Fashion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44.7</c:v>
                </c:pt>
                <c:pt idx="1">
                  <c:v>18.1</c:v>
                </c:pt>
                <c:pt idx="2">
                  <c:v>13.2</c:v>
                </c:pt>
                <c:pt idx="3">
                  <c:v>3.2</c:v>
                </c:pt>
                <c:pt idx="4">
                  <c:v>11.5</c:v>
                </c:pt>
                <c:pt idx="5">
                  <c:v>9.3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1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A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categories</c:v>
                </c:pt>
              </c:strCache>
            </c:strRef>
          </c:tx>
          <c:spPr>
            <a:solidFill>
              <a:srgbClr val="B8C2C7"/>
            </a:solidFill>
            <a:ln w="38100" cap="flat">
              <a:solidFill>
                <a:srgbClr val="B8C2C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8C2C7"/>
              </a:solidFill>
              <a:ln w="9525" cap="flat">
                <a:solidFill>
                  <a:srgbClr val="B8C2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30%</c:v>
                  </c:pt>
                  <c:pt idx="6">
                    <c:v>40%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37.5</c:v>
                </c:pt>
                <c:pt idx="1">
                  <c:v>33.4</c:v>
                </c:pt>
                <c:pt idx="2">
                  <c:v>29.6</c:v>
                </c:pt>
                <c:pt idx="3">
                  <c:v>26.2</c:v>
                </c:pt>
                <c:pt idx="4">
                  <c:v>20.8</c:v>
                </c:pt>
                <c:pt idx="5">
                  <c:v>11.7</c:v>
                </c:pt>
                <c:pt idx="6">
                  <c:v>-1.2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Electronics</c:v>
                </c:pt>
              </c:strCache>
            </c:strRef>
          </c:tx>
          <c:spPr>
            <a:solidFill>
              <a:srgbClr val="E36414"/>
            </a:solidFill>
            <a:ln w="38100" cap="flat">
              <a:solidFill>
                <a:srgbClr val="E364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36414"/>
              </a:solidFill>
              <a:ln w="9525" cap="flat">
                <a:solidFill>
                  <a:srgbClr val="E364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30%</c:v>
                  </c:pt>
                  <c:pt idx="6">
                    <c:v>40%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</c:v>
                </c:pt>
                <c:pt idx="1">
                  <c:v>13.7</c:v>
                </c:pt>
                <c:pt idx="2">
                  <c:v>8.9</c:v>
                </c:pt>
                <c:pt idx="3">
                  <c:v>3.5</c:v>
                </c:pt>
                <c:pt idx="4">
                  <c:v>-2.5</c:v>
                </c:pt>
                <c:pt idx="5">
                  <c:v>-17.1</c:v>
                </c:pt>
                <c:pt idx="6">
                  <c:v>-36.7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Arial"/>
                  </a:rPr>
                  <a:t>Discount given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6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Arial"/>
                  </a:rPr>
                  <a:t>Profit margin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A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B6B73"/>
                </a:solidFill>
                <a:latin typeface="Calibri"/>
              </a:rPr>
              <a:t>% of orders with a late-delivery complaint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orders with late-delivery complaint</c:v>
                </c:pt>
              </c:strCache>
            </c:strRef>
          </c:tx>
          <c:spPr>
            <a:solidFill>
              <a:srgbClr val="E3641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64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C2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2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C2C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East</c:v>
                  </c:pt>
                  <c:pt idx="1">
                    <c:v>North</c:v>
                  </c:pt>
                  <c:pt idx="2">
                    <c:v>South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38.5</c:v>
                </c:pt>
                <c:pt idx="1">
                  <c:v>12.3</c:v>
                </c:pt>
                <c:pt idx="2">
                  <c:v>12.1</c:v>
                </c:pt>
                <c:pt idx="3">
                  <c:v>13.1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1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Vyapaar made 176 lakh of revenue last year, but after product costs and marketing, less than 1 lakh was left. Here is where the money goes.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Electronics is 14.5% of revenue but only 3.2% of profit. It is priced at only 1.22x cost, so it has no room for discounts. Beauty is 30% of revenue and 45% of profit.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 buy the same number of units whatever the discount (correlation -0.01). Profit per order falls from 1,915 to -33 rupees. 30-40% discount orders are 18% of orders but 3.5% of profit.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38.5% of East orders get a late-delivery complaint vs 12-13% elsewhere, in every month and every channel. Late delivery has the worst rating (2.43) and 48% get escalated. 99% of customers come back, so experience matters. We could not prove customers are leaving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 spend of 47 lakh equals 98% of the 48 lakh gross profit. Only 11% of campaign-tagged orders happened during the campaign; 48% came before it started. Marketing reports 4,309 conversions but we have only 599 customers. This is not an ROI claim: the data cannot show which sales campaigns caused.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Vyapaar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₹176 lakh of revenue. Under ₹1 lakh left after product cost and marketing.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₹176L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(2025)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₹48L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(27%)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₹47L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____________________   |   BBA Business Analytics Hackathon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sells, but barely makes money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1430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0" y="1216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margin vs 27% average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35040" y="22402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23134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orders sold at a loss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Electronics discounts at 10% (about +₹1.5 lakh profit a year). Push Beauty, our profit engine.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discounts cut profit without lifting sales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1430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0" y="1216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1.77 → 1.69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per order at 0% vs 40% off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35040" y="22402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23134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₹28L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away in discounts in 2025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maximum discount per category. No 40% discounts; test big sales on a small group first.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East region has a late-delivery problem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1430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0" y="1216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escalations come from East (19% of orders)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35040" y="22402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6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23134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vs 3.9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average rating vs other regions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East delivery partner within 30 days and set an on-time target.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hidden mystery: marketing eats 98% of profit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174E60"/>
          </a:solidFill>
          <a:ln w="12700">
            <a:solidFill>
              <a:srgbClr val="174E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gross profit spent on marketing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174E60"/>
          </a:solidFill>
          <a:ln w="12700">
            <a:solidFill>
              <a:srgbClr val="174E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234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'campaign' orders placed while the campaign ran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174E60"/>
          </a:solidFill>
          <a:ln w="12700">
            <a:solidFill>
              <a:srgbClr val="174E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234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in Jul-Dec, despite ₹20.75L spend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recommend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1546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Discounts: cap by category; Electronics at 10%, no 40% offers.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audit East's delivery partner in 30 days; set an on-time target.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Marketing: fix campaign tracking, count only new customers as conversions, move Outdoor budget (₹6,587 per conversion) to Email and Affiliate.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Vyapaar - Findings</dc:title>
  <dc:subject>PptxGenJS Presentation</dc:subject>
  <dc:creator>PptxGenJS</dc:creator>
  <cp:lastModifiedBy>PptxGenJS</cp:lastModifiedBy>
  <cp:revision>1</cp:revision>
  <dcterms:created xsi:type="dcterms:W3CDTF">2026-10-27T07:38:40Z</dcterms:created>
  <dcterms:modified xsi:type="dcterms:W3CDTF">2026-10-27T07:38:40Z</dcterms:modified>
</cp:coreProperties>
</file>