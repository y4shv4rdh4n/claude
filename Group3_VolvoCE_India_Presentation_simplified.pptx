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75f5124-8eaa-d47e-25ba-6427d9488c1a}">
          <p14:sldIdLst>
            <p14:sldId id="256"/>
          </p14:sldIdLst>
        </p14:section>
        <p14:section name="Volvo CE" id="{8e612d0b-4014-182e-3d69-98cdaaa96cb8}">
          <p14:sldIdLst>
            <p14:sldId id="257"/>
            <p14:sldId id="258"/>
            <p14:sldId id="259"/>
            <p14:sldId id="260"/>
          </p14:sldIdLst>
        </p14:section>
        <p14:section name="The problem" id="{afaab4c3-1b12-020c-94aa-3b45c517418d}">
          <p14:sldIdLst>
            <p14:sldId id="261"/>
            <p14:sldId id="262"/>
            <p14:sldId id="263"/>
          </p14:sldIdLst>
        </p14:section>
        <p14:section name="Our solution" id="{1ff4262f-34ba-49f7-88e3-910bac21c344}">
          <p14:sldIdLst>
            <p14:sldId id="264"/>
            <p14:sldId id="265"/>
            <p14:sldId id="266"/>
          </p14:sldIdLst>
        </p14:section>
        <p14:section name="Plan and close" id="{b8564e4a-1c21-b0b5-f41b-dad2d2127cf9}">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E2633"/>
                </a:solidFill>
                <a:latin typeface="+mn-lt"/>
              </a:defRPr>
            </a:pPr>
            <a:r>
              <a:rPr sz="1300" b="1" i="0" u="none" strike="noStrike">
                <a:solidFill>
                  <a:srgbClr val="1E2633"/>
                </a:solidFill>
                <a:latin typeface="+mn-lt"/>
              </a:rPr>
              <a:t>2025 net sales by region (SEK bn)</a:t>
            </a:r>
          </a:p>
        </c:rich>
      </c:tx>
      <c:layout/>
      <c:overlay val="0"/>
    </c:title>
    <c:autoTitleDeleted val="0"/>
    <c:plotArea>
      <c:layout/>
      <c:barChart>
        <c:barDir val="bar"/>
        <c:grouping val="clustered"/>
        <c:varyColors val="0"/>
        <c:ser>
          <c:idx val="0"/>
          <c:order val="0"/>
          <c:tx>
            <c:strRef>
              <c:f>Sheet1!$B$1</c:f>
              <c:strCache>
                <c:ptCount val="1"/>
                <c:pt idx="0">
                  <c:v>Net sales 2025</c:v>
                </c:pt>
              </c:strCache>
            </c:strRef>
          </c:tx>
          <c:spPr>
            <a:solidFill>
              <a:srgbClr val="14233A"/>
            </a:solidFill>
            <a:effectLst/>
          </c:spPr>
          <c:invertIfNegative val="0"/>
          <c:dLbls>
            <c:numFmt formatCode="0.0" sourceLinked="0"/>
            <c:txPr>
              <a:bodyPr/>
              <a:lstStyle/>
              <a:p>
                <a:pPr>
                  <a:defRPr b="0" i="0" strike="noStrike" sz="1300" u="none">
                    <a:solidFill>
                      <a:srgbClr val="1E2633"/>
                    </a:solidFill>
                    <a:latin typeface="+mn-lt"/>
                  </a:defRPr>
                </a:pPr>
              </a:p>
            </c:txPr>
            <c:showLegendKey val="0"/>
            <c:showVal val="1"/>
            <c:showCatName val="0"/>
            <c:showSerName val="0"/>
            <c:showPercent val="0"/>
            <c:showBubbleSize val="0"/>
            <c:showLeaderLines val="0"/>
          </c:dLbls>
          <c:cat>
            <c:multiLvlStrRef>
              <c:f>Sheet1!$A$2:$A$5</c:f>
              <c:multiLvlStrCache>
                <c:ptCount val="4"/>
                <c:lvl>
                  <c:pt idx="0">
                    <c:v>Europe</c:v>
                  </c:pt>
                  <c:pt idx="1">
                    <c:v>Asia</c:v>
                  </c:pt>
                  <c:pt idx="2">
                    <c:v>North America</c:v>
                  </c:pt>
                  <c:pt idx="3">
                    <c:v>Rest of world</c:v>
                  </c:pt>
                </c:lvl>
              </c:multiLvlStrCache>
            </c:multiLvlStrRef>
          </c:cat>
          <c:val>
            <c:numRef>
              <c:f>Sheet1!$B$2:$B$5</c:f>
              <c:numCache>
                <c:formatCode>General</c:formatCode>
                <c:ptCount val="4"/>
                <c:pt idx="0">
                  <c:v>27.8</c:v>
                </c:pt>
                <c:pt idx="1">
                  <c:v>23.4</c:v>
                </c:pt>
                <c:pt idx="2">
                  <c:v>19.3</c:v>
                </c:pt>
                <c:pt idx="3">
                  <c:v>11.2</c:v>
                </c:pt>
              </c:numCache>
            </c:numRef>
          </c:val>
        </c:ser>
        <c:dLbls>
          <c:numFmt formatCode="0.0" sourceLinked="0"/>
          <c:txPr>
            <a:bodyPr/>
            <a:lstStyle/>
            <a:p>
              <a:pPr>
                <a:defRPr b="0" i="0" strike="noStrike" sz="1300" u="none">
                  <a:solidFill>
                    <a:srgbClr val="1E26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E2633"/>
                </a:solidFill>
                <a:latin typeface="+mn-lt"/>
              </a:defRPr>
            </a:pPr>
            <a:r>
              <a:rPr sz="1300" b="1" i="0" u="none" strike="noStrike">
                <a:solidFill>
                  <a:srgbClr val="1E2633"/>
                </a:solidFill>
                <a:latin typeface="+mn-lt"/>
              </a:rPr>
              <a:t>Minutes per excavator at each step (assumed data)</a:t>
            </a:r>
          </a:p>
        </c:rich>
      </c:tx>
      <c:layout/>
      <c:overlay val="0"/>
    </c:title>
    <c:autoTitleDeleted val="0"/>
    <c:plotArea>
      <c:layout/>
      <c:barChart>
        <c:barDir val="col"/>
        <c:grouping val="stacked"/>
        <c:varyColors val="0"/>
        <c:ser>
          <c:idx val="0"/>
          <c:order val="0"/>
          <c:tx>
            <c:strRef>
              <c:f>Sheet1!$B$1</c:f>
              <c:strCache>
                <c:ptCount val="1"/>
                <c:pt idx="0">
                  <c:v>Other steps</c:v>
                </c:pt>
              </c:strCache>
            </c:strRef>
          </c:tx>
          <c:spPr>
            <a:solidFill>
              <a:srgbClr val="14233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Sheet1!$B$2:$B$7</c:f>
              <c:numCache>
                <c:formatCode>General</c:formatCode>
                <c:ptCount val="6"/>
                <c:pt idx="0">
                  <c:v>39</c:v>
                </c:pt>
                <c:pt idx="1">
                  <c:v>36</c:v>
                </c:pt>
                <c:pt idx="2">
                  <c:v>0</c:v>
                </c:pt>
                <c:pt idx="3">
                  <c:v>38</c:v>
                </c:pt>
                <c:pt idx="4">
                  <c:v>27</c:v>
                </c:pt>
                <c:pt idx="5">
                  <c:v>30</c:v>
                </c:pt>
              </c:numCache>
            </c:numRef>
          </c:val>
        </c:ser>
        <c:ser>
          <c:idx val="1"/>
          <c:order val="1"/>
          <c:tx>
            <c:strRef>
              <c:f>Sheet1!$C$1</c:f>
              <c:strCache>
                <c:ptCount val="1"/>
                <c:pt idx="0">
                  <c:v>OP30, the bottleneck</c:v>
                </c:pt>
              </c:strCache>
            </c:strRef>
          </c:tx>
          <c:spPr>
            <a:solidFill>
              <a:srgbClr val="C8443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Sheet1!$C$2:$C$7</c:f>
              <c:numCache>
                <c:formatCode>General</c:formatCode>
                <c:ptCount val="6"/>
                <c:pt idx="0">
                  <c:v>0</c:v>
                </c:pt>
                <c:pt idx="1">
                  <c:v>0</c:v>
                </c:pt>
                <c:pt idx="2">
                  <c:v>42</c:v>
                </c:pt>
                <c:pt idx="3">
                  <c:v>0</c:v>
                </c:pt>
                <c:pt idx="4">
                  <c:v>0</c:v>
                </c:pt>
                <c:pt idx="5">
                  <c:v>0</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lineChart>
        <c:varyColors val="0"/>
        <c:ser>
          <c:idx val="2"/>
          <c:order val="2"/>
          <c:tx>
            <c:strRef>
              <c:f>Sheet1!$D$1</c:f>
              <c:strCache>
                <c:ptCount val="1"/>
                <c:pt idx="0">
                  <c:v>Target takt (35 min)</c:v>
                </c:pt>
              </c:strCache>
            </c:strRef>
          </c:tx>
          <c:spPr>
            <a:solidFill>
              <a:srgbClr val="F2A900"/>
            </a:solidFill>
            <a:ln w="31750" cap="flat">
              <a:solidFill>
                <a:srgbClr val="F2A900"/>
              </a:solidFill>
              <a:prstDash val="dash"/>
              <a:round/>
            </a:ln>
            <a:effectLst/>
          </c:spPr>
          <c:invertIfNegative val="0"/>
          <c:dLbls>
            <c:numFmt formatCode="#,##0" sourceLinked="0"/>
            <c:txPr>
              <a:bodyPr/>
              <a:lstStyle/>
              <a:p>
                <a:pPr>
                  <a:defRPr b="0" i="0" strike="noStrike" sz="1100" u="none">
                    <a:solidFill>
                      <a:srgbClr val="1E2633"/>
                    </a:solidFill>
                    <a:latin typeface="+mn-lt"/>
                  </a:defRPr>
                </a:pPr>
              </a:p>
            </c:txPr>
            <c:showLegendKey val="0"/>
            <c:showVal val="0"/>
            <c:showCatName val="0"/>
            <c:showSerName val="0"/>
            <c:showPercent val="0"/>
            <c:showBubbleSize val="0"/>
            <c:showLeaderLines val="0"/>
          </c:dLbls>
          <c:marker>
            <c:symbol val="none"/>
            <c:size val="6"/>
            <c:spPr>
              <a:solidFill>
                <a:srgbClr val="F2A900"/>
              </a:solidFill>
              <a:ln w="9525" cap="flat">
                <a:solidFill>
                  <a:srgbClr val="F2A900"/>
                </a:solidFill>
                <a:prstDash val="solid"/>
                <a:round/>
              </a:ln>
              <a:effectLst/>
            </c:spPr>
          </c:marker>
          <c:cat>
            <c:multiLvlStrRef>
              <c:f>Sheet1!$A$2:$A$7</c:f>
              <c:multiLvlStrCache>
                <c:ptCount val="6"/>
                <c:lvl>
                  <c:pt idx="0">
                    <c:v>OP10
Boom</c:v>
                  </c:pt>
                  <c:pt idx="1">
                    <c:v>OP20
Arm</c:v>
                  </c:pt>
                  <c:pt idx="2">
                    <c:v>OP30
Upper frame</c:v>
                  </c:pt>
                  <c:pt idx="3">
                    <c:v>OP40
Lower frame</c:v>
                  </c:pt>
                  <c:pt idx="4">
                    <c:v>OP50
Links &amp; pins</c:v>
                  </c:pt>
                  <c:pt idx="5">
                    <c:v>OP60
Wash &amp; CMM</c:v>
                  </c:pt>
                </c:lvl>
              </c:multiLvlStrCache>
            </c:multiLvlStrRef>
          </c:cat>
          <c:val>
            <c:numRef>
              <c:f>Sheet1!$D$2:$D$7</c:f>
              <c:numCache>
                <c:formatCode>General</c:formatCode>
                <c:ptCount val="6"/>
                <c:pt idx="0">
                  <c:v>35</c:v>
                </c:pt>
                <c:pt idx="1">
                  <c:v>35</c:v>
                </c:pt>
                <c:pt idx="2">
                  <c:v>35</c:v>
                </c:pt>
                <c:pt idx="3">
                  <c:v>35</c:v>
                </c:pt>
                <c:pt idx="4">
                  <c:v>35</c:v>
                </c:pt>
                <c:pt idx="5">
                  <c:v>35</c:v>
                </c:pt>
              </c:numCache>
            </c:numRef>
          </c:val>
          <c:smooth val="0"/>
        </c:ser>
        <c:dLbls>
          <c:numFmt formatCode="#,##0" sourceLinked="0"/>
          <c:txPr>
            <a:bodyPr/>
            <a:lstStyle/>
            <a:p>
              <a:pPr>
                <a:defRPr b="0" i="0" strike="noStrike" sz="1100" u="none">
                  <a:solidFill>
                    <a:srgbClr val="1E26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3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4"/>
          <c:w val="0.92"/>
          <c:h val="0.92"/>
        </c:manualLayout>
      </c:layout>
      <c:doughnutChart>
        <c:varyColors val="1"/>
        <c:ser>
          <c:idx val="0"/>
          <c:order val="0"/>
          <c:tx>
            <c:strRef>
              <c:f>Sheet1!$B$1</c:f>
              <c:strCache>
                <c:ptCount val="1"/>
                <c:pt idx="0">
                  <c:v>OP30 minutes</c:v>
                </c:pt>
              </c:strCache>
            </c:strRef>
          </c:tx>
          <c:spPr>
            <a:solidFill>
              <a:schemeClr val="accent1"/>
            </a:solidFill>
            <a:ln w="9525" cap="flat">
              <a:solidFill>
                <a:srgbClr val="F9F9F9"/>
              </a:solidFill>
              <a:prstDash val="solid"/>
              <a:round/>
            </a:ln>
            <a:effectLst/>
          </c:spPr>
          <c:dPt>
            <c:idx val="0"/>
            <c:bubble3D val="0"/>
            <c:spPr>
              <a:solidFill>
                <a:srgbClr val="14233A"/>
              </a:solidFill>
              <a:ln w="19050" cap="flat">
                <a:solidFill>
                  <a:srgbClr val="FFFFFF"/>
                </a:solidFill>
                <a:prstDash val="solid"/>
                <a:round/>
              </a:ln>
              <a:effectLst/>
            </c:spPr>
          </c:dPt>
          <c:dPt>
            <c:idx val="1"/>
            <c:bubble3D val="0"/>
            <c:spPr>
              <a:solidFill>
                <a:srgbClr val="F2A900"/>
              </a:solidFill>
              <a:ln w="19050" cap="flat">
                <a:solidFill>
                  <a:srgbClr val="FFFFFF"/>
                </a:solidFill>
                <a:prstDash val="solid"/>
                <a:round/>
              </a:ln>
              <a:effectLst/>
            </c:spPr>
          </c:dPt>
          <c:dPt>
            <c:idx val="2"/>
            <c:bubble3D val="0"/>
            <c:spPr>
              <a:solidFill>
                <a:srgbClr val="C8443A"/>
              </a:solidFill>
              <a:ln w="19050" cap="flat">
                <a:solidFill>
                  <a:srgbClr val="FFFFFF"/>
                </a:solidFill>
                <a:prstDash val="solid"/>
                <a:round/>
              </a:ln>
              <a:effectLst/>
            </c:spPr>
          </c:dPt>
          <c:dPt>
            <c:idx val="3"/>
            <c:bubble3D val="0"/>
            <c:spPr>
              <a:solidFill>
                <a:srgbClr val="1F4E79"/>
              </a:solidFill>
              <a:ln w="19050" cap="flat">
                <a:solidFill>
                  <a:srgbClr val="FFFFFF"/>
                </a:solidFill>
                <a:prstDash val="solid"/>
                <a:round/>
              </a:ln>
              <a:effectLst/>
            </c:spPr>
          </c:dPt>
          <c:dPt>
            <c:idx val="4"/>
            <c:bubble3D val="0"/>
            <c:spPr>
              <a:solidFill>
                <a:srgbClr val="5F6B7A"/>
              </a:solidFill>
              <a:ln w="19050" cap="flat">
                <a:solidFill>
                  <a:srgbClr val="FFFFFF"/>
                </a:solidFill>
                <a:prstDash val="solid"/>
                <a:round/>
              </a:ln>
              <a:effectLst/>
            </c:spPr>
          </c:dPt>
          <c:dPt>
            <c:idx val="5"/>
            <c:bubble3D val="0"/>
            <c:spPr>
              <a:solidFill>
                <a:srgbClr val="B9C3CF"/>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Making parts</c:v>
                </c:pt>
                <c:pt idx="1">
                  <c:v>Changeovers</c:v>
                </c:pt>
                <c:pt idx="2">
                  <c:v>Breakdowns and small stops</c:v>
                </c:pt>
                <c:pt idx="3">
                  <c:v>Waiting for crane, parts, QC</c:v>
                </c:pt>
                <c:pt idx="4">
                  <c:v>Slow set-up (dial gauge)</c:v>
                </c:pt>
                <c:pt idx="5">
                  <c:v>Rework</c:v>
                </c:pt>
              </c:strCache>
            </c:strRef>
          </c:cat>
          <c:val>
            <c:numRef>
              <c:f>Sheet1!$B$2:$B$7</c:f>
              <c:numCache>
                <c:ptCount val="6"/>
                <c:pt idx="0">
                  <c:v>300</c:v>
                </c:pt>
                <c:pt idx="1">
                  <c:v>45</c:v>
                </c:pt>
                <c:pt idx="2">
                  <c:v>25</c:v>
                </c:pt>
                <c:pt idx="3">
                  <c:v>20</c:v>
                </c:pt>
                <c:pt idx="4">
                  <c:v>15</c:v>
                </c:pt>
                <c:pt idx="5">
                  <c:v>15</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E2633"/>
                </a:solidFill>
                <a:latin typeface="+mn-lt"/>
              </a:defRPr>
            </a:pPr>
            <a:r>
              <a:rPr sz="1300" b="1" i="0" u="none" strike="noStrike">
                <a:solidFill>
                  <a:srgbClr val="1E2633"/>
                </a:solidFill>
                <a:latin typeface="+mn-lt"/>
              </a:rPr>
              <a:t>Minutes per excavator: every step ends up under takt</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5F6B7A"/>
            </a:solidFill>
            <a:effectLst/>
          </c:spPr>
          <c:invertIfNegative val="0"/>
          <c:dLbls>
            <c:numFmt formatCode="0.#" sourceLinked="0"/>
            <c:txPr>
              <a:bodyPr/>
              <a:lstStyle/>
              <a:p>
                <a:pPr>
                  <a:defRPr b="1" i="0" strike="noStrike" sz="1100" u="none">
                    <a:solidFill>
                      <a:srgbClr val="FFFFFF"/>
                    </a:solidFill>
                    <a:latin typeface="+mn-lt"/>
                  </a:defRPr>
                </a:pPr>
              </a:p>
            </c:txPr>
            <c:dLblPos val="inBase"/>
            <c:showLegendKey val="0"/>
            <c:showVal val="1"/>
            <c:showCatName val="0"/>
            <c:showSerName val="0"/>
            <c:showPercent val="0"/>
            <c:showBubbleSize val="0"/>
            <c:showLeaderLines val="0"/>
          </c:dLbls>
          <c:cat>
            <c:multiLvlStrRef>
              <c:f>Sheet1!$A$2:$A$7</c:f>
              <c:multiLvlStrCache>
                <c:ptCount val="6"/>
                <c:lvl>
                  <c:pt idx="0">
                    <c:v>OP10</c:v>
                  </c:pt>
                  <c:pt idx="1">
                    <c:v>OP20</c:v>
                  </c:pt>
                  <c:pt idx="2">
                    <c:v>OP30</c:v>
                  </c:pt>
                  <c:pt idx="3">
                    <c:v>OP40</c:v>
                  </c:pt>
                  <c:pt idx="4">
                    <c:v>OP50</c:v>
                  </c:pt>
                  <c:pt idx="5">
                    <c:v>OP60</c:v>
                  </c:pt>
                </c:lvl>
              </c:multiLvlStrCache>
            </c:multiLvlStrRef>
          </c:cat>
          <c:val>
            <c:numRef>
              <c:f>Sheet1!$B$2:$B$7</c:f>
              <c:numCache>
                <c:formatCode>General</c:formatCode>
                <c:ptCount val="6"/>
                <c:pt idx="0">
                  <c:v>39</c:v>
                </c:pt>
                <c:pt idx="1">
                  <c:v>36</c:v>
                </c:pt>
                <c:pt idx="2">
                  <c:v>42</c:v>
                </c:pt>
                <c:pt idx="3">
                  <c:v>38</c:v>
                </c:pt>
                <c:pt idx="4">
                  <c:v>27</c:v>
                </c:pt>
                <c:pt idx="5">
                  <c:v>30</c:v>
                </c:pt>
              </c:numCache>
            </c:numRef>
          </c:val>
        </c:ser>
        <c:ser>
          <c:idx val="1"/>
          <c:order val="1"/>
          <c:tx>
            <c:strRef>
              <c:f>Sheet1!$C$1</c:f>
              <c:strCache>
                <c:ptCount val="1"/>
                <c:pt idx="0">
                  <c:v>After</c:v>
                </c:pt>
              </c:strCache>
            </c:strRef>
          </c:tx>
          <c:spPr>
            <a:solidFill>
              <a:srgbClr val="2E7D4F"/>
            </a:solidFill>
            <a:effectLst/>
          </c:spPr>
          <c:invertIfNegative val="0"/>
          <c:dLbls>
            <c:numFmt formatCode="0.#" sourceLinked="0"/>
            <c:txPr>
              <a:bodyPr/>
              <a:lstStyle/>
              <a:p>
                <a:pPr>
                  <a:defRPr b="1" i="0" strike="noStrike" sz="1100" u="none">
                    <a:solidFill>
                      <a:srgbClr val="FFFFFF"/>
                    </a:solidFill>
                    <a:latin typeface="+mn-lt"/>
                  </a:defRPr>
                </a:pPr>
              </a:p>
            </c:txPr>
            <c:dLblPos val="inBase"/>
            <c:showLegendKey val="0"/>
            <c:showVal val="1"/>
            <c:showCatName val="0"/>
            <c:showSerName val="0"/>
            <c:showPercent val="0"/>
            <c:showBubbleSize val="0"/>
            <c:showLeaderLines val="0"/>
          </c:dLbls>
          <c:cat>
            <c:multiLvlStrRef>
              <c:f>Sheet1!$A$2:$A$7</c:f>
              <c:multiLvlStrCache>
                <c:ptCount val="6"/>
                <c:lvl>
                  <c:pt idx="0">
                    <c:v>OP10</c:v>
                  </c:pt>
                  <c:pt idx="1">
                    <c:v>OP20</c:v>
                  </c:pt>
                  <c:pt idx="2">
                    <c:v>OP30</c:v>
                  </c:pt>
                  <c:pt idx="3">
                    <c:v>OP40</c:v>
                  </c:pt>
                  <c:pt idx="4">
                    <c:v>OP50</c:v>
                  </c:pt>
                  <c:pt idx="5">
                    <c:v>OP60</c:v>
                  </c:pt>
                </c:lvl>
              </c:multiLvlStrCache>
            </c:multiLvlStrRef>
          </c:cat>
          <c:val>
            <c:numRef>
              <c:f>Sheet1!$C$2:$C$7</c:f>
              <c:numCache>
                <c:formatCode>General</c:formatCode>
                <c:ptCount val="6"/>
                <c:pt idx="0">
                  <c:v>33</c:v>
                </c:pt>
                <c:pt idx="1">
                  <c:v>31</c:v>
                </c:pt>
                <c:pt idx="2">
                  <c:v>32.5</c:v>
                </c:pt>
                <c:pt idx="3">
                  <c:v>33</c:v>
                </c:pt>
                <c:pt idx="4">
                  <c:v>30</c:v>
                </c:pt>
                <c:pt idx="5">
                  <c:v>28</c:v>
                </c:pt>
              </c:numCache>
            </c:numRef>
          </c:val>
        </c:ser>
        <c:dLbls>
          <c:numFmt formatCode="0.#" sourceLinked="0"/>
          <c:txPr>
            <a:bodyPr/>
            <a:lstStyle/>
            <a:p>
              <a:pPr>
                <a:defRPr b="1" i="0" strike="noStrike" sz="1100" u="none">
                  <a:solidFill>
                    <a:srgbClr val="FFFFFF"/>
                  </a:solidFill>
                  <a:latin typeface="+mn-lt"/>
                </a:defRPr>
              </a:pPr>
            </a:p>
          </c:txPr>
          <c:dLblPos val="inBase"/>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Target takt (35 min)</c:v>
                </c:pt>
              </c:strCache>
            </c:strRef>
          </c:tx>
          <c:spPr>
            <a:solidFill>
              <a:srgbClr val="F2A900"/>
            </a:solidFill>
            <a:ln w="31750" cap="flat">
              <a:solidFill>
                <a:srgbClr val="F2A900"/>
              </a:solidFill>
              <a:prstDash val="dash"/>
              <a:round/>
            </a:ln>
            <a:effectLst/>
          </c:spPr>
          <c:invertIfNegative val="0"/>
          <c:dLbls>
            <c:numFmt formatCode="#,##0" sourceLinked="0"/>
            <c:txPr>
              <a:bodyPr/>
              <a:lstStyle/>
              <a:p>
                <a:pPr>
                  <a:defRPr b="0" i="0" strike="noStrike" sz="1100" u="none">
                    <a:solidFill>
                      <a:srgbClr val="1E2633"/>
                    </a:solidFill>
                    <a:latin typeface="+mn-lt"/>
                  </a:defRPr>
                </a:pPr>
              </a:p>
            </c:txPr>
            <c:showLegendKey val="0"/>
            <c:showVal val="0"/>
            <c:showCatName val="0"/>
            <c:showSerName val="0"/>
            <c:showPercent val="0"/>
            <c:showBubbleSize val="0"/>
            <c:showLeaderLines val="0"/>
          </c:dLbls>
          <c:marker>
            <c:symbol val="none"/>
            <c:size val="6"/>
            <c:spPr>
              <a:solidFill>
                <a:srgbClr val="F2A900"/>
              </a:solidFill>
              <a:ln w="9525" cap="flat">
                <a:solidFill>
                  <a:srgbClr val="F2A900"/>
                </a:solidFill>
                <a:prstDash val="solid"/>
                <a:round/>
              </a:ln>
              <a:effectLst/>
            </c:spPr>
          </c:marker>
          <c:cat>
            <c:multiLvlStrRef>
              <c:f>Sheet1!$A$2:$A$7</c:f>
              <c:multiLvlStrCache>
                <c:ptCount val="6"/>
                <c:lvl>
                  <c:pt idx="0">
                    <c:v>OP10</c:v>
                  </c:pt>
                  <c:pt idx="1">
                    <c:v>OP20</c:v>
                  </c:pt>
                  <c:pt idx="2">
                    <c:v>OP30</c:v>
                  </c:pt>
                  <c:pt idx="3">
                    <c:v>OP40</c:v>
                  </c:pt>
                  <c:pt idx="4">
                    <c:v>OP50</c:v>
                  </c:pt>
                  <c:pt idx="5">
                    <c:v>OP60</c:v>
                  </c:pt>
                </c:lvl>
              </c:multiLvlStrCache>
            </c:multiLvlStrRef>
          </c:cat>
          <c:val>
            <c:numRef>
              <c:f>Sheet1!$D$2:$D$7</c:f>
              <c:numCache>
                <c:formatCode>General</c:formatCode>
                <c:ptCount val="6"/>
                <c:pt idx="0">
                  <c:v>35</c:v>
                </c:pt>
                <c:pt idx="1">
                  <c:v>35</c:v>
                </c:pt>
                <c:pt idx="2">
                  <c:v>35</c:v>
                </c:pt>
                <c:pt idx="3">
                  <c:v>35</c:v>
                </c:pt>
                <c:pt idx="4">
                  <c:v>35</c:v>
                </c:pt>
                <c:pt idx="5">
                  <c:v>35</c:v>
                </c:pt>
              </c:numCache>
            </c:numRef>
          </c:val>
          <c:smooth val="0"/>
        </c:ser>
        <c:dLbls>
          <c:numFmt formatCode="#,##0" sourceLinked="0"/>
          <c:txPr>
            <a:bodyPr/>
            <a:lstStyle/>
            <a:p>
              <a:pPr>
                <a:defRPr b="0" i="0" strike="noStrike" sz="1100" u="none">
                  <a:solidFill>
                    <a:srgbClr val="1E26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3E7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1E2633"/>
                </a:solidFill>
                <a:latin typeface="+mn-lt"/>
              </a:defRPr>
            </a:pPr>
            <a:r>
              <a:rPr sz="1300" b="1" i="0" u="none" strike="noStrike">
                <a:solidFill>
                  <a:srgbClr val="1E2633"/>
                </a:solidFill>
                <a:latin typeface="+mn-lt"/>
              </a:rPr>
              <a:t>Extra excavators per shift, by lever (total +2.9)</a:t>
            </a:r>
          </a:p>
        </c:rich>
      </c:tx>
      <c:layout/>
      <c:overlay val="0"/>
    </c:title>
    <c:autoTitleDeleted val="0"/>
    <c:plotArea>
      <c:layout/>
      <c:barChart>
        <c:barDir val="bar"/>
        <c:grouping val="clustered"/>
        <c:varyColors val="0"/>
        <c:ser>
          <c:idx val="0"/>
          <c:order val="0"/>
          <c:tx>
            <c:strRef>
              <c:f>Sheet1!$B$1</c:f>
              <c:strCache>
                <c:ptCount val="1"/>
                <c:pt idx="0">
                  <c:v>Extra excavators</c:v>
                </c:pt>
              </c:strCache>
            </c:strRef>
          </c:tx>
          <c:spPr>
            <a:solidFill>
              <a:srgbClr val="2E7D4F"/>
            </a:solidFill>
            <a:effectLst/>
          </c:spPr>
          <c:invertIfNegative val="0"/>
          <c:dLbls>
            <c:numFmt formatCode="&quot;+&quot;0.0" sourceLinked="0"/>
            <c:txPr>
              <a:bodyPr/>
              <a:lstStyle/>
              <a:p>
                <a:pPr>
                  <a:defRPr b="0" i="0" strike="noStrike" sz="1300" u="none">
                    <a:solidFill>
                      <a:srgbClr val="1E2633"/>
                    </a:solidFill>
                    <a:latin typeface="+mn-lt"/>
                  </a:defRPr>
                </a:pPr>
              </a:p>
            </c:txPr>
            <c:showLegendKey val="0"/>
            <c:showVal val="1"/>
            <c:showCatName val="0"/>
            <c:showSerName val="0"/>
            <c:showPercent val="0"/>
            <c:showBubbleSize val="0"/>
            <c:showLeaderLines val="0"/>
          </c:dLbls>
          <c:cat>
            <c:multiLvlStrRef>
              <c:f>Sheet1!$A$2:$A$6</c:f>
              <c:multiLvlStrCache>
                <c:ptCount val="5"/>
                <c:lvl>
                  <c:pt idx="0">
                    <c:v>SMED</c:v>
                  </c:pt>
                  <c:pt idx="1">
                    <c:v>Standard work</c:v>
                  </c:pt>
                  <c:pt idx="2">
                    <c:v>JIT flow</c:v>
                  </c:pt>
                  <c:pt idx="3">
                    <c:v>TPM</c:v>
                  </c:pt>
                  <c:pt idx="4">
                    <c:v>Built-in quality</c:v>
                  </c:pt>
                </c:lvl>
              </c:multiLvlStrCache>
            </c:multiLvlStrRef>
          </c:cat>
          <c:val>
            <c:numRef>
              <c:f>Sheet1!$B$2:$B$6</c:f>
              <c:numCache>
                <c:formatCode>General</c:formatCode>
                <c:ptCount val="5"/>
                <c:pt idx="0">
                  <c:v>1</c:v>
                </c:pt>
                <c:pt idx="1">
                  <c:v>0.7</c:v>
                </c:pt>
                <c:pt idx="2">
                  <c:v>0.5</c:v>
                </c:pt>
                <c:pt idx="3">
                  <c:v>0.4</c:v>
                </c:pt>
                <c:pt idx="4">
                  <c:v>0.3</c:v>
                </c:pt>
              </c:numCache>
            </c:numRef>
          </c:val>
        </c:ser>
        <c:dLbls>
          <c:numFmt formatCode="&quot;+&quot;0.0" sourceLinked="0"/>
          <c:txPr>
            <a:bodyPr/>
            <a:lstStyle/>
            <a:p>
              <a:pPr>
                <a:defRPr b="0" i="0" strike="noStrike" sz="1300" u="none">
                  <a:solidFill>
                    <a:srgbClr val="1E26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Group 3. On 8 September we visited Volvo CE India's plant in Peenya, and the production manager left us with a simple-sounding challenge: get the machine shop from 10 to 12 excavators a shift, which is 20% more, without letting quality slip.
We'll take it in four parts: who Volvo CE is, what it makes, what the Peenya plant does, and then our problem, our diagnosis and our plan.
One honest disclaimer before we start: the machine-shop cycle times and losses are our own assumptions, which the brief allows. The company facts come from Volvo's published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big picture. Volvo CE goes back to 1832, when Johan Theofron Munktell started making machines in Eskilstuna, Sweden. Volvo bought the business in 1950, it took the Volvo Construction Equipment name in 1995, and it came to India in 1997. Today it's a business area of the Volvo Group.
In 2025 it sold SEK 81.6 billion worth of machines, roughly ₹74,000 crore. That's a little down from SEK 88.3 billion in 2024, but it still made a 13.3% adjusted operating margin. Europe is the biggest region, followed by Asia and North America. About 13,000 people work there, from 85 nationalities.
Two recent moves are worth knowing. In September 2025 it sold its 70% stake in China's SDLG for SEK 8 billion, and in January 2026 it bought Swecon, its largest European dealer, for SEK 7 billion. So the focus is now on two brands: Volvo for premium machines and Rokbak for haulers.
Sources: Volvo CE Q4 2025 report, volvoce.com, Volvo Group press releases. The rupee figure is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Volvo CE organises its range by application and size. Each bar shows the weight range of one product family.
Compact excavators, about 1.5 to 9 tonnes, go to utilities and city sites. Wheeled excavators, 6 to 24 tonnes, handle roadworks. Crawler excavators are the big range, from the 14-tonne EC140 up to the 95-tonne EC950, used for infrastructure, quarries and mines. That's the family Peenya builds, which is why we've highlighted it.
Then the loaders: compact wheel loaders L20 to L50 for landscaping and farms, and wheel loaders L60 to L350, 11 to 56 tonnes, for aggregates, ports and recycling. Articulated haulers A25 to A60 carry 24 to 55 tonnes, and the Rokbak RA30 and RA40 cover the value end. Road machinery means soil and asphalt compactors and ABG pavers.
Volvo also sells electric versions, for example the ECR25 and L25 compacts, the EC230 Electric and the L120 Electric. Weights are approximate, from Volvo CE spec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India. Volvo CE India's headquarters and plant sit in the Peenya Industrial Area in Bengaluru. The site goes back to 1978, and Volvo CE has been in India since 1997. In 2011 it invested SEK 144 million, about ₹90 crore, in an upgrade and a new excavator assembly line.
Peenya builds crawler excavators, soil compactors and asphalt pavers. The EC210 is about 70% localised, and some machines are exported to other emerging markets. Through 19 dealers, 800+ dealer staff and 180+ touchpoints, Volvo has roughly 6.5% of the Indian construction equipment market, according to the MD in 2024.
At the bottom is the flow we saw on our visit. Steel and parts come in, fabrication welds the booms, arms and frames, the machine shop bores, mills and drills them, then paint, then assembly on a line paced by a digital takt board, and finally testing and dispatch. Our project is step three, the machine shop.
A few milestones: the EC215 'Made in Bharat' excavator was unveiled at EXCON in December 2025, the 65-tonne EC650 launched at bauma CONEXPO INDIA in September 2026, and locally built medium wheel loaders are planned for 2027 from the Bengaluru Technology Centre.
Sources: volvoce.com, Volvo CE 2011 press release, Autocar Professional, The Machine Maker, 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any of this matter for our problem? Because of this number. About 70% of the 30,000 to 35,000 excavators sold in India every year are in the 20-tonne class, and that's exactly what Peenya's line makes.
In 2024 Volvo held about 4% of that segment, and it wants to more than double it.
On the right is the India range. The 20 to 22-tonne EC210, EC215 and EC220 go to highways, irrigation canals, city projects and stone quarries. Heavier 30 to 48-tonne machines handle quarrying and overburden removal. The EC650 and EC750 serve coal and iron-ore mines. For roads there are SD110 soil compactors, DD90C and DD100C double-drum and PT220 pneumatic compactors, and ABG pavers. Volvo also sells around 100 premium wheel loaders a year here, including the L120 Electric.
So if Volvo wins more of the 20-tonne market, Peenya has to build more machines. And that brings us to our brief.
Sources: volvoce.com/en-in, Autocar Professional, The Machine Maker, NBM&amp;CW.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brief. Today the machine shop supports 10 excavators per 8-hour shift. We assumed that figure, as the brief allowed. The target is 12, which is two more machines, or 20%.
Where does takt time come from? An 8-hour shift is 480 minutes. Take off 30 for lunch, two 10-minute tea breaks and a 10-minute start-up and 5S meeting, and you're left with 420 working minutes. Takt is available time divided by demand: 420 divided by 10 gives 42 minutes per excavator today. For 12, it drops to 35 minutes. So every machine-shop step has to finish one excavator's parts in 35 minutes or less.
We set ourselves some rules: same shift and same headcount, no compromise on quality or safety, and fix the process before spending on new capacity. Our scope is the machine shop feeding the EC210, 215 and 220 line.
We looked at three options. Overtime or a second shift costs more, and fatigue raises the risk of mistakes. A new 5-axis machining centre costs around ₹4 to 5 crore and takes 9 to 12 months to arrive. Operations Excellence is cheap, takes about 12 weeks and builds skills that stay with the plant. So that's what we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did a Gemba walk, which simply means going to where the work happens and watching.
After welding, each excavator's structural parts go through six machining steps: the boom and arm on horizontal boring mills, the upper frame on a 5-face machining centre at OP30, the lower and track frames at OP40, links and pins on a vertical machining centre at OP50, then deburring, washing and a CMM check at OP60 before paint.
The chart shows how long each step really takes per excavator, including its losses. OP30 needs 42 minutes, exactly today's takt. That makes it the bottleneck, or in Theory of Constraints language, the step that sets the pace for the whole shop. Against the new 35-minute target, four of the six steps are too slow. OP50 and OP60 have spare time.
What's slowing things down? Frames wait for the shared overhead crane and for first-off quality sign-off, set-up is done by hand with a dial gauge, and there are three model changeovers a day between EC210, EC215 and EC220 frames. These findings are assumed for our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 OP30's 420 minutes actually go? Only 300 minutes are spent making parts: 10 good frames at 30 minutes each. The rest is lost to what Nakajima called the six big losses: 45 minutes on changeovers, three a day at 15 minutes each; 25 on breakdowns and small stops; 20 waiting for the crane, parts or QC; 15 on slow dial-gauge set-up; and 15 on rework.
That gives an OEE of 66.7%. The working: availability is 420 minus 70, over 420, so 83.3%. Performance is a 28-minute ideal cycle times 10.5 frames, over 350 running minutes, so 84%. Quality is 10 good frames out of 10.5 machined, so 95.2%. Multiply them and you get 66.7%. As a check, 10 good frames times 28 minutes, over 420, is also 66.7%. World class is around 85%.
Here's the key insight. 120 lost minutes is four excavators' worth of OP30 time at 30 minutes each. We only need about 60 of them back to make two more machines. The extra output comes from removing waste, not from people working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built on the Volvo Production System: teamwork at the base, then process stability, built-in quality and just-in-time as the pillars, and continuous improvement on top. We start at OP30 because of Theory of Constraints: a minute saved at the bottleneck is a minute saved for the whole plant. Then we roll the ideas out to OP10, OP20 and OP40.
Lever 1 is SMED, or quick changeover. We separate what has to happen with the machine stopped from what can happen while it runs, so the next model's fixture and tools are preset offline. Zero-point quick clamps and a tool presetter cut each changeover from 15 to 5 minutes, so 45 minutes a day becomes 15. Sequencing frames by model family helps too. That's worth about one extra excavator. We'd track minutes per changeover, with a goal of 5 or less.
Lever 2 is TPM. Operators do a 10-minute daily clean, lubricate, inspect and tighten check. Add a planned maintenance calendar, spindle vibration monitoring and a critical spares kit at the machine. Breakdowns go from 25 to 12 minutes a day, which is about 0.4 of an excavator. We'd track MTBF, MTTR and breakdown minutes per shift.
Lever 3 is just-in-time flow. A first-in, first-out lane with a two-frame buffer means OP30 never runs out of work. Weldments are pulled from fabrication with kanban, tools are kitted per model, and OP30 gets its own jib crane so it doesn't wait for the shared one. Waiting goes from 20 to 6 minutes a day, about half an excavator.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three levers turn those improvements into the normal way of working.
Lever 4 is standard work and line balancing. A time study gives each operation a standard work chart. Using a Yamazumi chart, we move some non-critical drilling and tapping from OP10 and OP40 to OP50, which had spare time. OP50 goes from 27 to 30 minutes but stays under takt. In-machine probing replaces dial-gauge alignment, and CNC tool paths are tidied up within validated speeds and feeds. Slow set-up drops from 15 to 6 minutes and the cycle from 30 to 29: about 0.7 of an excavator.
Lever 5 is built-in quality. Poka-yoke locating pins mean a frame can't be clamped the wrong way. The probe checks critical pin bores before the frame comes off the machine. SPC charts track those bores with a Cpk of at least 1.33, and the machine stops itself on a tool-wear or out-of-tolerance alarm, which is jidoka. Rework falls from 15 to 6 minutes, about 0.3 of an excavator, and fewer defects reach paint and assembly.
Lever 6 is 5S, visual management and kaizen: shadow boards at every machine, hour-by-hour output, OEE and Andon on the digital board, daily tier meetings, PDCA kaizen, and a skill matrix so operators can cover for each other. This is what stops the other five from slipping back.
The chart shows the result: after the changes, every operation is under the 35-minute takt.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it all up and OP30 goes from 10 excavators a shift to a capacity of 12.9. SMED frees 30 minutes, TPM 13, JIT 14, standard work 19 (9 from faster set-up and 10 from the quicker cycle), and built-in quality 9. Each is converted at the new 29-minute cycle.
As a check: losses fall from 120 to 45 minutes, so good output is 420 minus 45, divided by 29, which is 12.9. OEE rises to about 86% capability. Changeovers drop from 15 to 5 minutes each, and breakdown loss from 25 to 12 minutes a shift. Scheduled at 12 a shift, OP30 runs at about 80% OEE, which leaves around 7% spare as a safety margin.
And it's robust. Even if only 70% of these gains hold, capacity is 12.05, still above target. There's also one upside we haven't counted: a multi-skilled relief operator running OP30 through the two tea breaks would add about 20 minutes, or roughly another 0.7 of an excavator.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we'd roll it out, following Plan, Do, Check, Act.
Weeks 1 and 2 are about understanding: Gemba walks, time studies, an OEE baseline at OP30, and a cross-functional kaizen team with production, maintenance, quality, industrial engineering and the operators themselves.
Weeks 3 to 6 are quick wins: 5S, visual boards, the SMED workshop at OP30, the FIFO lane, kitting and the jib crane. That should take us to about 11 a shift.
Weeks 7 to 10 fix the deeper causes: TPM steps 1 to 3, probing and zero-point clamps, CNC optimisation, poka-yoke and moving drilling to OP50. That gets us to about 11.6.
Weeks 11 and 12 lock it in: verify first-pass yield and Cpk, freeze the new standard work, start layered audits and roll out to OP10, OP20 and OP40. By the end, we're at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three things we'd like you to take away.
First, the extra output comes from removing waste, not from rushing. Most of it comes from winning back 75 of OP30's 120 lost minutes, and the rest from a one-minute faster, validated cycle.
Second, quality is protected by design. No inspection step is removed, speeds and feeds stay within validated limits, and if first-pass yield drops below 98% or Cpk below 1.33, we stop and fix the problem first.
Third, it lasts because of the Volvo Production System culture: teamwork, standard work and getting a little better every day.
Thank you for listening. We'd be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r>
              <a:rPr lang="en-US" sz="4600" b="1" dirty="0">
                <a:solidFill>
                  <a:schemeClr val="bg1"/>
                </a:solidFill>
              </a:rPr>
              <a:t>Deck title</a:t>
            </a:r>
            <a:endParaRPr lang="en-US" sz="4600" dirty="0"/>
          </a:p>
        </p:txBody>
      </p:sp>
      <p:sp>
        <p:nvSpPr>
          <p:cNvPr id="3" name="Text 0"/>
          <p:cNvSpPr/>
          <p:nvPr>
            <p:ph idx="101" type="body" hasCustomPrompt="1"/>
          </p:nvPr>
        </p:nvSpPr>
        <p:spPr>
          <a:xfrm>
            <a:off x="731520" y="3749040"/>
            <a:ext cx="6583680" cy="914400"/>
          </a:xfrm>
          <a:prstGeom prst="rect">
            <a:avLst/>
          </a:prstGeom>
          <a:noFill/>
          <a:ln/>
        </p:spPr>
        <p:txBody>
          <a:bodyPr wrap="square" rtlCol="0"/>
          <a:lstStyle>
            <a:lvl1pPr algn="l" indent="0" marL="0">
              <a:buNone/>
              <a:defRPr lang="en-US" sz="1900" dirty="0">
                <a:solidFill>
                  <a:schemeClr val="bg2"/>
                </a:solidFill>
              </a:defRPr>
            </a:lvl1pPr>
          </a:lstStyle>
          <a:p>
            <a:pPr algn="l" indent="0" marL="0">
              <a:buNone/>
            </a:pPr>
            <a:r>
              <a:rPr lang="en-US" sz="1900" dirty="0">
                <a:solidFill>
                  <a:schemeClr val="bg2"/>
                </a:solidFill>
              </a:rPr>
              <a:t>Subtitle</a:t>
            </a: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r>
              <a:rPr lang="en-US" sz="3200" b="1" dirty="0">
                <a:solidFill>
                  <a:schemeClr val="tx2"/>
                </a:solidFill>
              </a:rPr>
              <a:t>Slide title</a:t>
            </a: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chemeClr val="accent5"/>
                </a:solidFill>
              </a:rPr>
              <a:t>Group 3  |  Volvo CE India, Peenya  |  Business Operations Excellence</a:t>
            </a:r>
            <a:endParaRPr lang="en-US" sz="9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Closing title</a:t>
            </a:r>
            <a:endParaRPr lang="en-US" sz="3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325880"/>
            <a:ext cx="676656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BUSINESS OPERATIONS EXCELLENCE  |  GROUP 3</a:t>
            </a:r>
            <a:endParaRPr lang="en-US" sz="1300" dirty="0"/>
          </a:p>
        </p:txBody>
      </p:sp>
      <p:sp>
        <p:nvSpPr>
          <p:cNvPr id="3" name="Text 0"/>
          <p:cNvSpPr/>
          <p:nvPr>
            <p:ph idx="100" type="title" hasCustomPrompt="1"/>
          </p:nvPr>
        </p:nvSpPr>
        <p:spPr>
          <a:xfrm>
            <a:off x="731520" y="1828800"/>
            <a:ext cx="6949440" cy="1737360"/>
          </a:xfrm>
          <a:prstGeom prst="rect">
            <a:avLst/>
          </a:prstGeom>
          <a:noFill/>
          <a:ln/>
        </p:spPr>
        <p:txBody>
          <a:bodyPr wrap="square" lIns="0" tIns="0" rIns="0" bIns="0" rtlCol="0" anchor="b"/>
          <a:lstStyle/>
          <a:p>
            <a:pPr algn="l" indent="0" marL="0">
              <a:buNone/>
            </a:pPr>
            <a:r>
              <a:rPr lang="en-US" sz="4600" b="1" dirty="0">
                <a:solidFill>
                  <a:schemeClr val="bg1"/>
                </a:solidFill>
              </a:rPr>
              <a:t>From 10 to 12</a:t>
            </a:r>
            <a:endParaRPr lang="en-US" sz="4600" dirty="0"/>
          </a:p>
          <a:p>
            <a:pPr algn="l" indent="0" marL="0">
              <a:buNone/>
            </a:pPr>
            <a:r>
              <a:rPr lang="en-US" sz="4600" b="1" dirty="0">
                <a:solidFill>
                  <a:schemeClr val="bg1"/>
                </a:solidFill>
              </a:rPr>
              <a:t>excavators a day</a:t>
            </a:r>
            <a:endParaRPr lang="en-US" sz="4600" dirty="0"/>
          </a:p>
        </p:txBody>
      </p:sp>
      <p:sp>
        <p:nvSpPr>
          <p:cNvPr id="4" name="Text 0"/>
          <p:cNvSpPr/>
          <p:nvPr>
            <p:ph idx="101" type="body" hasCustomPrompt="1"/>
          </p:nvPr>
        </p:nvSpPr>
        <p:spPr>
          <a:xfrm>
            <a:off x="731520" y="3749040"/>
            <a:ext cx="6583680" cy="914400"/>
          </a:xfrm>
          <a:prstGeom prst="rect">
            <a:avLst/>
          </a:prstGeom>
          <a:noFill/>
          <a:ln/>
        </p:spPr>
        <p:txBody>
          <a:bodyPr wrap="square" lIns="0" tIns="0" rIns="0" bIns="0" rtlCol="0" anchor="t"/>
          <a:lstStyle/>
          <a:p>
            <a:pPr algn="l" indent="0" marL="0">
              <a:buNone/>
            </a:pPr>
            <a:r>
              <a:rPr lang="en-US" sz="1900" dirty="0">
                <a:solidFill>
                  <a:schemeClr val="bg2"/>
                </a:solidFill>
              </a:rPr>
              <a:t>How we would lift output at Volvo CE India's machine shop in Peenya, Bengaluru</a:t>
            </a:r>
            <a:endParaRPr lang="en-US" sz="1900" dirty="0"/>
          </a:p>
        </p:txBody>
      </p:sp>
      <p:sp>
        <p:nvSpPr>
          <p:cNvPr id="5" name="Visit details"/>
          <p:cNvSpPr txBox="1"/>
          <p:nvPr/>
        </p:nvSpPr>
        <p:spPr>
          <a:xfrm>
            <a:off x="731520" y="5257800"/>
            <a:ext cx="6766560" cy="640080"/>
          </a:xfrm>
          <a:prstGeom prst="rect">
            <a:avLst/>
          </a:prstGeom>
          <a:noFill/>
          <a:ln/>
        </p:spPr>
        <p:txBody>
          <a:bodyPr wrap="square" lIns="0" tIns="0" rIns="0" bIns="0" rtlCol="0" anchor="t"/>
          <a:lstStyle/>
          <a:p>
            <a:pPr indent="0" marL="0">
              <a:buNone/>
            </a:pPr>
            <a:r>
              <a:rPr lang="en-US" sz="1300" dirty="0">
                <a:solidFill>
                  <a:schemeClr val="accent6"/>
                </a:solidFill>
              </a:rPr>
              <a:t>Industrial visit: 8 September 2026</a:t>
            </a:r>
            <a:endParaRPr lang="en-US" sz="1300" dirty="0"/>
          </a:p>
          <a:p>
            <a:pPr indent="0" marL="0">
              <a:buNone/>
            </a:pPr>
            <a:r>
              <a:rPr lang="en-US" sz="1300" dirty="0">
                <a:solidFill>
                  <a:schemeClr val="accent6"/>
                </a:solidFill>
              </a:rPr>
              <a:t>Presented 3–4 November 2026  |  BBA, Group 3</a:t>
            </a:r>
            <a:endParaRPr lang="en-US" sz="1300" dirty="0"/>
          </a:p>
        </p:txBody>
      </p:sp>
      <p:sp>
        <p:nvSpPr>
          <p:cNvPr id="6" name="Hero circle"/>
          <p:cNvSpPr/>
          <p:nvPr/>
        </p:nvSpPr>
        <p:spPr>
          <a:xfrm>
            <a:off x="8183880" y="1508760"/>
            <a:ext cx="3291840" cy="3291840"/>
          </a:xfrm>
          <a:prstGeom prst="ellipse">
            <a:avLst/>
          </a:prstGeom>
          <a:solidFill>
            <a:schemeClr val="accent2"/>
          </a:solidFill>
          <a:ln/>
        </p:spPr>
      </p:sp>
      <p:pic>
        <p:nvPicPr>
          <p:cNvPr id="7" name="Excavator icon" descr="Excavator">    </p:cNvPr>
          <p:cNvPicPr>
            <a:picLocks noChangeAspect="1"/>
          </p:cNvPicPr>
          <p:nvPr/>
        </p:nvPicPr>
        <p:blipFill>
          <a:blip r:embed="rId1"/>
          <a:stretch>
            <a:fillRect/>
          </a:stretch>
        </p:blipFill>
        <p:spPr>
          <a:xfrm>
            <a:off x="8823960" y="2148840"/>
            <a:ext cx="2011680" cy="2011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Volvo CE: big, global and profitable</a:t>
            </a:r>
            <a:endParaRPr lang="en-US" sz="3200" dirty="0"/>
          </a:p>
        </p:txBody>
      </p:sp>
      <p:sp>
        <p:nvSpPr>
          <p:cNvPr id="3" name="Stat card 1"/>
          <p:cNvSpPr/>
          <p:nvPr/>
        </p:nvSpPr>
        <p:spPr>
          <a:xfrm>
            <a:off x="548640" y="1417320"/>
            <a:ext cx="3383280" cy="960120"/>
          </a:xfrm>
          <a:prstGeom prst="roundRect">
            <a:avLst>
              <a:gd name="adj" fmla="val 7619"/>
            </a:avLst>
          </a:prstGeom>
          <a:solidFill>
            <a:schemeClr val="bg2"/>
          </a:solidFill>
          <a:ln/>
        </p:spPr>
      </p:sp>
      <p:sp>
        <p:nvSpPr>
          <p:cNvPr id="4" name="Stat value 1"/>
          <p:cNvSpPr txBox="1"/>
          <p:nvPr/>
        </p:nvSpPr>
        <p:spPr>
          <a:xfrm>
            <a:off x="777240" y="1527048"/>
            <a:ext cx="301752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SEK 81.6 bn</a:t>
            </a:r>
            <a:endParaRPr lang="en-US" sz="2800" dirty="0"/>
          </a:p>
        </p:txBody>
      </p:sp>
      <p:sp>
        <p:nvSpPr>
          <p:cNvPr id="5" name="Stat label 1"/>
          <p:cNvSpPr txBox="1"/>
          <p:nvPr/>
        </p:nvSpPr>
        <p:spPr>
          <a:xfrm>
            <a:off x="777240" y="1993392"/>
            <a:ext cx="3017520" cy="274320"/>
          </a:xfrm>
          <a:prstGeom prst="rect">
            <a:avLst/>
          </a:prstGeom>
          <a:noFill/>
          <a:ln/>
        </p:spPr>
        <p:txBody>
          <a:bodyPr wrap="square" lIns="0" tIns="0" rIns="0" bIns="0" rtlCol="0" anchor="t"/>
          <a:lstStyle/>
          <a:p>
            <a:pPr indent="0" marL="0">
              <a:buNone/>
            </a:pPr>
            <a:r>
              <a:rPr lang="en-US" sz="1300" dirty="0">
                <a:solidFill>
                  <a:schemeClr val="accent5"/>
                </a:solidFill>
              </a:rPr>
              <a:t>net sales in 2025 (about ₹74,000 crore)</a:t>
            </a:r>
            <a:endParaRPr lang="en-US" sz="1300" dirty="0"/>
          </a:p>
        </p:txBody>
      </p:sp>
      <p:sp>
        <p:nvSpPr>
          <p:cNvPr id="6" name="Stat card 2"/>
          <p:cNvSpPr/>
          <p:nvPr/>
        </p:nvSpPr>
        <p:spPr>
          <a:xfrm>
            <a:off x="548640" y="2514600"/>
            <a:ext cx="3383280" cy="960120"/>
          </a:xfrm>
          <a:prstGeom prst="roundRect">
            <a:avLst>
              <a:gd name="adj" fmla="val 7619"/>
            </a:avLst>
          </a:prstGeom>
          <a:solidFill>
            <a:schemeClr val="bg2"/>
          </a:solidFill>
          <a:ln/>
        </p:spPr>
      </p:sp>
      <p:sp>
        <p:nvSpPr>
          <p:cNvPr id="7" name="Stat value 2"/>
          <p:cNvSpPr txBox="1"/>
          <p:nvPr/>
        </p:nvSpPr>
        <p:spPr>
          <a:xfrm>
            <a:off x="777240" y="2624328"/>
            <a:ext cx="301752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13.3%</a:t>
            </a:r>
            <a:endParaRPr lang="en-US" sz="2800" dirty="0"/>
          </a:p>
        </p:txBody>
      </p:sp>
      <p:sp>
        <p:nvSpPr>
          <p:cNvPr id="8" name="Stat label 2"/>
          <p:cNvSpPr txBox="1"/>
          <p:nvPr/>
        </p:nvSpPr>
        <p:spPr>
          <a:xfrm>
            <a:off x="777240" y="3090672"/>
            <a:ext cx="3017520" cy="274320"/>
          </a:xfrm>
          <a:prstGeom prst="rect">
            <a:avLst/>
          </a:prstGeom>
          <a:noFill/>
          <a:ln/>
        </p:spPr>
        <p:txBody>
          <a:bodyPr wrap="square" lIns="0" tIns="0" rIns="0" bIns="0" rtlCol="0" anchor="t"/>
          <a:lstStyle/>
          <a:p>
            <a:pPr indent="0" marL="0">
              <a:buNone/>
            </a:pPr>
            <a:r>
              <a:rPr lang="en-US" sz="1300" dirty="0">
                <a:solidFill>
                  <a:schemeClr val="accent5"/>
                </a:solidFill>
              </a:rPr>
              <a:t>adjusted operating margin</a:t>
            </a:r>
            <a:endParaRPr lang="en-US" sz="1300" dirty="0"/>
          </a:p>
        </p:txBody>
      </p:sp>
      <p:sp>
        <p:nvSpPr>
          <p:cNvPr id="9" name="Stat card 3"/>
          <p:cNvSpPr/>
          <p:nvPr/>
        </p:nvSpPr>
        <p:spPr>
          <a:xfrm>
            <a:off x="548640" y="3611880"/>
            <a:ext cx="3383280" cy="960120"/>
          </a:xfrm>
          <a:prstGeom prst="roundRect">
            <a:avLst>
              <a:gd name="adj" fmla="val 7619"/>
            </a:avLst>
          </a:prstGeom>
          <a:solidFill>
            <a:schemeClr val="bg2"/>
          </a:solidFill>
          <a:ln/>
        </p:spPr>
      </p:sp>
      <p:sp>
        <p:nvSpPr>
          <p:cNvPr id="10" name="Stat value 3"/>
          <p:cNvSpPr txBox="1"/>
          <p:nvPr/>
        </p:nvSpPr>
        <p:spPr>
          <a:xfrm>
            <a:off x="777240" y="3721608"/>
            <a:ext cx="3017520" cy="45720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~13,000</a:t>
            </a:r>
            <a:endParaRPr lang="en-US" sz="2800" dirty="0"/>
          </a:p>
        </p:txBody>
      </p:sp>
      <p:sp>
        <p:nvSpPr>
          <p:cNvPr id="11" name="Stat label 3"/>
          <p:cNvSpPr txBox="1"/>
          <p:nvPr/>
        </p:nvSpPr>
        <p:spPr>
          <a:xfrm>
            <a:off x="777240" y="4187952"/>
            <a:ext cx="3017520" cy="274320"/>
          </a:xfrm>
          <a:prstGeom prst="rect">
            <a:avLst/>
          </a:prstGeom>
          <a:noFill/>
          <a:ln/>
        </p:spPr>
        <p:txBody>
          <a:bodyPr wrap="square" lIns="0" tIns="0" rIns="0" bIns="0" rtlCol="0" anchor="t"/>
          <a:lstStyle/>
          <a:p>
            <a:pPr indent="0" marL="0">
              <a:buNone/>
            </a:pPr>
            <a:r>
              <a:rPr lang="en-US" sz="1300" dirty="0">
                <a:solidFill>
                  <a:schemeClr val="accent5"/>
                </a:solidFill>
              </a:rPr>
              <a:t>people, selling in 180 markets</a:t>
            </a:r>
            <a:endParaRPr lang="en-US" sz="1300" dirty="0"/>
          </a:p>
        </p:txBody>
      </p:sp>
      <p:graphicFrame>
        <p:nvGraphicFramePr>
          <p:cNvPr id="12" name="Sales by region chart" descr=""/>
          <p:cNvGraphicFramePr/>
          <p:nvPr/>
        </p:nvGraphicFramePr>
        <p:xfrm>
          <a:off x="4297680" y="1325880"/>
          <a:ext cx="7315200" cy="3383280"/>
        </p:xfrm>
        <a:graphic xmlns:a="http://schemas.openxmlformats.org/drawingml/2006/main">
          <a:graphicData uri="http://schemas.openxmlformats.org/drawingml/2006/chart">
            <c:chart xmlns:c="http://schemas.openxmlformats.org/drawingml/2006/chart" r:id="rId1"/>
          </a:graphicData>
        </a:graphic>
      </p:graphicFrame>
      <p:sp>
        <p:nvSpPr>
          <p:cNvPr id="13" name="Timeline axis"/>
          <p:cNvSpPr/>
          <p:nvPr/>
        </p:nvSpPr>
        <p:spPr>
          <a:xfrm>
            <a:off x="1188720" y="5321808"/>
            <a:ext cx="9692640" cy="0"/>
          </a:xfrm>
          <a:prstGeom prst="line">
            <a:avLst/>
          </a:prstGeom>
          <a:noFill/>
          <a:ln w="19050">
            <a:solidFill>
              <a:schemeClr val="accent6"/>
            </a:solidFill>
            <a:prstDash val="solid"/>
          </a:ln>
        </p:spPr>
      </p:sp>
      <p:sp>
        <p:nvSpPr>
          <p:cNvPr id="14" name="Timeline dot 1832"/>
          <p:cNvSpPr/>
          <p:nvPr/>
        </p:nvSpPr>
        <p:spPr>
          <a:xfrm>
            <a:off x="1691640" y="5230368"/>
            <a:ext cx="182880" cy="182880"/>
          </a:xfrm>
          <a:prstGeom prst="ellipse">
            <a:avLst/>
          </a:prstGeom>
          <a:solidFill>
            <a:schemeClr val="tx2"/>
          </a:solidFill>
          <a:ln w="19050">
            <a:solidFill>
              <a:schemeClr val="bg1"/>
            </a:solidFill>
            <a:prstDash val="solid"/>
          </a:ln>
        </p:spPr>
      </p:sp>
      <p:sp>
        <p:nvSpPr>
          <p:cNvPr id="15" name="Year 1832"/>
          <p:cNvSpPr txBox="1"/>
          <p:nvPr/>
        </p:nvSpPr>
        <p:spPr>
          <a:xfrm>
            <a:off x="548640" y="4846320"/>
            <a:ext cx="2468880" cy="320040"/>
          </a:xfrm>
          <a:prstGeom prst="rect">
            <a:avLst/>
          </a:prstGeom>
          <a:noFill/>
          <a:ln/>
        </p:spPr>
        <p:txBody>
          <a:bodyPr wrap="square" lIns="0" tIns="0" rIns="0" bIns="0" rtlCol="0" anchor="t"/>
          <a:lstStyle/>
          <a:p>
            <a:pPr algn="ctr" indent="0" marL="0">
              <a:buNone/>
            </a:pPr>
            <a:r>
              <a:rPr lang="en-US" sz="1500" b="1" dirty="0">
                <a:solidFill>
                  <a:schemeClr val="tx2"/>
                </a:solidFill>
              </a:rPr>
              <a:t>1832</a:t>
            </a:r>
            <a:endParaRPr lang="en-US" sz="1500" dirty="0"/>
          </a:p>
        </p:txBody>
      </p:sp>
      <p:sp>
        <p:nvSpPr>
          <p:cNvPr id="16" name="Milestone 1832"/>
          <p:cNvSpPr txBox="1"/>
          <p:nvPr/>
        </p:nvSpPr>
        <p:spPr>
          <a:xfrm>
            <a:off x="548640" y="5513832"/>
            <a:ext cx="2468880" cy="457200"/>
          </a:xfrm>
          <a:prstGeom prst="rect">
            <a:avLst/>
          </a:prstGeom>
          <a:noFill/>
          <a:ln/>
        </p:spPr>
        <p:txBody>
          <a:bodyPr wrap="square" lIns="0" tIns="0" rIns="0" bIns="0" rtlCol="0" anchor="t"/>
          <a:lstStyle/>
          <a:p>
            <a:pPr algn="ctr" indent="0" marL="0">
              <a:buNone/>
            </a:pPr>
            <a:r>
              <a:rPr lang="en-US" sz="1200" dirty="0">
                <a:solidFill>
                  <a:schemeClr val="accent5"/>
                </a:solidFill>
              </a:rPr>
              <a:t>Founded in Eskilstuna, Sweden</a:t>
            </a:r>
            <a:endParaRPr lang="en-US" sz="1200" dirty="0"/>
          </a:p>
        </p:txBody>
      </p:sp>
      <p:sp>
        <p:nvSpPr>
          <p:cNvPr id="17" name="Timeline dot 1950"/>
          <p:cNvSpPr/>
          <p:nvPr/>
        </p:nvSpPr>
        <p:spPr>
          <a:xfrm>
            <a:off x="4526280" y="5230368"/>
            <a:ext cx="182880" cy="182880"/>
          </a:xfrm>
          <a:prstGeom prst="ellipse">
            <a:avLst/>
          </a:prstGeom>
          <a:solidFill>
            <a:schemeClr val="tx2"/>
          </a:solidFill>
          <a:ln w="19050">
            <a:solidFill>
              <a:schemeClr val="bg1"/>
            </a:solidFill>
            <a:prstDash val="solid"/>
          </a:ln>
        </p:spPr>
      </p:sp>
      <p:sp>
        <p:nvSpPr>
          <p:cNvPr id="18" name="Year 1950"/>
          <p:cNvSpPr txBox="1"/>
          <p:nvPr/>
        </p:nvSpPr>
        <p:spPr>
          <a:xfrm>
            <a:off x="3383280" y="4846320"/>
            <a:ext cx="2468880" cy="320040"/>
          </a:xfrm>
          <a:prstGeom prst="rect">
            <a:avLst/>
          </a:prstGeom>
          <a:noFill/>
          <a:ln/>
        </p:spPr>
        <p:txBody>
          <a:bodyPr wrap="square" lIns="0" tIns="0" rIns="0" bIns="0" rtlCol="0" anchor="t"/>
          <a:lstStyle/>
          <a:p>
            <a:pPr algn="ctr" indent="0" marL="0">
              <a:buNone/>
            </a:pPr>
            <a:r>
              <a:rPr lang="en-US" sz="1500" b="1" dirty="0">
                <a:solidFill>
                  <a:schemeClr val="tx2"/>
                </a:solidFill>
              </a:rPr>
              <a:t>1950</a:t>
            </a:r>
            <a:endParaRPr lang="en-US" sz="1500" dirty="0"/>
          </a:p>
        </p:txBody>
      </p:sp>
      <p:sp>
        <p:nvSpPr>
          <p:cNvPr id="19" name="Milestone 1950"/>
          <p:cNvSpPr txBox="1"/>
          <p:nvPr/>
        </p:nvSpPr>
        <p:spPr>
          <a:xfrm>
            <a:off x="3383280" y="5513832"/>
            <a:ext cx="2468880" cy="457200"/>
          </a:xfrm>
          <a:prstGeom prst="rect">
            <a:avLst/>
          </a:prstGeom>
          <a:noFill/>
          <a:ln/>
        </p:spPr>
        <p:txBody>
          <a:bodyPr wrap="square" lIns="0" tIns="0" rIns="0" bIns="0" rtlCol="0" anchor="t"/>
          <a:lstStyle/>
          <a:p>
            <a:pPr algn="ctr" indent="0" marL="0">
              <a:buNone/>
            </a:pPr>
            <a:r>
              <a:rPr lang="en-US" sz="1200" dirty="0">
                <a:solidFill>
                  <a:schemeClr val="accent5"/>
                </a:solidFill>
              </a:rPr>
              <a:t>Bought by Volvo</a:t>
            </a:r>
            <a:endParaRPr lang="en-US" sz="1200" dirty="0"/>
          </a:p>
        </p:txBody>
      </p:sp>
      <p:sp>
        <p:nvSpPr>
          <p:cNvPr id="20" name="Timeline dot 1997"/>
          <p:cNvSpPr/>
          <p:nvPr/>
        </p:nvSpPr>
        <p:spPr>
          <a:xfrm>
            <a:off x="7360920" y="5230368"/>
            <a:ext cx="182880" cy="182880"/>
          </a:xfrm>
          <a:prstGeom prst="ellipse">
            <a:avLst/>
          </a:prstGeom>
          <a:solidFill>
            <a:schemeClr val="accent2"/>
          </a:solidFill>
          <a:ln w="19050">
            <a:solidFill>
              <a:schemeClr val="bg1"/>
            </a:solidFill>
            <a:prstDash val="solid"/>
          </a:ln>
        </p:spPr>
      </p:sp>
      <p:sp>
        <p:nvSpPr>
          <p:cNvPr id="21" name="Year 1997"/>
          <p:cNvSpPr txBox="1"/>
          <p:nvPr/>
        </p:nvSpPr>
        <p:spPr>
          <a:xfrm>
            <a:off x="6217920" y="4846320"/>
            <a:ext cx="2468880" cy="320040"/>
          </a:xfrm>
          <a:prstGeom prst="rect">
            <a:avLst/>
          </a:prstGeom>
          <a:noFill/>
          <a:ln/>
        </p:spPr>
        <p:txBody>
          <a:bodyPr wrap="square" lIns="0" tIns="0" rIns="0" bIns="0" rtlCol="0" anchor="t"/>
          <a:lstStyle/>
          <a:p>
            <a:pPr algn="ctr" indent="0" marL="0">
              <a:buNone/>
            </a:pPr>
            <a:r>
              <a:rPr lang="en-US" sz="1500" b="1" dirty="0">
                <a:solidFill>
                  <a:schemeClr val="tx2"/>
                </a:solidFill>
              </a:rPr>
              <a:t>1997</a:t>
            </a:r>
            <a:endParaRPr lang="en-US" sz="1500" dirty="0"/>
          </a:p>
        </p:txBody>
      </p:sp>
      <p:sp>
        <p:nvSpPr>
          <p:cNvPr id="22" name="Milestone 1997"/>
          <p:cNvSpPr txBox="1"/>
          <p:nvPr/>
        </p:nvSpPr>
        <p:spPr>
          <a:xfrm>
            <a:off x="6217920" y="5513832"/>
            <a:ext cx="2468880" cy="457200"/>
          </a:xfrm>
          <a:prstGeom prst="rect">
            <a:avLst/>
          </a:prstGeom>
          <a:noFill/>
          <a:ln/>
        </p:spPr>
        <p:txBody>
          <a:bodyPr wrap="square" lIns="0" tIns="0" rIns="0" bIns="0" rtlCol="0" anchor="t"/>
          <a:lstStyle/>
          <a:p>
            <a:pPr algn="ctr" indent="0" marL="0">
              <a:buNone/>
            </a:pPr>
            <a:r>
              <a:rPr lang="en-US" sz="1200" dirty="0">
                <a:solidFill>
                  <a:schemeClr val="accent5"/>
                </a:solidFill>
              </a:rPr>
              <a:t>Arrives in India, in Bengaluru</a:t>
            </a:r>
            <a:endParaRPr lang="en-US" sz="1200" dirty="0"/>
          </a:p>
        </p:txBody>
      </p:sp>
      <p:sp>
        <p:nvSpPr>
          <p:cNvPr id="23" name="Timeline dot 2025"/>
          <p:cNvSpPr/>
          <p:nvPr/>
        </p:nvSpPr>
        <p:spPr>
          <a:xfrm>
            <a:off x="10195560" y="5230368"/>
            <a:ext cx="182880" cy="182880"/>
          </a:xfrm>
          <a:prstGeom prst="ellipse">
            <a:avLst/>
          </a:prstGeom>
          <a:solidFill>
            <a:schemeClr val="tx2"/>
          </a:solidFill>
          <a:ln w="19050">
            <a:solidFill>
              <a:schemeClr val="bg1"/>
            </a:solidFill>
            <a:prstDash val="solid"/>
          </a:ln>
        </p:spPr>
      </p:sp>
      <p:sp>
        <p:nvSpPr>
          <p:cNvPr id="24" name="Year 2025"/>
          <p:cNvSpPr txBox="1"/>
          <p:nvPr/>
        </p:nvSpPr>
        <p:spPr>
          <a:xfrm>
            <a:off x="9052560" y="4846320"/>
            <a:ext cx="2468880" cy="320040"/>
          </a:xfrm>
          <a:prstGeom prst="rect">
            <a:avLst/>
          </a:prstGeom>
          <a:noFill/>
          <a:ln/>
        </p:spPr>
        <p:txBody>
          <a:bodyPr wrap="square" lIns="0" tIns="0" rIns="0" bIns="0" rtlCol="0" anchor="t"/>
          <a:lstStyle/>
          <a:p>
            <a:pPr algn="ctr" indent="0" marL="0">
              <a:buNone/>
            </a:pPr>
            <a:r>
              <a:rPr lang="en-US" sz="1500" b="1" dirty="0">
                <a:solidFill>
                  <a:schemeClr val="tx2"/>
                </a:solidFill>
              </a:rPr>
              <a:t>2025</a:t>
            </a:r>
            <a:endParaRPr lang="en-US" sz="1500" dirty="0"/>
          </a:p>
        </p:txBody>
      </p:sp>
      <p:sp>
        <p:nvSpPr>
          <p:cNvPr id="25" name="Milestone 2025"/>
          <p:cNvSpPr txBox="1"/>
          <p:nvPr/>
        </p:nvSpPr>
        <p:spPr>
          <a:xfrm>
            <a:off x="9052560" y="5513832"/>
            <a:ext cx="2468880" cy="457200"/>
          </a:xfrm>
          <a:prstGeom prst="rect">
            <a:avLst/>
          </a:prstGeom>
          <a:noFill/>
          <a:ln/>
        </p:spPr>
        <p:txBody>
          <a:bodyPr wrap="square" lIns="0" tIns="0" rIns="0" bIns="0" rtlCol="0" anchor="t"/>
          <a:lstStyle/>
          <a:p>
            <a:pPr algn="ctr" indent="0" marL="0">
              <a:buNone/>
            </a:pPr>
            <a:r>
              <a:rPr lang="en-US" sz="1200" dirty="0">
                <a:solidFill>
                  <a:schemeClr val="accent5"/>
                </a:solidFill>
              </a:rPr>
              <a:t>Exits SDLG to focus on Volvo and Rokbak</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Seven product families, from 1.5 t to 95 t</a:t>
            </a:r>
            <a:endParaRPr lang="en-US" sz="3200" dirty="0"/>
          </a:p>
        </p:txBody>
      </p:sp>
      <p:sp>
        <p:nvSpPr>
          <p:cNvPr id="3" name="Scale 0"/>
          <p:cNvSpPr txBox="1"/>
          <p:nvPr/>
        </p:nvSpPr>
        <p:spPr>
          <a:xfrm>
            <a:off x="3840480" y="1325880"/>
            <a:ext cx="731520" cy="256032"/>
          </a:xfrm>
          <a:prstGeom prst="rect">
            <a:avLst/>
          </a:prstGeom>
          <a:noFill/>
          <a:ln/>
        </p:spPr>
        <p:txBody>
          <a:bodyPr wrap="square" lIns="0" tIns="0" rIns="0" bIns="0" rtlCol="0" anchor="t"/>
          <a:lstStyle/>
          <a:p>
            <a:pPr algn="ctr" indent="0" marL="0">
              <a:buNone/>
            </a:pPr>
            <a:r>
              <a:rPr lang="en-US" sz="1100" dirty="0">
                <a:solidFill>
                  <a:schemeClr val="accent5"/>
                </a:solidFill>
              </a:rPr>
              <a:t>0</a:t>
            </a:r>
            <a:endParaRPr lang="en-US" sz="1100" dirty="0"/>
          </a:p>
        </p:txBody>
      </p:sp>
      <p:sp>
        <p:nvSpPr>
          <p:cNvPr id="4" name="Gridline 0"/>
          <p:cNvSpPr/>
          <p:nvPr/>
        </p:nvSpPr>
        <p:spPr>
          <a:xfrm>
            <a:off x="4206240" y="1627632"/>
            <a:ext cx="0" cy="3840480"/>
          </a:xfrm>
          <a:prstGeom prst="line">
            <a:avLst/>
          </a:prstGeom>
          <a:noFill/>
          <a:ln w="9525">
            <a:solidFill>
              <a:srgbClr val="E3E7EC"/>
            </a:solidFill>
            <a:prstDash val="solid"/>
          </a:ln>
        </p:spPr>
      </p:sp>
      <p:sp>
        <p:nvSpPr>
          <p:cNvPr id="5" name="Scale 25"/>
          <p:cNvSpPr txBox="1"/>
          <p:nvPr/>
        </p:nvSpPr>
        <p:spPr>
          <a:xfrm>
            <a:off x="5280660" y="1325880"/>
            <a:ext cx="731520" cy="256032"/>
          </a:xfrm>
          <a:prstGeom prst="rect">
            <a:avLst/>
          </a:prstGeom>
          <a:noFill/>
          <a:ln/>
        </p:spPr>
        <p:txBody>
          <a:bodyPr wrap="square" lIns="0" tIns="0" rIns="0" bIns="0" rtlCol="0" anchor="t"/>
          <a:lstStyle/>
          <a:p>
            <a:pPr algn="ctr" indent="0" marL="0">
              <a:buNone/>
            </a:pPr>
            <a:r>
              <a:rPr lang="en-US" sz="1100" dirty="0">
                <a:solidFill>
                  <a:schemeClr val="accent5"/>
                </a:solidFill>
              </a:rPr>
              <a:t>25</a:t>
            </a:r>
            <a:endParaRPr lang="en-US" sz="1100" dirty="0"/>
          </a:p>
        </p:txBody>
      </p:sp>
      <p:sp>
        <p:nvSpPr>
          <p:cNvPr id="6" name="Gridline 25"/>
          <p:cNvSpPr/>
          <p:nvPr/>
        </p:nvSpPr>
        <p:spPr>
          <a:xfrm>
            <a:off x="5646420" y="1627632"/>
            <a:ext cx="0" cy="3840480"/>
          </a:xfrm>
          <a:prstGeom prst="line">
            <a:avLst/>
          </a:prstGeom>
          <a:noFill/>
          <a:ln w="9525">
            <a:solidFill>
              <a:srgbClr val="E3E7EC"/>
            </a:solidFill>
            <a:prstDash val="solid"/>
          </a:ln>
        </p:spPr>
      </p:sp>
      <p:sp>
        <p:nvSpPr>
          <p:cNvPr id="7" name="Scale 50"/>
          <p:cNvSpPr txBox="1"/>
          <p:nvPr/>
        </p:nvSpPr>
        <p:spPr>
          <a:xfrm>
            <a:off x="6720840" y="1325880"/>
            <a:ext cx="731520" cy="256032"/>
          </a:xfrm>
          <a:prstGeom prst="rect">
            <a:avLst/>
          </a:prstGeom>
          <a:noFill/>
          <a:ln/>
        </p:spPr>
        <p:txBody>
          <a:bodyPr wrap="square" lIns="0" tIns="0" rIns="0" bIns="0" rtlCol="0" anchor="t"/>
          <a:lstStyle/>
          <a:p>
            <a:pPr algn="ctr" indent="0" marL="0">
              <a:buNone/>
            </a:pPr>
            <a:r>
              <a:rPr lang="en-US" sz="1100" dirty="0">
                <a:solidFill>
                  <a:schemeClr val="accent5"/>
                </a:solidFill>
              </a:rPr>
              <a:t>50</a:t>
            </a:r>
            <a:endParaRPr lang="en-US" sz="1100" dirty="0"/>
          </a:p>
        </p:txBody>
      </p:sp>
      <p:sp>
        <p:nvSpPr>
          <p:cNvPr id="8" name="Gridline 50"/>
          <p:cNvSpPr/>
          <p:nvPr/>
        </p:nvSpPr>
        <p:spPr>
          <a:xfrm>
            <a:off x="7086600" y="1627632"/>
            <a:ext cx="0" cy="3840480"/>
          </a:xfrm>
          <a:prstGeom prst="line">
            <a:avLst/>
          </a:prstGeom>
          <a:noFill/>
          <a:ln w="9525">
            <a:solidFill>
              <a:srgbClr val="E3E7EC"/>
            </a:solidFill>
            <a:prstDash val="solid"/>
          </a:ln>
        </p:spPr>
      </p:sp>
      <p:sp>
        <p:nvSpPr>
          <p:cNvPr id="9" name="Scale 75"/>
          <p:cNvSpPr txBox="1"/>
          <p:nvPr/>
        </p:nvSpPr>
        <p:spPr>
          <a:xfrm>
            <a:off x="8161020" y="1325880"/>
            <a:ext cx="731520" cy="256032"/>
          </a:xfrm>
          <a:prstGeom prst="rect">
            <a:avLst/>
          </a:prstGeom>
          <a:noFill/>
          <a:ln/>
        </p:spPr>
        <p:txBody>
          <a:bodyPr wrap="square" lIns="0" tIns="0" rIns="0" bIns="0" rtlCol="0" anchor="t"/>
          <a:lstStyle/>
          <a:p>
            <a:pPr algn="ctr" indent="0" marL="0">
              <a:buNone/>
            </a:pPr>
            <a:r>
              <a:rPr lang="en-US" sz="1100" dirty="0">
                <a:solidFill>
                  <a:schemeClr val="accent5"/>
                </a:solidFill>
              </a:rPr>
              <a:t>75</a:t>
            </a:r>
            <a:endParaRPr lang="en-US" sz="1100" dirty="0"/>
          </a:p>
        </p:txBody>
      </p:sp>
      <p:sp>
        <p:nvSpPr>
          <p:cNvPr id="10" name="Gridline 75"/>
          <p:cNvSpPr/>
          <p:nvPr/>
        </p:nvSpPr>
        <p:spPr>
          <a:xfrm>
            <a:off x="8526780" y="1627632"/>
            <a:ext cx="0" cy="3840480"/>
          </a:xfrm>
          <a:prstGeom prst="line">
            <a:avLst/>
          </a:prstGeom>
          <a:noFill/>
          <a:ln w="9525">
            <a:solidFill>
              <a:srgbClr val="E3E7EC"/>
            </a:solidFill>
            <a:prstDash val="solid"/>
          </a:ln>
        </p:spPr>
      </p:sp>
      <p:sp>
        <p:nvSpPr>
          <p:cNvPr id="11" name="Scale 100"/>
          <p:cNvSpPr txBox="1"/>
          <p:nvPr/>
        </p:nvSpPr>
        <p:spPr>
          <a:xfrm>
            <a:off x="9601200" y="1325880"/>
            <a:ext cx="731520" cy="256032"/>
          </a:xfrm>
          <a:prstGeom prst="rect">
            <a:avLst/>
          </a:prstGeom>
          <a:noFill/>
          <a:ln/>
        </p:spPr>
        <p:txBody>
          <a:bodyPr wrap="square" lIns="0" tIns="0" rIns="0" bIns="0" rtlCol="0" anchor="t"/>
          <a:lstStyle/>
          <a:p>
            <a:pPr algn="ctr" indent="0" marL="0">
              <a:buNone/>
            </a:pPr>
            <a:r>
              <a:rPr lang="en-US" sz="1100" dirty="0">
                <a:solidFill>
                  <a:schemeClr val="accent5"/>
                </a:solidFill>
              </a:rPr>
              <a:t>100 t</a:t>
            </a:r>
            <a:endParaRPr lang="en-US" sz="1100" dirty="0"/>
          </a:p>
        </p:txBody>
      </p:sp>
      <p:sp>
        <p:nvSpPr>
          <p:cNvPr id="12" name="Gridline 100"/>
          <p:cNvSpPr/>
          <p:nvPr/>
        </p:nvSpPr>
        <p:spPr>
          <a:xfrm>
            <a:off x="9966960" y="1627632"/>
            <a:ext cx="0" cy="3840480"/>
          </a:xfrm>
          <a:prstGeom prst="line">
            <a:avLst/>
          </a:prstGeom>
          <a:noFill/>
          <a:ln w="9525">
            <a:solidFill>
              <a:srgbClr val="E3E7EC"/>
            </a:solidFill>
            <a:prstDash val="solid"/>
          </a:ln>
        </p:spPr>
      </p:sp>
      <p:sp>
        <p:nvSpPr>
          <p:cNvPr id="13" name="Compact excavators name"/>
          <p:cNvSpPr txBox="1"/>
          <p:nvPr/>
        </p:nvSpPr>
        <p:spPr>
          <a:xfrm>
            <a:off x="548640" y="1691640"/>
            <a:ext cx="3474720" cy="274320"/>
          </a:xfrm>
          <a:prstGeom prst="rect">
            <a:avLst/>
          </a:prstGeom>
          <a:noFill/>
          <a:ln/>
        </p:spPr>
        <p:txBody>
          <a:bodyPr wrap="square" lIns="0" tIns="0" rIns="0" bIns="0" rtlCol="0" anchor="t"/>
          <a:lstStyle/>
          <a:p>
            <a:pPr indent="0" marL="0">
              <a:buNone/>
            </a:pPr>
            <a:r>
              <a:rPr lang="en-US" sz="1500" b="1" dirty="0">
                <a:solidFill>
                  <a:schemeClr val="tx2"/>
                </a:solidFill>
              </a:rPr>
              <a:t>Compact excavators</a:t>
            </a:r>
            <a:endParaRPr lang="en-US" sz="1500" dirty="0"/>
          </a:p>
        </p:txBody>
      </p:sp>
      <p:sp>
        <p:nvSpPr>
          <p:cNvPr id="14" name="Compact excavators use"/>
          <p:cNvSpPr txBox="1"/>
          <p:nvPr/>
        </p:nvSpPr>
        <p:spPr>
          <a:xfrm>
            <a:off x="548640" y="1947672"/>
            <a:ext cx="3474720" cy="246888"/>
          </a:xfrm>
          <a:prstGeom prst="rect">
            <a:avLst/>
          </a:prstGeom>
          <a:noFill/>
          <a:ln/>
        </p:spPr>
        <p:txBody>
          <a:bodyPr wrap="square" lIns="0" tIns="0" rIns="0" bIns="0" rtlCol="0" anchor="t"/>
          <a:lstStyle/>
          <a:p>
            <a:pPr indent="0" marL="0">
              <a:buNone/>
            </a:pPr>
            <a:r>
              <a:rPr lang="en-US" sz="1200" dirty="0">
                <a:solidFill>
                  <a:schemeClr val="accent5"/>
                </a:solidFill>
              </a:rPr>
              <a:t>Utilities and city sites</a:t>
            </a:r>
            <a:endParaRPr lang="en-US" sz="1200" dirty="0"/>
          </a:p>
        </p:txBody>
      </p:sp>
      <p:sp>
        <p:nvSpPr>
          <p:cNvPr id="15" name="Compact excavators bar"/>
          <p:cNvSpPr/>
          <p:nvPr/>
        </p:nvSpPr>
        <p:spPr>
          <a:xfrm>
            <a:off x="4292651" y="1783080"/>
            <a:ext cx="432054" cy="274320"/>
          </a:xfrm>
          <a:prstGeom prst="roundRect">
            <a:avLst>
              <a:gd name="adj" fmla="val 50000"/>
            </a:avLst>
          </a:prstGeom>
          <a:solidFill>
            <a:schemeClr val="tx2"/>
          </a:solidFill>
          <a:ln/>
        </p:spPr>
      </p:sp>
      <p:sp>
        <p:nvSpPr>
          <p:cNvPr id="16" name="Compact excavators range"/>
          <p:cNvSpPr txBox="1"/>
          <p:nvPr/>
        </p:nvSpPr>
        <p:spPr>
          <a:xfrm>
            <a:off x="4834433" y="1783080"/>
            <a:ext cx="1737360" cy="274320"/>
          </a:xfrm>
          <a:prstGeom prst="rect">
            <a:avLst/>
          </a:prstGeom>
          <a:noFill/>
          <a:ln/>
        </p:spPr>
        <p:txBody>
          <a:bodyPr wrap="square" lIns="0" tIns="0" rIns="0" bIns="0" rtlCol="0" anchor="ctr"/>
          <a:lstStyle/>
          <a:p>
            <a:pPr indent="0" marL="0">
              <a:buNone/>
            </a:pPr>
            <a:r>
              <a:rPr lang="en-US" sz="1200" dirty="0">
                <a:solidFill>
                  <a:schemeClr val="tx1"/>
                </a:solidFill>
              </a:rPr>
              <a:t>1.5–9 t</a:t>
            </a:r>
            <a:endParaRPr lang="en-US" sz="1200" dirty="0"/>
          </a:p>
        </p:txBody>
      </p:sp>
      <p:sp>
        <p:nvSpPr>
          <p:cNvPr id="17" name="Wheeled excavators name"/>
          <p:cNvSpPr txBox="1"/>
          <p:nvPr/>
        </p:nvSpPr>
        <p:spPr>
          <a:xfrm>
            <a:off x="548640" y="2240280"/>
            <a:ext cx="3474720" cy="274320"/>
          </a:xfrm>
          <a:prstGeom prst="rect">
            <a:avLst/>
          </a:prstGeom>
          <a:noFill/>
          <a:ln/>
        </p:spPr>
        <p:txBody>
          <a:bodyPr wrap="square" lIns="0" tIns="0" rIns="0" bIns="0" rtlCol="0" anchor="t"/>
          <a:lstStyle/>
          <a:p>
            <a:pPr indent="0" marL="0">
              <a:buNone/>
            </a:pPr>
            <a:r>
              <a:rPr lang="en-US" sz="1500" b="1" dirty="0">
                <a:solidFill>
                  <a:schemeClr val="tx2"/>
                </a:solidFill>
              </a:rPr>
              <a:t>Wheeled excavators</a:t>
            </a:r>
            <a:endParaRPr lang="en-US" sz="1500" dirty="0"/>
          </a:p>
        </p:txBody>
      </p:sp>
      <p:sp>
        <p:nvSpPr>
          <p:cNvPr id="18" name="Wheeled excavators use"/>
          <p:cNvSpPr txBox="1"/>
          <p:nvPr/>
        </p:nvSpPr>
        <p:spPr>
          <a:xfrm>
            <a:off x="548640" y="2496312"/>
            <a:ext cx="3474720" cy="246888"/>
          </a:xfrm>
          <a:prstGeom prst="rect">
            <a:avLst/>
          </a:prstGeom>
          <a:noFill/>
          <a:ln/>
        </p:spPr>
        <p:txBody>
          <a:bodyPr wrap="square" lIns="0" tIns="0" rIns="0" bIns="0" rtlCol="0" anchor="t"/>
          <a:lstStyle/>
          <a:p>
            <a:pPr indent="0" marL="0">
              <a:buNone/>
            </a:pPr>
            <a:r>
              <a:rPr lang="en-US" sz="1200" dirty="0">
                <a:solidFill>
                  <a:schemeClr val="accent5"/>
                </a:solidFill>
              </a:rPr>
              <a:t>Roadworks, material handling</a:t>
            </a:r>
            <a:endParaRPr lang="en-US" sz="1200" dirty="0"/>
          </a:p>
        </p:txBody>
      </p:sp>
      <p:sp>
        <p:nvSpPr>
          <p:cNvPr id="19" name="Wheeled excavators bar"/>
          <p:cNvSpPr/>
          <p:nvPr/>
        </p:nvSpPr>
        <p:spPr>
          <a:xfrm>
            <a:off x="4551883" y="2331720"/>
            <a:ext cx="1036930" cy="274320"/>
          </a:xfrm>
          <a:prstGeom prst="roundRect">
            <a:avLst>
              <a:gd name="adj" fmla="val 50000"/>
            </a:avLst>
          </a:prstGeom>
          <a:solidFill>
            <a:schemeClr val="tx2"/>
          </a:solidFill>
          <a:ln/>
        </p:spPr>
      </p:sp>
      <p:sp>
        <p:nvSpPr>
          <p:cNvPr id="20" name="Wheeled excavators range"/>
          <p:cNvSpPr txBox="1"/>
          <p:nvPr/>
        </p:nvSpPr>
        <p:spPr>
          <a:xfrm>
            <a:off x="5698541" y="2331720"/>
            <a:ext cx="1737360" cy="274320"/>
          </a:xfrm>
          <a:prstGeom prst="rect">
            <a:avLst/>
          </a:prstGeom>
          <a:noFill/>
          <a:ln/>
        </p:spPr>
        <p:txBody>
          <a:bodyPr wrap="square" lIns="0" tIns="0" rIns="0" bIns="0" rtlCol="0" anchor="ctr"/>
          <a:lstStyle/>
          <a:p>
            <a:pPr indent="0" marL="0">
              <a:buNone/>
            </a:pPr>
            <a:r>
              <a:rPr lang="en-US" sz="1200" dirty="0">
                <a:solidFill>
                  <a:schemeClr val="tx1"/>
                </a:solidFill>
              </a:rPr>
              <a:t>6–24 t</a:t>
            </a:r>
            <a:endParaRPr lang="en-US" sz="1200" dirty="0"/>
          </a:p>
        </p:txBody>
      </p:sp>
      <p:sp>
        <p:nvSpPr>
          <p:cNvPr id="21" name="Crawler excavators name"/>
          <p:cNvSpPr txBox="1"/>
          <p:nvPr/>
        </p:nvSpPr>
        <p:spPr>
          <a:xfrm>
            <a:off x="548640" y="2788920"/>
            <a:ext cx="3474720" cy="274320"/>
          </a:xfrm>
          <a:prstGeom prst="rect">
            <a:avLst/>
          </a:prstGeom>
          <a:noFill/>
          <a:ln/>
        </p:spPr>
        <p:txBody>
          <a:bodyPr wrap="square" lIns="0" tIns="0" rIns="0" bIns="0" rtlCol="0" anchor="t"/>
          <a:lstStyle/>
          <a:p>
            <a:pPr indent="0" marL="0">
              <a:buNone/>
            </a:pPr>
            <a:r>
              <a:rPr lang="en-US" sz="1500" b="1" dirty="0">
                <a:solidFill>
                  <a:schemeClr val="tx2"/>
                </a:solidFill>
              </a:rPr>
              <a:t>Crawler excavators</a:t>
            </a:r>
            <a:endParaRPr lang="en-US" sz="1500" dirty="0"/>
          </a:p>
        </p:txBody>
      </p:sp>
      <p:sp>
        <p:nvSpPr>
          <p:cNvPr id="22" name="Crawler excavators use"/>
          <p:cNvSpPr txBox="1"/>
          <p:nvPr/>
        </p:nvSpPr>
        <p:spPr>
          <a:xfrm>
            <a:off x="548640" y="3044952"/>
            <a:ext cx="3474720" cy="246888"/>
          </a:xfrm>
          <a:prstGeom prst="rect">
            <a:avLst/>
          </a:prstGeom>
          <a:noFill/>
          <a:ln/>
        </p:spPr>
        <p:txBody>
          <a:bodyPr wrap="square" lIns="0" tIns="0" rIns="0" bIns="0" rtlCol="0" anchor="t"/>
          <a:lstStyle/>
          <a:p>
            <a:pPr indent="0" marL="0">
              <a:buNone/>
            </a:pPr>
            <a:r>
              <a:rPr lang="en-US" sz="1200" dirty="0">
                <a:solidFill>
                  <a:schemeClr val="accent5"/>
                </a:solidFill>
              </a:rPr>
              <a:t>Infrastructure, quarries, mines</a:t>
            </a:r>
            <a:endParaRPr lang="en-US" sz="1200" dirty="0"/>
          </a:p>
        </p:txBody>
      </p:sp>
      <p:sp>
        <p:nvSpPr>
          <p:cNvPr id="23" name="Crawler excavators bar"/>
          <p:cNvSpPr/>
          <p:nvPr/>
        </p:nvSpPr>
        <p:spPr>
          <a:xfrm>
            <a:off x="5012741" y="2880360"/>
            <a:ext cx="4666183" cy="274320"/>
          </a:xfrm>
          <a:prstGeom prst="roundRect">
            <a:avLst>
              <a:gd name="adj" fmla="val 50000"/>
            </a:avLst>
          </a:prstGeom>
          <a:solidFill>
            <a:schemeClr val="accent2"/>
          </a:solidFill>
          <a:ln/>
        </p:spPr>
      </p:sp>
      <p:sp>
        <p:nvSpPr>
          <p:cNvPr id="24" name="Crawler excavators range"/>
          <p:cNvSpPr txBox="1"/>
          <p:nvPr/>
        </p:nvSpPr>
        <p:spPr>
          <a:xfrm>
            <a:off x="9788652" y="2880360"/>
            <a:ext cx="1737360" cy="274320"/>
          </a:xfrm>
          <a:prstGeom prst="rect">
            <a:avLst/>
          </a:prstGeom>
          <a:noFill/>
          <a:ln/>
        </p:spPr>
        <p:txBody>
          <a:bodyPr wrap="square" lIns="0" tIns="0" rIns="0" bIns="0" rtlCol="0" anchor="ctr"/>
          <a:lstStyle/>
          <a:p>
            <a:pPr indent="0" marL="0">
              <a:buNone/>
            </a:pPr>
            <a:r>
              <a:rPr lang="en-US" sz="1200" b="1" dirty="0">
                <a:solidFill>
                  <a:schemeClr val="tx1"/>
                </a:solidFill>
              </a:rPr>
              <a:t>14–95 t</a:t>
            </a:r>
            <a:endParaRPr lang="en-US" sz="1200" dirty="0"/>
          </a:p>
        </p:txBody>
      </p:sp>
      <p:sp>
        <p:nvSpPr>
          <p:cNvPr id="25" name="Compact wheel loaders name"/>
          <p:cNvSpPr txBox="1"/>
          <p:nvPr/>
        </p:nvSpPr>
        <p:spPr>
          <a:xfrm>
            <a:off x="548640" y="3337560"/>
            <a:ext cx="3474720" cy="274320"/>
          </a:xfrm>
          <a:prstGeom prst="rect">
            <a:avLst/>
          </a:prstGeom>
          <a:noFill/>
          <a:ln/>
        </p:spPr>
        <p:txBody>
          <a:bodyPr wrap="square" lIns="0" tIns="0" rIns="0" bIns="0" rtlCol="0" anchor="t"/>
          <a:lstStyle/>
          <a:p>
            <a:pPr indent="0" marL="0">
              <a:buNone/>
            </a:pPr>
            <a:r>
              <a:rPr lang="en-US" sz="1500" b="1" dirty="0">
                <a:solidFill>
                  <a:schemeClr val="tx2"/>
                </a:solidFill>
              </a:rPr>
              <a:t>Compact wheel loaders</a:t>
            </a:r>
            <a:endParaRPr lang="en-US" sz="1500" dirty="0"/>
          </a:p>
        </p:txBody>
      </p:sp>
      <p:sp>
        <p:nvSpPr>
          <p:cNvPr id="26" name="Compact wheel loaders use"/>
          <p:cNvSpPr txBox="1"/>
          <p:nvPr/>
        </p:nvSpPr>
        <p:spPr>
          <a:xfrm>
            <a:off x="548640" y="3593592"/>
            <a:ext cx="3474720" cy="246888"/>
          </a:xfrm>
          <a:prstGeom prst="rect">
            <a:avLst/>
          </a:prstGeom>
          <a:noFill/>
          <a:ln/>
        </p:spPr>
        <p:txBody>
          <a:bodyPr wrap="square" lIns="0" tIns="0" rIns="0" bIns="0" rtlCol="0" anchor="t"/>
          <a:lstStyle/>
          <a:p>
            <a:pPr indent="0" marL="0">
              <a:buNone/>
            </a:pPr>
            <a:r>
              <a:rPr lang="en-US" sz="1200" dirty="0">
                <a:solidFill>
                  <a:schemeClr val="accent5"/>
                </a:solidFill>
              </a:rPr>
              <a:t>Landscaping and farms</a:t>
            </a:r>
            <a:endParaRPr lang="en-US" sz="1200" dirty="0"/>
          </a:p>
        </p:txBody>
      </p:sp>
      <p:sp>
        <p:nvSpPr>
          <p:cNvPr id="27" name="Compact wheel loaders bar"/>
          <p:cNvSpPr/>
          <p:nvPr/>
        </p:nvSpPr>
        <p:spPr>
          <a:xfrm>
            <a:off x="4465472" y="3429000"/>
            <a:ext cx="316840" cy="274320"/>
          </a:xfrm>
          <a:prstGeom prst="roundRect">
            <a:avLst>
              <a:gd name="adj" fmla="val 50000"/>
            </a:avLst>
          </a:prstGeom>
          <a:solidFill>
            <a:schemeClr val="tx2"/>
          </a:solidFill>
          <a:ln/>
        </p:spPr>
      </p:sp>
      <p:sp>
        <p:nvSpPr>
          <p:cNvPr id="28" name="Compact wheel loaders range"/>
          <p:cNvSpPr txBox="1"/>
          <p:nvPr/>
        </p:nvSpPr>
        <p:spPr>
          <a:xfrm>
            <a:off x="4892040" y="3429000"/>
            <a:ext cx="1737360" cy="274320"/>
          </a:xfrm>
          <a:prstGeom prst="rect">
            <a:avLst/>
          </a:prstGeom>
          <a:noFill/>
          <a:ln/>
        </p:spPr>
        <p:txBody>
          <a:bodyPr wrap="square" lIns="0" tIns="0" rIns="0" bIns="0" rtlCol="0" anchor="ctr"/>
          <a:lstStyle/>
          <a:p>
            <a:pPr indent="0" marL="0">
              <a:buNone/>
            </a:pPr>
            <a:r>
              <a:rPr lang="en-US" sz="1200" dirty="0">
                <a:solidFill>
                  <a:schemeClr val="tx1"/>
                </a:solidFill>
              </a:rPr>
              <a:t>4.5–10 t</a:t>
            </a:r>
            <a:endParaRPr lang="en-US" sz="1200" dirty="0"/>
          </a:p>
        </p:txBody>
      </p:sp>
      <p:sp>
        <p:nvSpPr>
          <p:cNvPr id="29" name="Wheel loaders name"/>
          <p:cNvSpPr txBox="1"/>
          <p:nvPr/>
        </p:nvSpPr>
        <p:spPr>
          <a:xfrm>
            <a:off x="548640" y="3886200"/>
            <a:ext cx="3474720" cy="274320"/>
          </a:xfrm>
          <a:prstGeom prst="rect">
            <a:avLst/>
          </a:prstGeom>
          <a:noFill/>
          <a:ln/>
        </p:spPr>
        <p:txBody>
          <a:bodyPr wrap="square" lIns="0" tIns="0" rIns="0" bIns="0" rtlCol="0" anchor="t"/>
          <a:lstStyle/>
          <a:p>
            <a:pPr indent="0" marL="0">
              <a:buNone/>
            </a:pPr>
            <a:r>
              <a:rPr lang="en-US" sz="1500" b="1" dirty="0">
                <a:solidFill>
                  <a:schemeClr val="tx2"/>
                </a:solidFill>
              </a:rPr>
              <a:t>Wheel loaders</a:t>
            </a:r>
            <a:endParaRPr lang="en-US" sz="1500" dirty="0"/>
          </a:p>
        </p:txBody>
      </p:sp>
      <p:sp>
        <p:nvSpPr>
          <p:cNvPr id="30" name="Wheel loaders use"/>
          <p:cNvSpPr txBox="1"/>
          <p:nvPr/>
        </p:nvSpPr>
        <p:spPr>
          <a:xfrm>
            <a:off x="548640" y="4142232"/>
            <a:ext cx="3474720" cy="246888"/>
          </a:xfrm>
          <a:prstGeom prst="rect">
            <a:avLst/>
          </a:prstGeom>
          <a:noFill/>
          <a:ln/>
        </p:spPr>
        <p:txBody>
          <a:bodyPr wrap="square" lIns="0" tIns="0" rIns="0" bIns="0" rtlCol="0" anchor="t"/>
          <a:lstStyle/>
          <a:p>
            <a:pPr indent="0" marL="0">
              <a:buNone/>
            </a:pPr>
            <a:r>
              <a:rPr lang="en-US" sz="1200" dirty="0">
                <a:solidFill>
                  <a:schemeClr val="accent5"/>
                </a:solidFill>
              </a:rPr>
              <a:t>Aggregates, ports, recycling</a:t>
            </a:r>
            <a:endParaRPr lang="en-US" sz="1200" dirty="0"/>
          </a:p>
        </p:txBody>
      </p:sp>
      <p:sp>
        <p:nvSpPr>
          <p:cNvPr id="31" name="Wheel loaders bar"/>
          <p:cNvSpPr/>
          <p:nvPr/>
        </p:nvSpPr>
        <p:spPr>
          <a:xfrm>
            <a:off x="4839919" y="3977640"/>
            <a:ext cx="2592324" cy="274320"/>
          </a:xfrm>
          <a:prstGeom prst="roundRect">
            <a:avLst>
              <a:gd name="adj" fmla="val 50000"/>
            </a:avLst>
          </a:prstGeom>
          <a:solidFill>
            <a:schemeClr val="tx2"/>
          </a:solidFill>
          <a:ln/>
        </p:spPr>
      </p:sp>
      <p:sp>
        <p:nvSpPr>
          <p:cNvPr id="32" name="Wheel loaders range"/>
          <p:cNvSpPr txBox="1"/>
          <p:nvPr/>
        </p:nvSpPr>
        <p:spPr>
          <a:xfrm>
            <a:off x="7541971" y="3977640"/>
            <a:ext cx="1737360" cy="274320"/>
          </a:xfrm>
          <a:prstGeom prst="rect">
            <a:avLst/>
          </a:prstGeom>
          <a:noFill/>
          <a:ln/>
        </p:spPr>
        <p:txBody>
          <a:bodyPr wrap="square" lIns="0" tIns="0" rIns="0" bIns="0" rtlCol="0" anchor="ctr"/>
          <a:lstStyle/>
          <a:p>
            <a:pPr indent="0" marL="0">
              <a:buNone/>
            </a:pPr>
            <a:r>
              <a:rPr lang="en-US" sz="1200" dirty="0">
                <a:solidFill>
                  <a:schemeClr val="tx1"/>
                </a:solidFill>
              </a:rPr>
              <a:t>11–56 t</a:t>
            </a:r>
            <a:endParaRPr lang="en-US" sz="1200" dirty="0"/>
          </a:p>
        </p:txBody>
      </p:sp>
      <p:sp>
        <p:nvSpPr>
          <p:cNvPr id="33" name="Articulated haulers name"/>
          <p:cNvSpPr txBox="1"/>
          <p:nvPr/>
        </p:nvSpPr>
        <p:spPr>
          <a:xfrm>
            <a:off x="548640" y="4434840"/>
            <a:ext cx="3474720" cy="274320"/>
          </a:xfrm>
          <a:prstGeom prst="rect">
            <a:avLst/>
          </a:prstGeom>
          <a:noFill/>
          <a:ln/>
        </p:spPr>
        <p:txBody>
          <a:bodyPr wrap="square" lIns="0" tIns="0" rIns="0" bIns="0" rtlCol="0" anchor="t"/>
          <a:lstStyle/>
          <a:p>
            <a:pPr indent="0" marL="0">
              <a:buNone/>
            </a:pPr>
            <a:r>
              <a:rPr lang="en-US" sz="1500" b="1" dirty="0">
                <a:solidFill>
                  <a:schemeClr val="tx2"/>
                </a:solidFill>
              </a:rPr>
              <a:t>Articulated haulers</a:t>
            </a:r>
            <a:endParaRPr lang="en-US" sz="1500" dirty="0"/>
          </a:p>
        </p:txBody>
      </p:sp>
      <p:sp>
        <p:nvSpPr>
          <p:cNvPr id="34" name="Articulated haulers use"/>
          <p:cNvSpPr txBox="1"/>
          <p:nvPr/>
        </p:nvSpPr>
        <p:spPr>
          <a:xfrm>
            <a:off x="548640" y="4690872"/>
            <a:ext cx="3474720" cy="246888"/>
          </a:xfrm>
          <a:prstGeom prst="rect">
            <a:avLst/>
          </a:prstGeom>
          <a:noFill/>
          <a:ln/>
        </p:spPr>
        <p:txBody>
          <a:bodyPr wrap="square" lIns="0" tIns="0" rIns="0" bIns="0" rtlCol="0" anchor="t"/>
          <a:lstStyle/>
          <a:p>
            <a:pPr indent="0" marL="0">
              <a:buNone/>
            </a:pPr>
            <a:r>
              <a:rPr lang="en-US" sz="1200" dirty="0">
                <a:solidFill>
                  <a:schemeClr val="accent5"/>
                </a:solidFill>
              </a:rPr>
              <a:t>Earthmoving and mining</a:t>
            </a:r>
            <a:endParaRPr lang="en-US" sz="1200" dirty="0"/>
          </a:p>
        </p:txBody>
      </p:sp>
      <p:sp>
        <p:nvSpPr>
          <p:cNvPr id="35" name="Articulated haulers bar"/>
          <p:cNvSpPr/>
          <p:nvPr/>
        </p:nvSpPr>
        <p:spPr>
          <a:xfrm>
            <a:off x="5588813" y="4526280"/>
            <a:ext cx="1785823" cy="274320"/>
          </a:xfrm>
          <a:prstGeom prst="roundRect">
            <a:avLst>
              <a:gd name="adj" fmla="val 50000"/>
            </a:avLst>
          </a:prstGeom>
          <a:solidFill>
            <a:schemeClr val="tx2"/>
          </a:solidFill>
          <a:ln/>
        </p:spPr>
      </p:sp>
      <p:sp>
        <p:nvSpPr>
          <p:cNvPr id="36" name="Articulated haulers range"/>
          <p:cNvSpPr txBox="1"/>
          <p:nvPr/>
        </p:nvSpPr>
        <p:spPr>
          <a:xfrm>
            <a:off x="7484364" y="4526280"/>
            <a:ext cx="1737360" cy="274320"/>
          </a:xfrm>
          <a:prstGeom prst="rect">
            <a:avLst/>
          </a:prstGeom>
          <a:noFill/>
          <a:ln/>
        </p:spPr>
        <p:txBody>
          <a:bodyPr wrap="square" lIns="0" tIns="0" rIns="0" bIns="0" rtlCol="0" anchor="ctr"/>
          <a:lstStyle/>
          <a:p>
            <a:pPr indent="0" marL="0">
              <a:buNone/>
            </a:pPr>
            <a:r>
              <a:rPr lang="en-US" sz="1200" dirty="0">
                <a:solidFill>
                  <a:schemeClr val="tx1"/>
                </a:solidFill>
              </a:rPr>
              <a:t>24–55 t payload</a:t>
            </a:r>
            <a:endParaRPr lang="en-US" sz="1200" dirty="0"/>
          </a:p>
        </p:txBody>
      </p:sp>
      <p:sp>
        <p:nvSpPr>
          <p:cNvPr id="37" name="Road machinery name"/>
          <p:cNvSpPr txBox="1"/>
          <p:nvPr/>
        </p:nvSpPr>
        <p:spPr>
          <a:xfrm>
            <a:off x="548640" y="4983480"/>
            <a:ext cx="3474720" cy="274320"/>
          </a:xfrm>
          <a:prstGeom prst="rect">
            <a:avLst/>
          </a:prstGeom>
          <a:noFill/>
          <a:ln/>
        </p:spPr>
        <p:txBody>
          <a:bodyPr wrap="square" lIns="0" tIns="0" rIns="0" bIns="0" rtlCol="0" anchor="t"/>
          <a:lstStyle/>
          <a:p>
            <a:pPr indent="0" marL="0">
              <a:buNone/>
            </a:pPr>
            <a:r>
              <a:rPr lang="en-US" sz="1500" b="1" dirty="0">
                <a:solidFill>
                  <a:schemeClr val="tx2"/>
                </a:solidFill>
              </a:rPr>
              <a:t>Road machinery</a:t>
            </a:r>
            <a:endParaRPr lang="en-US" sz="1500" dirty="0"/>
          </a:p>
        </p:txBody>
      </p:sp>
      <p:sp>
        <p:nvSpPr>
          <p:cNvPr id="38" name="Road machinery use"/>
          <p:cNvSpPr txBox="1"/>
          <p:nvPr/>
        </p:nvSpPr>
        <p:spPr>
          <a:xfrm>
            <a:off x="548640" y="5239512"/>
            <a:ext cx="3474720" cy="246888"/>
          </a:xfrm>
          <a:prstGeom prst="rect">
            <a:avLst/>
          </a:prstGeom>
          <a:noFill/>
          <a:ln/>
        </p:spPr>
        <p:txBody>
          <a:bodyPr wrap="square" lIns="0" tIns="0" rIns="0" bIns="0" rtlCol="0" anchor="t"/>
          <a:lstStyle/>
          <a:p>
            <a:pPr indent="0" marL="0">
              <a:buNone/>
            </a:pPr>
            <a:r>
              <a:rPr lang="en-US" sz="1200" dirty="0">
                <a:solidFill>
                  <a:schemeClr val="accent5"/>
                </a:solidFill>
              </a:rPr>
              <a:t>Roads, highways, airports</a:t>
            </a:r>
            <a:endParaRPr lang="en-US" sz="1200" dirty="0"/>
          </a:p>
        </p:txBody>
      </p:sp>
      <p:sp>
        <p:nvSpPr>
          <p:cNvPr id="39" name="Road machinery bar"/>
          <p:cNvSpPr/>
          <p:nvPr/>
        </p:nvSpPr>
        <p:spPr>
          <a:xfrm>
            <a:off x="4292651" y="5074920"/>
            <a:ext cx="1180948" cy="274320"/>
          </a:xfrm>
          <a:prstGeom prst="roundRect">
            <a:avLst>
              <a:gd name="adj" fmla="val 50000"/>
            </a:avLst>
          </a:prstGeom>
          <a:solidFill>
            <a:schemeClr val="tx2"/>
          </a:solidFill>
          <a:ln/>
        </p:spPr>
      </p:sp>
      <p:sp>
        <p:nvSpPr>
          <p:cNvPr id="40" name="Road machinery range"/>
          <p:cNvSpPr txBox="1"/>
          <p:nvPr/>
        </p:nvSpPr>
        <p:spPr>
          <a:xfrm>
            <a:off x="5583326" y="5074920"/>
            <a:ext cx="1737360" cy="274320"/>
          </a:xfrm>
          <a:prstGeom prst="rect">
            <a:avLst/>
          </a:prstGeom>
          <a:noFill/>
          <a:ln/>
        </p:spPr>
        <p:txBody>
          <a:bodyPr wrap="square" lIns="0" tIns="0" rIns="0" bIns="0" rtlCol="0" anchor="ctr"/>
          <a:lstStyle/>
          <a:p>
            <a:pPr indent="0" marL="0">
              <a:buNone/>
            </a:pPr>
            <a:r>
              <a:rPr lang="en-US" sz="1200" dirty="0">
                <a:solidFill>
                  <a:schemeClr val="tx1"/>
                </a:solidFill>
              </a:rPr>
              <a:t>1.5–22 t</a:t>
            </a:r>
            <a:endParaRPr lang="en-US" sz="1200" dirty="0"/>
          </a:p>
        </p:txBody>
      </p:sp>
      <p:sp>
        <p:nvSpPr>
          <p:cNvPr id="41" name="Peenya tag"/>
          <p:cNvSpPr txBox="1"/>
          <p:nvPr/>
        </p:nvSpPr>
        <p:spPr>
          <a:xfrm>
            <a:off x="5195621" y="2880360"/>
            <a:ext cx="2286000" cy="274320"/>
          </a:xfrm>
          <a:prstGeom prst="rect">
            <a:avLst/>
          </a:prstGeom>
          <a:noFill/>
          <a:ln/>
        </p:spPr>
        <p:txBody>
          <a:bodyPr wrap="square" lIns="0" tIns="0" rIns="0" bIns="0" rtlCol="0" anchor="ctr"/>
          <a:lstStyle/>
          <a:p>
            <a:pPr indent="0" marL="0">
              <a:buNone/>
            </a:pPr>
            <a:r>
              <a:rPr lang="en-US" sz="1200" b="1" dirty="0">
                <a:solidFill>
                  <a:schemeClr val="tx2"/>
                </a:solidFill>
              </a:rPr>
              <a:t>Peenya builds these</a:t>
            </a:r>
            <a:endParaRPr lang="en-US" sz="1200" dirty="0"/>
          </a:p>
        </p:txBody>
      </p:sp>
      <p:sp>
        <p:nvSpPr>
          <p:cNvPr id="42" name="Footnote"/>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000" i="1" dirty="0">
                <a:solidFill>
                  <a:schemeClr val="accent5"/>
                </a:solidFill>
              </a:rPr>
              <a:t>Bars show approximate operating weight (haulers show payload). Electric versions exist for compact machines, the EC230 and the L120. Source: Volvo CE spec sheets.</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Peenya is Volvo CE's home in India</a:t>
            </a:r>
            <a:endParaRPr lang="en-US" sz="3200" dirty="0"/>
          </a:p>
        </p:txBody>
      </p:sp>
      <p:sp>
        <p:nvSpPr>
          <p:cNvPr id="3" name="Here since 1997 circle"/>
          <p:cNvSpPr/>
          <p:nvPr/>
        </p:nvSpPr>
        <p:spPr>
          <a:xfrm>
            <a:off x="548640" y="1463040"/>
            <a:ext cx="594360" cy="594360"/>
          </a:xfrm>
          <a:prstGeom prst="ellipse">
            <a:avLst/>
          </a:prstGeom>
          <a:solidFill>
            <a:schemeClr val="tx2"/>
          </a:solidFill>
          <a:ln/>
        </p:spPr>
      </p:sp>
      <p:pic>
        <p:nvPicPr>
          <p:cNvPr id="4" name="Here since 1997 icon" descr="Here since 1997">    </p:cNvPr>
          <p:cNvPicPr>
            <a:picLocks noChangeAspect="1"/>
          </p:cNvPicPr>
          <p:nvPr/>
        </p:nvPicPr>
        <p:blipFill>
          <a:blip r:embed="rId1"/>
          <a:stretch>
            <a:fillRect/>
          </a:stretch>
        </p:blipFill>
        <p:spPr>
          <a:xfrm>
            <a:off x="691286" y="1605686"/>
            <a:ext cx="309067" cy="309067"/>
          </a:xfrm>
          <a:prstGeom prst="rect">
            <a:avLst/>
          </a:prstGeom>
        </p:spPr>
      </p:pic>
      <p:sp>
        <p:nvSpPr>
          <p:cNvPr id="5" name="Here since 1997 heading"/>
          <p:cNvSpPr txBox="1"/>
          <p:nvPr/>
        </p:nvSpPr>
        <p:spPr>
          <a:xfrm>
            <a:off x="548640" y="2194560"/>
            <a:ext cx="3474720" cy="365760"/>
          </a:xfrm>
          <a:prstGeom prst="rect">
            <a:avLst/>
          </a:prstGeom>
          <a:noFill/>
          <a:ln/>
        </p:spPr>
        <p:txBody>
          <a:bodyPr wrap="square" lIns="0" tIns="0" rIns="0" bIns="0" rtlCol="0" anchor="t"/>
          <a:lstStyle/>
          <a:p>
            <a:pPr indent="0" marL="0">
              <a:buNone/>
            </a:pPr>
            <a:r>
              <a:rPr lang="en-US" sz="1800" b="1" dirty="0">
                <a:solidFill>
                  <a:schemeClr val="tx2"/>
                </a:solidFill>
              </a:rPr>
              <a:t>Here since 1997</a:t>
            </a:r>
            <a:endParaRPr lang="en-US" sz="1800" dirty="0"/>
          </a:p>
        </p:txBody>
      </p:sp>
      <p:sp>
        <p:nvSpPr>
          <p:cNvPr id="6" name="Here since 1997 text"/>
          <p:cNvSpPr txBox="1"/>
          <p:nvPr/>
        </p:nvSpPr>
        <p:spPr>
          <a:xfrm>
            <a:off x="548640" y="2606040"/>
            <a:ext cx="3383280" cy="822960"/>
          </a:xfrm>
          <a:prstGeom prst="rect">
            <a:avLst/>
          </a:prstGeom>
          <a:noFill/>
          <a:ln/>
        </p:spPr>
        <p:txBody>
          <a:bodyPr wrap="square" lIns="0" tIns="0" rIns="0" bIns="0" rtlCol="0" anchor="t"/>
          <a:lstStyle/>
          <a:p>
            <a:pPr indent="0" marL="0">
              <a:buNone/>
            </a:pPr>
            <a:r>
              <a:rPr lang="en-US" sz="1400" dirty="0">
                <a:solidFill>
                  <a:schemeClr val="tx1"/>
                </a:solidFill>
              </a:rPr>
              <a:t>Plant in Peenya Industrial Area, Bengaluru. A new ₹90 crore excavator line opened in 2011.</a:t>
            </a:r>
            <a:endParaRPr lang="en-US" sz="1400" dirty="0"/>
          </a:p>
        </p:txBody>
      </p:sp>
      <p:sp>
        <p:nvSpPr>
          <p:cNvPr id="7" name="What it makes circle"/>
          <p:cNvSpPr/>
          <p:nvPr/>
        </p:nvSpPr>
        <p:spPr>
          <a:xfrm>
            <a:off x="4343400" y="1463040"/>
            <a:ext cx="594360" cy="594360"/>
          </a:xfrm>
          <a:prstGeom prst="ellipse">
            <a:avLst/>
          </a:prstGeom>
          <a:solidFill>
            <a:schemeClr val="tx2"/>
          </a:solidFill>
          <a:ln/>
        </p:spPr>
      </p:sp>
      <p:pic>
        <p:nvPicPr>
          <p:cNvPr id="8" name="What it makes icon" descr="What it makes">    </p:cNvPr>
          <p:cNvPicPr>
            <a:picLocks noChangeAspect="1"/>
          </p:cNvPicPr>
          <p:nvPr/>
        </p:nvPicPr>
        <p:blipFill>
          <a:blip r:embed="rId2"/>
          <a:stretch>
            <a:fillRect/>
          </a:stretch>
        </p:blipFill>
        <p:spPr>
          <a:xfrm>
            <a:off x="4486046" y="1605686"/>
            <a:ext cx="309067" cy="309067"/>
          </a:xfrm>
          <a:prstGeom prst="rect">
            <a:avLst/>
          </a:prstGeom>
        </p:spPr>
      </p:pic>
      <p:sp>
        <p:nvSpPr>
          <p:cNvPr id="9" name="What it makes heading"/>
          <p:cNvSpPr txBox="1"/>
          <p:nvPr/>
        </p:nvSpPr>
        <p:spPr>
          <a:xfrm>
            <a:off x="4343400" y="2194560"/>
            <a:ext cx="3474720" cy="365760"/>
          </a:xfrm>
          <a:prstGeom prst="rect">
            <a:avLst/>
          </a:prstGeom>
          <a:noFill/>
          <a:ln/>
        </p:spPr>
        <p:txBody>
          <a:bodyPr wrap="square" lIns="0" tIns="0" rIns="0" bIns="0" rtlCol="0" anchor="t"/>
          <a:lstStyle/>
          <a:p>
            <a:pPr indent="0" marL="0">
              <a:buNone/>
            </a:pPr>
            <a:r>
              <a:rPr lang="en-US" sz="1800" b="1" dirty="0">
                <a:solidFill>
                  <a:schemeClr val="tx2"/>
                </a:solidFill>
              </a:rPr>
              <a:t>What it makes</a:t>
            </a:r>
            <a:endParaRPr lang="en-US" sz="1800" dirty="0"/>
          </a:p>
        </p:txBody>
      </p:sp>
      <p:sp>
        <p:nvSpPr>
          <p:cNvPr id="10" name="What it makes text"/>
          <p:cNvSpPr txBox="1"/>
          <p:nvPr/>
        </p:nvSpPr>
        <p:spPr>
          <a:xfrm>
            <a:off x="4343400" y="2606040"/>
            <a:ext cx="3383280" cy="822960"/>
          </a:xfrm>
          <a:prstGeom prst="rect">
            <a:avLst/>
          </a:prstGeom>
          <a:noFill/>
          <a:ln/>
        </p:spPr>
        <p:txBody>
          <a:bodyPr wrap="square" lIns="0" tIns="0" rIns="0" bIns="0" rtlCol="0" anchor="t"/>
          <a:lstStyle/>
          <a:p>
            <a:pPr indent="0" marL="0">
              <a:buNone/>
            </a:pPr>
            <a:r>
              <a:rPr lang="en-US" sz="1400" dirty="0">
                <a:solidFill>
                  <a:schemeClr val="tx1"/>
                </a:solidFill>
              </a:rPr>
              <a:t>Crawler excavators, soil compactors and asphalt pavers. The EC210 is about 70% made in India.</a:t>
            </a:r>
            <a:endParaRPr lang="en-US" sz="1400" dirty="0"/>
          </a:p>
        </p:txBody>
      </p:sp>
      <p:sp>
        <p:nvSpPr>
          <p:cNvPr id="11" name="Who it serves circle"/>
          <p:cNvSpPr/>
          <p:nvPr/>
        </p:nvSpPr>
        <p:spPr>
          <a:xfrm>
            <a:off x="8138160" y="1463040"/>
            <a:ext cx="594360" cy="594360"/>
          </a:xfrm>
          <a:prstGeom prst="ellipse">
            <a:avLst/>
          </a:prstGeom>
          <a:solidFill>
            <a:schemeClr val="tx2"/>
          </a:solidFill>
          <a:ln/>
        </p:spPr>
      </p:sp>
      <p:pic>
        <p:nvPicPr>
          <p:cNvPr id="12" name="Who it serves icon" descr="Who it serves">    </p:cNvPr>
          <p:cNvPicPr>
            <a:picLocks noChangeAspect="1"/>
          </p:cNvPicPr>
          <p:nvPr/>
        </p:nvPicPr>
        <p:blipFill>
          <a:blip r:embed="rId3"/>
          <a:stretch>
            <a:fillRect/>
          </a:stretch>
        </p:blipFill>
        <p:spPr>
          <a:xfrm>
            <a:off x="8280806" y="1605686"/>
            <a:ext cx="309067" cy="309067"/>
          </a:xfrm>
          <a:prstGeom prst="rect">
            <a:avLst/>
          </a:prstGeom>
        </p:spPr>
      </p:pic>
      <p:sp>
        <p:nvSpPr>
          <p:cNvPr id="13" name="Who it serves heading"/>
          <p:cNvSpPr txBox="1"/>
          <p:nvPr/>
        </p:nvSpPr>
        <p:spPr>
          <a:xfrm>
            <a:off x="8138160" y="2194560"/>
            <a:ext cx="3474720" cy="365760"/>
          </a:xfrm>
          <a:prstGeom prst="rect">
            <a:avLst/>
          </a:prstGeom>
          <a:noFill/>
          <a:ln/>
        </p:spPr>
        <p:txBody>
          <a:bodyPr wrap="square" lIns="0" tIns="0" rIns="0" bIns="0" rtlCol="0" anchor="t"/>
          <a:lstStyle/>
          <a:p>
            <a:pPr indent="0" marL="0">
              <a:buNone/>
            </a:pPr>
            <a:r>
              <a:rPr lang="en-US" sz="1800" b="1" dirty="0">
                <a:solidFill>
                  <a:schemeClr val="tx2"/>
                </a:solidFill>
              </a:rPr>
              <a:t>Who it serves</a:t>
            </a:r>
            <a:endParaRPr lang="en-US" sz="1800" dirty="0"/>
          </a:p>
        </p:txBody>
      </p:sp>
      <p:sp>
        <p:nvSpPr>
          <p:cNvPr id="14" name="Who it serves text"/>
          <p:cNvSpPr txBox="1"/>
          <p:nvPr/>
        </p:nvSpPr>
        <p:spPr>
          <a:xfrm>
            <a:off x="8138160" y="2606040"/>
            <a:ext cx="3383280" cy="822960"/>
          </a:xfrm>
          <a:prstGeom prst="rect">
            <a:avLst/>
          </a:prstGeom>
          <a:noFill/>
          <a:ln/>
        </p:spPr>
        <p:txBody>
          <a:bodyPr wrap="square" lIns="0" tIns="0" rIns="0" bIns="0" rtlCol="0" anchor="t"/>
          <a:lstStyle/>
          <a:p>
            <a:pPr indent="0" marL="0">
              <a:buNone/>
            </a:pPr>
            <a:r>
              <a:rPr lang="en-US" sz="1400" dirty="0">
                <a:solidFill>
                  <a:schemeClr val="tx1"/>
                </a:solidFill>
              </a:rPr>
              <a:t>19 dealers and 180+ touchpoints, about 6.5% of India's market, plus some exports.</a:t>
            </a:r>
            <a:endParaRPr lang="en-US" sz="1400" dirty="0"/>
          </a:p>
        </p:txBody>
      </p:sp>
      <p:sp>
        <p:nvSpPr>
          <p:cNvPr id="15" name="Flow heading"/>
          <p:cNvSpPr txBox="1"/>
          <p:nvPr/>
        </p:nvSpPr>
        <p:spPr>
          <a:xfrm>
            <a:off x="548640" y="3977640"/>
            <a:ext cx="7315200" cy="365760"/>
          </a:xfrm>
          <a:prstGeom prst="rect">
            <a:avLst/>
          </a:prstGeom>
          <a:noFill/>
          <a:ln/>
        </p:spPr>
        <p:txBody>
          <a:bodyPr wrap="square" lIns="0" tIns="0" rIns="0" bIns="0" rtlCol="0" anchor="t"/>
          <a:lstStyle/>
          <a:p>
            <a:pPr indent="0" marL="0">
              <a:buNone/>
            </a:pPr>
            <a:r>
              <a:rPr lang="en-US" sz="1600" b="1" dirty="0">
                <a:solidFill>
                  <a:schemeClr val="tx2"/>
                </a:solidFill>
              </a:rPr>
              <a:t>How a machine comes together at Peenya</a:t>
            </a:r>
            <a:endParaRPr lang="en-US" sz="1600" dirty="0"/>
          </a:p>
        </p:txBody>
      </p:sp>
      <p:sp>
        <p:nvSpPr>
          <p:cNvPr id="16" name="Step 1"/>
          <p:cNvSpPr/>
          <p:nvPr/>
        </p:nvSpPr>
        <p:spPr>
          <a:xfrm>
            <a:off x="548640" y="4434840"/>
            <a:ext cx="1920240" cy="777240"/>
          </a:xfrm>
          <a:prstGeom prst="homePlate">
            <a:avLst/>
          </a:prstGeom>
          <a:solidFill>
            <a:schemeClr val="bg2"/>
          </a:solidFill>
          <a:ln/>
        </p:spPr>
      </p:sp>
      <p:sp>
        <p:nvSpPr>
          <p:cNvPr id="17" name="Step label 1"/>
          <p:cNvSpPr txBox="1"/>
          <p:nvPr/>
        </p:nvSpPr>
        <p:spPr>
          <a:xfrm>
            <a:off x="640080" y="4434840"/>
            <a:ext cx="1371600" cy="777240"/>
          </a:xfrm>
          <a:prstGeom prst="rect">
            <a:avLst/>
          </a:prstGeom>
          <a:noFill/>
          <a:ln/>
        </p:spPr>
        <p:txBody>
          <a:bodyPr wrap="square" lIns="0" tIns="0" rIns="0" bIns="0" rtlCol="0" anchor="ctr"/>
          <a:lstStyle/>
          <a:p>
            <a:pPr algn="ctr" indent="0" marL="0">
              <a:buNone/>
            </a:pPr>
            <a:r>
              <a:rPr lang="en-US" sz="1300" dirty="0">
                <a:solidFill>
                  <a:schemeClr val="tx2"/>
                </a:solidFill>
              </a:rPr>
              <a:t>Receiving</a:t>
            </a:r>
            <a:endParaRPr lang="en-US" sz="1300" dirty="0"/>
          </a:p>
        </p:txBody>
      </p:sp>
      <p:sp>
        <p:nvSpPr>
          <p:cNvPr id="18" name="Step 2"/>
          <p:cNvSpPr/>
          <p:nvPr/>
        </p:nvSpPr>
        <p:spPr>
          <a:xfrm>
            <a:off x="2377440" y="4434840"/>
            <a:ext cx="1920240" cy="777240"/>
          </a:xfrm>
          <a:prstGeom prst="chevron">
            <a:avLst/>
          </a:prstGeom>
          <a:solidFill>
            <a:schemeClr val="bg2"/>
          </a:solidFill>
          <a:ln/>
        </p:spPr>
      </p:sp>
      <p:sp>
        <p:nvSpPr>
          <p:cNvPr id="19" name="Step label 2"/>
          <p:cNvSpPr txBox="1"/>
          <p:nvPr/>
        </p:nvSpPr>
        <p:spPr>
          <a:xfrm>
            <a:off x="2697480" y="4434840"/>
            <a:ext cx="1371600" cy="777240"/>
          </a:xfrm>
          <a:prstGeom prst="rect">
            <a:avLst/>
          </a:prstGeom>
          <a:noFill/>
          <a:ln/>
        </p:spPr>
        <p:txBody>
          <a:bodyPr wrap="square" lIns="0" tIns="0" rIns="0" bIns="0" rtlCol="0" anchor="ctr"/>
          <a:lstStyle/>
          <a:p>
            <a:pPr algn="ctr" indent="0" marL="0">
              <a:buNone/>
            </a:pPr>
            <a:r>
              <a:rPr lang="en-US" sz="1300" dirty="0">
                <a:solidFill>
                  <a:schemeClr val="tx2"/>
                </a:solidFill>
              </a:rPr>
              <a:t>Fabrication</a:t>
            </a:r>
            <a:endParaRPr lang="en-US" sz="1300" dirty="0"/>
          </a:p>
        </p:txBody>
      </p:sp>
      <p:sp>
        <p:nvSpPr>
          <p:cNvPr id="20" name="Step 3"/>
          <p:cNvSpPr/>
          <p:nvPr/>
        </p:nvSpPr>
        <p:spPr>
          <a:xfrm>
            <a:off x="4206240" y="4434840"/>
            <a:ext cx="1920240" cy="777240"/>
          </a:xfrm>
          <a:prstGeom prst="chevron">
            <a:avLst/>
          </a:prstGeom>
          <a:solidFill>
            <a:schemeClr val="accent2"/>
          </a:solidFill>
          <a:ln/>
        </p:spPr>
      </p:sp>
      <p:sp>
        <p:nvSpPr>
          <p:cNvPr id="21" name="Step label 3"/>
          <p:cNvSpPr txBox="1"/>
          <p:nvPr/>
        </p:nvSpPr>
        <p:spPr>
          <a:xfrm>
            <a:off x="4526280" y="4434840"/>
            <a:ext cx="1371600" cy="777240"/>
          </a:xfrm>
          <a:prstGeom prst="rect">
            <a:avLst/>
          </a:prstGeom>
          <a:noFill/>
          <a:ln/>
        </p:spPr>
        <p:txBody>
          <a:bodyPr wrap="square" lIns="0" tIns="0" rIns="0" bIns="0" rtlCol="0" anchor="ctr"/>
          <a:lstStyle/>
          <a:p>
            <a:pPr algn="ctr" indent="0" marL="0">
              <a:buNone/>
            </a:pPr>
            <a:r>
              <a:rPr lang="en-US" sz="1300" b="1" dirty="0">
                <a:solidFill>
                  <a:schemeClr val="tx2"/>
                </a:solidFill>
              </a:rPr>
              <a:t>Machine shop</a:t>
            </a:r>
            <a:endParaRPr lang="en-US" sz="1300" dirty="0"/>
          </a:p>
        </p:txBody>
      </p:sp>
      <p:sp>
        <p:nvSpPr>
          <p:cNvPr id="22" name="Step 4"/>
          <p:cNvSpPr/>
          <p:nvPr/>
        </p:nvSpPr>
        <p:spPr>
          <a:xfrm>
            <a:off x="6035040" y="4434840"/>
            <a:ext cx="1920240" cy="777240"/>
          </a:xfrm>
          <a:prstGeom prst="chevron">
            <a:avLst/>
          </a:prstGeom>
          <a:solidFill>
            <a:schemeClr val="bg2"/>
          </a:solidFill>
          <a:ln/>
        </p:spPr>
      </p:sp>
      <p:sp>
        <p:nvSpPr>
          <p:cNvPr id="23" name="Step label 4"/>
          <p:cNvSpPr txBox="1"/>
          <p:nvPr/>
        </p:nvSpPr>
        <p:spPr>
          <a:xfrm>
            <a:off x="6355080" y="4434840"/>
            <a:ext cx="1371600" cy="777240"/>
          </a:xfrm>
          <a:prstGeom prst="rect">
            <a:avLst/>
          </a:prstGeom>
          <a:noFill/>
          <a:ln/>
        </p:spPr>
        <p:txBody>
          <a:bodyPr wrap="square" lIns="0" tIns="0" rIns="0" bIns="0" rtlCol="0" anchor="ctr"/>
          <a:lstStyle/>
          <a:p>
            <a:pPr algn="ctr" indent="0" marL="0">
              <a:buNone/>
            </a:pPr>
            <a:r>
              <a:rPr lang="en-US" sz="1300" dirty="0">
                <a:solidFill>
                  <a:schemeClr val="tx2"/>
                </a:solidFill>
              </a:rPr>
              <a:t>Paint shop</a:t>
            </a:r>
            <a:endParaRPr lang="en-US" sz="1300" dirty="0"/>
          </a:p>
        </p:txBody>
      </p:sp>
      <p:sp>
        <p:nvSpPr>
          <p:cNvPr id="24" name="Step 5"/>
          <p:cNvSpPr/>
          <p:nvPr/>
        </p:nvSpPr>
        <p:spPr>
          <a:xfrm>
            <a:off x="7863840" y="4434840"/>
            <a:ext cx="1920240" cy="777240"/>
          </a:xfrm>
          <a:prstGeom prst="chevron">
            <a:avLst/>
          </a:prstGeom>
          <a:solidFill>
            <a:schemeClr val="bg2"/>
          </a:solidFill>
          <a:ln/>
        </p:spPr>
      </p:sp>
      <p:sp>
        <p:nvSpPr>
          <p:cNvPr id="25" name="Step label 5"/>
          <p:cNvSpPr txBox="1"/>
          <p:nvPr/>
        </p:nvSpPr>
        <p:spPr>
          <a:xfrm>
            <a:off x="8183880" y="4434840"/>
            <a:ext cx="1371600" cy="777240"/>
          </a:xfrm>
          <a:prstGeom prst="rect">
            <a:avLst/>
          </a:prstGeom>
          <a:noFill/>
          <a:ln/>
        </p:spPr>
        <p:txBody>
          <a:bodyPr wrap="square" lIns="0" tIns="0" rIns="0" bIns="0" rtlCol="0" anchor="ctr"/>
          <a:lstStyle/>
          <a:p>
            <a:pPr algn="ctr" indent="0" marL="0">
              <a:buNone/>
            </a:pPr>
            <a:r>
              <a:rPr lang="en-US" sz="1300" dirty="0">
                <a:solidFill>
                  <a:schemeClr val="tx2"/>
                </a:solidFill>
              </a:rPr>
              <a:t>Assembly</a:t>
            </a:r>
            <a:endParaRPr lang="en-US" sz="1300" dirty="0"/>
          </a:p>
        </p:txBody>
      </p:sp>
      <p:sp>
        <p:nvSpPr>
          <p:cNvPr id="26" name="Step 6"/>
          <p:cNvSpPr/>
          <p:nvPr/>
        </p:nvSpPr>
        <p:spPr>
          <a:xfrm>
            <a:off x="9692640" y="4434840"/>
            <a:ext cx="1920240" cy="777240"/>
          </a:xfrm>
          <a:prstGeom prst="chevron">
            <a:avLst/>
          </a:prstGeom>
          <a:solidFill>
            <a:schemeClr val="bg2"/>
          </a:solidFill>
          <a:ln/>
        </p:spPr>
      </p:sp>
      <p:sp>
        <p:nvSpPr>
          <p:cNvPr id="27" name="Step label 6"/>
          <p:cNvSpPr txBox="1"/>
          <p:nvPr/>
        </p:nvSpPr>
        <p:spPr>
          <a:xfrm>
            <a:off x="10012680" y="4434840"/>
            <a:ext cx="1371600" cy="777240"/>
          </a:xfrm>
          <a:prstGeom prst="rect">
            <a:avLst/>
          </a:prstGeom>
          <a:noFill/>
          <a:ln/>
        </p:spPr>
        <p:txBody>
          <a:bodyPr wrap="square" lIns="0" tIns="0" rIns="0" bIns="0" rtlCol="0" anchor="ctr"/>
          <a:lstStyle/>
          <a:p>
            <a:pPr algn="ctr" indent="0" marL="0">
              <a:buNone/>
            </a:pPr>
            <a:r>
              <a:rPr lang="en-US" sz="1300" dirty="0">
                <a:solidFill>
                  <a:schemeClr val="tx2"/>
                </a:solidFill>
              </a:rPr>
              <a:t>Test &amp; dispatch</a:t>
            </a:r>
            <a:endParaRPr lang="en-US" sz="1300" dirty="0"/>
          </a:p>
        </p:txBody>
      </p:sp>
      <p:sp>
        <p:nvSpPr>
          <p:cNvPr id="28" name="Focus note"/>
          <p:cNvSpPr txBox="1"/>
          <p:nvPr/>
        </p:nvSpPr>
        <p:spPr>
          <a:xfrm>
            <a:off x="4206240" y="5394960"/>
            <a:ext cx="4572000" cy="548640"/>
          </a:xfrm>
          <a:prstGeom prst="rect">
            <a:avLst/>
          </a:prstGeom>
          <a:noFill/>
          <a:ln/>
        </p:spPr>
        <p:txBody>
          <a:bodyPr wrap="square" lIns="0" tIns="0" rIns="0" bIns="0" rtlCol="0" anchor="t"/>
          <a:lstStyle/>
          <a:p>
            <a:pPr indent="0" marL="0">
              <a:buNone/>
            </a:pPr>
            <a:r>
              <a:rPr lang="en-US" sz="1300" b="1" dirty="0">
                <a:solidFill>
                  <a:schemeClr val="tx2"/>
                </a:solidFill>
              </a:rPr>
              <a:t>Our focus: </a:t>
            </a:r>
            <a:pPr indent="0" marL="0">
              <a:buNone/>
            </a:pPr>
            <a:r>
              <a:rPr lang="en-US" sz="1300" dirty="0">
                <a:solidFill>
                  <a:schemeClr val="tx1"/>
                </a:solidFill>
              </a:rPr>
              <a:t>boring, milling and drilling the booms, arms and frames that come out of fabrication</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In India, the 20-tonne excavator is king</a:t>
            </a:r>
            <a:endParaRPr lang="en-US" sz="3200" dirty="0"/>
          </a:p>
        </p:txBody>
      </p:sp>
      <p:sp>
        <p:nvSpPr>
          <p:cNvPr id="3" name="Market card"/>
          <p:cNvSpPr/>
          <p:nvPr/>
        </p:nvSpPr>
        <p:spPr>
          <a:xfrm>
            <a:off x="548640" y="1417320"/>
            <a:ext cx="3749040" cy="4160520"/>
          </a:xfrm>
          <a:prstGeom prst="roundRect">
            <a:avLst>
              <a:gd name="adj" fmla="val 1951"/>
            </a:avLst>
          </a:prstGeom>
          <a:solidFill>
            <a:schemeClr val="tx2"/>
          </a:solidFill>
          <a:ln/>
        </p:spPr>
      </p:sp>
      <p:sp>
        <p:nvSpPr>
          <p:cNvPr id="4" name="Share of 20 t class"/>
          <p:cNvSpPr txBox="1"/>
          <p:nvPr/>
        </p:nvSpPr>
        <p:spPr>
          <a:xfrm>
            <a:off x="868680" y="1645920"/>
            <a:ext cx="3200400" cy="82296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≈70%</a:t>
            </a:r>
            <a:endParaRPr lang="en-US" sz="5400" dirty="0"/>
          </a:p>
        </p:txBody>
      </p:sp>
      <p:sp>
        <p:nvSpPr>
          <p:cNvPr id="5" name="Share label"/>
          <p:cNvSpPr txBox="1"/>
          <p:nvPr/>
        </p:nvSpPr>
        <p:spPr>
          <a:xfrm>
            <a:off x="868680" y="2514600"/>
            <a:ext cx="3154680" cy="822960"/>
          </a:xfrm>
          <a:prstGeom prst="rect">
            <a:avLst/>
          </a:prstGeom>
          <a:noFill/>
          <a:ln/>
        </p:spPr>
        <p:txBody>
          <a:bodyPr wrap="square" lIns="0" tIns="0" rIns="0" bIns="0" rtlCol="0" anchor="t"/>
          <a:lstStyle/>
          <a:p>
            <a:pPr indent="0" marL="0">
              <a:buNone/>
            </a:pPr>
            <a:r>
              <a:rPr lang="en-US" sz="1500" dirty="0">
                <a:solidFill>
                  <a:schemeClr val="bg1"/>
                </a:solidFill>
              </a:rPr>
              <a:t>of the 30,000–35,000 excavators sold in India each year are in the 20 t class</a:t>
            </a:r>
            <a:endParaRPr lang="en-US" sz="1500" dirty="0"/>
          </a:p>
        </p:txBody>
      </p:sp>
      <p:sp>
        <p:nvSpPr>
          <p:cNvPr id="6" name="Volvo share goal"/>
          <p:cNvSpPr txBox="1"/>
          <p:nvPr/>
        </p:nvSpPr>
        <p:spPr>
          <a:xfrm>
            <a:off x="868680" y="3611880"/>
            <a:ext cx="320040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4%</a:t>
            </a:r>
            <a:pPr indent="0" marL="0">
              <a:buNone/>
            </a:pPr>
            <a:r>
              <a:rPr lang="en-US" sz="4000" b="1" dirty="0">
                <a:solidFill>
                  <a:schemeClr val="accent2"/>
                </a:solidFill>
                <a:latin typeface="Calibri" pitchFamily="34" charset="0"/>
                <a:ea typeface="Calibri" pitchFamily="34" charset="-122"/>
                <a:cs typeface="Calibri" pitchFamily="34" charset="-120"/>
              </a:rPr>
              <a:t> → </a:t>
            </a:r>
            <a:pPr indent="0" marL="0">
              <a:buNone/>
            </a:pPr>
            <a:r>
              <a:rPr lang="en-US" sz="4000" b="1" dirty="0">
                <a:solidFill>
                  <a:schemeClr val="accent2"/>
                </a:solidFill>
                <a:latin typeface="Cambria" pitchFamily="34" charset="0"/>
                <a:ea typeface="Cambria" pitchFamily="34" charset="-122"/>
                <a:cs typeface="Cambria" pitchFamily="34" charset="-120"/>
              </a:rPr>
              <a:t>8%+</a:t>
            </a:r>
            <a:endParaRPr lang="en-US" sz="4000" dirty="0"/>
          </a:p>
        </p:txBody>
      </p:sp>
      <p:sp>
        <p:nvSpPr>
          <p:cNvPr id="7" name="Goal label"/>
          <p:cNvSpPr txBox="1"/>
          <p:nvPr/>
        </p:nvSpPr>
        <p:spPr>
          <a:xfrm>
            <a:off x="868680" y="4389120"/>
            <a:ext cx="3154680" cy="640080"/>
          </a:xfrm>
          <a:prstGeom prst="rect">
            <a:avLst/>
          </a:prstGeom>
          <a:noFill/>
          <a:ln/>
        </p:spPr>
        <p:txBody>
          <a:bodyPr wrap="square" lIns="0" tIns="0" rIns="0" bIns="0" rtlCol="0" anchor="t"/>
          <a:lstStyle/>
          <a:p>
            <a:pPr indent="0" marL="0">
              <a:buNone/>
            </a:pPr>
            <a:r>
              <a:rPr lang="en-US" sz="1500" dirty="0">
                <a:solidFill>
                  <a:schemeClr val="bg1"/>
                </a:solidFill>
              </a:rPr>
              <a:t>Volvo's share of that class in 2024, and where it wants to be</a:t>
            </a:r>
            <a:endParaRPr lang="en-US" sz="1500" dirty="0"/>
          </a:p>
        </p:txBody>
      </p:sp>
      <p:sp>
        <p:nvSpPr>
          <p:cNvPr id="8" name="Table heading"/>
          <p:cNvSpPr txBox="1"/>
          <p:nvPr/>
        </p:nvSpPr>
        <p:spPr>
          <a:xfrm>
            <a:off x="4663440" y="1417320"/>
            <a:ext cx="6949440" cy="365760"/>
          </a:xfrm>
          <a:prstGeom prst="rect">
            <a:avLst/>
          </a:prstGeom>
          <a:noFill/>
          <a:ln/>
        </p:spPr>
        <p:txBody>
          <a:bodyPr wrap="square" lIns="0" tIns="0" rIns="0" bIns="0" rtlCol="0" anchor="t"/>
          <a:lstStyle/>
          <a:p>
            <a:pPr indent="0" marL="0">
              <a:buNone/>
            </a:pPr>
            <a:r>
              <a:rPr lang="en-US" sz="1600" b="1" dirty="0">
                <a:solidFill>
                  <a:schemeClr val="tx2"/>
                </a:solidFill>
              </a:rPr>
              <a:t>What Volvo CE sells in India</a:t>
            </a:r>
            <a:endParaRPr lang="en-US" sz="1600" dirty="0"/>
          </a:p>
        </p:txBody>
      </p:sp>
      <p:graphicFrame>
        <p:nvGraphicFramePr>
          <p:cNvPr id="6" name="India range table"/>
          <p:cNvGraphicFramePr>
            <a:graphicFrameLocks noGrp="1"/>
          </p:cNvGraphicFramePr>
          <p:nvPr>
            <p:extLst>
              <p:ext uri="{D42A27DB-BD31-4B8C-83A1-F6EECF244321}">
                <p14:modId xmlns:p14="http://schemas.microsoft.com/office/powerpoint/2010/main" val="1579011935"/>
              </p:ext>
            </p:extLst>
          </p:nvPr>
        </p:nvGraphicFramePr>
        <p:xfrm>
          <a:off x="4663440" y="1874520"/>
          <a:ext cx="6949440" cy="914400"/>
        </p:xfrm>
        <a:graphic>
          <a:graphicData uri="http://schemas.openxmlformats.org/drawingml/2006/table">
            <a:tbl>
              <a:tblPr/>
              <a:tblGrid>
                <a:gridCol w="2697480"/>
                <a:gridCol w="2971800"/>
                <a:gridCol w="1280160"/>
              </a:tblGrid>
              <a:tr h="365760">
                <a:tc>
                  <a:txBody>
                    <a:bodyPr/>
                    <a:lstStyle/>
                    <a:p>
                      <a:pPr indent="0" marL="0">
                        <a:buNone/>
                      </a:pPr>
                      <a:r>
                        <a:rPr lang="en-US" sz="1200" b="1" dirty="0">
                          <a:solidFill>
                            <a:schemeClr val="accent5"/>
                          </a:solidFill>
                        </a:rPr>
                        <a:t>Used for</a:t>
                      </a:r>
                      <a:endParaRPr lang="en-US" sz="1200" dirty="0"/>
                    </a:p>
                  </a:txBody>
                  <a:tcPr marL="0" marR="73152" marT="36576" marB="36576" anchor="ctr">
                    <a:lnL w="0" cap="flat" cmpd="sng" algn="ctr">
                      <a:noFill/>
                    </a:lnL>
                    <a:lnR w="0" cap="flat" cmpd="sng" algn="ctr">
                      <a:noFill/>
                    </a:lnR>
                    <a:lnT w="0" cap="flat" cmpd="sng" algn="ctr">
                      <a:noFill/>
                    </a:lnT>
                    <a:lnB w="19050" cap="flat" cmpd="sng" algn="ctr">
                      <a:solidFill>
                        <a:srgbClr val="14233A"/>
                      </a:solidFill>
                      <a:prstDash val="solid"/>
                      <a:round/>
                      <a:headEnd type="none" w="med" len="med"/>
                      <a:tailEnd type="none" w="med" len="med"/>
                    </a:lnB>
                  </a:tcPr>
                </a:tc>
                <a:tc>
                  <a:txBody>
                    <a:bodyPr/>
                    <a:lstStyle/>
                    <a:p>
                      <a:pPr indent="0" marL="0">
                        <a:buNone/>
                      </a:pPr>
                      <a:r>
                        <a:rPr lang="en-US" sz="1200" b="1" dirty="0">
                          <a:solidFill>
                            <a:schemeClr val="accent5"/>
                          </a:solidFill>
                        </a:rPr>
                        <a:t>Models</a:t>
                      </a:r>
                      <a:endParaRPr lang="en-US" sz="1200" dirty="0"/>
                    </a:p>
                  </a:txBody>
                  <a:tcPr marL="0" marR="73152" marT="36576" marB="36576" anchor="ctr">
                    <a:lnL w="0" cap="flat" cmpd="sng" algn="ctr">
                      <a:noFill/>
                    </a:lnL>
                    <a:lnR w="0" cap="flat" cmpd="sng" algn="ctr">
                      <a:noFill/>
                    </a:lnR>
                    <a:lnT w="0" cap="flat" cmpd="sng" algn="ctr">
                      <a:noFill/>
                    </a:lnT>
                    <a:lnB w="19050" cap="flat" cmpd="sng" algn="ctr">
                      <a:solidFill>
                        <a:srgbClr val="14233A"/>
                      </a:solidFill>
                      <a:prstDash val="solid"/>
                      <a:round/>
                      <a:headEnd type="none" w="med" len="med"/>
                      <a:tailEnd type="none" w="med" len="med"/>
                    </a:lnB>
                  </a:tcPr>
                </a:tc>
                <a:tc>
                  <a:txBody>
                    <a:bodyPr/>
                    <a:lstStyle/>
                    <a:p>
                      <a:pPr indent="0" marL="0">
                        <a:buNone/>
                      </a:pPr>
                      <a:r>
                        <a:rPr lang="en-US" sz="1200" b="1" dirty="0">
                          <a:solidFill>
                            <a:schemeClr val="accent5"/>
                          </a:solidFill>
                        </a:rPr>
                        <a:t>Weight</a:t>
                      </a:r>
                      <a:endParaRPr lang="en-US" sz="1200" dirty="0"/>
                    </a:p>
                  </a:txBody>
                  <a:tcPr marL="0" marR="73152" marT="36576" marB="36576" anchor="ctr">
                    <a:lnL w="0" cap="flat" cmpd="sng" algn="ctr">
                      <a:noFill/>
                    </a:lnL>
                    <a:lnR w="0" cap="flat" cmpd="sng" algn="ctr">
                      <a:noFill/>
                    </a:lnR>
                    <a:lnT w="0" cap="flat" cmpd="sng" algn="ctr">
                      <a:noFill/>
                    </a:lnT>
                    <a:lnB w="19050" cap="flat" cmpd="sng" algn="ctr">
                      <a:solidFill>
                        <a:srgbClr val="14233A"/>
                      </a:solidFill>
                      <a:prstDash val="solid"/>
                      <a:round/>
                      <a:headEnd type="none" w="med" len="med"/>
                      <a:tailEnd type="none" w="med" len="med"/>
                    </a:lnB>
                  </a:tcPr>
                </a:tc>
              </a:tr>
              <a:tr h="566928">
                <a:tc>
                  <a:txBody>
                    <a:bodyPr/>
                    <a:lstStyle/>
                    <a:p>
                      <a:pPr indent="0" marL="0">
                        <a:buNone/>
                      </a:pPr>
                      <a:r>
                        <a:rPr lang="en-US" sz="1400" b="1" dirty="0">
                          <a:solidFill>
                            <a:schemeClr val="tx1"/>
                          </a:solidFill>
                        </a:rPr>
                        <a:t>Construction and infrastructure</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EC210, EC215, EC220 </a:t>
                      </a:r>
                      <a:pPr indent="0" marL="0">
                        <a:buNone/>
                      </a:pPr>
                      <a:r>
                        <a:rPr lang="en-US" sz="1400" b="1" dirty="0">
                          <a:solidFill>
                            <a:schemeClr val="accent1"/>
                          </a:solidFill>
                        </a:rPr>
                        <a:t>(built at Peenya)</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20–22 t</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r>
              <a:tr h="566928">
                <a:tc>
                  <a:txBody>
                    <a:bodyPr/>
                    <a:lstStyle/>
                    <a:p>
                      <a:pPr indent="0" marL="0">
                        <a:buNone/>
                      </a:pPr>
                      <a:r>
                        <a:rPr lang="en-US" sz="1400" b="1" dirty="0">
                          <a:solidFill>
                            <a:schemeClr val="tx1"/>
                          </a:solidFill>
                        </a:rPr>
                        <a:t>Quarrying and earthmoving</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EC300, EC380, EC480</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30–48 t</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r>
              <a:tr h="566928">
                <a:tc>
                  <a:txBody>
                    <a:bodyPr/>
                    <a:lstStyle/>
                    <a:p>
                      <a:pPr indent="0" marL="0">
                        <a:buNone/>
                      </a:pPr>
                      <a:r>
                        <a:rPr lang="en-US" sz="1400" b="1" dirty="0">
                          <a:solidFill>
                            <a:schemeClr val="tx1"/>
                          </a:solidFill>
                        </a:rPr>
                        <a:t>Mining</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EC650 (new in 2026), EC750</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65–75 t</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r>
              <a:tr h="566928">
                <a:tc>
                  <a:txBody>
                    <a:bodyPr/>
                    <a:lstStyle/>
                    <a:p>
                      <a:pPr indent="0" marL="0">
                        <a:buNone/>
                      </a:pPr>
                      <a:r>
                        <a:rPr lang="en-US" sz="1400" b="1" dirty="0">
                          <a:solidFill>
                            <a:schemeClr val="tx1"/>
                          </a:solidFill>
                        </a:rPr>
                        <a:t>Road building</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Compactors and ABG pavers </a:t>
                      </a:r>
                      <a:pPr indent="0" marL="0">
                        <a:buNone/>
                      </a:pPr>
                      <a:r>
                        <a:rPr lang="en-US" sz="1400" b="1" dirty="0">
                          <a:solidFill>
                            <a:schemeClr val="accent1"/>
                          </a:solidFill>
                        </a:rPr>
                        <a:t>(built at Peenya)</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c>
                  <a:txBody>
                    <a:bodyPr/>
                    <a:lstStyle/>
                    <a:p>
                      <a:pPr indent="0" marL="0">
                        <a:buNone/>
                      </a:pPr>
                      <a:r>
                        <a:rPr lang="en-US" sz="1400" dirty="0">
                          <a:solidFill>
                            <a:schemeClr val="tx1"/>
                          </a:solidFill>
                        </a:rPr>
                        <a:t>about 9–11 t</a:t>
                      </a:r>
                      <a:endParaRPr lang="en-US" sz="1400" dirty="0"/>
                    </a:p>
                  </a:txBody>
                  <a:tcPr marL="0" marR="73152" marT="36576" marB="36576" anchor="ctr">
                    <a:lnL w="0" cap="flat" cmpd="sng" algn="ctr">
                      <a:noFill/>
                    </a:lnL>
                    <a:lnR w="0" cap="flat" cmpd="sng" algn="ctr">
                      <a:noFill/>
                    </a:lnR>
                    <a:lnT w="0" cap="flat" cmpd="sng" algn="ctr">
                      <a:noFill/>
                    </a:lnT>
                    <a:lnB w="12700" cap="flat" cmpd="sng" algn="ctr">
                      <a:solidFill>
                        <a:srgbClr val="E3E7EC"/>
                      </a:solidFill>
                      <a:prstDash val="solid"/>
                      <a:round/>
                      <a:headEnd type="none" w="med" len="med"/>
                      <a:tailEnd type="none" w="med" len="med"/>
                    </a:lnB>
                  </a:tcPr>
                </a:tc>
              </a:tr>
            </a:tbl>
          </a:graphicData>
        </a:graphic>
      </p:graphicFrame>
      <p:sp>
        <p:nvSpPr>
          <p:cNvPr id="10" name="So-what card"/>
          <p:cNvSpPr/>
          <p:nvPr/>
        </p:nvSpPr>
        <p:spPr>
          <a:xfrm>
            <a:off x="4663440" y="4800600"/>
            <a:ext cx="6949440" cy="777240"/>
          </a:xfrm>
          <a:prstGeom prst="roundRect">
            <a:avLst>
              <a:gd name="adj" fmla="val 9412"/>
            </a:avLst>
          </a:prstGeom>
          <a:solidFill>
            <a:schemeClr val="bg2"/>
          </a:solidFill>
          <a:ln/>
        </p:spPr>
      </p:sp>
      <p:sp>
        <p:nvSpPr>
          <p:cNvPr id="11" name="So-what text"/>
          <p:cNvSpPr txBox="1"/>
          <p:nvPr/>
        </p:nvSpPr>
        <p:spPr>
          <a:xfrm>
            <a:off x="4846320" y="4800600"/>
            <a:ext cx="6583680" cy="777240"/>
          </a:xfrm>
          <a:prstGeom prst="rect">
            <a:avLst/>
          </a:prstGeom>
          <a:noFill/>
          <a:ln/>
        </p:spPr>
        <p:txBody>
          <a:bodyPr wrap="square" lIns="0" tIns="0" rIns="0" bIns="0" rtlCol="0" anchor="ctr"/>
          <a:lstStyle/>
          <a:p>
            <a:pPr indent="0" marL="0">
              <a:buNone/>
            </a:pPr>
            <a:r>
              <a:rPr lang="en-US" sz="1500" dirty="0">
                <a:solidFill>
                  <a:schemeClr val="tx2"/>
                </a:solidFill>
              </a:rPr>
              <a:t>More 20 t machines sold means Peenya's machine shop has to make more every shift. That's where our project comes in.</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ask: two more excavators every shift</a:t>
            </a:r>
            <a:endParaRPr lang="en-US" sz="3200" dirty="0"/>
          </a:p>
        </p:txBody>
      </p:sp>
      <p:sp>
        <p:nvSpPr>
          <p:cNvPr id="3" name="Output tile"/>
          <p:cNvSpPr/>
          <p:nvPr/>
        </p:nvSpPr>
        <p:spPr>
          <a:xfrm>
            <a:off x="548640" y="1417320"/>
            <a:ext cx="3566160" cy="1828800"/>
          </a:xfrm>
          <a:prstGeom prst="roundRect">
            <a:avLst>
              <a:gd name="adj" fmla="val 4000"/>
            </a:avLst>
          </a:prstGeom>
          <a:solidFill>
            <a:schemeClr val="tx2"/>
          </a:solidFill>
          <a:ln/>
        </p:spPr>
      </p:sp>
      <p:sp>
        <p:nvSpPr>
          <p:cNvPr id="4" name="Output value"/>
          <p:cNvSpPr txBox="1"/>
          <p:nvPr/>
        </p:nvSpPr>
        <p:spPr>
          <a:xfrm>
            <a:off x="777240" y="1600200"/>
            <a:ext cx="3108960" cy="82296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10</a:t>
            </a:r>
            <a:pPr indent="0" marL="0">
              <a:buNone/>
            </a:pPr>
            <a:r>
              <a:rPr lang="en-US" sz="4800" b="1" dirty="0">
                <a:solidFill>
                  <a:schemeClr val="bg1"/>
                </a:solidFill>
                <a:latin typeface="Calibri" pitchFamily="34" charset="0"/>
                <a:ea typeface="Calibri" pitchFamily="34" charset="-122"/>
                <a:cs typeface="Calibri" pitchFamily="34" charset="-120"/>
              </a:rPr>
              <a:t> → </a:t>
            </a:r>
            <a:pPr indent="0" marL="0">
              <a:buNone/>
            </a:pPr>
            <a:r>
              <a:rPr lang="en-US" sz="4800" b="1" dirty="0">
                <a:solidFill>
                  <a:schemeClr val="accent2"/>
                </a:solidFill>
                <a:latin typeface="Cambria" pitchFamily="34" charset="0"/>
                <a:ea typeface="Cambria" pitchFamily="34" charset="-122"/>
                <a:cs typeface="Cambria" pitchFamily="34" charset="-120"/>
              </a:rPr>
              <a:t>12</a:t>
            </a:r>
            <a:endParaRPr lang="en-US" sz="4800" dirty="0"/>
          </a:p>
        </p:txBody>
      </p:sp>
      <p:sp>
        <p:nvSpPr>
          <p:cNvPr id="5" name="Output label"/>
          <p:cNvSpPr txBox="1"/>
          <p:nvPr/>
        </p:nvSpPr>
        <p:spPr>
          <a:xfrm>
            <a:off x="777240" y="2514600"/>
            <a:ext cx="3108960" cy="548640"/>
          </a:xfrm>
          <a:prstGeom prst="rect">
            <a:avLst/>
          </a:prstGeom>
          <a:noFill/>
          <a:ln/>
        </p:spPr>
        <p:txBody>
          <a:bodyPr wrap="square" lIns="0" tIns="0" rIns="0" bIns="0" rtlCol="0" anchor="t"/>
          <a:lstStyle/>
          <a:p>
            <a:pPr indent="0" marL="0">
              <a:buNone/>
            </a:pPr>
            <a:r>
              <a:rPr lang="en-US" sz="1400" dirty="0">
                <a:solidFill>
                  <a:schemeClr val="bg2"/>
                </a:solidFill>
              </a:rPr>
              <a:t>excavators per 8-hour shift, today vs target (+20%)</a:t>
            </a:r>
            <a:endParaRPr lang="en-US" sz="1400" dirty="0"/>
          </a:p>
        </p:txBody>
      </p:sp>
      <p:sp>
        <p:nvSpPr>
          <p:cNvPr id="6" name="Takt tile"/>
          <p:cNvSpPr/>
          <p:nvPr/>
        </p:nvSpPr>
        <p:spPr>
          <a:xfrm>
            <a:off x="4343400" y="1417320"/>
            <a:ext cx="3566160" cy="1828800"/>
          </a:xfrm>
          <a:prstGeom prst="roundRect">
            <a:avLst>
              <a:gd name="adj" fmla="val 4000"/>
            </a:avLst>
          </a:prstGeom>
          <a:solidFill>
            <a:schemeClr val="bg2"/>
          </a:solidFill>
          <a:ln/>
        </p:spPr>
      </p:sp>
      <p:sp>
        <p:nvSpPr>
          <p:cNvPr id="7" name="Takt value"/>
          <p:cNvSpPr txBox="1"/>
          <p:nvPr/>
        </p:nvSpPr>
        <p:spPr>
          <a:xfrm>
            <a:off x="4572000" y="1600200"/>
            <a:ext cx="3108960" cy="822960"/>
          </a:xfrm>
          <a:prstGeom prst="rect">
            <a:avLst/>
          </a:prstGeom>
          <a:noFill/>
          <a:ln/>
        </p:spPr>
        <p:txBody>
          <a:bodyPr wrap="square" lIns="0" tIns="0" rIns="0" bIns="0" rtlCol="0" anchor="t"/>
          <a:lstStyle/>
          <a:p>
            <a:pPr indent="0" marL="0">
              <a:buNone/>
            </a:pPr>
            <a:r>
              <a:rPr lang="en-US" sz="4400" b="1" dirty="0">
                <a:solidFill>
                  <a:schemeClr val="tx2"/>
                </a:solidFill>
                <a:latin typeface="Cambria" pitchFamily="34" charset="0"/>
                <a:ea typeface="Cambria" pitchFamily="34" charset="-122"/>
                <a:cs typeface="Cambria" pitchFamily="34" charset="-120"/>
              </a:rPr>
              <a:t>42</a:t>
            </a:r>
            <a:pPr indent="0" marL="0">
              <a:buNone/>
            </a:pPr>
            <a:r>
              <a:rPr lang="en-US" sz="4400" b="1" dirty="0">
                <a:solidFill>
                  <a:schemeClr val="tx2"/>
                </a:solidFill>
                <a:latin typeface="Calibri" pitchFamily="34" charset="0"/>
                <a:ea typeface="Calibri" pitchFamily="34" charset="-122"/>
                <a:cs typeface="Calibri" pitchFamily="34" charset="-120"/>
              </a:rPr>
              <a:t> → </a:t>
            </a:r>
            <a:pPr indent="0" marL="0">
              <a:buNone/>
            </a:pPr>
            <a:r>
              <a:rPr lang="en-US" sz="4400" b="1" dirty="0">
                <a:solidFill>
                  <a:schemeClr val="tx2"/>
                </a:solidFill>
                <a:latin typeface="Cambria" pitchFamily="34" charset="0"/>
                <a:ea typeface="Cambria" pitchFamily="34" charset="-122"/>
                <a:cs typeface="Cambria" pitchFamily="34" charset="-120"/>
              </a:rPr>
              <a:t>35 min</a:t>
            </a:r>
            <a:endParaRPr lang="en-US" sz="4400" dirty="0"/>
          </a:p>
        </p:txBody>
      </p:sp>
      <p:sp>
        <p:nvSpPr>
          <p:cNvPr id="8" name="Takt label"/>
          <p:cNvSpPr txBox="1"/>
          <p:nvPr/>
        </p:nvSpPr>
        <p:spPr>
          <a:xfrm>
            <a:off x="4572000" y="2514600"/>
            <a:ext cx="3108960" cy="548640"/>
          </a:xfrm>
          <a:prstGeom prst="rect">
            <a:avLst/>
          </a:prstGeom>
          <a:noFill/>
          <a:ln/>
        </p:spPr>
        <p:txBody>
          <a:bodyPr wrap="square" lIns="0" tIns="0" rIns="0" bIns="0" rtlCol="0" anchor="t"/>
          <a:lstStyle/>
          <a:p>
            <a:pPr indent="0" marL="0">
              <a:buNone/>
            </a:pPr>
            <a:r>
              <a:rPr lang="en-US" sz="1400" dirty="0">
                <a:solidFill>
                  <a:schemeClr val="accent5"/>
                </a:solidFill>
              </a:rPr>
              <a:t>takt time: 420 working minutes shared across the excavators we need</a:t>
            </a:r>
            <a:endParaRPr lang="en-US" sz="1400" dirty="0"/>
          </a:p>
        </p:txBody>
      </p:sp>
      <p:sp>
        <p:nvSpPr>
          <p:cNvPr id="9" name="Rules tile"/>
          <p:cNvSpPr/>
          <p:nvPr/>
        </p:nvSpPr>
        <p:spPr>
          <a:xfrm>
            <a:off x="8138160" y="1417320"/>
            <a:ext cx="3474720" cy="1828800"/>
          </a:xfrm>
          <a:prstGeom prst="roundRect">
            <a:avLst>
              <a:gd name="adj" fmla="val 4000"/>
            </a:avLst>
          </a:prstGeom>
          <a:solidFill>
            <a:schemeClr val="bg2"/>
          </a:solidFill>
          <a:ln/>
        </p:spPr>
      </p:sp>
      <p:sp>
        <p:nvSpPr>
          <p:cNvPr id="10" name="Rules heading"/>
          <p:cNvSpPr txBox="1"/>
          <p:nvPr/>
        </p:nvSpPr>
        <p:spPr>
          <a:xfrm>
            <a:off x="8366760" y="1554480"/>
            <a:ext cx="3108960" cy="320040"/>
          </a:xfrm>
          <a:prstGeom prst="rect">
            <a:avLst/>
          </a:prstGeom>
          <a:noFill/>
          <a:ln/>
        </p:spPr>
        <p:txBody>
          <a:bodyPr wrap="square" lIns="0" tIns="0" rIns="0" bIns="0" rtlCol="0" anchor="t"/>
          <a:lstStyle/>
          <a:p>
            <a:pPr indent="0" marL="0">
              <a:buNone/>
            </a:pPr>
            <a:r>
              <a:rPr lang="en-US" sz="1600" b="1" dirty="0">
                <a:solidFill>
                  <a:schemeClr val="tx2"/>
                </a:solidFill>
              </a:rPr>
              <a:t>Our ground rules</a:t>
            </a:r>
            <a:endParaRPr lang="en-US" sz="1600" dirty="0"/>
          </a:p>
        </p:txBody>
      </p:sp>
      <p:sp>
        <p:nvSpPr>
          <p:cNvPr id="11" name="Rule 1 circle"/>
          <p:cNvSpPr/>
          <p:nvPr/>
        </p:nvSpPr>
        <p:spPr>
          <a:xfrm>
            <a:off x="8366760" y="1993392"/>
            <a:ext cx="237744" cy="237744"/>
          </a:xfrm>
          <a:prstGeom prst="ellipse">
            <a:avLst/>
          </a:prstGeom>
          <a:solidFill>
            <a:schemeClr val="accent4"/>
          </a:solidFill>
          <a:ln/>
        </p:spPr>
      </p:sp>
      <p:pic>
        <p:nvPicPr>
          <p:cNvPr id="12" name="Rule 1 icon" descr="Rule 1">    </p:cNvPr>
          <p:cNvPicPr>
            <a:picLocks noChangeAspect="1"/>
          </p:cNvPicPr>
          <p:nvPr/>
        </p:nvPicPr>
        <p:blipFill>
          <a:blip r:embed="rId1"/>
          <a:stretch>
            <a:fillRect/>
          </a:stretch>
        </p:blipFill>
        <p:spPr>
          <a:xfrm>
            <a:off x="8423819" y="2050451"/>
            <a:ext cx="123627" cy="123627"/>
          </a:xfrm>
          <a:prstGeom prst="rect">
            <a:avLst/>
          </a:prstGeom>
        </p:spPr>
      </p:pic>
      <p:sp>
        <p:nvSpPr>
          <p:cNvPr id="13" name="Rule text 1"/>
          <p:cNvSpPr txBox="1"/>
          <p:nvPr/>
        </p:nvSpPr>
        <p:spPr>
          <a:xfrm>
            <a:off x="8732520" y="1965960"/>
            <a:ext cx="2788920" cy="301752"/>
          </a:xfrm>
          <a:prstGeom prst="rect">
            <a:avLst/>
          </a:prstGeom>
          <a:noFill/>
          <a:ln/>
        </p:spPr>
        <p:txBody>
          <a:bodyPr wrap="square" lIns="0" tIns="0" rIns="0" bIns="0" rtlCol="0" anchor="ctr"/>
          <a:lstStyle/>
          <a:p>
            <a:pPr indent="0" marL="0">
              <a:buNone/>
            </a:pPr>
            <a:r>
              <a:rPr lang="en-US" sz="1300" dirty="0">
                <a:solidFill>
                  <a:schemeClr val="tx1"/>
                </a:solidFill>
              </a:rPr>
              <a:t>Same shift, same team</a:t>
            </a:r>
            <a:endParaRPr lang="en-US" sz="1300" dirty="0"/>
          </a:p>
        </p:txBody>
      </p:sp>
      <p:sp>
        <p:nvSpPr>
          <p:cNvPr id="14" name="Rule 2 circle"/>
          <p:cNvSpPr/>
          <p:nvPr/>
        </p:nvSpPr>
        <p:spPr>
          <a:xfrm>
            <a:off x="8366760" y="2386584"/>
            <a:ext cx="237744" cy="237744"/>
          </a:xfrm>
          <a:prstGeom prst="ellipse">
            <a:avLst/>
          </a:prstGeom>
          <a:solidFill>
            <a:schemeClr val="accent4"/>
          </a:solidFill>
          <a:ln/>
        </p:spPr>
      </p:sp>
      <p:pic>
        <p:nvPicPr>
          <p:cNvPr id="15" name="Rule 2 icon" descr="Rule 2">    </p:cNvPr>
          <p:cNvPicPr>
            <a:picLocks noChangeAspect="1"/>
          </p:cNvPicPr>
          <p:nvPr/>
        </p:nvPicPr>
        <p:blipFill>
          <a:blip r:embed="rId2"/>
          <a:stretch>
            <a:fillRect/>
          </a:stretch>
        </p:blipFill>
        <p:spPr>
          <a:xfrm>
            <a:off x="8423819" y="2443643"/>
            <a:ext cx="123627" cy="123627"/>
          </a:xfrm>
          <a:prstGeom prst="rect">
            <a:avLst/>
          </a:prstGeom>
        </p:spPr>
      </p:pic>
      <p:sp>
        <p:nvSpPr>
          <p:cNvPr id="16" name="Rule text 2"/>
          <p:cNvSpPr txBox="1"/>
          <p:nvPr/>
        </p:nvSpPr>
        <p:spPr>
          <a:xfrm>
            <a:off x="8732520" y="2359152"/>
            <a:ext cx="2788920" cy="301752"/>
          </a:xfrm>
          <a:prstGeom prst="rect">
            <a:avLst/>
          </a:prstGeom>
          <a:noFill/>
          <a:ln/>
        </p:spPr>
        <p:txBody>
          <a:bodyPr wrap="square" lIns="0" tIns="0" rIns="0" bIns="0" rtlCol="0" anchor="ctr"/>
          <a:lstStyle/>
          <a:p>
            <a:pPr indent="0" marL="0">
              <a:buNone/>
            </a:pPr>
            <a:r>
              <a:rPr lang="en-US" sz="1300" dirty="0">
                <a:solidFill>
                  <a:schemeClr val="tx1"/>
                </a:solidFill>
              </a:rPr>
              <a:t>No compromise on quality or safety</a:t>
            </a:r>
            <a:endParaRPr lang="en-US" sz="1300" dirty="0"/>
          </a:p>
        </p:txBody>
      </p:sp>
      <p:sp>
        <p:nvSpPr>
          <p:cNvPr id="17" name="Rule 3 circle"/>
          <p:cNvSpPr/>
          <p:nvPr/>
        </p:nvSpPr>
        <p:spPr>
          <a:xfrm>
            <a:off x="8366760" y="2779776"/>
            <a:ext cx="237744" cy="237744"/>
          </a:xfrm>
          <a:prstGeom prst="ellipse">
            <a:avLst/>
          </a:prstGeom>
          <a:solidFill>
            <a:schemeClr val="accent4"/>
          </a:solidFill>
          <a:ln/>
        </p:spPr>
      </p:sp>
      <p:pic>
        <p:nvPicPr>
          <p:cNvPr id="18" name="Rule 3 icon" descr="Rule 3">    </p:cNvPr>
          <p:cNvPicPr>
            <a:picLocks noChangeAspect="1"/>
          </p:cNvPicPr>
          <p:nvPr/>
        </p:nvPicPr>
        <p:blipFill>
          <a:blip r:embed="rId3"/>
          <a:stretch>
            <a:fillRect/>
          </a:stretch>
        </p:blipFill>
        <p:spPr>
          <a:xfrm>
            <a:off x="8423819" y="2836835"/>
            <a:ext cx="123627" cy="123627"/>
          </a:xfrm>
          <a:prstGeom prst="rect">
            <a:avLst/>
          </a:prstGeom>
        </p:spPr>
      </p:pic>
      <p:sp>
        <p:nvSpPr>
          <p:cNvPr id="19" name="Rule text 3"/>
          <p:cNvSpPr txBox="1"/>
          <p:nvPr/>
        </p:nvSpPr>
        <p:spPr>
          <a:xfrm>
            <a:off x="8732520" y="2752344"/>
            <a:ext cx="2788920" cy="301752"/>
          </a:xfrm>
          <a:prstGeom prst="rect">
            <a:avLst/>
          </a:prstGeom>
          <a:noFill/>
          <a:ln/>
        </p:spPr>
        <p:txBody>
          <a:bodyPr wrap="square" lIns="0" tIns="0" rIns="0" bIns="0" rtlCol="0" anchor="ctr"/>
          <a:lstStyle/>
          <a:p>
            <a:pPr indent="0" marL="0">
              <a:buNone/>
            </a:pPr>
            <a:r>
              <a:rPr lang="en-US" sz="1300" dirty="0">
                <a:solidFill>
                  <a:schemeClr val="tx1"/>
                </a:solidFill>
              </a:rPr>
              <a:t>Fix the process before buying machines</a:t>
            </a:r>
            <a:endParaRPr lang="en-US" sz="1300" dirty="0"/>
          </a:p>
        </p:txBody>
      </p:sp>
      <p:sp>
        <p:nvSpPr>
          <p:cNvPr id="20" name="Options heading"/>
          <p:cNvSpPr txBox="1"/>
          <p:nvPr/>
        </p:nvSpPr>
        <p:spPr>
          <a:xfrm>
            <a:off x="548640" y="3611880"/>
            <a:ext cx="7315200" cy="365760"/>
          </a:xfrm>
          <a:prstGeom prst="rect">
            <a:avLst/>
          </a:prstGeom>
          <a:noFill/>
          <a:ln/>
        </p:spPr>
        <p:txBody>
          <a:bodyPr wrap="square" lIns="0" tIns="0" rIns="0" bIns="0" rtlCol="0" anchor="t"/>
          <a:lstStyle/>
          <a:p>
            <a:pPr indent="0" marL="0">
              <a:buNone/>
            </a:pPr>
            <a:r>
              <a:rPr lang="en-US" sz="1600" b="1" dirty="0">
                <a:solidFill>
                  <a:schemeClr val="tx2"/>
                </a:solidFill>
              </a:rPr>
              <a:t>Three ways to get there</a:t>
            </a:r>
            <a:endParaRPr lang="en-US" sz="1600" dirty="0"/>
          </a:p>
        </p:txBody>
      </p:sp>
      <p:sp>
        <p:nvSpPr>
          <p:cNvPr id="21" name="Overtime or a second shift card"/>
          <p:cNvSpPr/>
          <p:nvPr/>
        </p:nvSpPr>
        <p:spPr>
          <a:xfrm>
            <a:off x="548640" y="4069080"/>
            <a:ext cx="3520440" cy="1600200"/>
          </a:xfrm>
          <a:prstGeom prst="roundRect">
            <a:avLst>
              <a:gd name="adj" fmla="val 4571"/>
            </a:avLst>
          </a:prstGeom>
          <a:solidFill>
            <a:schemeClr val="bg2"/>
          </a:solidFill>
          <a:ln/>
        </p:spPr>
      </p:sp>
      <p:sp>
        <p:nvSpPr>
          <p:cNvPr id="22" name="Overtime or a second shift circle"/>
          <p:cNvSpPr/>
          <p:nvPr/>
        </p:nvSpPr>
        <p:spPr>
          <a:xfrm>
            <a:off x="777240" y="4297680"/>
            <a:ext cx="502920" cy="502920"/>
          </a:xfrm>
          <a:prstGeom prst="ellipse">
            <a:avLst/>
          </a:prstGeom>
          <a:solidFill>
            <a:schemeClr val="accent5"/>
          </a:solidFill>
          <a:ln/>
        </p:spPr>
      </p:sp>
      <p:pic>
        <p:nvPicPr>
          <p:cNvPr id="23" name="Overtime or a second shift icon" descr="Overtime or a second shift">    </p:cNvPr>
          <p:cNvPicPr>
            <a:picLocks noChangeAspect="1"/>
          </p:cNvPicPr>
          <p:nvPr/>
        </p:nvPicPr>
        <p:blipFill>
          <a:blip r:embed="rId4"/>
          <a:stretch>
            <a:fillRect/>
          </a:stretch>
        </p:blipFill>
        <p:spPr>
          <a:xfrm>
            <a:off x="897941" y="4418381"/>
            <a:ext cx="261518" cy="261518"/>
          </a:xfrm>
          <a:prstGeom prst="rect">
            <a:avLst/>
          </a:prstGeom>
        </p:spPr>
      </p:pic>
      <p:sp>
        <p:nvSpPr>
          <p:cNvPr id="24" name="Overtime or a second shift title"/>
          <p:cNvSpPr txBox="1"/>
          <p:nvPr/>
        </p:nvSpPr>
        <p:spPr>
          <a:xfrm>
            <a:off x="1463040" y="429768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Overtime or a second shift</a:t>
            </a:r>
            <a:endParaRPr lang="en-US" sz="1600" dirty="0"/>
          </a:p>
        </p:txBody>
      </p:sp>
      <p:sp>
        <p:nvSpPr>
          <p:cNvPr id="25" name="Overtime or a second shift text"/>
          <p:cNvSpPr txBox="1"/>
          <p:nvPr/>
        </p:nvSpPr>
        <p:spPr>
          <a:xfrm>
            <a:off x="1463040" y="4846320"/>
            <a:ext cx="2514600" cy="685800"/>
          </a:xfrm>
          <a:prstGeom prst="rect">
            <a:avLst/>
          </a:prstGeom>
          <a:noFill/>
          <a:ln/>
        </p:spPr>
        <p:txBody>
          <a:bodyPr wrap="square" lIns="0" tIns="0" rIns="0" bIns="0" rtlCol="0" anchor="t"/>
          <a:lstStyle/>
          <a:p>
            <a:pPr indent="0" marL="0">
              <a:buNone/>
            </a:pPr>
            <a:r>
              <a:rPr lang="en-US" sz="1400" dirty="0">
                <a:solidFill>
                  <a:schemeClr val="accent5"/>
                </a:solidFill>
              </a:rPr>
              <a:t>Costs more, and tired people make more mistakes</a:t>
            </a:r>
            <a:endParaRPr lang="en-US" sz="1400" dirty="0"/>
          </a:p>
        </p:txBody>
      </p:sp>
      <p:sp>
        <p:nvSpPr>
          <p:cNvPr id="26" name="Buy another machining centre card"/>
          <p:cNvSpPr/>
          <p:nvPr/>
        </p:nvSpPr>
        <p:spPr>
          <a:xfrm>
            <a:off x="4320540" y="4069080"/>
            <a:ext cx="3520440" cy="1600200"/>
          </a:xfrm>
          <a:prstGeom prst="roundRect">
            <a:avLst>
              <a:gd name="adj" fmla="val 4571"/>
            </a:avLst>
          </a:prstGeom>
          <a:solidFill>
            <a:schemeClr val="bg2"/>
          </a:solidFill>
          <a:ln/>
        </p:spPr>
      </p:sp>
      <p:sp>
        <p:nvSpPr>
          <p:cNvPr id="27" name="Buy another machining centre circle"/>
          <p:cNvSpPr/>
          <p:nvPr/>
        </p:nvSpPr>
        <p:spPr>
          <a:xfrm>
            <a:off x="4549140" y="4297680"/>
            <a:ext cx="502920" cy="502920"/>
          </a:xfrm>
          <a:prstGeom prst="ellipse">
            <a:avLst/>
          </a:prstGeom>
          <a:solidFill>
            <a:schemeClr val="accent5"/>
          </a:solidFill>
          <a:ln/>
        </p:spPr>
      </p:sp>
      <p:pic>
        <p:nvPicPr>
          <p:cNvPr id="28" name="Buy another machining centre icon" descr="Buy another machining centre">    </p:cNvPr>
          <p:cNvPicPr>
            <a:picLocks noChangeAspect="1"/>
          </p:cNvPicPr>
          <p:nvPr/>
        </p:nvPicPr>
        <p:blipFill>
          <a:blip r:embed="rId5"/>
          <a:stretch>
            <a:fillRect/>
          </a:stretch>
        </p:blipFill>
        <p:spPr>
          <a:xfrm>
            <a:off x="4669841" y="4418381"/>
            <a:ext cx="261518" cy="261518"/>
          </a:xfrm>
          <a:prstGeom prst="rect">
            <a:avLst/>
          </a:prstGeom>
        </p:spPr>
      </p:pic>
      <p:sp>
        <p:nvSpPr>
          <p:cNvPr id="29" name="Buy another machining centre title"/>
          <p:cNvSpPr txBox="1"/>
          <p:nvPr/>
        </p:nvSpPr>
        <p:spPr>
          <a:xfrm>
            <a:off x="5234940" y="429768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Buy another machining centre</a:t>
            </a:r>
            <a:endParaRPr lang="en-US" sz="1600" dirty="0"/>
          </a:p>
        </p:txBody>
      </p:sp>
      <p:sp>
        <p:nvSpPr>
          <p:cNvPr id="30" name="Buy another machining centre text"/>
          <p:cNvSpPr txBox="1"/>
          <p:nvPr/>
        </p:nvSpPr>
        <p:spPr>
          <a:xfrm>
            <a:off x="5234940" y="4846320"/>
            <a:ext cx="2514600" cy="685800"/>
          </a:xfrm>
          <a:prstGeom prst="rect">
            <a:avLst/>
          </a:prstGeom>
          <a:noFill/>
          <a:ln/>
        </p:spPr>
        <p:txBody>
          <a:bodyPr wrap="square" lIns="0" tIns="0" rIns="0" bIns="0" rtlCol="0" anchor="t"/>
          <a:lstStyle/>
          <a:p>
            <a:pPr indent="0" marL="0">
              <a:buNone/>
            </a:pPr>
            <a:r>
              <a:rPr lang="en-US" sz="1400" dirty="0">
                <a:solidFill>
                  <a:schemeClr val="accent5"/>
                </a:solidFill>
              </a:rPr>
              <a:t>₹4–5 crore, and a 9–12 month wait for delivery</a:t>
            </a:r>
            <a:endParaRPr lang="en-US" sz="1400" dirty="0"/>
          </a:p>
        </p:txBody>
      </p:sp>
      <p:sp>
        <p:nvSpPr>
          <p:cNvPr id="31" name="Operations Excellence card"/>
          <p:cNvSpPr/>
          <p:nvPr/>
        </p:nvSpPr>
        <p:spPr>
          <a:xfrm>
            <a:off x="8092440" y="4069080"/>
            <a:ext cx="3520440" cy="1600200"/>
          </a:xfrm>
          <a:prstGeom prst="roundRect">
            <a:avLst>
              <a:gd name="adj" fmla="val 4571"/>
            </a:avLst>
          </a:prstGeom>
          <a:solidFill>
            <a:schemeClr val="accent4"/>
          </a:solidFill>
          <a:ln/>
        </p:spPr>
      </p:sp>
      <p:sp>
        <p:nvSpPr>
          <p:cNvPr id="32" name="Operations Excellence circle"/>
          <p:cNvSpPr/>
          <p:nvPr/>
        </p:nvSpPr>
        <p:spPr>
          <a:xfrm>
            <a:off x="8321040" y="4297680"/>
            <a:ext cx="502920" cy="502920"/>
          </a:xfrm>
          <a:prstGeom prst="ellipse">
            <a:avLst/>
          </a:prstGeom>
          <a:solidFill>
            <a:schemeClr val="bg1"/>
          </a:solidFill>
          <a:ln/>
        </p:spPr>
      </p:sp>
      <p:pic>
        <p:nvPicPr>
          <p:cNvPr id="33" name="Operations Excellence icon" descr="Operations Excellence">    </p:cNvPr>
          <p:cNvPicPr>
            <a:picLocks noChangeAspect="1"/>
          </p:cNvPicPr>
          <p:nvPr/>
        </p:nvPicPr>
        <p:blipFill>
          <a:blip r:embed="rId6"/>
          <a:stretch>
            <a:fillRect/>
          </a:stretch>
        </p:blipFill>
        <p:spPr>
          <a:xfrm>
            <a:off x="8441741" y="4418381"/>
            <a:ext cx="261518" cy="261518"/>
          </a:xfrm>
          <a:prstGeom prst="rect">
            <a:avLst/>
          </a:prstGeom>
        </p:spPr>
      </p:pic>
      <p:sp>
        <p:nvSpPr>
          <p:cNvPr id="34" name="Operations Excellence title"/>
          <p:cNvSpPr txBox="1"/>
          <p:nvPr/>
        </p:nvSpPr>
        <p:spPr>
          <a:xfrm>
            <a:off x="9006840" y="4297680"/>
            <a:ext cx="2514600" cy="502920"/>
          </a:xfrm>
          <a:prstGeom prst="rect">
            <a:avLst/>
          </a:prstGeom>
          <a:noFill/>
          <a:ln/>
        </p:spPr>
        <p:txBody>
          <a:bodyPr wrap="square" lIns="0" tIns="0" rIns="0" bIns="0" rtlCol="0" anchor="ctr"/>
          <a:lstStyle/>
          <a:p>
            <a:pPr indent="0" marL="0">
              <a:buNone/>
            </a:pPr>
            <a:r>
              <a:rPr lang="en-US" sz="1600" b="1" dirty="0">
                <a:solidFill>
                  <a:schemeClr val="bg1"/>
                </a:solidFill>
              </a:rPr>
              <a:t>Operations Excellence</a:t>
            </a:r>
            <a:endParaRPr lang="en-US" sz="1600" dirty="0"/>
          </a:p>
        </p:txBody>
      </p:sp>
      <p:sp>
        <p:nvSpPr>
          <p:cNvPr id="35" name="Operations Excellence text"/>
          <p:cNvSpPr txBox="1"/>
          <p:nvPr/>
        </p:nvSpPr>
        <p:spPr>
          <a:xfrm>
            <a:off x="9006840" y="4846320"/>
            <a:ext cx="2514600" cy="685800"/>
          </a:xfrm>
          <a:prstGeom prst="rect">
            <a:avLst/>
          </a:prstGeom>
          <a:noFill/>
          <a:ln/>
        </p:spPr>
        <p:txBody>
          <a:bodyPr wrap="square" lIns="0" tIns="0" rIns="0" bIns="0" rtlCol="0" anchor="t"/>
          <a:lstStyle/>
          <a:p>
            <a:pPr indent="0" marL="0">
              <a:buNone/>
            </a:pPr>
            <a:r>
              <a:rPr lang="en-US" sz="1400" dirty="0">
                <a:solidFill>
                  <a:schemeClr val="bg1"/>
                </a:solidFill>
              </a:rPr>
              <a:t>Low cost, about 12 weeks, and the skills stay with the plant</a:t>
            </a:r>
            <a:endParaRPr lang="en-US" sz="1400" dirty="0"/>
          </a:p>
        </p:txBody>
      </p:sp>
      <p:sp>
        <p:nvSpPr>
          <p:cNvPr id="36" name="Our pick tag"/>
          <p:cNvSpPr txBox="1"/>
          <p:nvPr/>
        </p:nvSpPr>
        <p:spPr>
          <a:xfrm>
            <a:off x="10424160" y="4133088"/>
            <a:ext cx="1005840" cy="228600"/>
          </a:xfrm>
          <a:prstGeom prst="rect">
            <a:avLst/>
          </a:prstGeom>
          <a:noFill/>
          <a:ln/>
        </p:spPr>
        <p:txBody>
          <a:bodyPr wrap="square" lIns="0" tIns="0" rIns="0" bIns="0" rtlCol="0" anchor="t"/>
          <a:lstStyle/>
          <a:p>
            <a:pPr algn="r" indent="0" marL="0">
              <a:buNone/>
            </a:pPr>
            <a:r>
              <a:rPr lang="en-US" sz="1000" b="1" spc="100" kern="0" dirty="0">
                <a:solidFill>
                  <a:schemeClr val="bg1"/>
                </a:solidFill>
              </a:rPr>
              <a:t>OUR PICK</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One machine, OP30, sets the pace</a:t>
            </a:r>
            <a:endParaRPr lang="en-US" sz="3200" dirty="0"/>
          </a:p>
        </p:txBody>
      </p:sp>
      <p:graphicFrame>
        <p:nvGraphicFramePr>
          <p:cNvPr id="3" name="Cycle time chart" descr=""/>
          <p:cNvGraphicFramePr/>
          <p:nvPr/>
        </p:nvGraphicFramePr>
        <p:xfrm>
          <a:off x="548640" y="1325880"/>
          <a:ext cx="6858000" cy="4526280"/>
        </p:xfrm>
        <a:graphic xmlns:a="http://schemas.openxmlformats.org/drawingml/2006/main">
          <a:graphicData uri="http://schemas.openxmlformats.org/drawingml/2006/chart">
            <c:chart xmlns:c="http://schemas.openxmlformats.org/drawingml/2006/chart" r:id="rId1"/>
          </a:graphicData>
        </a:graphic>
      </p:graphicFrame>
      <p:sp>
        <p:nvSpPr>
          <p:cNvPr id="4" name="Findings heading"/>
          <p:cNvSpPr txBox="1"/>
          <p:nvPr/>
        </p:nvSpPr>
        <p:spPr>
          <a:xfrm>
            <a:off x="7818120" y="1417320"/>
            <a:ext cx="3840480" cy="365760"/>
          </a:xfrm>
          <a:prstGeom prst="rect">
            <a:avLst/>
          </a:prstGeom>
          <a:noFill/>
          <a:ln/>
        </p:spPr>
        <p:txBody>
          <a:bodyPr wrap="square" lIns="0" tIns="0" rIns="0" bIns="0" rtlCol="0" anchor="t"/>
          <a:lstStyle/>
          <a:p>
            <a:pPr indent="0" marL="0">
              <a:buNone/>
            </a:pPr>
            <a:r>
              <a:rPr lang="en-US" sz="1600" b="1" dirty="0">
                <a:solidFill>
                  <a:schemeClr val="tx2"/>
                </a:solidFill>
              </a:rPr>
              <a:t>What we saw on the shop floor</a:t>
            </a:r>
            <a:endParaRPr lang="en-US" sz="1600" dirty="0"/>
          </a:p>
        </p:txBody>
      </p:sp>
      <p:sp>
        <p:nvSpPr>
          <p:cNvPr id="5" name="Finding number circle 1"/>
          <p:cNvSpPr/>
          <p:nvPr/>
        </p:nvSpPr>
        <p:spPr>
          <a:xfrm>
            <a:off x="7818120" y="1965960"/>
            <a:ext cx="411480" cy="411480"/>
          </a:xfrm>
          <a:prstGeom prst="ellipse">
            <a:avLst/>
          </a:prstGeom>
          <a:solidFill>
            <a:schemeClr val="accent2"/>
          </a:solidFill>
          <a:ln/>
        </p:spPr>
      </p:sp>
      <p:sp>
        <p:nvSpPr>
          <p:cNvPr id="6" name="Finding number 1"/>
          <p:cNvSpPr txBox="1"/>
          <p:nvPr/>
        </p:nvSpPr>
        <p:spPr>
          <a:xfrm>
            <a:off x="7818120" y="1965960"/>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7" name="Finding 1"/>
          <p:cNvSpPr txBox="1"/>
          <p:nvPr/>
        </p:nvSpPr>
        <p:spPr>
          <a:xfrm>
            <a:off x="8412480" y="1947672"/>
            <a:ext cx="3200400" cy="777240"/>
          </a:xfrm>
          <a:prstGeom prst="rect">
            <a:avLst/>
          </a:prstGeom>
          <a:noFill/>
          <a:ln/>
        </p:spPr>
        <p:txBody>
          <a:bodyPr wrap="square" lIns="0" tIns="0" rIns="0" bIns="0" rtlCol="0" anchor="t"/>
          <a:lstStyle/>
          <a:p>
            <a:pPr indent="0" marL="0">
              <a:buNone/>
            </a:pPr>
            <a:r>
              <a:rPr lang="en-US" sz="1400" dirty="0">
                <a:solidFill>
                  <a:schemeClr val="tx1"/>
                </a:solidFill>
              </a:rPr>
              <a:t>OP30 needs 42 min per frame, exactly today's takt. There's no slack at all.</a:t>
            </a:r>
            <a:endParaRPr lang="en-US" sz="1400" dirty="0"/>
          </a:p>
        </p:txBody>
      </p:sp>
      <p:sp>
        <p:nvSpPr>
          <p:cNvPr id="8" name="Finding number circle 2"/>
          <p:cNvSpPr/>
          <p:nvPr/>
        </p:nvSpPr>
        <p:spPr>
          <a:xfrm>
            <a:off x="7818120" y="2898648"/>
            <a:ext cx="411480" cy="411480"/>
          </a:xfrm>
          <a:prstGeom prst="ellipse">
            <a:avLst/>
          </a:prstGeom>
          <a:solidFill>
            <a:schemeClr val="accent2"/>
          </a:solidFill>
          <a:ln/>
        </p:spPr>
      </p:sp>
      <p:sp>
        <p:nvSpPr>
          <p:cNvPr id="9" name="Finding number 2"/>
          <p:cNvSpPr txBox="1"/>
          <p:nvPr/>
        </p:nvSpPr>
        <p:spPr>
          <a:xfrm>
            <a:off x="7818120" y="2898648"/>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0" name="Finding 2"/>
          <p:cNvSpPr txBox="1"/>
          <p:nvPr/>
        </p:nvSpPr>
        <p:spPr>
          <a:xfrm>
            <a:off x="8412480" y="2880360"/>
            <a:ext cx="3200400" cy="777240"/>
          </a:xfrm>
          <a:prstGeom prst="rect">
            <a:avLst/>
          </a:prstGeom>
          <a:noFill/>
          <a:ln/>
        </p:spPr>
        <p:txBody>
          <a:bodyPr wrap="square" lIns="0" tIns="0" rIns="0" bIns="0" rtlCol="0" anchor="t"/>
          <a:lstStyle/>
          <a:p>
            <a:pPr indent="0" marL="0">
              <a:buNone/>
            </a:pPr>
            <a:r>
              <a:rPr lang="en-US" sz="1400" dirty="0">
                <a:solidFill>
                  <a:schemeClr val="tx1"/>
                </a:solidFill>
              </a:rPr>
              <a:t>4 of the 6 steps are slower than the 35 min we'll need.</a:t>
            </a:r>
            <a:endParaRPr lang="en-US" sz="1400" dirty="0"/>
          </a:p>
        </p:txBody>
      </p:sp>
      <p:sp>
        <p:nvSpPr>
          <p:cNvPr id="11" name="Finding number circle 3"/>
          <p:cNvSpPr/>
          <p:nvPr/>
        </p:nvSpPr>
        <p:spPr>
          <a:xfrm>
            <a:off x="7818120" y="3831336"/>
            <a:ext cx="411480" cy="411480"/>
          </a:xfrm>
          <a:prstGeom prst="ellipse">
            <a:avLst/>
          </a:prstGeom>
          <a:solidFill>
            <a:schemeClr val="accent2"/>
          </a:solidFill>
          <a:ln/>
        </p:spPr>
      </p:sp>
      <p:sp>
        <p:nvSpPr>
          <p:cNvPr id="12" name="Finding number 3"/>
          <p:cNvSpPr txBox="1"/>
          <p:nvPr/>
        </p:nvSpPr>
        <p:spPr>
          <a:xfrm>
            <a:off x="7818120" y="3831336"/>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3" name="Finding 3"/>
          <p:cNvSpPr txBox="1"/>
          <p:nvPr/>
        </p:nvSpPr>
        <p:spPr>
          <a:xfrm>
            <a:off x="8412480" y="3813048"/>
            <a:ext cx="3200400" cy="777240"/>
          </a:xfrm>
          <a:prstGeom prst="rect">
            <a:avLst/>
          </a:prstGeom>
          <a:noFill/>
          <a:ln/>
        </p:spPr>
        <p:txBody>
          <a:bodyPr wrap="square" lIns="0" tIns="0" rIns="0" bIns="0" rtlCol="0" anchor="t"/>
          <a:lstStyle/>
          <a:p>
            <a:pPr indent="0" marL="0">
              <a:buNone/>
            </a:pPr>
            <a:r>
              <a:rPr lang="en-US" sz="1400" dirty="0">
                <a:solidFill>
                  <a:schemeClr val="tx1"/>
                </a:solidFill>
              </a:rPr>
              <a:t>Frames sit waiting for the shared crane and for QC sign-off.</a:t>
            </a:r>
            <a:endParaRPr lang="en-US" sz="1400" dirty="0"/>
          </a:p>
        </p:txBody>
      </p:sp>
      <p:sp>
        <p:nvSpPr>
          <p:cNvPr id="14" name="Finding number circle 4"/>
          <p:cNvSpPr/>
          <p:nvPr/>
        </p:nvSpPr>
        <p:spPr>
          <a:xfrm>
            <a:off x="7818120" y="4764024"/>
            <a:ext cx="411480" cy="411480"/>
          </a:xfrm>
          <a:prstGeom prst="ellipse">
            <a:avLst/>
          </a:prstGeom>
          <a:solidFill>
            <a:schemeClr val="accent2"/>
          </a:solidFill>
          <a:ln/>
        </p:spPr>
      </p:sp>
      <p:sp>
        <p:nvSpPr>
          <p:cNvPr id="15" name="Finding number 4"/>
          <p:cNvSpPr txBox="1"/>
          <p:nvPr/>
        </p:nvSpPr>
        <p:spPr>
          <a:xfrm>
            <a:off x="7818120" y="4764024"/>
            <a:ext cx="411480" cy="411480"/>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16" name="Finding 4"/>
          <p:cNvSpPr txBox="1"/>
          <p:nvPr/>
        </p:nvSpPr>
        <p:spPr>
          <a:xfrm>
            <a:off x="8412480" y="4745736"/>
            <a:ext cx="3200400" cy="777240"/>
          </a:xfrm>
          <a:prstGeom prst="rect">
            <a:avLst/>
          </a:prstGeom>
          <a:noFill/>
          <a:ln/>
        </p:spPr>
        <p:txBody>
          <a:bodyPr wrap="square" lIns="0" tIns="0" rIns="0" bIns="0" rtlCol="0" anchor="t"/>
          <a:lstStyle/>
          <a:p>
            <a:pPr indent="0" marL="0">
              <a:buNone/>
            </a:pPr>
            <a:r>
              <a:rPr lang="en-US" sz="1400" dirty="0">
                <a:solidFill>
                  <a:schemeClr val="tx1"/>
                </a:solidFill>
              </a:rPr>
              <a:t>Set-up is done by hand with a dial gauge, with 3 model changes a day.</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Only 300 of OP30's 420 minutes make parts</a:t>
            </a:r>
            <a:endParaRPr lang="en-US" sz="3200" dirty="0"/>
          </a:p>
        </p:txBody>
      </p:sp>
      <p:graphicFrame>
        <p:nvGraphicFramePr>
          <p:cNvPr id="3" name="OP30 minutes doughnut" descr=""/>
          <p:cNvGraphicFramePr/>
          <p:nvPr/>
        </p:nvGraphicFramePr>
        <p:xfrm>
          <a:off x="548640" y="1417320"/>
          <a:ext cx="3383280" cy="3383280"/>
        </p:xfrm>
        <a:graphic xmlns:a="http://schemas.openxmlformats.org/drawingml/2006/main">
          <a:graphicData uri="http://schemas.openxmlformats.org/drawingml/2006/chart">
            <c:chart xmlns:c="http://schemas.openxmlformats.org/drawingml/2006/chart" r:id="rId1"/>
          </a:graphicData>
        </a:graphic>
      </p:graphicFrame>
      <p:sp>
        <p:nvSpPr>
          <p:cNvPr id="4" name="Doughnut centre label"/>
          <p:cNvSpPr txBox="1"/>
          <p:nvPr/>
        </p:nvSpPr>
        <p:spPr>
          <a:xfrm>
            <a:off x="1325880" y="2697480"/>
            <a:ext cx="1828800" cy="868680"/>
          </a:xfrm>
          <a:prstGeom prst="rect">
            <a:avLst/>
          </a:prstGeom>
          <a:noFill/>
          <a:ln/>
        </p:spPr>
        <p:txBody>
          <a:bodyPr wrap="square" lIns="0" tIns="0" rIns="0" bIns="0" rtlCol="0" anchor="ctr"/>
          <a:lstStyle/>
          <a:p>
            <a:pPr algn="ctr" indent="0" marL="0">
              <a:buNone/>
            </a:pPr>
            <a:r>
              <a:rPr lang="en-US" sz="3400" b="1" dirty="0">
                <a:solidFill>
                  <a:schemeClr val="tx2"/>
                </a:solidFill>
                <a:latin typeface="Cambria" pitchFamily="34" charset="0"/>
                <a:ea typeface="Cambria" pitchFamily="34" charset="-122"/>
                <a:cs typeface="Cambria" pitchFamily="34" charset="-120"/>
              </a:rPr>
              <a:t>420</a:t>
            </a:r>
            <a:endParaRPr lang="en-US" sz="1400" dirty="0"/>
          </a:p>
          <a:p>
            <a:pPr algn="ctr" indent="0" marL="0">
              <a:buNone/>
            </a:pPr>
            <a:r>
              <a:rPr lang="en-US" sz="1200" dirty="0">
                <a:solidFill>
                  <a:schemeClr val="accent5"/>
                </a:solidFill>
              </a:rPr>
              <a:t>minutes a day</a:t>
            </a:r>
            <a:endParaRPr lang="en-US" sz="1400" dirty="0"/>
          </a:p>
        </p:txBody>
      </p:sp>
      <p:sp>
        <p:nvSpPr>
          <p:cNvPr id="5" name="Making parts swatch"/>
          <p:cNvSpPr/>
          <p:nvPr/>
        </p:nvSpPr>
        <p:spPr>
          <a:xfrm>
            <a:off x="4251960" y="1673352"/>
            <a:ext cx="201168" cy="201168"/>
          </a:xfrm>
          <a:prstGeom prst="rect">
            <a:avLst/>
          </a:prstGeom>
          <a:solidFill>
            <a:schemeClr val="tx2"/>
          </a:solidFill>
          <a:ln/>
        </p:spPr>
      </p:sp>
      <p:sp>
        <p:nvSpPr>
          <p:cNvPr id="6" name="Making parts label"/>
          <p:cNvSpPr txBox="1"/>
          <p:nvPr/>
        </p:nvSpPr>
        <p:spPr>
          <a:xfrm>
            <a:off x="4572000" y="1600200"/>
            <a:ext cx="2514600" cy="347472"/>
          </a:xfrm>
          <a:prstGeom prst="rect">
            <a:avLst/>
          </a:prstGeom>
          <a:noFill/>
          <a:ln/>
        </p:spPr>
        <p:txBody>
          <a:bodyPr wrap="square" lIns="0" tIns="0" rIns="0" bIns="0" rtlCol="0" anchor="ctr"/>
          <a:lstStyle/>
          <a:p>
            <a:pPr indent="0" marL="0">
              <a:buNone/>
            </a:pPr>
            <a:r>
              <a:rPr lang="en-US" sz="1400" b="1" dirty="0">
                <a:solidFill>
                  <a:schemeClr val="tx1"/>
                </a:solidFill>
              </a:rPr>
              <a:t>Making parts</a:t>
            </a:r>
            <a:endParaRPr lang="en-US" sz="1400" dirty="0"/>
          </a:p>
        </p:txBody>
      </p:sp>
      <p:sp>
        <p:nvSpPr>
          <p:cNvPr id="7" name="Making parts minutes"/>
          <p:cNvSpPr txBox="1"/>
          <p:nvPr/>
        </p:nvSpPr>
        <p:spPr>
          <a:xfrm>
            <a:off x="6995160" y="1600200"/>
            <a:ext cx="777240" cy="347472"/>
          </a:xfrm>
          <a:prstGeom prst="rect">
            <a:avLst/>
          </a:prstGeom>
          <a:noFill/>
          <a:ln/>
        </p:spPr>
        <p:txBody>
          <a:bodyPr wrap="square" lIns="0" tIns="0" rIns="0" bIns="0" rtlCol="0" anchor="ctr"/>
          <a:lstStyle/>
          <a:p>
            <a:pPr algn="r" indent="0" marL="0">
              <a:buNone/>
            </a:pPr>
            <a:r>
              <a:rPr lang="en-US" sz="1400" b="1" dirty="0">
                <a:solidFill>
                  <a:schemeClr val="tx2"/>
                </a:solidFill>
              </a:rPr>
              <a:t>300 min</a:t>
            </a:r>
            <a:endParaRPr lang="en-US" sz="1400" dirty="0"/>
          </a:p>
        </p:txBody>
      </p:sp>
      <p:sp>
        <p:nvSpPr>
          <p:cNvPr id="8" name="Changeovers swatch"/>
          <p:cNvSpPr/>
          <p:nvPr/>
        </p:nvSpPr>
        <p:spPr>
          <a:xfrm>
            <a:off x="4251960" y="2203704"/>
            <a:ext cx="201168" cy="201168"/>
          </a:xfrm>
          <a:prstGeom prst="rect">
            <a:avLst/>
          </a:prstGeom>
          <a:solidFill>
            <a:schemeClr val="accent2"/>
          </a:solidFill>
          <a:ln/>
        </p:spPr>
      </p:sp>
      <p:sp>
        <p:nvSpPr>
          <p:cNvPr id="9" name="Changeovers label"/>
          <p:cNvSpPr txBox="1"/>
          <p:nvPr/>
        </p:nvSpPr>
        <p:spPr>
          <a:xfrm>
            <a:off x="4572000" y="2130552"/>
            <a:ext cx="2514600" cy="347472"/>
          </a:xfrm>
          <a:prstGeom prst="rect">
            <a:avLst/>
          </a:prstGeom>
          <a:noFill/>
          <a:ln/>
        </p:spPr>
        <p:txBody>
          <a:bodyPr wrap="square" lIns="0" tIns="0" rIns="0" bIns="0" rtlCol="0" anchor="ctr"/>
          <a:lstStyle/>
          <a:p>
            <a:pPr indent="0" marL="0">
              <a:buNone/>
            </a:pPr>
            <a:r>
              <a:rPr lang="en-US" sz="1400" dirty="0">
                <a:solidFill>
                  <a:schemeClr val="tx1"/>
                </a:solidFill>
              </a:rPr>
              <a:t>Changeovers</a:t>
            </a:r>
            <a:endParaRPr lang="en-US" sz="1400" dirty="0"/>
          </a:p>
        </p:txBody>
      </p:sp>
      <p:sp>
        <p:nvSpPr>
          <p:cNvPr id="10" name="Changeovers minutes"/>
          <p:cNvSpPr txBox="1"/>
          <p:nvPr/>
        </p:nvSpPr>
        <p:spPr>
          <a:xfrm>
            <a:off x="6995160" y="2130552"/>
            <a:ext cx="777240" cy="347472"/>
          </a:xfrm>
          <a:prstGeom prst="rect">
            <a:avLst/>
          </a:prstGeom>
          <a:noFill/>
          <a:ln/>
        </p:spPr>
        <p:txBody>
          <a:bodyPr wrap="square" lIns="0" tIns="0" rIns="0" bIns="0" rtlCol="0" anchor="ctr"/>
          <a:lstStyle/>
          <a:p>
            <a:pPr algn="r" indent="0" marL="0">
              <a:buNone/>
            </a:pPr>
            <a:r>
              <a:rPr lang="en-US" sz="1400" b="1" dirty="0">
                <a:solidFill>
                  <a:schemeClr val="tx2"/>
                </a:solidFill>
              </a:rPr>
              <a:t>45 min</a:t>
            </a:r>
            <a:endParaRPr lang="en-US" sz="1400" dirty="0"/>
          </a:p>
        </p:txBody>
      </p:sp>
      <p:sp>
        <p:nvSpPr>
          <p:cNvPr id="11" name="Breakdowns and small stops swatch"/>
          <p:cNvSpPr/>
          <p:nvPr/>
        </p:nvSpPr>
        <p:spPr>
          <a:xfrm>
            <a:off x="4251960" y="2734056"/>
            <a:ext cx="201168" cy="201168"/>
          </a:xfrm>
          <a:prstGeom prst="rect">
            <a:avLst/>
          </a:prstGeom>
          <a:solidFill>
            <a:schemeClr val="accent3"/>
          </a:solidFill>
          <a:ln/>
        </p:spPr>
      </p:sp>
      <p:sp>
        <p:nvSpPr>
          <p:cNvPr id="12" name="Breakdowns and small stops label"/>
          <p:cNvSpPr txBox="1"/>
          <p:nvPr/>
        </p:nvSpPr>
        <p:spPr>
          <a:xfrm>
            <a:off x="4572000" y="2660904"/>
            <a:ext cx="2514600" cy="347472"/>
          </a:xfrm>
          <a:prstGeom prst="rect">
            <a:avLst/>
          </a:prstGeom>
          <a:noFill/>
          <a:ln/>
        </p:spPr>
        <p:txBody>
          <a:bodyPr wrap="square" lIns="0" tIns="0" rIns="0" bIns="0" rtlCol="0" anchor="ctr"/>
          <a:lstStyle/>
          <a:p>
            <a:pPr indent="0" marL="0">
              <a:buNone/>
            </a:pPr>
            <a:r>
              <a:rPr lang="en-US" sz="1400" dirty="0">
                <a:solidFill>
                  <a:schemeClr val="tx1"/>
                </a:solidFill>
              </a:rPr>
              <a:t>Breakdowns and small stops</a:t>
            </a:r>
            <a:endParaRPr lang="en-US" sz="1400" dirty="0"/>
          </a:p>
        </p:txBody>
      </p:sp>
      <p:sp>
        <p:nvSpPr>
          <p:cNvPr id="13" name="Breakdowns and small stops minutes"/>
          <p:cNvSpPr txBox="1"/>
          <p:nvPr/>
        </p:nvSpPr>
        <p:spPr>
          <a:xfrm>
            <a:off x="6995160" y="2660904"/>
            <a:ext cx="777240" cy="347472"/>
          </a:xfrm>
          <a:prstGeom prst="rect">
            <a:avLst/>
          </a:prstGeom>
          <a:noFill/>
          <a:ln/>
        </p:spPr>
        <p:txBody>
          <a:bodyPr wrap="square" lIns="0" tIns="0" rIns="0" bIns="0" rtlCol="0" anchor="ctr"/>
          <a:lstStyle/>
          <a:p>
            <a:pPr algn="r" indent="0" marL="0">
              <a:buNone/>
            </a:pPr>
            <a:r>
              <a:rPr lang="en-US" sz="1400" b="1" dirty="0">
                <a:solidFill>
                  <a:schemeClr val="tx2"/>
                </a:solidFill>
              </a:rPr>
              <a:t>25 min</a:t>
            </a:r>
            <a:endParaRPr lang="en-US" sz="1400" dirty="0"/>
          </a:p>
        </p:txBody>
      </p:sp>
      <p:sp>
        <p:nvSpPr>
          <p:cNvPr id="14" name="Waiting for crane, parts, QC swatch"/>
          <p:cNvSpPr/>
          <p:nvPr/>
        </p:nvSpPr>
        <p:spPr>
          <a:xfrm>
            <a:off x="4251960" y="3264408"/>
            <a:ext cx="201168" cy="201168"/>
          </a:xfrm>
          <a:prstGeom prst="rect">
            <a:avLst/>
          </a:prstGeom>
          <a:solidFill>
            <a:schemeClr val="accent1"/>
          </a:solidFill>
          <a:ln/>
        </p:spPr>
      </p:sp>
      <p:sp>
        <p:nvSpPr>
          <p:cNvPr id="15" name="Waiting for crane, parts, QC label"/>
          <p:cNvSpPr txBox="1"/>
          <p:nvPr/>
        </p:nvSpPr>
        <p:spPr>
          <a:xfrm>
            <a:off x="4572000" y="3191256"/>
            <a:ext cx="2514600" cy="347472"/>
          </a:xfrm>
          <a:prstGeom prst="rect">
            <a:avLst/>
          </a:prstGeom>
          <a:noFill/>
          <a:ln/>
        </p:spPr>
        <p:txBody>
          <a:bodyPr wrap="square" lIns="0" tIns="0" rIns="0" bIns="0" rtlCol="0" anchor="ctr"/>
          <a:lstStyle/>
          <a:p>
            <a:pPr indent="0" marL="0">
              <a:buNone/>
            </a:pPr>
            <a:r>
              <a:rPr lang="en-US" sz="1400" dirty="0">
                <a:solidFill>
                  <a:schemeClr val="tx1"/>
                </a:solidFill>
              </a:rPr>
              <a:t>Waiting for crane, parts, QC</a:t>
            </a:r>
            <a:endParaRPr lang="en-US" sz="1400" dirty="0"/>
          </a:p>
        </p:txBody>
      </p:sp>
      <p:sp>
        <p:nvSpPr>
          <p:cNvPr id="16" name="Waiting for crane, parts, QC minutes"/>
          <p:cNvSpPr txBox="1"/>
          <p:nvPr/>
        </p:nvSpPr>
        <p:spPr>
          <a:xfrm>
            <a:off x="6995160" y="3191256"/>
            <a:ext cx="777240" cy="347472"/>
          </a:xfrm>
          <a:prstGeom prst="rect">
            <a:avLst/>
          </a:prstGeom>
          <a:noFill/>
          <a:ln/>
        </p:spPr>
        <p:txBody>
          <a:bodyPr wrap="square" lIns="0" tIns="0" rIns="0" bIns="0" rtlCol="0" anchor="ctr"/>
          <a:lstStyle/>
          <a:p>
            <a:pPr algn="r" indent="0" marL="0">
              <a:buNone/>
            </a:pPr>
            <a:r>
              <a:rPr lang="en-US" sz="1400" b="1" dirty="0">
                <a:solidFill>
                  <a:schemeClr val="tx2"/>
                </a:solidFill>
              </a:rPr>
              <a:t>20 min</a:t>
            </a:r>
            <a:endParaRPr lang="en-US" sz="1400" dirty="0"/>
          </a:p>
        </p:txBody>
      </p:sp>
      <p:sp>
        <p:nvSpPr>
          <p:cNvPr id="17" name="Slow set-up (dial gauge) swatch"/>
          <p:cNvSpPr/>
          <p:nvPr/>
        </p:nvSpPr>
        <p:spPr>
          <a:xfrm>
            <a:off x="4251960" y="3794760"/>
            <a:ext cx="201168" cy="201168"/>
          </a:xfrm>
          <a:prstGeom prst="rect">
            <a:avLst/>
          </a:prstGeom>
          <a:solidFill>
            <a:schemeClr val="accent5"/>
          </a:solidFill>
          <a:ln/>
        </p:spPr>
      </p:sp>
      <p:sp>
        <p:nvSpPr>
          <p:cNvPr id="18" name="Slow set-up (dial gauge) label"/>
          <p:cNvSpPr txBox="1"/>
          <p:nvPr/>
        </p:nvSpPr>
        <p:spPr>
          <a:xfrm>
            <a:off x="4572000" y="3721608"/>
            <a:ext cx="2514600" cy="347472"/>
          </a:xfrm>
          <a:prstGeom prst="rect">
            <a:avLst/>
          </a:prstGeom>
          <a:noFill/>
          <a:ln/>
        </p:spPr>
        <p:txBody>
          <a:bodyPr wrap="square" lIns="0" tIns="0" rIns="0" bIns="0" rtlCol="0" anchor="ctr"/>
          <a:lstStyle/>
          <a:p>
            <a:pPr indent="0" marL="0">
              <a:buNone/>
            </a:pPr>
            <a:r>
              <a:rPr lang="en-US" sz="1400" dirty="0">
                <a:solidFill>
                  <a:schemeClr val="tx1"/>
                </a:solidFill>
              </a:rPr>
              <a:t>Slow set-up (dial gauge)</a:t>
            </a:r>
            <a:endParaRPr lang="en-US" sz="1400" dirty="0"/>
          </a:p>
        </p:txBody>
      </p:sp>
      <p:sp>
        <p:nvSpPr>
          <p:cNvPr id="19" name="Slow set-up (dial gauge) minutes"/>
          <p:cNvSpPr txBox="1"/>
          <p:nvPr/>
        </p:nvSpPr>
        <p:spPr>
          <a:xfrm>
            <a:off x="6995160" y="3721608"/>
            <a:ext cx="777240" cy="347472"/>
          </a:xfrm>
          <a:prstGeom prst="rect">
            <a:avLst/>
          </a:prstGeom>
          <a:noFill/>
          <a:ln/>
        </p:spPr>
        <p:txBody>
          <a:bodyPr wrap="square" lIns="0" tIns="0" rIns="0" bIns="0" rtlCol="0" anchor="ctr"/>
          <a:lstStyle/>
          <a:p>
            <a:pPr algn="r" indent="0" marL="0">
              <a:buNone/>
            </a:pPr>
            <a:r>
              <a:rPr lang="en-US" sz="1400" b="1" dirty="0">
                <a:solidFill>
                  <a:schemeClr val="tx2"/>
                </a:solidFill>
              </a:rPr>
              <a:t>15 min</a:t>
            </a:r>
            <a:endParaRPr lang="en-US" sz="1400" dirty="0"/>
          </a:p>
        </p:txBody>
      </p:sp>
      <p:sp>
        <p:nvSpPr>
          <p:cNvPr id="20" name="Rework swatch"/>
          <p:cNvSpPr/>
          <p:nvPr/>
        </p:nvSpPr>
        <p:spPr>
          <a:xfrm>
            <a:off x="4251960" y="4325112"/>
            <a:ext cx="201168" cy="201168"/>
          </a:xfrm>
          <a:prstGeom prst="rect">
            <a:avLst/>
          </a:prstGeom>
          <a:solidFill>
            <a:schemeClr val="accent6"/>
          </a:solidFill>
          <a:ln/>
        </p:spPr>
      </p:sp>
      <p:sp>
        <p:nvSpPr>
          <p:cNvPr id="21" name="Rework label"/>
          <p:cNvSpPr txBox="1"/>
          <p:nvPr/>
        </p:nvSpPr>
        <p:spPr>
          <a:xfrm>
            <a:off x="4572000" y="4251960"/>
            <a:ext cx="2514600" cy="347472"/>
          </a:xfrm>
          <a:prstGeom prst="rect">
            <a:avLst/>
          </a:prstGeom>
          <a:noFill/>
          <a:ln/>
        </p:spPr>
        <p:txBody>
          <a:bodyPr wrap="square" lIns="0" tIns="0" rIns="0" bIns="0" rtlCol="0" anchor="ctr"/>
          <a:lstStyle/>
          <a:p>
            <a:pPr indent="0" marL="0">
              <a:buNone/>
            </a:pPr>
            <a:r>
              <a:rPr lang="en-US" sz="1400" dirty="0">
                <a:solidFill>
                  <a:schemeClr val="tx1"/>
                </a:solidFill>
              </a:rPr>
              <a:t>Rework</a:t>
            </a:r>
            <a:endParaRPr lang="en-US" sz="1400" dirty="0"/>
          </a:p>
        </p:txBody>
      </p:sp>
      <p:sp>
        <p:nvSpPr>
          <p:cNvPr id="22" name="Rework minutes"/>
          <p:cNvSpPr txBox="1"/>
          <p:nvPr/>
        </p:nvSpPr>
        <p:spPr>
          <a:xfrm>
            <a:off x="6995160" y="4251960"/>
            <a:ext cx="777240" cy="347472"/>
          </a:xfrm>
          <a:prstGeom prst="rect">
            <a:avLst/>
          </a:prstGeom>
          <a:noFill/>
          <a:ln/>
        </p:spPr>
        <p:txBody>
          <a:bodyPr wrap="square" lIns="0" tIns="0" rIns="0" bIns="0" rtlCol="0" anchor="ctr"/>
          <a:lstStyle/>
          <a:p>
            <a:pPr algn="r" indent="0" marL="0">
              <a:buNone/>
            </a:pPr>
            <a:r>
              <a:rPr lang="en-US" sz="1400" b="1" dirty="0">
                <a:solidFill>
                  <a:schemeClr val="tx2"/>
                </a:solidFill>
              </a:rPr>
              <a:t>15 min</a:t>
            </a:r>
            <a:endParaRPr lang="en-US" sz="1400" dirty="0"/>
          </a:p>
        </p:txBody>
      </p:sp>
      <p:sp>
        <p:nvSpPr>
          <p:cNvPr id="23" name="OEE card"/>
          <p:cNvSpPr/>
          <p:nvPr/>
        </p:nvSpPr>
        <p:spPr>
          <a:xfrm>
            <a:off x="8183880" y="1417320"/>
            <a:ext cx="3429000" cy="3383280"/>
          </a:xfrm>
          <a:prstGeom prst="roundRect">
            <a:avLst>
              <a:gd name="adj" fmla="val 2162"/>
            </a:avLst>
          </a:prstGeom>
          <a:solidFill>
            <a:schemeClr val="tx2"/>
          </a:solidFill>
          <a:ln/>
        </p:spPr>
      </p:sp>
      <p:sp>
        <p:nvSpPr>
          <p:cNvPr id="24" name="OEE heading"/>
          <p:cNvSpPr txBox="1"/>
          <p:nvPr/>
        </p:nvSpPr>
        <p:spPr>
          <a:xfrm>
            <a:off x="8458200" y="1645920"/>
            <a:ext cx="2926080" cy="320040"/>
          </a:xfrm>
          <a:prstGeom prst="rect">
            <a:avLst/>
          </a:prstGeom>
          <a:noFill/>
          <a:ln/>
        </p:spPr>
        <p:txBody>
          <a:bodyPr wrap="square" lIns="0" tIns="0" rIns="0" bIns="0" rtlCol="0" anchor="t"/>
          <a:lstStyle/>
          <a:p>
            <a:pPr indent="0" marL="0">
              <a:buNone/>
            </a:pPr>
            <a:r>
              <a:rPr lang="en-US" sz="1400" dirty="0">
                <a:solidFill>
                  <a:schemeClr val="bg2"/>
                </a:solidFill>
              </a:rPr>
              <a:t>OEE at OP30 today</a:t>
            </a:r>
            <a:endParaRPr lang="en-US" sz="1400" dirty="0"/>
          </a:p>
        </p:txBody>
      </p:sp>
      <p:sp>
        <p:nvSpPr>
          <p:cNvPr id="25" name="OEE value"/>
          <p:cNvSpPr txBox="1"/>
          <p:nvPr/>
        </p:nvSpPr>
        <p:spPr>
          <a:xfrm>
            <a:off x="8458200" y="2011680"/>
            <a:ext cx="292608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66.7%</a:t>
            </a:r>
            <a:endParaRPr lang="en-US" sz="5400" dirty="0"/>
          </a:p>
        </p:txBody>
      </p:sp>
      <p:sp>
        <p:nvSpPr>
          <p:cNvPr id="26" name="OEE benchmark"/>
          <p:cNvSpPr txBox="1"/>
          <p:nvPr/>
        </p:nvSpPr>
        <p:spPr>
          <a:xfrm>
            <a:off x="8458200" y="2926080"/>
            <a:ext cx="2926080" cy="365760"/>
          </a:xfrm>
          <a:prstGeom prst="rect">
            <a:avLst/>
          </a:prstGeom>
          <a:noFill/>
          <a:ln/>
        </p:spPr>
        <p:txBody>
          <a:bodyPr wrap="square" lIns="0" tIns="0" rIns="0" bIns="0" rtlCol="0" anchor="t"/>
          <a:lstStyle/>
          <a:p>
            <a:pPr indent="0" marL="0">
              <a:buNone/>
            </a:pPr>
            <a:r>
              <a:rPr lang="en-US" sz="1500" b="1" dirty="0">
                <a:solidFill>
                  <a:schemeClr val="bg1"/>
                </a:solidFill>
              </a:rPr>
              <a:t>World class is about 85%</a:t>
            </a:r>
            <a:endParaRPr lang="en-US" sz="1500" dirty="0"/>
          </a:p>
        </p:txBody>
      </p:sp>
      <p:sp>
        <p:nvSpPr>
          <p:cNvPr id="27" name="OEE formula"/>
          <p:cNvSpPr txBox="1"/>
          <p:nvPr/>
        </p:nvSpPr>
        <p:spPr>
          <a:xfrm>
            <a:off x="8458200" y="3520440"/>
            <a:ext cx="2926080" cy="548640"/>
          </a:xfrm>
          <a:prstGeom prst="rect">
            <a:avLst/>
          </a:prstGeom>
          <a:noFill/>
          <a:ln/>
        </p:spPr>
        <p:txBody>
          <a:bodyPr wrap="square" lIns="0" tIns="0" rIns="0" bIns="0" rtlCol="0" anchor="t"/>
          <a:lstStyle/>
          <a:p>
            <a:pPr indent="0" marL="0">
              <a:buNone/>
            </a:pPr>
            <a:r>
              <a:rPr lang="en-US" sz="1200" dirty="0">
                <a:solidFill>
                  <a:schemeClr val="accent6"/>
                </a:solidFill>
              </a:rPr>
              <a:t>Availability 83% × Performance 84% × Quality 95%</a:t>
            </a:r>
            <a:endParaRPr lang="en-US" sz="1200" dirty="0"/>
          </a:p>
        </p:txBody>
      </p:sp>
      <p:sp>
        <p:nvSpPr>
          <p:cNvPr id="28" name="Insight card"/>
          <p:cNvSpPr/>
          <p:nvPr/>
        </p:nvSpPr>
        <p:spPr>
          <a:xfrm>
            <a:off x="548640" y="5120640"/>
            <a:ext cx="11064240" cy="868680"/>
          </a:xfrm>
          <a:prstGeom prst="roundRect">
            <a:avLst>
              <a:gd name="adj" fmla="val 8421"/>
            </a:avLst>
          </a:prstGeom>
          <a:solidFill>
            <a:schemeClr val="bg2"/>
          </a:solidFill>
          <a:ln/>
        </p:spPr>
      </p:sp>
      <p:sp>
        <p:nvSpPr>
          <p:cNvPr id="29" name="Insight circle"/>
          <p:cNvSpPr/>
          <p:nvPr/>
        </p:nvSpPr>
        <p:spPr>
          <a:xfrm>
            <a:off x="777240" y="5285232"/>
            <a:ext cx="548640" cy="548640"/>
          </a:xfrm>
          <a:prstGeom prst="ellipse">
            <a:avLst/>
          </a:prstGeom>
          <a:solidFill>
            <a:schemeClr val="accent2"/>
          </a:solidFill>
          <a:ln/>
        </p:spPr>
      </p:sp>
      <p:pic>
        <p:nvPicPr>
          <p:cNvPr id="30" name="Insight icon" descr="Insight">    </p:cNvPr>
          <p:cNvPicPr>
            <a:picLocks noChangeAspect="1"/>
          </p:cNvPicPr>
          <p:nvPr/>
        </p:nvPicPr>
        <p:blipFill>
          <a:blip r:embed="rId2"/>
          <a:stretch>
            <a:fillRect/>
          </a:stretch>
        </p:blipFill>
        <p:spPr>
          <a:xfrm>
            <a:off x="908914" y="5416906"/>
            <a:ext cx="285293" cy="285293"/>
          </a:xfrm>
          <a:prstGeom prst="rect">
            <a:avLst/>
          </a:prstGeom>
        </p:spPr>
      </p:pic>
      <p:sp>
        <p:nvSpPr>
          <p:cNvPr id="31" name="Insight text"/>
          <p:cNvSpPr txBox="1"/>
          <p:nvPr/>
        </p:nvSpPr>
        <p:spPr>
          <a:xfrm>
            <a:off x="1508760" y="5120640"/>
            <a:ext cx="9921240" cy="868680"/>
          </a:xfrm>
          <a:prstGeom prst="rect">
            <a:avLst/>
          </a:prstGeom>
          <a:noFill/>
          <a:ln/>
        </p:spPr>
        <p:txBody>
          <a:bodyPr wrap="square" lIns="0" tIns="0" rIns="0" bIns="0" rtlCol="0" anchor="ctr"/>
          <a:lstStyle/>
          <a:p>
            <a:pPr indent="0" marL="0">
              <a:buNone/>
            </a:pPr>
            <a:r>
              <a:rPr lang="en-US" sz="1500" b="1" dirty="0">
                <a:solidFill>
                  <a:schemeClr val="tx2"/>
                </a:solidFill>
              </a:rPr>
              <a:t>We lose 120 minutes a day, which is 4 excavators' worth of OP30 time. </a:t>
            </a:r>
            <a:pPr indent="0" marL="0">
              <a:buNone/>
            </a:pPr>
            <a:r>
              <a:rPr lang="en-US" sz="1500" dirty="0">
                <a:solidFill>
                  <a:schemeClr val="tx1"/>
                </a:solidFill>
              </a:rPr>
              <a:t>Win back about half and we get our 2 extra machines, without anyone working faster.</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First, keep OP30 running</a:t>
            </a:r>
            <a:endParaRPr lang="en-US" sz="3200" dirty="0"/>
          </a:p>
        </p:txBody>
      </p:sp>
      <p:sp>
        <p:nvSpPr>
          <p:cNvPr id="3" name="Lede"/>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500" i="1" dirty="0">
                <a:solidFill>
                  <a:schemeClr val="accent5"/>
                </a:solidFill>
              </a:rPr>
              <a:t>A minute saved at the bottleneck is a minute saved for the whole plant. So we start at OP30, then roll out to the other steps.</a:t>
            </a:r>
            <a:endParaRPr lang="en-US" sz="1500" dirty="0"/>
          </a:p>
        </p:txBody>
      </p:sp>
      <p:sp>
        <p:nvSpPr>
          <p:cNvPr id="4" name="Quicker changeovers card"/>
          <p:cNvSpPr/>
          <p:nvPr/>
        </p:nvSpPr>
        <p:spPr>
          <a:xfrm>
            <a:off x="548640" y="1783080"/>
            <a:ext cx="3502152" cy="3977640"/>
          </a:xfrm>
          <a:prstGeom prst="roundRect">
            <a:avLst>
              <a:gd name="adj" fmla="val 2089"/>
            </a:avLst>
          </a:prstGeom>
          <a:solidFill>
            <a:schemeClr val="bg2"/>
          </a:solidFill>
          <a:ln/>
        </p:spPr>
      </p:sp>
      <p:sp>
        <p:nvSpPr>
          <p:cNvPr id="5" name="Quicker changeovers circle"/>
          <p:cNvSpPr/>
          <p:nvPr/>
        </p:nvSpPr>
        <p:spPr>
          <a:xfrm>
            <a:off x="822960" y="2057400"/>
            <a:ext cx="640080" cy="640080"/>
          </a:xfrm>
          <a:prstGeom prst="ellipse">
            <a:avLst/>
          </a:prstGeom>
          <a:solidFill>
            <a:schemeClr val="tx2"/>
          </a:solidFill>
          <a:ln/>
        </p:spPr>
      </p:sp>
      <p:pic>
        <p:nvPicPr>
          <p:cNvPr id="6" name="Quicker changeovers icon" descr="Quicker changeovers">    </p:cNvPr>
          <p:cNvPicPr>
            <a:picLocks noChangeAspect="1"/>
          </p:cNvPicPr>
          <p:nvPr/>
        </p:nvPicPr>
        <p:blipFill>
          <a:blip r:embed="rId1"/>
          <a:stretch>
            <a:fillRect/>
          </a:stretch>
        </p:blipFill>
        <p:spPr>
          <a:xfrm>
            <a:off x="976579" y="2211019"/>
            <a:ext cx="332842" cy="332842"/>
          </a:xfrm>
          <a:prstGeom prst="rect">
            <a:avLst/>
          </a:prstGeom>
        </p:spPr>
      </p:pic>
      <p:sp>
        <p:nvSpPr>
          <p:cNvPr id="7" name="Quicker changeovers tag"/>
          <p:cNvSpPr txBox="1"/>
          <p:nvPr/>
        </p:nvSpPr>
        <p:spPr>
          <a:xfrm>
            <a:off x="1645920" y="2057400"/>
            <a:ext cx="2286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SMED</a:t>
            </a:r>
            <a:endParaRPr lang="en-US" sz="1200" dirty="0"/>
          </a:p>
        </p:txBody>
      </p:sp>
      <p:sp>
        <p:nvSpPr>
          <p:cNvPr id="8" name="Quicker changeovers title"/>
          <p:cNvSpPr txBox="1"/>
          <p:nvPr/>
        </p:nvSpPr>
        <p:spPr>
          <a:xfrm>
            <a:off x="1645920" y="2331720"/>
            <a:ext cx="2377440" cy="365760"/>
          </a:xfrm>
          <a:prstGeom prst="rect">
            <a:avLst/>
          </a:prstGeom>
          <a:noFill/>
          <a:ln/>
        </p:spPr>
        <p:txBody>
          <a:bodyPr wrap="square" lIns="0" tIns="0" rIns="0" bIns="0" rtlCol="0" anchor="t"/>
          <a:lstStyle/>
          <a:p>
            <a:pPr indent="0" marL="0">
              <a:buNone/>
            </a:pPr>
            <a:r>
              <a:rPr lang="en-US" sz="1900" b="1" dirty="0">
                <a:solidFill>
                  <a:schemeClr val="tx2"/>
                </a:solidFill>
              </a:rPr>
              <a:t>Quicker changeovers</a:t>
            </a:r>
            <a:endParaRPr lang="en-US" sz="1900" dirty="0"/>
          </a:p>
        </p:txBody>
      </p:sp>
      <p:sp>
        <p:nvSpPr>
          <p:cNvPr id="9" name="Quicker changeovers stat"/>
          <p:cNvSpPr txBox="1"/>
          <p:nvPr/>
        </p:nvSpPr>
        <p:spPr>
          <a:xfrm>
            <a:off x="822960" y="2926080"/>
            <a:ext cx="3017520" cy="64008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45</a:t>
            </a:r>
            <a:pPr indent="0" marL="0">
              <a:buNone/>
            </a:pPr>
            <a:r>
              <a:rPr lang="en-US" sz="3600" b="1" dirty="0">
                <a:solidFill>
                  <a:schemeClr val="tx2"/>
                </a:solidFill>
                <a:latin typeface="Calibri" pitchFamily="34" charset="0"/>
                <a:ea typeface="Calibri" pitchFamily="34" charset="-122"/>
                <a:cs typeface="Calibri" pitchFamily="34" charset="-120"/>
              </a:rPr>
              <a:t> → </a:t>
            </a:r>
            <a:pPr indent="0" marL="0">
              <a:buNone/>
            </a:pPr>
            <a:r>
              <a:rPr lang="en-US" sz="3600" b="1" dirty="0">
                <a:solidFill>
                  <a:schemeClr val="tx2"/>
                </a:solidFill>
                <a:latin typeface="Cambria" pitchFamily="34" charset="0"/>
                <a:ea typeface="Cambria" pitchFamily="34" charset="-122"/>
                <a:cs typeface="Cambria" pitchFamily="34" charset="-120"/>
              </a:rPr>
              <a:t>15</a:t>
            </a:r>
            <a:endParaRPr lang="en-US" sz="3600" dirty="0"/>
          </a:p>
        </p:txBody>
      </p:sp>
      <p:sp>
        <p:nvSpPr>
          <p:cNvPr id="10" name="Quicker changeovers stat label"/>
          <p:cNvSpPr txBox="1"/>
          <p:nvPr/>
        </p:nvSpPr>
        <p:spPr>
          <a:xfrm>
            <a:off x="822960" y="3566160"/>
            <a:ext cx="3017520" cy="274320"/>
          </a:xfrm>
          <a:prstGeom prst="rect">
            <a:avLst/>
          </a:prstGeom>
          <a:noFill/>
          <a:ln/>
        </p:spPr>
        <p:txBody>
          <a:bodyPr wrap="square" lIns="0" tIns="0" rIns="0" bIns="0" rtlCol="0" anchor="t"/>
          <a:lstStyle/>
          <a:p>
            <a:pPr indent="0" marL="0">
              <a:buNone/>
            </a:pPr>
            <a:r>
              <a:rPr lang="en-US" sz="1200" dirty="0">
                <a:solidFill>
                  <a:schemeClr val="accent5"/>
                </a:solidFill>
              </a:rPr>
              <a:t>minutes a day on changeovers</a:t>
            </a:r>
            <a:endParaRPr lang="en-US" sz="1200" dirty="0"/>
          </a:p>
        </p:txBody>
      </p:sp>
      <p:sp>
        <p:nvSpPr>
          <p:cNvPr id="11" name="Quicker changeovers text"/>
          <p:cNvSpPr txBox="1"/>
          <p:nvPr/>
        </p:nvSpPr>
        <p:spPr>
          <a:xfrm>
            <a:off x="822960" y="4023360"/>
            <a:ext cx="3017520" cy="914400"/>
          </a:xfrm>
          <a:prstGeom prst="rect">
            <a:avLst/>
          </a:prstGeom>
          <a:noFill/>
          <a:ln/>
        </p:spPr>
        <p:txBody>
          <a:bodyPr wrap="square" lIns="0" tIns="0" rIns="0" bIns="0" rtlCol="0" anchor="t"/>
          <a:lstStyle/>
          <a:p>
            <a:pPr indent="0" marL="0">
              <a:buNone/>
            </a:pPr>
            <a:r>
              <a:rPr lang="en-US" sz="1400" dirty="0">
                <a:solidFill>
                  <a:schemeClr val="tx1"/>
                </a:solidFill>
              </a:rPr>
              <a:t>Prepare the next fixture while the current frame is still being cut, and use quick-release clamps.</a:t>
            </a:r>
            <a:endParaRPr lang="en-US" sz="1400" dirty="0"/>
          </a:p>
        </p:txBody>
      </p:sp>
      <p:sp>
        <p:nvSpPr>
          <p:cNvPr id="12" name="Quicker changeovers gain pill"/>
          <p:cNvSpPr/>
          <p:nvPr/>
        </p:nvSpPr>
        <p:spPr>
          <a:xfrm>
            <a:off x="822960" y="5120640"/>
            <a:ext cx="2953512" cy="411480"/>
          </a:xfrm>
          <a:prstGeom prst="roundRect">
            <a:avLst>
              <a:gd name="adj" fmla="val 17778"/>
            </a:avLst>
          </a:prstGeom>
          <a:solidFill>
            <a:schemeClr val="accent4"/>
          </a:solidFill>
          <a:ln/>
        </p:spPr>
      </p:sp>
      <p:sp>
        <p:nvSpPr>
          <p:cNvPr id="13" name="Quicker changeovers gain"/>
          <p:cNvSpPr txBox="1"/>
          <p:nvPr/>
        </p:nvSpPr>
        <p:spPr>
          <a:xfrm>
            <a:off x="822960" y="5120640"/>
            <a:ext cx="2953512" cy="411480"/>
          </a:xfrm>
          <a:prstGeom prst="rect">
            <a:avLst/>
          </a:prstGeom>
          <a:noFill/>
          <a:ln/>
        </p:spPr>
        <p:txBody>
          <a:bodyPr wrap="square" lIns="0" tIns="0" rIns="0" bIns="0" rtlCol="0" anchor="ctr"/>
          <a:lstStyle/>
          <a:p>
            <a:pPr algn="ctr" indent="0" marL="0">
              <a:buNone/>
            </a:pPr>
            <a:r>
              <a:rPr lang="en-US" sz="1400" b="1" dirty="0">
                <a:solidFill>
                  <a:schemeClr val="bg1"/>
                </a:solidFill>
              </a:rPr>
              <a:t>+1.0 excavator a shift</a:t>
            </a:r>
            <a:endParaRPr lang="en-US" sz="1400" dirty="0"/>
          </a:p>
        </p:txBody>
      </p:sp>
      <p:sp>
        <p:nvSpPr>
          <p:cNvPr id="14" name="Fewer breakdowns card"/>
          <p:cNvSpPr/>
          <p:nvPr/>
        </p:nvSpPr>
        <p:spPr>
          <a:xfrm>
            <a:off x="4329684" y="1783080"/>
            <a:ext cx="3502152" cy="3977640"/>
          </a:xfrm>
          <a:prstGeom prst="roundRect">
            <a:avLst>
              <a:gd name="adj" fmla="val 2089"/>
            </a:avLst>
          </a:prstGeom>
          <a:solidFill>
            <a:schemeClr val="bg2"/>
          </a:solidFill>
          <a:ln/>
        </p:spPr>
      </p:sp>
      <p:sp>
        <p:nvSpPr>
          <p:cNvPr id="15" name="Fewer breakdowns circle"/>
          <p:cNvSpPr/>
          <p:nvPr/>
        </p:nvSpPr>
        <p:spPr>
          <a:xfrm>
            <a:off x="4604004" y="2057400"/>
            <a:ext cx="640080" cy="640080"/>
          </a:xfrm>
          <a:prstGeom prst="ellipse">
            <a:avLst/>
          </a:prstGeom>
          <a:solidFill>
            <a:schemeClr val="tx2"/>
          </a:solidFill>
          <a:ln/>
        </p:spPr>
      </p:sp>
      <p:pic>
        <p:nvPicPr>
          <p:cNvPr id="16" name="Fewer breakdowns icon" descr="Fewer breakdowns">    </p:cNvPr>
          <p:cNvPicPr>
            <a:picLocks noChangeAspect="1"/>
          </p:cNvPicPr>
          <p:nvPr/>
        </p:nvPicPr>
        <p:blipFill>
          <a:blip r:embed="rId2"/>
          <a:stretch>
            <a:fillRect/>
          </a:stretch>
        </p:blipFill>
        <p:spPr>
          <a:xfrm>
            <a:off x="4757623" y="2211019"/>
            <a:ext cx="332842" cy="332842"/>
          </a:xfrm>
          <a:prstGeom prst="rect">
            <a:avLst/>
          </a:prstGeom>
        </p:spPr>
      </p:pic>
      <p:sp>
        <p:nvSpPr>
          <p:cNvPr id="17" name="Fewer breakdowns tag"/>
          <p:cNvSpPr txBox="1"/>
          <p:nvPr/>
        </p:nvSpPr>
        <p:spPr>
          <a:xfrm>
            <a:off x="5426964" y="2057400"/>
            <a:ext cx="2286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TPM</a:t>
            </a:r>
            <a:endParaRPr lang="en-US" sz="1200" dirty="0"/>
          </a:p>
        </p:txBody>
      </p:sp>
      <p:sp>
        <p:nvSpPr>
          <p:cNvPr id="18" name="Fewer breakdowns title"/>
          <p:cNvSpPr txBox="1"/>
          <p:nvPr/>
        </p:nvSpPr>
        <p:spPr>
          <a:xfrm>
            <a:off x="5426964" y="2331720"/>
            <a:ext cx="2377440" cy="365760"/>
          </a:xfrm>
          <a:prstGeom prst="rect">
            <a:avLst/>
          </a:prstGeom>
          <a:noFill/>
          <a:ln/>
        </p:spPr>
        <p:txBody>
          <a:bodyPr wrap="square" lIns="0" tIns="0" rIns="0" bIns="0" rtlCol="0" anchor="t"/>
          <a:lstStyle/>
          <a:p>
            <a:pPr indent="0" marL="0">
              <a:buNone/>
            </a:pPr>
            <a:r>
              <a:rPr lang="en-US" sz="1900" b="1" dirty="0">
                <a:solidFill>
                  <a:schemeClr val="tx2"/>
                </a:solidFill>
              </a:rPr>
              <a:t>Fewer breakdowns</a:t>
            </a:r>
            <a:endParaRPr lang="en-US" sz="1900" dirty="0"/>
          </a:p>
        </p:txBody>
      </p:sp>
      <p:sp>
        <p:nvSpPr>
          <p:cNvPr id="19" name="Fewer breakdowns stat"/>
          <p:cNvSpPr txBox="1"/>
          <p:nvPr/>
        </p:nvSpPr>
        <p:spPr>
          <a:xfrm>
            <a:off x="4604004" y="2926080"/>
            <a:ext cx="3017520" cy="64008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25</a:t>
            </a:r>
            <a:pPr indent="0" marL="0">
              <a:buNone/>
            </a:pPr>
            <a:r>
              <a:rPr lang="en-US" sz="3600" b="1" dirty="0">
                <a:solidFill>
                  <a:schemeClr val="tx2"/>
                </a:solidFill>
                <a:latin typeface="Calibri" pitchFamily="34" charset="0"/>
                <a:ea typeface="Calibri" pitchFamily="34" charset="-122"/>
                <a:cs typeface="Calibri" pitchFamily="34" charset="-120"/>
              </a:rPr>
              <a:t> → </a:t>
            </a:r>
            <a:pPr indent="0" marL="0">
              <a:buNone/>
            </a:pPr>
            <a:r>
              <a:rPr lang="en-US" sz="3600" b="1" dirty="0">
                <a:solidFill>
                  <a:schemeClr val="tx2"/>
                </a:solidFill>
                <a:latin typeface="Cambria" pitchFamily="34" charset="0"/>
                <a:ea typeface="Cambria" pitchFamily="34" charset="-122"/>
                <a:cs typeface="Cambria" pitchFamily="34" charset="-120"/>
              </a:rPr>
              <a:t>12</a:t>
            </a:r>
            <a:endParaRPr lang="en-US" sz="3600" dirty="0"/>
          </a:p>
        </p:txBody>
      </p:sp>
      <p:sp>
        <p:nvSpPr>
          <p:cNvPr id="20" name="Fewer breakdowns stat label"/>
          <p:cNvSpPr txBox="1"/>
          <p:nvPr/>
        </p:nvSpPr>
        <p:spPr>
          <a:xfrm>
            <a:off x="4604004" y="3566160"/>
            <a:ext cx="3017520" cy="274320"/>
          </a:xfrm>
          <a:prstGeom prst="rect">
            <a:avLst/>
          </a:prstGeom>
          <a:noFill/>
          <a:ln/>
        </p:spPr>
        <p:txBody>
          <a:bodyPr wrap="square" lIns="0" tIns="0" rIns="0" bIns="0" rtlCol="0" anchor="t"/>
          <a:lstStyle/>
          <a:p>
            <a:pPr indent="0" marL="0">
              <a:buNone/>
            </a:pPr>
            <a:r>
              <a:rPr lang="en-US" sz="1200" dirty="0">
                <a:solidFill>
                  <a:schemeClr val="accent5"/>
                </a:solidFill>
              </a:rPr>
              <a:t>minutes a day lost to stops</a:t>
            </a:r>
            <a:endParaRPr lang="en-US" sz="1200" dirty="0"/>
          </a:p>
        </p:txBody>
      </p:sp>
      <p:sp>
        <p:nvSpPr>
          <p:cNvPr id="21" name="Fewer breakdowns text"/>
          <p:cNvSpPr txBox="1"/>
          <p:nvPr/>
        </p:nvSpPr>
        <p:spPr>
          <a:xfrm>
            <a:off x="4604004" y="4023360"/>
            <a:ext cx="3017520" cy="914400"/>
          </a:xfrm>
          <a:prstGeom prst="rect">
            <a:avLst/>
          </a:prstGeom>
          <a:noFill/>
          <a:ln/>
        </p:spPr>
        <p:txBody>
          <a:bodyPr wrap="square" lIns="0" tIns="0" rIns="0" bIns="0" rtlCol="0" anchor="t"/>
          <a:lstStyle/>
          <a:p>
            <a:pPr indent="0" marL="0">
              <a:buNone/>
            </a:pPr>
            <a:r>
              <a:rPr lang="en-US" sz="1400" dirty="0">
                <a:solidFill>
                  <a:schemeClr val="tx1"/>
                </a:solidFill>
              </a:rPr>
              <a:t>Operators do a 10-minute daily check, backed by a planned maintenance calendar.</a:t>
            </a:r>
            <a:endParaRPr lang="en-US" sz="1400" dirty="0"/>
          </a:p>
        </p:txBody>
      </p:sp>
      <p:sp>
        <p:nvSpPr>
          <p:cNvPr id="22" name="Fewer breakdowns gain pill"/>
          <p:cNvSpPr/>
          <p:nvPr/>
        </p:nvSpPr>
        <p:spPr>
          <a:xfrm>
            <a:off x="4604004" y="5120640"/>
            <a:ext cx="2953512" cy="411480"/>
          </a:xfrm>
          <a:prstGeom prst="roundRect">
            <a:avLst>
              <a:gd name="adj" fmla="val 17778"/>
            </a:avLst>
          </a:prstGeom>
          <a:solidFill>
            <a:schemeClr val="accent4"/>
          </a:solidFill>
          <a:ln/>
        </p:spPr>
      </p:sp>
      <p:sp>
        <p:nvSpPr>
          <p:cNvPr id="23" name="Fewer breakdowns gain"/>
          <p:cNvSpPr txBox="1"/>
          <p:nvPr/>
        </p:nvSpPr>
        <p:spPr>
          <a:xfrm>
            <a:off x="4604004" y="5120640"/>
            <a:ext cx="2953512" cy="411480"/>
          </a:xfrm>
          <a:prstGeom prst="rect">
            <a:avLst/>
          </a:prstGeom>
          <a:noFill/>
          <a:ln/>
        </p:spPr>
        <p:txBody>
          <a:bodyPr wrap="square" lIns="0" tIns="0" rIns="0" bIns="0" rtlCol="0" anchor="ctr"/>
          <a:lstStyle/>
          <a:p>
            <a:pPr algn="ctr" indent="0" marL="0">
              <a:buNone/>
            </a:pPr>
            <a:r>
              <a:rPr lang="en-US" sz="1400" b="1" dirty="0">
                <a:solidFill>
                  <a:schemeClr val="bg1"/>
                </a:solidFill>
              </a:rPr>
              <a:t>+0.4 excavator a shift</a:t>
            </a:r>
            <a:endParaRPr lang="en-US" sz="1400" dirty="0"/>
          </a:p>
        </p:txBody>
      </p:sp>
      <p:sp>
        <p:nvSpPr>
          <p:cNvPr id="24" name="No more waiting card"/>
          <p:cNvSpPr/>
          <p:nvPr/>
        </p:nvSpPr>
        <p:spPr>
          <a:xfrm>
            <a:off x="8110728" y="1783080"/>
            <a:ext cx="3502152" cy="3977640"/>
          </a:xfrm>
          <a:prstGeom prst="roundRect">
            <a:avLst>
              <a:gd name="adj" fmla="val 2089"/>
            </a:avLst>
          </a:prstGeom>
          <a:solidFill>
            <a:schemeClr val="bg2"/>
          </a:solidFill>
          <a:ln/>
        </p:spPr>
      </p:sp>
      <p:sp>
        <p:nvSpPr>
          <p:cNvPr id="25" name="No more waiting circle"/>
          <p:cNvSpPr/>
          <p:nvPr/>
        </p:nvSpPr>
        <p:spPr>
          <a:xfrm>
            <a:off x="8385048" y="2057400"/>
            <a:ext cx="640080" cy="640080"/>
          </a:xfrm>
          <a:prstGeom prst="ellipse">
            <a:avLst/>
          </a:prstGeom>
          <a:solidFill>
            <a:schemeClr val="tx2"/>
          </a:solidFill>
          <a:ln/>
        </p:spPr>
      </p:sp>
      <p:pic>
        <p:nvPicPr>
          <p:cNvPr id="26" name="No more waiting icon" descr="No more waiting">    </p:cNvPr>
          <p:cNvPicPr>
            <a:picLocks noChangeAspect="1"/>
          </p:cNvPicPr>
          <p:nvPr/>
        </p:nvPicPr>
        <p:blipFill>
          <a:blip r:embed="rId3"/>
          <a:stretch>
            <a:fillRect/>
          </a:stretch>
        </p:blipFill>
        <p:spPr>
          <a:xfrm>
            <a:off x="8538667" y="2211019"/>
            <a:ext cx="332842" cy="332842"/>
          </a:xfrm>
          <a:prstGeom prst="rect">
            <a:avLst/>
          </a:prstGeom>
        </p:spPr>
      </p:pic>
      <p:sp>
        <p:nvSpPr>
          <p:cNvPr id="27" name="No more waiting tag"/>
          <p:cNvSpPr txBox="1"/>
          <p:nvPr/>
        </p:nvSpPr>
        <p:spPr>
          <a:xfrm>
            <a:off x="9208008" y="2057400"/>
            <a:ext cx="2286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JUST-IN-TIME</a:t>
            </a:r>
            <a:endParaRPr lang="en-US" sz="1200" dirty="0"/>
          </a:p>
        </p:txBody>
      </p:sp>
      <p:sp>
        <p:nvSpPr>
          <p:cNvPr id="28" name="No more waiting title"/>
          <p:cNvSpPr txBox="1"/>
          <p:nvPr/>
        </p:nvSpPr>
        <p:spPr>
          <a:xfrm>
            <a:off x="9208008" y="2331720"/>
            <a:ext cx="2377440" cy="365760"/>
          </a:xfrm>
          <a:prstGeom prst="rect">
            <a:avLst/>
          </a:prstGeom>
          <a:noFill/>
          <a:ln/>
        </p:spPr>
        <p:txBody>
          <a:bodyPr wrap="square" lIns="0" tIns="0" rIns="0" bIns="0" rtlCol="0" anchor="t"/>
          <a:lstStyle/>
          <a:p>
            <a:pPr indent="0" marL="0">
              <a:buNone/>
            </a:pPr>
            <a:r>
              <a:rPr lang="en-US" sz="1900" b="1" dirty="0">
                <a:solidFill>
                  <a:schemeClr val="tx2"/>
                </a:solidFill>
              </a:rPr>
              <a:t>No more waiting</a:t>
            </a:r>
            <a:endParaRPr lang="en-US" sz="1900" dirty="0"/>
          </a:p>
        </p:txBody>
      </p:sp>
      <p:sp>
        <p:nvSpPr>
          <p:cNvPr id="29" name="No more waiting stat"/>
          <p:cNvSpPr txBox="1"/>
          <p:nvPr/>
        </p:nvSpPr>
        <p:spPr>
          <a:xfrm>
            <a:off x="8385048" y="2926080"/>
            <a:ext cx="3017520" cy="64008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20</a:t>
            </a:r>
            <a:pPr indent="0" marL="0">
              <a:buNone/>
            </a:pPr>
            <a:r>
              <a:rPr lang="en-US" sz="3600" b="1" dirty="0">
                <a:solidFill>
                  <a:schemeClr val="tx2"/>
                </a:solidFill>
                <a:latin typeface="Calibri" pitchFamily="34" charset="0"/>
                <a:ea typeface="Calibri" pitchFamily="34" charset="-122"/>
                <a:cs typeface="Calibri" pitchFamily="34" charset="-120"/>
              </a:rPr>
              <a:t> → </a:t>
            </a:r>
            <a:pPr indent="0" marL="0">
              <a:buNone/>
            </a:pPr>
            <a:r>
              <a:rPr lang="en-US" sz="3600" b="1" dirty="0">
                <a:solidFill>
                  <a:schemeClr val="tx2"/>
                </a:solidFill>
                <a:latin typeface="Cambria" pitchFamily="34" charset="0"/>
                <a:ea typeface="Cambria" pitchFamily="34" charset="-122"/>
                <a:cs typeface="Cambria" pitchFamily="34" charset="-120"/>
              </a:rPr>
              <a:t>6</a:t>
            </a:r>
            <a:endParaRPr lang="en-US" sz="3600" dirty="0"/>
          </a:p>
        </p:txBody>
      </p:sp>
      <p:sp>
        <p:nvSpPr>
          <p:cNvPr id="30" name="No more waiting stat label"/>
          <p:cNvSpPr txBox="1"/>
          <p:nvPr/>
        </p:nvSpPr>
        <p:spPr>
          <a:xfrm>
            <a:off x="8385048" y="3566160"/>
            <a:ext cx="3017520" cy="274320"/>
          </a:xfrm>
          <a:prstGeom prst="rect">
            <a:avLst/>
          </a:prstGeom>
          <a:noFill/>
          <a:ln/>
        </p:spPr>
        <p:txBody>
          <a:bodyPr wrap="square" lIns="0" tIns="0" rIns="0" bIns="0" rtlCol="0" anchor="t"/>
          <a:lstStyle/>
          <a:p>
            <a:pPr indent="0" marL="0">
              <a:buNone/>
            </a:pPr>
            <a:r>
              <a:rPr lang="en-US" sz="1200" dirty="0">
                <a:solidFill>
                  <a:schemeClr val="accent5"/>
                </a:solidFill>
              </a:rPr>
              <a:t>minutes a day spent waiting</a:t>
            </a:r>
            <a:endParaRPr lang="en-US" sz="1200" dirty="0"/>
          </a:p>
        </p:txBody>
      </p:sp>
      <p:sp>
        <p:nvSpPr>
          <p:cNvPr id="31" name="No more waiting text"/>
          <p:cNvSpPr txBox="1"/>
          <p:nvPr/>
        </p:nvSpPr>
        <p:spPr>
          <a:xfrm>
            <a:off x="8385048" y="4023360"/>
            <a:ext cx="3017520" cy="914400"/>
          </a:xfrm>
          <a:prstGeom prst="rect">
            <a:avLst/>
          </a:prstGeom>
          <a:noFill/>
          <a:ln/>
        </p:spPr>
        <p:txBody>
          <a:bodyPr wrap="square" lIns="0" tIns="0" rIns="0" bIns="0" rtlCol="0" anchor="t"/>
          <a:lstStyle/>
          <a:p>
            <a:pPr indent="0" marL="0">
              <a:buNone/>
            </a:pPr>
            <a:r>
              <a:rPr lang="en-US" sz="1400" dirty="0">
                <a:solidFill>
                  <a:schemeClr val="tx1"/>
                </a:solidFill>
              </a:rPr>
              <a:t>A two-frame buffer in front of OP30, kanban from welding, and its own jib crane.</a:t>
            </a:r>
            <a:endParaRPr lang="en-US" sz="1400" dirty="0"/>
          </a:p>
        </p:txBody>
      </p:sp>
      <p:sp>
        <p:nvSpPr>
          <p:cNvPr id="32" name="No more waiting gain pill"/>
          <p:cNvSpPr/>
          <p:nvPr/>
        </p:nvSpPr>
        <p:spPr>
          <a:xfrm>
            <a:off x="8385048" y="5120640"/>
            <a:ext cx="2953512" cy="411480"/>
          </a:xfrm>
          <a:prstGeom prst="roundRect">
            <a:avLst>
              <a:gd name="adj" fmla="val 17778"/>
            </a:avLst>
          </a:prstGeom>
          <a:solidFill>
            <a:schemeClr val="accent4"/>
          </a:solidFill>
          <a:ln/>
        </p:spPr>
      </p:sp>
      <p:sp>
        <p:nvSpPr>
          <p:cNvPr id="33" name="No more waiting gain"/>
          <p:cNvSpPr txBox="1"/>
          <p:nvPr/>
        </p:nvSpPr>
        <p:spPr>
          <a:xfrm>
            <a:off x="8385048" y="5120640"/>
            <a:ext cx="2953512" cy="411480"/>
          </a:xfrm>
          <a:prstGeom prst="rect">
            <a:avLst/>
          </a:prstGeom>
          <a:noFill/>
          <a:ln/>
        </p:spPr>
        <p:txBody>
          <a:bodyPr wrap="square" lIns="0" tIns="0" rIns="0" bIns="0" rtlCol="0" anchor="ctr"/>
          <a:lstStyle/>
          <a:p>
            <a:pPr algn="ctr" indent="0" marL="0">
              <a:buNone/>
            </a:pPr>
            <a:r>
              <a:rPr lang="en-US" sz="1400" b="1" dirty="0">
                <a:solidFill>
                  <a:schemeClr val="bg1"/>
                </a:solidFill>
              </a:rPr>
              <a:t>+0.5 excavator a shift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Then, make the better way the normal way</a:t>
            </a:r>
            <a:endParaRPr lang="en-US" sz="3200" dirty="0"/>
          </a:p>
        </p:txBody>
      </p:sp>
      <p:graphicFrame>
        <p:nvGraphicFramePr>
          <p:cNvPr id="3" name="Before and after chart" descr=""/>
          <p:cNvGraphicFramePr/>
          <p:nvPr/>
        </p:nvGraphicFramePr>
        <p:xfrm>
          <a:off x="548640" y="1325880"/>
          <a:ext cx="6309360" cy="4526280"/>
        </p:xfrm>
        <a:graphic xmlns:a="http://schemas.openxmlformats.org/drawingml/2006/main">
          <a:graphicData uri="http://schemas.openxmlformats.org/drawingml/2006/chart">
            <c:chart xmlns:c="http://schemas.openxmlformats.org/drawingml/2006/chart" r:id="rId1"/>
          </a:graphicData>
        </a:graphic>
      </p:graphicFrame>
      <p:sp>
        <p:nvSpPr>
          <p:cNvPr id="4" name="Standard work card"/>
          <p:cNvSpPr/>
          <p:nvPr/>
        </p:nvSpPr>
        <p:spPr>
          <a:xfrm>
            <a:off x="7223760" y="1417320"/>
            <a:ext cx="4389120" cy="1280160"/>
          </a:xfrm>
          <a:prstGeom prst="roundRect">
            <a:avLst>
              <a:gd name="adj" fmla="val 5714"/>
            </a:avLst>
          </a:prstGeom>
          <a:solidFill>
            <a:schemeClr val="bg2"/>
          </a:solidFill>
          <a:ln/>
        </p:spPr>
      </p:sp>
      <p:sp>
        <p:nvSpPr>
          <p:cNvPr id="5" name="Standard work circle"/>
          <p:cNvSpPr/>
          <p:nvPr/>
        </p:nvSpPr>
        <p:spPr>
          <a:xfrm>
            <a:off x="7424928" y="1618488"/>
            <a:ext cx="548640" cy="548640"/>
          </a:xfrm>
          <a:prstGeom prst="ellipse">
            <a:avLst/>
          </a:prstGeom>
          <a:solidFill>
            <a:schemeClr val="tx2"/>
          </a:solidFill>
          <a:ln/>
        </p:spPr>
      </p:sp>
      <p:pic>
        <p:nvPicPr>
          <p:cNvPr id="6" name="Standard work icon" descr="Standard work">    </p:cNvPr>
          <p:cNvPicPr>
            <a:picLocks noChangeAspect="1"/>
          </p:cNvPicPr>
          <p:nvPr/>
        </p:nvPicPr>
        <p:blipFill>
          <a:blip r:embed="rId2"/>
          <a:stretch>
            <a:fillRect/>
          </a:stretch>
        </p:blipFill>
        <p:spPr>
          <a:xfrm>
            <a:off x="7556602" y="1750162"/>
            <a:ext cx="285293" cy="285293"/>
          </a:xfrm>
          <a:prstGeom prst="rect">
            <a:avLst/>
          </a:prstGeom>
        </p:spPr>
      </p:pic>
      <p:sp>
        <p:nvSpPr>
          <p:cNvPr id="7" name="Standard work title"/>
          <p:cNvSpPr txBox="1"/>
          <p:nvPr/>
        </p:nvSpPr>
        <p:spPr>
          <a:xfrm>
            <a:off x="8138160" y="1572768"/>
            <a:ext cx="2011680" cy="347472"/>
          </a:xfrm>
          <a:prstGeom prst="rect">
            <a:avLst/>
          </a:prstGeom>
          <a:noFill/>
          <a:ln/>
        </p:spPr>
        <p:txBody>
          <a:bodyPr wrap="square" lIns="0" tIns="0" rIns="0" bIns="0" rtlCol="0" anchor="t"/>
          <a:lstStyle/>
          <a:p>
            <a:pPr indent="0" marL="0">
              <a:buNone/>
            </a:pPr>
            <a:r>
              <a:rPr lang="en-US" sz="1700" b="1" dirty="0">
                <a:solidFill>
                  <a:schemeClr val="tx2"/>
                </a:solidFill>
              </a:rPr>
              <a:t>Standard work</a:t>
            </a:r>
            <a:endParaRPr lang="en-US" sz="1700" dirty="0"/>
          </a:p>
        </p:txBody>
      </p:sp>
      <p:sp>
        <p:nvSpPr>
          <p:cNvPr id="8" name="Standard work gain"/>
          <p:cNvSpPr txBox="1"/>
          <p:nvPr/>
        </p:nvSpPr>
        <p:spPr>
          <a:xfrm>
            <a:off x="9966960" y="1572768"/>
            <a:ext cx="1463040" cy="347472"/>
          </a:xfrm>
          <a:prstGeom prst="rect">
            <a:avLst/>
          </a:prstGeom>
          <a:noFill/>
          <a:ln/>
        </p:spPr>
        <p:txBody>
          <a:bodyPr wrap="square" lIns="0" tIns="0" rIns="0" bIns="0" rtlCol="0" anchor="t"/>
          <a:lstStyle/>
          <a:p>
            <a:pPr algn="r" indent="0" marL="0">
              <a:buNone/>
            </a:pPr>
            <a:r>
              <a:rPr lang="en-US" sz="1300" b="1" dirty="0">
                <a:solidFill>
                  <a:schemeClr val="accent4"/>
                </a:solidFill>
              </a:rPr>
              <a:t>+0.7 excavator</a:t>
            </a:r>
            <a:endParaRPr lang="en-US" sz="1300" dirty="0"/>
          </a:p>
        </p:txBody>
      </p:sp>
      <p:sp>
        <p:nvSpPr>
          <p:cNvPr id="9" name="Standard work text"/>
          <p:cNvSpPr txBox="1"/>
          <p:nvPr/>
        </p:nvSpPr>
        <p:spPr>
          <a:xfrm>
            <a:off x="8138160" y="1947672"/>
            <a:ext cx="3291840" cy="685800"/>
          </a:xfrm>
          <a:prstGeom prst="rect">
            <a:avLst/>
          </a:prstGeom>
          <a:noFill/>
          <a:ln/>
        </p:spPr>
        <p:txBody>
          <a:bodyPr wrap="square" lIns="0" tIns="0" rIns="0" bIns="0" rtlCol="0" anchor="t"/>
          <a:lstStyle/>
          <a:p>
            <a:pPr indent="0" marL="0">
              <a:buNone/>
            </a:pPr>
            <a:r>
              <a:rPr lang="en-US" sz="1300" dirty="0">
                <a:solidFill>
                  <a:schemeClr val="tx1"/>
                </a:solidFill>
              </a:rPr>
              <a:t>Probes replace dial gauges, and some drilling moves to OP50, which had time to spare.</a:t>
            </a:r>
            <a:endParaRPr lang="en-US" sz="1300" dirty="0"/>
          </a:p>
        </p:txBody>
      </p:sp>
      <p:sp>
        <p:nvSpPr>
          <p:cNvPr id="10" name="Built-in quality card"/>
          <p:cNvSpPr/>
          <p:nvPr/>
        </p:nvSpPr>
        <p:spPr>
          <a:xfrm>
            <a:off x="7223760" y="2880360"/>
            <a:ext cx="4389120" cy="1280160"/>
          </a:xfrm>
          <a:prstGeom prst="roundRect">
            <a:avLst>
              <a:gd name="adj" fmla="val 5714"/>
            </a:avLst>
          </a:prstGeom>
          <a:solidFill>
            <a:schemeClr val="bg2"/>
          </a:solidFill>
          <a:ln/>
        </p:spPr>
      </p:sp>
      <p:sp>
        <p:nvSpPr>
          <p:cNvPr id="11" name="Built-in quality circle"/>
          <p:cNvSpPr/>
          <p:nvPr/>
        </p:nvSpPr>
        <p:spPr>
          <a:xfrm>
            <a:off x="7424928" y="3081528"/>
            <a:ext cx="548640" cy="548640"/>
          </a:xfrm>
          <a:prstGeom prst="ellipse">
            <a:avLst/>
          </a:prstGeom>
          <a:solidFill>
            <a:schemeClr val="tx2"/>
          </a:solidFill>
          <a:ln/>
        </p:spPr>
      </p:sp>
      <p:pic>
        <p:nvPicPr>
          <p:cNvPr id="12" name="Built-in quality icon" descr="Built-in quality">    </p:cNvPr>
          <p:cNvPicPr>
            <a:picLocks noChangeAspect="1"/>
          </p:cNvPicPr>
          <p:nvPr/>
        </p:nvPicPr>
        <p:blipFill>
          <a:blip r:embed="rId3"/>
          <a:stretch>
            <a:fillRect/>
          </a:stretch>
        </p:blipFill>
        <p:spPr>
          <a:xfrm>
            <a:off x="7556602" y="3213202"/>
            <a:ext cx="285293" cy="285293"/>
          </a:xfrm>
          <a:prstGeom prst="rect">
            <a:avLst/>
          </a:prstGeom>
        </p:spPr>
      </p:pic>
      <p:sp>
        <p:nvSpPr>
          <p:cNvPr id="13" name="Built-in quality title"/>
          <p:cNvSpPr txBox="1"/>
          <p:nvPr/>
        </p:nvSpPr>
        <p:spPr>
          <a:xfrm>
            <a:off x="8138160" y="3035808"/>
            <a:ext cx="2011680" cy="347472"/>
          </a:xfrm>
          <a:prstGeom prst="rect">
            <a:avLst/>
          </a:prstGeom>
          <a:noFill/>
          <a:ln/>
        </p:spPr>
        <p:txBody>
          <a:bodyPr wrap="square" lIns="0" tIns="0" rIns="0" bIns="0" rtlCol="0" anchor="t"/>
          <a:lstStyle/>
          <a:p>
            <a:pPr indent="0" marL="0">
              <a:buNone/>
            </a:pPr>
            <a:r>
              <a:rPr lang="en-US" sz="1700" b="1" dirty="0">
                <a:solidFill>
                  <a:schemeClr val="tx2"/>
                </a:solidFill>
              </a:rPr>
              <a:t>Built-in quality</a:t>
            </a:r>
            <a:endParaRPr lang="en-US" sz="1700" dirty="0"/>
          </a:p>
        </p:txBody>
      </p:sp>
      <p:sp>
        <p:nvSpPr>
          <p:cNvPr id="14" name="Built-in quality gain"/>
          <p:cNvSpPr txBox="1"/>
          <p:nvPr/>
        </p:nvSpPr>
        <p:spPr>
          <a:xfrm>
            <a:off x="9966960" y="3035808"/>
            <a:ext cx="1463040" cy="347472"/>
          </a:xfrm>
          <a:prstGeom prst="rect">
            <a:avLst/>
          </a:prstGeom>
          <a:noFill/>
          <a:ln/>
        </p:spPr>
        <p:txBody>
          <a:bodyPr wrap="square" lIns="0" tIns="0" rIns="0" bIns="0" rtlCol="0" anchor="t"/>
          <a:lstStyle/>
          <a:p>
            <a:pPr algn="r" indent="0" marL="0">
              <a:buNone/>
            </a:pPr>
            <a:r>
              <a:rPr lang="en-US" sz="1300" b="1" dirty="0">
                <a:solidFill>
                  <a:schemeClr val="accent4"/>
                </a:solidFill>
              </a:rPr>
              <a:t>+0.3 excavator</a:t>
            </a:r>
            <a:endParaRPr lang="en-US" sz="1300" dirty="0"/>
          </a:p>
        </p:txBody>
      </p:sp>
      <p:sp>
        <p:nvSpPr>
          <p:cNvPr id="15" name="Built-in quality text"/>
          <p:cNvSpPr txBox="1"/>
          <p:nvPr/>
        </p:nvSpPr>
        <p:spPr>
          <a:xfrm>
            <a:off x="8138160" y="3410712"/>
            <a:ext cx="3291840" cy="685800"/>
          </a:xfrm>
          <a:prstGeom prst="rect">
            <a:avLst/>
          </a:prstGeom>
          <a:noFill/>
          <a:ln/>
        </p:spPr>
        <p:txBody>
          <a:bodyPr wrap="square" lIns="0" tIns="0" rIns="0" bIns="0" rtlCol="0" anchor="t"/>
          <a:lstStyle/>
          <a:p>
            <a:pPr indent="0" marL="0">
              <a:buNone/>
            </a:pPr>
            <a:r>
              <a:rPr lang="en-US" sz="1300" dirty="0">
                <a:solidFill>
                  <a:schemeClr val="tx1"/>
                </a:solidFill>
              </a:rPr>
              <a:t>Poka-yoke locators so a frame can't be clamped wrong, plus SPC on the pin bores.</a:t>
            </a:r>
            <a:endParaRPr lang="en-US" sz="1300" dirty="0"/>
          </a:p>
        </p:txBody>
      </p:sp>
      <p:sp>
        <p:nvSpPr>
          <p:cNvPr id="16" name="5S and daily kaizen card"/>
          <p:cNvSpPr/>
          <p:nvPr/>
        </p:nvSpPr>
        <p:spPr>
          <a:xfrm>
            <a:off x="7223760" y="4343400"/>
            <a:ext cx="4389120" cy="1280160"/>
          </a:xfrm>
          <a:prstGeom prst="roundRect">
            <a:avLst>
              <a:gd name="adj" fmla="val 5714"/>
            </a:avLst>
          </a:prstGeom>
          <a:solidFill>
            <a:schemeClr val="bg2"/>
          </a:solidFill>
          <a:ln/>
        </p:spPr>
      </p:sp>
      <p:sp>
        <p:nvSpPr>
          <p:cNvPr id="17" name="5S and daily kaizen circle"/>
          <p:cNvSpPr/>
          <p:nvPr/>
        </p:nvSpPr>
        <p:spPr>
          <a:xfrm>
            <a:off x="7424928" y="4544568"/>
            <a:ext cx="548640" cy="548640"/>
          </a:xfrm>
          <a:prstGeom prst="ellipse">
            <a:avLst/>
          </a:prstGeom>
          <a:solidFill>
            <a:schemeClr val="tx2"/>
          </a:solidFill>
          <a:ln/>
        </p:spPr>
      </p:sp>
      <p:pic>
        <p:nvPicPr>
          <p:cNvPr id="18" name="5S and daily kaizen icon" descr="5S and daily kaizen">    </p:cNvPr>
          <p:cNvPicPr>
            <a:picLocks noChangeAspect="1"/>
          </p:cNvPicPr>
          <p:nvPr/>
        </p:nvPicPr>
        <p:blipFill>
          <a:blip r:embed="rId4"/>
          <a:stretch>
            <a:fillRect/>
          </a:stretch>
        </p:blipFill>
        <p:spPr>
          <a:xfrm>
            <a:off x="7556602" y="4676242"/>
            <a:ext cx="285293" cy="285293"/>
          </a:xfrm>
          <a:prstGeom prst="rect">
            <a:avLst/>
          </a:prstGeom>
        </p:spPr>
      </p:pic>
      <p:sp>
        <p:nvSpPr>
          <p:cNvPr id="19" name="5S and daily kaizen title"/>
          <p:cNvSpPr txBox="1"/>
          <p:nvPr/>
        </p:nvSpPr>
        <p:spPr>
          <a:xfrm>
            <a:off x="8138160" y="4498848"/>
            <a:ext cx="2011680" cy="347472"/>
          </a:xfrm>
          <a:prstGeom prst="rect">
            <a:avLst/>
          </a:prstGeom>
          <a:noFill/>
          <a:ln/>
        </p:spPr>
        <p:txBody>
          <a:bodyPr wrap="square" lIns="0" tIns="0" rIns="0" bIns="0" rtlCol="0" anchor="t"/>
          <a:lstStyle/>
          <a:p>
            <a:pPr indent="0" marL="0">
              <a:buNone/>
            </a:pPr>
            <a:r>
              <a:rPr lang="en-US" sz="1700" b="1" dirty="0">
                <a:solidFill>
                  <a:schemeClr val="tx2"/>
                </a:solidFill>
              </a:rPr>
              <a:t>5S and daily kaizen</a:t>
            </a:r>
            <a:endParaRPr lang="en-US" sz="1700" dirty="0"/>
          </a:p>
        </p:txBody>
      </p:sp>
      <p:sp>
        <p:nvSpPr>
          <p:cNvPr id="20" name="5S and daily kaizen gain"/>
          <p:cNvSpPr txBox="1"/>
          <p:nvPr/>
        </p:nvSpPr>
        <p:spPr>
          <a:xfrm>
            <a:off x="9966960" y="4498848"/>
            <a:ext cx="1463040" cy="347472"/>
          </a:xfrm>
          <a:prstGeom prst="rect">
            <a:avLst/>
          </a:prstGeom>
          <a:noFill/>
          <a:ln/>
        </p:spPr>
        <p:txBody>
          <a:bodyPr wrap="square" lIns="0" tIns="0" rIns="0" bIns="0" rtlCol="0" anchor="t"/>
          <a:lstStyle/>
          <a:p>
            <a:pPr algn="r" indent="0" marL="0">
              <a:buNone/>
            </a:pPr>
            <a:r>
              <a:rPr lang="en-US" sz="1300" b="1" dirty="0">
                <a:solidFill>
                  <a:schemeClr val="accent4"/>
                </a:solidFill>
              </a:rPr>
              <a:t>Keeps it going</a:t>
            </a:r>
            <a:endParaRPr lang="en-US" sz="1300" dirty="0"/>
          </a:p>
        </p:txBody>
      </p:sp>
      <p:sp>
        <p:nvSpPr>
          <p:cNvPr id="21" name="5S and daily kaizen text"/>
          <p:cNvSpPr txBox="1"/>
          <p:nvPr/>
        </p:nvSpPr>
        <p:spPr>
          <a:xfrm>
            <a:off x="8138160" y="4873752"/>
            <a:ext cx="3291840" cy="685800"/>
          </a:xfrm>
          <a:prstGeom prst="rect">
            <a:avLst/>
          </a:prstGeom>
          <a:noFill/>
          <a:ln/>
        </p:spPr>
        <p:txBody>
          <a:bodyPr wrap="square" lIns="0" tIns="0" rIns="0" bIns="0" rtlCol="0" anchor="t"/>
          <a:lstStyle/>
          <a:p>
            <a:pPr indent="0" marL="0">
              <a:buNone/>
            </a:pPr>
            <a:r>
              <a:rPr lang="en-US" sz="1300" dirty="0">
                <a:solidFill>
                  <a:schemeClr val="tx1"/>
                </a:solidFill>
              </a:rPr>
              <a:t>Visual boards, daily huddles and a skill matrix, so the gains don't slip back.</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result: room for 12.9, so 12 is safe</a:t>
            </a:r>
            <a:endParaRPr lang="en-US" sz="3200" dirty="0"/>
          </a:p>
        </p:txBody>
      </p:sp>
      <p:graphicFrame>
        <p:nvGraphicFramePr>
          <p:cNvPr id="3" name="Gain by lever chart" descr=""/>
          <p:cNvGraphicFramePr/>
          <p:nvPr/>
        </p:nvGraphicFramePr>
        <p:xfrm>
          <a:off x="548640" y="1325880"/>
          <a:ext cx="5943600" cy="3611880"/>
        </p:xfrm>
        <a:graphic xmlns:a="http://schemas.openxmlformats.org/drawingml/2006/main">
          <a:graphicData uri="http://schemas.openxmlformats.org/drawingml/2006/chart">
            <c:chart xmlns:c="http://schemas.openxmlformats.org/drawingml/2006/chart" r:id="rId1"/>
          </a:graphicData>
        </a:graphic>
      </p:graphicFrame>
      <p:sp>
        <p:nvSpPr>
          <p:cNvPr id="4" name="KPI heading"/>
          <p:cNvSpPr txBox="1"/>
          <p:nvPr/>
        </p:nvSpPr>
        <p:spPr>
          <a:xfrm>
            <a:off x="6949440" y="1417320"/>
            <a:ext cx="4663440" cy="365760"/>
          </a:xfrm>
          <a:prstGeom prst="rect">
            <a:avLst/>
          </a:prstGeom>
          <a:noFill/>
          <a:ln/>
        </p:spPr>
        <p:txBody>
          <a:bodyPr wrap="square" lIns="0" tIns="0" rIns="0" bIns="0" rtlCol="0" anchor="t"/>
          <a:lstStyle/>
          <a:p>
            <a:pPr indent="0" marL="0">
              <a:buNone/>
            </a:pPr>
            <a:r>
              <a:rPr lang="en-US" sz="1600" b="1" dirty="0">
                <a:solidFill>
                  <a:schemeClr val="tx2"/>
                </a:solidFill>
              </a:rPr>
              <a:t>OP30, before and after 12 weeks</a:t>
            </a:r>
            <a:endParaRPr lang="en-US" sz="1600" dirty="0"/>
          </a:p>
        </p:txBody>
      </p:sp>
      <p:sp>
        <p:nvSpPr>
          <p:cNvPr id="5" name="Excavators per shift row"/>
          <p:cNvSpPr/>
          <p:nvPr/>
        </p:nvSpPr>
        <p:spPr>
          <a:xfrm>
            <a:off x="6949440" y="1920240"/>
            <a:ext cx="4663440" cy="822960"/>
          </a:xfrm>
          <a:prstGeom prst="roundRect">
            <a:avLst>
              <a:gd name="adj" fmla="val 8889"/>
            </a:avLst>
          </a:prstGeom>
          <a:solidFill>
            <a:schemeClr val="bg2"/>
          </a:solidFill>
          <a:ln/>
        </p:spPr>
      </p:sp>
      <p:sp>
        <p:nvSpPr>
          <p:cNvPr id="6" name="Excavators per shift label"/>
          <p:cNvSpPr txBox="1"/>
          <p:nvPr/>
        </p:nvSpPr>
        <p:spPr>
          <a:xfrm>
            <a:off x="7178040" y="1920240"/>
            <a:ext cx="2011680" cy="822960"/>
          </a:xfrm>
          <a:prstGeom prst="rect">
            <a:avLst/>
          </a:prstGeom>
          <a:noFill/>
          <a:ln/>
        </p:spPr>
        <p:txBody>
          <a:bodyPr wrap="square" lIns="0" tIns="0" rIns="0" bIns="0" rtlCol="0" anchor="ctr"/>
          <a:lstStyle/>
          <a:p>
            <a:pPr indent="0" marL="0">
              <a:buNone/>
            </a:pPr>
            <a:r>
              <a:rPr lang="en-US" sz="1400" dirty="0">
                <a:solidFill>
                  <a:schemeClr val="tx1"/>
                </a:solidFill>
              </a:rPr>
              <a:t>Excavators per shift</a:t>
            </a:r>
            <a:endParaRPr lang="en-US" sz="1400" dirty="0"/>
          </a:p>
        </p:txBody>
      </p:sp>
      <p:sp>
        <p:nvSpPr>
          <p:cNvPr id="7" name="Excavators per shift before"/>
          <p:cNvSpPr txBox="1"/>
          <p:nvPr/>
        </p:nvSpPr>
        <p:spPr>
          <a:xfrm>
            <a:off x="9098280" y="1920240"/>
            <a:ext cx="1051560" cy="822960"/>
          </a:xfrm>
          <a:prstGeom prst="rect">
            <a:avLst/>
          </a:prstGeom>
          <a:noFill/>
          <a:ln/>
        </p:spPr>
        <p:txBody>
          <a:bodyPr wrap="square" lIns="0" tIns="0" rIns="0" bIns="0" rtlCol="0" anchor="ctr"/>
          <a:lstStyle/>
          <a:p>
            <a:pPr algn="r" indent="0" marL="0">
              <a:buNone/>
            </a:pPr>
            <a:r>
              <a:rPr lang="en-US" sz="2000" dirty="0">
                <a:solidFill>
                  <a:schemeClr val="accent5"/>
                </a:solidFill>
              </a:rPr>
              <a:t>10</a:t>
            </a:r>
            <a:endParaRPr lang="en-US" sz="2000" dirty="0"/>
          </a:p>
        </p:txBody>
      </p:sp>
      <p:sp>
        <p:nvSpPr>
          <p:cNvPr id="8" name="Excavators per shift arrow"/>
          <p:cNvSpPr txBox="1"/>
          <p:nvPr/>
        </p:nvSpPr>
        <p:spPr>
          <a:xfrm>
            <a:off x="10149840" y="1920240"/>
            <a:ext cx="365760" cy="822960"/>
          </a:xfrm>
          <a:prstGeom prst="rect">
            <a:avLst/>
          </a:prstGeom>
          <a:noFill/>
          <a:ln/>
        </p:spPr>
        <p:txBody>
          <a:bodyPr wrap="square" lIns="0" tIns="0" rIns="0" bIns="0" rtlCol="0" anchor="ctr"/>
          <a:lstStyle/>
          <a:p>
            <a:pPr algn="ctr" indent="0" marL="0">
              <a:buNone/>
            </a:pPr>
            <a:r>
              <a:rPr lang="en-US" sz="1800" dirty="0">
                <a:solidFill>
                  <a:schemeClr val="accent5"/>
                </a:solidFill>
                <a:latin typeface="Calibri" pitchFamily="34" charset="0"/>
                <a:ea typeface="Calibri" pitchFamily="34" charset="-122"/>
                <a:cs typeface="Calibri" pitchFamily="34" charset="-120"/>
              </a:rPr>
              <a:t>→</a:t>
            </a:r>
            <a:endParaRPr lang="en-US" sz="1800" dirty="0"/>
          </a:p>
        </p:txBody>
      </p:sp>
      <p:sp>
        <p:nvSpPr>
          <p:cNvPr id="9" name="Excavators per shift after"/>
          <p:cNvSpPr txBox="1"/>
          <p:nvPr/>
        </p:nvSpPr>
        <p:spPr>
          <a:xfrm>
            <a:off x="10515600" y="1920240"/>
            <a:ext cx="914400" cy="822960"/>
          </a:xfrm>
          <a:prstGeom prst="rect">
            <a:avLst/>
          </a:prstGeom>
          <a:noFill/>
          <a:ln/>
        </p:spPr>
        <p:txBody>
          <a:bodyPr wrap="square" lIns="0" tIns="0" rIns="0" bIns="0" rtlCol="0" anchor="ctr"/>
          <a:lstStyle/>
          <a:p>
            <a:pPr indent="0" marL="0">
              <a:buNone/>
            </a:pPr>
            <a:r>
              <a:rPr lang="en-US" sz="2200" b="1" dirty="0">
                <a:solidFill>
                  <a:schemeClr val="accent4"/>
                </a:solidFill>
              </a:rPr>
              <a:t>12</a:t>
            </a:r>
            <a:endParaRPr lang="en-US" sz="2200" dirty="0"/>
          </a:p>
        </p:txBody>
      </p:sp>
      <p:sp>
        <p:nvSpPr>
          <p:cNvPr id="10" name="OEE row"/>
          <p:cNvSpPr/>
          <p:nvPr/>
        </p:nvSpPr>
        <p:spPr>
          <a:xfrm>
            <a:off x="6949440" y="2907792"/>
            <a:ext cx="4663440" cy="822960"/>
          </a:xfrm>
          <a:prstGeom prst="roundRect">
            <a:avLst>
              <a:gd name="adj" fmla="val 8889"/>
            </a:avLst>
          </a:prstGeom>
          <a:solidFill>
            <a:schemeClr val="bg2"/>
          </a:solidFill>
          <a:ln/>
        </p:spPr>
      </p:sp>
      <p:sp>
        <p:nvSpPr>
          <p:cNvPr id="11" name="OEE label"/>
          <p:cNvSpPr txBox="1"/>
          <p:nvPr/>
        </p:nvSpPr>
        <p:spPr>
          <a:xfrm>
            <a:off x="7178040" y="2907792"/>
            <a:ext cx="2011680" cy="822960"/>
          </a:xfrm>
          <a:prstGeom prst="rect">
            <a:avLst/>
          </a:prstGeom>
          <a:noFill/>
          <a:ln/>
        </p:spPr>
        <p:txBody>
          <a:bodyPr wrap="square" lIns="0" tIns="0" rIns="0" bIns="0" rtlCol="0" anchor="ctr"/>
          <a:lstStyle/>
          <a:p>
            <a:pPr indent="0" marL="0">
              <a:buNone/>
            </a:pPr>
            <a:r>
              <a:rPr lang="en-US" sz="1400" dirty="0">
                <a:solidFill>
                  <a:schemeClr val="tx1"/>
                </a:solidFill>
              </a:rPr>
              <a:t>OEE</a:t>
            </a:r>
            <a:endParaRPr lang="en-US" sz="1400" dirty="0"/>
          </a:p>
        </p:txBody>
      </p:sp>
      <p:sp>
        <p:nvSpPr>
          <p:cNvPr id="12" name="OEE before"/>
          <p:cNvSpPr txBox="1"/>
          <p:nvPr/>
        </p:nvSpPr>
        <p:spPr>
          <a:xfrm>
            <a:off x="9098280" y="2907792"/>
            <a:ext cx="1051560" cy="822960"/>
          </a:xfrm>
          <a:prstGeom prst="rect">
            <a:avLst/>
          </a:prstGeom>
          <a:noFill/>
          <a:ln/>
        </p:spPr>
        <p:txBody>
          <a:bodyPr wrap="square" lIns="0" tIns="0" rIns="0" bIns="0" rtlCol="0" anchor="ctr"/>
          <a:lstStyle/>
          <a:p>
            <a:pPr algn="r" indent="0" marL="0">
              <a:buNone/>
            </a:pPr>
            <a:r>
              <a:rPr lang="en-US" sz="2000" dirty="0">
                <a:solidFill>
                  <a:schemeClr val="accent5"/>
                </a:solidFill>
              </a:rPr>
              <a:t>66.7%</a:t>
            </a:r>
            <a:endParaRPr lang="en-US" sz="2000" dirty="0"/>
          </a:p>
        </p:txBody>
      </p:sp>
      <p:sp>
        <p:nvSpPr>
          <p:cNvPr id="13" name="OEE arrow"/>
          <p:cNvSpPr txBox="1"/>
          <p:nvPr/>
        </p:nvSpPr>
        <p:spPr>
          <a:xfrm>
            <a:off x="10149840" y="2907792"/>
            <a:ext cx="365760" cy="822960"/>
          </a:xfrm>
          <a:prstGeom prst="rect">
            <a:avLst/>
          </a:prstGeom>
          <a:noFill/>
          <a:ln/>
        </p:spPr>
        <p:txBody>
          <a:bodyPr wrap="square" lIns="0" tIns="0" rIns="0" bIns="0" rtlCol="0" anchor="ctr"/>
          <a:lstStyle/>
          <a:p>
            <a:pPr algn="ctr" indent="0" marL="0">
              <a:buNone/>
            </a:pPr>
            <a:r>
              <a:rPr lang="en-US" sz="1800" dirty="0">
                <a:solidFill>
                  <a:schemeClr val="accent5"/>
                </a:solidFill>
                <a:latin typeface="Calibri" pitchFamily="34" charset="0"/>
                <a:ea typeface="Calibri" pitchFamily="34" charset="-122"/>
                <a:cs typeface="Calibri" pitchFamily="34" charset="-120"/>
              </a:rPr>
              <a:t>→</a:t>
            </a:r>
            <a:endParaRPr lang="en-US" sz="1800" dirty="0"/>
          </a:p>
        </p:txBody>
      </p:sp>
      <p:sp>
        <p:nvSpPr>
          <p:cNvPr id="14" name="OEE after"/>
          <p:cNvSpPr txBox="1"/>
          <p:nvPr/>
        </p:nvSpPr>
        <p:spPr>
          <a:xfrm>
            <a:off x="10515600" y="2907792"/>
            <a:ext cx="914400" cy="822960"/>
          </a:xfrm>
          <a:prstGeom prst="rect">
            <a:avLst/>
          </a:prstGeom>
          <a:noFill/>
          <a:ln/>
        </p:spPr>
        <p:txBody>
          <a:bodyPr wrap="square" lIns="0" tIns="0" rIns="0" bIns="0" rtlCol="0" anchor="ctr"/>
          <a:lstStyle/>
          <a:p>
            <a:pPr indent="0" marL="0">
              <a:buNone/>
            </a:pPr>
            <a:r>
              <a:rPr lang="en-US" sz="2200" b="1" dirty="0">
                <a:solidFill>
                  <a:schemeClr val="accent4"/>
                </a:solidFill>
              </a:rPr>
              <a:t>86%</a:t>
            </a:r>
            <a:endParaRPr lang="en-US" sz="2200" dirty="0"/>
          </a:p>
        </p:txBody>
      </p:sp>
      <p:sp>
        <p:nvSpPr>
          <p:cNvPr id="15" name="First-pass yield row"/>
          <p:cNvSpPr/>
          <p:nvPr/>
        </p:nvSpPr>
        <p:spPr>
          <a:xfrm>
            <a:off x="6949440" y="3895344"/>
            <a:ext cx="4663440" cy="822960"/>
          </a:xfrm>
          <a:prstGeom prst="roundRect">
            <a:avLst>
              <a:gd name="adj" fmla="val 8889"/>
            </a:avLst>
          </a:prstGeom>
          <a:solidFill>
            <a:schemeClr val="bg2"/>
          </a:solidFill>
          <a:ln/>
        </p:spPr>
      </p:sp>
      <p:sp>
        <p:nvSpPr>
          <p:cNvPr id="16" name="First-pass yield label"/>
          <p:cNvSpPr txBox="1"/>
          <p:nvPr/>
        </p:nvSpPr>
        <p:spPr>
          <a:xfrm>
            <a:off x="7178040" y="3895344"/>
            <a:ext cx="2011680" cy="822960"/>
          </a:xfrm>
          <a:prstGeom prst="rect">
            <a:avLst/>
          </a:prstGeom>
          <a:noFill/>
          <a:ln/>
        </p:spPr>
        <p:txBody>
          <a:bodyPr wrap="square" lIns="0" tIns="0" rIns="0" bIns="0" rtlCol="0" anchor="ctr"/>
          <a:lstStyle/>
          <a:p>
            <a:pPr indent="0" marL="0">
              <a:buNone/>
            </a:pPr>
            <a:r>
              <a:rPr lang="en-US" sz="1400" dirty="0">
                <a:solidFill>
                  <a:schemeClr val="tx1"/>
                </a:solidFill>
              </a:rPr>
              <a:t>First-pass yield</a:t>
            </a:r>
            <a:endParaRPr lang="en-US" sz="1400" dirty="0"/>
          </a:p>
        </p:txBody>
      </p:sp>
      <p:sp>
        <p:nvSpPr>
          <p:cNvPr id="17" name="First-pass yield before"/>
          <p:cNvSpPr txBox="1"/>
          <p:nvPr/>
        </p:nvSpPr>
        <p:spPr>
          <a:xfrm>
            <a:off x="9098280" y="3895344"/>
            <a:ext cx="1051560" cy="822960"/>
          </a:xfrm>
          <a:prstGeom prst="rect">
            <a:avLst/>
          </a:prstGeom>
          <a:noFill/>
          <a:ln/>
        </p:spPr>
        <p:txBody>
          <a:bodyPr wrap="square" lIns="0" tIns="0" rIns="0" bIns="0" rtlCol="0" anchor="ctr"/>
          <a:lstStyle/>
          <a:p>
            <a:pPr algn="r" indent="0" marL="0">
              <a:buNone/>
            </a:pPr>
            <a:r>
              <a:rPr lang="en-US" sz="2000" dirty="0">
                <a:solidFill>
                  <a:schemeClr val="accent5"/>
                </a:solidFill>
              </a:rPr>
              <a:t>95.2%</a:t>
            </a:r>
            <a:endParaRPr lang="en-US" sz="2000" dirty="0"/>
          </a:p>
        </p:txBody>
      </p:sp>
      <p:sp>
        <p:nvSpPr>
          <p:cNvPr id="18" name="First-pass yield arrow"/>
          <p:cNvSpPr txBox="1"/>
          <p:nvPr/>
        </p:nvSpPr>
        <p:spPr>
          <a:xfrm>
            <a:off x="10149840" y="3895344"/>
            <a:ext cx="365760" cy="822960"/>
          </a:xfrm>
          <a:prstGeom prst="rect">
            <a:avLst/>
          </a:prstGeom>
          <a:noFill/>
          <a:ln/>
        </p:spPr>
        <p:txBody>
          <a:bodyPr wrap="square" lIns="0" tIns="0" rIns="0" bIns="0" rtlCol="0" anchor="ctr"/>
          <a:lstStyle/>
          <a:p>
            <a:pPr algn="ctr" indent="0" marL="0">
              <a:buNone/>
            </a:pPr>
            <a:r>
              <a:rPr lang="en-US" sz="1800" dirty="0">
                <a:solidFill>
                  <a:schemeClr val="accent5"/>
                </a:solidFill>
                <a:latin typeface="Calibri" pitchFamily="34" charset="0"/>
                <a:ea typeface="Calibri" pitchFamily="34" charset="-122"/>
                <a:cs typeface="Calibri" pitchFamily="34" charset="-120"/>
              </a:rPr>
              <a:t>→</a:t>
            </a:r>
            <a:endParaRPr lang="en-US" sz="1800" dirty="0"/>
          </a:p>
        </p:txBody>
      </p:sp>
      <p:sp>
        <p:nvSpPr>
          <p:cNvPr id="19" name="First-pass yield after"/>
          <p:cNvSpPr txBox="1"/>
          <p:nvPr/>
        </p:nvSpPr>
        <p:spPr>
          <a:xfrm>
            <a:off x="10515600" y="3895344"/>
            <a:ext cx="914400" cy="822960"/>
          </a:xfrm>
          <a:prstGeom prst="rect">
            <a:avLst/>
          </a:prstGeom>
          <a:noFill/>
          <a:ln/>
        </p:spPr>
        <p:txBody>
          <a:bodyPr wrap="square" lIns="0" tIns="0" rIns="0" bIns="0" rtlCol="0" anchor="ctr"/>
          <a:lstStyle/>
          <a:p>
            <a:pPr indent="0" marL="0">
              <a:buNone/>
            </a:pPr>
            <a:r>
              <a:rPr lang="en-US" sz="2200" b="1" dirty="0">
                <a:solidFill>
                  <a:schemeClr val="accent4"/>
                </a:solidFill>
              </a:rPr>
              <a:t>98.4%</a:t>
            </a:r>
            <a:endParaRPr lang="en-US" sz="2200" dirty="0"/>
          </a:p>
        </p:txBody>
      </p:sp>
      <p:sp>
        <p:nvSpPr>
          <p:cNvPr id="20" name="Robustness card"/>
          <p:cNvSpPr/>
          <p:nvPr/>
        </p:nvSpPr>
        <p:spPr>
          <a:xfrm>
            <a:off x="548640" y="5166360"/>
            <a:ext cx="11064240" cy="777240"/>
          </a:xfrm>
          <a:prstGeom prst="roundRect">
            <a:avLst>
              <a:gd name="adj" fmla="val 9412"/>
            </a:avLst>
          </a:prstGeom>
          <a:solidFill>
            <a:schemeClr val="tx2"/>
          </a:solidFill>
          <a:ln/>
        </p:spPr>
      </p:sp>
      <p:sp>
        <p:nvSpPr>
          <p:cNvPr id="21" name="Robustness circle"/>
          <p:cNvSpPr/>
          <p:nvPr/>
        </p:nvSpPr>
        <p:spPr>
          <a:xfrm>
            <a:off x="777240" y="5303520"/>
            <a:ext cx="502920" cy="502920"/>
          </a:xfrm>
          <a:prstGeom prst="ellipse">
            <a:avLst/>
          </a:prstGeom>
          <a:solidFill>
            <a:schemeClr val="accent2"/>
          </a:solidFill>
          <a:ln/>
        </p:spPr>
      </p:sp>
      <p:pic>
        <p:nvPicPr>
          <p:cNvPr id="22" name="Robustness icon" descr="Robustness">    </p:cNvPr>
          <p:cNvPicPr>
            <a:picLocks noChangeAspect="1"/>
          </p:cNvPicPr>
          <p:nvPr/>
        </p:nvPicPr>
        <p:blipFill>
          <a:blip r:embed="rId2"/>
          <a:stretch>
            <a:fillRect/>
          </a:stretch>
        </p:blipFill>
        <p:spPr>
          <a:xfrm>
            <a:off x="897941" y="5424221"/>
            <a:ext cx="261518" cy="261518"/>
          </a:xfrm>
          <a:prstGeom prst="rect">
            <a:avLst/>
          </a:prstGeom>
        </p:spPr>
      </p:pic>
      <p:sp>
        <p:nvSpPr>
          <p:cNvPr id="23" name="Robustness text"/>
          <p:cNvSpPr txBox="1"/>
          <p:nvPr/>
        </p:nvSpPr>
        <p:spPr>
          <a:xfrm>
            <a:off x="1508760" y="5166360"/>
            <a:ext cx="9921240" cy="777240"/>
          </a:xfrm>
          <a:prstGeom prst="rect">
            <a:avLst/>
          </a:prstGeom>
          <a:noFill/>
          <a:ln/>
        </p:spPr>
        <p:txBody>
          <a:bodyPr wrap="square" lIns="0" tIns="0" rIns="0" bIns="0" rtlCol="0" anchor="ctr"/>
          <a:lstStyle/>
          <a:p>
            <a:pPr indent="0" marL="0">
              <a:buNone/>
            </a:pPr>
            <a:r>
              <a:rPr lang="en-US" sz="1600" dirty="0">
                <a:solidFill>
                  <a:schemeClr val="bg1"/>
                </a:solidFill>
              </a:rPr>
              <a:t>Even if only 70% of these gains stick, </a:t>
            </a:r>
            <a:pPr indent="0" marL="0">
              <a:buNone/>
            </a:pPr>
            <a:r>
              <a:rPr lang="en-US" sz="1600" b="1" dirty="0">
                <a:solidFill>
                  <a:schemeClr val="accent2"/>
                </a:solidFill>
              </a:rPr>
              <a:t>OP30 can still make 12.05 a shift.</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Twelve weeks to twelve a day</a:t>
            </a:r>
            <a:endParaRPr lang="en-US" sz="3200" dirty="0"/>
          </a:p>
        </p:txBody>
      </p:sp>
      <p:sp>
        <p:nvSpPr>
          <p:cNvPr id="3" name="Roadmap caption"/>
          <p:cNvSpPr txBox="1"/>
          <p:nvPr/>
        </p:nvSpPr>
        <p:spPr>
          <a:xfrm>
            <a:off x="548640" y="1188720"/>
            <a:ext cx="7315200" cy="274320"/>
          </a:xfrm>
          <a:prstGeom prst="rect">
            <a:avLst/>
          </a:prstGeom>
          <a:noFill/>
          <a:ln/>
        </p:spPr>
        <p:txBody>
          <a:bodyPr wrap="square" lIns="0" tIns="0" rIns="0" bIns="0" rtlCol="0" anchor="t"/>
          <a:lstStyle/>
          <a:p>
            <a:pPr indent="0" marL="0">
              <a:buNone/>
            </a:pPr>
            <a:r>
              <a:rPr lang="en-US" sz="1300" i="1" dirty="0">
                <a:solidFill>
                  <a:schemeClr val="accent5"/>
                </a:solidFill>
              </a:rPr>
              <a:t>Excavators per shift at the end of each phase</a:t>
            </a:r>
            <a:endParaRPr lang="en-US" sz="1300" dirty="0"/>
          </a:p>
        </p:txBody>
      </p:sp>
      <p:sp>
        <p:nvSpPr>
          <p:cNvPr id="4" name="Output line"/>
          <p:cNvSpPr/>
          <p:nvPr/>
        </p:nvSpPr>
        <p:spPr>
          <a:xfrm>
            <a:off x="1837944" y="2130552"/>
            <a:ext cx="8476488" cy="0"/>
          </a:xfrm>
          <a:prstGeom prst="line">
            <a:avLst/>
          </a:prstGeom>
          <a:noFill/>
          <a:ln w="25400">
            <a:solidFill>
              <a:schemeClr val="accent6"/>
            </a:solidFill>
            <a:prstDash val="solid"/>
          </a:ln>
        </p:spPr>
      </p:sp>
      <p:sp>
        <p:nvSpPr>
          <p:cNvPr id="5" name="Output circle 1"/>
          <p:cNvSpPr/>
          <p:nvPr/>
        </p:nvSpPr>
        <p:spPr>
          <a:xfrm>
            <a:off x="1426464" y="1719072"/>
            <a:ext cx="822960" cy="822960"/>
          </a:xfrm>
          <a:prstGeom prst="ellipse">
            <a:avLst/>
          </a:prstGeom>
          <a:solidFill>
            <a:schemeClr val="accent2"/>
          </a:solidFill>
          <a:ln w="25400">
            <a:solidFill>
              <a:schemeClr val="bg1"/>
            </a:solidFill>
            <a:prstDash val="solid"/>
          </a:ln>
        </p:spPr>
      </p:sp>
      <p:sp>
        <p:nvSpPr>
          <p:cNvPr id="6" name="Output value 1"/>
          <p:cNvSpPr txBox="1"/>
          <p:nvPr/>
        </p:nvSpPr>
        <p:spPr>
          <a:xfrm>
            <a:off x="1426464" y="1719072"/>
            <a:ext cx="822960" cy="822960"/>
          </a:xfrm>
          <a:prstGeom prst="rect">
            <a:avLst/>
          </a:prstGeom>
          <a:noFill/>
          <a:ln/>
        </p:spPr>
        <p:txBody>
          <a:bodyPr wrap="square" lIns="0" tIns="0" rIns="0" bIns="0" rtlCol="0" anchor="ctr"/>
          <a:lstStyle/>
          <a:p>
            <a:pPr algn="ctr" indent="0" marL="0">
              <a:buNone/>
            </a:pPr>
            <a:r>
              <a:rPr lang="en-US" sz="2000" b="1" dirty="0">
                <a:solidFill>
                  <a:schemeClr val="tx2"/>
                </a:solidFill>
              </a:rPr>
              <a:t>10</a:t>
            </a:r>
            <a:endParaRPr lang="en-US" sz="2000" dirty="0"/>
          </a:p>
        </p:txBody>
      </p:sp>
      <p:sp>
        <p:nvSpPr>
          <p:cNvPr id="7" name="Understand card"/>
          <p:cNvSpPr/>
          <p:nvPr/>
        </p:nvSpPr>
        <p:spPr>
          <a:xfrm>
            <a:off x="548640" y="2834640"/>
            <a:ext cx="2578608" cy="2331720"/>
          </a:xfrm>
          <a:prstGeom prst="roundRect">
            <a:avLst>
              <a:gd name="adj" fmla="val 3137"/>
            </a:avLst>
          </a:prstGeom>
          <a:solidFill>
            <a:schemeClr val="bg2"/>
          </a:solidFill>
          <a:ln/>
        </p:spPr>
      </p:sp>
      <p:sp>
        <p:nvSpPr>
          <p:cNvPr id="8" name="Understand timing"/>
          <p:cNvSpPr txBox="1"/>
          <p:nvPr/>
        </p:nvSpPr>
        <p:spPr>
          <a:xfrm>
            <a:off x="777240" y="3017520"/>
            <a:ext cx="2212848" cy="274320"/>
          </a:xfrm>
          <a:prstGeom prst="rect">
            <a:avLst/>
          </a:prstGeom>
          <a:noFill/>
          <a:ln/>
        </p:spPr>
        <p:txBody>
          <a:bodyPr wrap="square" lIns="0" tIns="0" rIns="0" bIns="0" rtlCol="0" anchor="t"/>
          <a:lstStyle/>
          <a:p>
            <a:pPr indent="0" marL="0">
              <a:buNone/>
            </a:pPr>
            <a:r>
              <a:rPr lang="en-US" sz="1200" b="1" dirty="0">
                <a:solidFill>
                  <a:schemeClr val="accent1"/>
                </a:solidFill>
              </a:rPr>
              <a:t>Weeks 1–2  |  Plan</a:t>
            </a:r>
            <a:endParaRPr lang="en-US" sz="1200" dirty="0"/>
          </a:p>
        </p:txBody>
      </p:sp>
      <p:sp>
        <p:nvSpPr>
          <p:cNvPr id="9" name="Understand title"/>
          <p:cNvSpPr txBox="1"/>
          <p:nvPr/>
        </p:nvSpPr>
        <p:spPr>
          <a:xfrm>
            <a:off x="777240" y="3310128"/>
            <a:ext cx="2212848" cy="411480"/>
          </a:xfrm>
          <a:prstGeom prst="rect">
            <a:avLst/>
          </a:prstGeom>
          <a:noFill/>
          <a:ln/>
        </p:spPr>
        <p:txBody>
          <a:bodyPr wrap="square" lIns="0" tIns="0" rIns="0" bIns="0" rtlCol="0" anchor="t"/>
          <a:lstStyle/>
          <a:p>
            <a:pPr indent="0" marL="0">
              <a:buNone/>
            </a:pPr>
            <a:r>
              <a:rPr lang="en-US" sz="2000" b="1" dirty="0">
                <a:solidFill>
                  <a:schemeClr val="tx2"/>
                </a:solidFill>
              </a:rPr>
              <a:t>Understand</a:t>
            </a:r>
            <a:endParaRPr lang="en-US" sz="2000" dirty="0"/>
          </a:p>
        </p:txBody>
      </p:sp>
      <p:sp>
        <p:nvSpPr>
          <p:cNvPr id="10" name="Understand steps"/>
          <p:cNvSpPr txBox="1"/>
          <p:nvPr/>
        </p:nvSpPr>
        <p:spPr>
          <a:xfrm>
            <a:off x="777240" y="3840480"/>
            <a:ext cx="2212848" cy="1188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Gemba walks, time study</a:t>
            </a:r>
            <a:endParaRPr lang="en-US" sz="1400" dirty="0"/>
          </a:p>
          <a:p>
            <a:pPr marL="177800" indent="-177800">
              <a:spcAft>
                <a:spcPts val="800"/>
              </a:spcAft>
              <a:buSzPct val="100000"/>
              <a:buChar char="•"/>
            </a:pPr>
            <a:r>
              <a:rPr lang="en-US" sz="1400" dirty="0">
                <a:solidFill>
                  <a:schemeClr val="tx1"/>
                </a:solidFill>
              </a:rPr>
              <a:t>Measure OEE at OP30</a:t>
            </a:r>
            <a:endParaRPr lang="en-US" sz="1400" dirty="0"/>
          </a:p>
          <a:p>
            <a:pPr marL="177800" indent="-177800">
              <a:spcAft>
                <a:spcPts val="800"/>
              </a:spcAft>
              <a:buSzPct val="100000"/>
              <a:buChar char="•"/>
            </a:pPr>
            <a:r>
              <a:rPr lang="en-US" sz="1400" dirty="0">
                <a:solidFill>
                  <a:schemeClr val="tx1"/>
                </a:solidFill>
              </a:rPr>
              <a:t>Form the kaizen team</a:t>
            </a:r>
            <a:endParaRPr lang="en-US" sz="1400" dirty="0"/>
          </a:p>
        </p:txBody>
      </p:sp>
      <p:sp>
        <p:nvSpPr>
          <p:cNvPr id="11" name="Output circle 2"/>
          <p:cNvSpPr/>
          <p:nvPr/>
        </p:nvSpPr>
        <p:spPr>
          <a:xfrm>
            <a:off x="4251960" y="1719072"/>
            <a:ext cx="822960" cy="822960"/>
          </a:xfrm>
          <a:prstGeom prst="ellipse">
            <a:avLst/>
          </a:prstGeom>
          <a:solidFill>
            <a:schemeClr val="accent2"/>
          </a:solidFill>
          <a:ln w="25400">
            <a:solidFill>
              <a:schemeClr val="bg1"/>
            </a:solidFill>
            <a:prstDash val="solid"/>
          </a:ln>
        </p:spPr>
      </p:sp>
      <p:sp>
        <p:nvSpPr>
          <p:cNvPr id="12" name="Output value 2"/>
          <p:cNvSpPr txBox="1"/>
          <p:nvPr/>
        </p:nvSpPr>
        <p:spPr>
          <a:xfrm>
            <a:off x="4251960" y="1719072"/>
            <a:ext cx="822960" cy="822960"/>
          </a:xfrm>
          <a:prstGeom prst="rect">
            <a:avLst/>
          </a:prstGeom>
          <a:noFill/>
          <a:ln/>
        </p:spPr>
        <p:txBody>
          <a:bodyPr wrap="square" lIns="0" tIns="0" rIns="0" bIns="0" rtlCol="0" anchor="ctr"/>
          <a:lstStyle/>
          <a:p>
            <a:pPr algn="ctr" indent="0" marL="0">
              <a:buNone/>
            </a:pPr>
            <a:r>
              <a:rPr lang="en-US" sz="2000" b="1" dirty="0">
                <a:solidFill>
                  <a:schemeClr val="tx2"/>
                </a:solidFill>
              </a:rPr>
              <a:t>11</a:t>
            </a:r>
            <a:endParaRPr lang="en-US" sz="2000" dirty="0"/>
          </a:p>
        </p:txBody>
      </p:sp>
      <p:sp>
        <p:nvSpPr>
          <p:cNvPr id="13" name="Quick wins card"/>
          <p:cNvSpPr/>
          <p:nvPr/>
        </p:nvSpPr>
        <p:spPr>
          <a:xfrm>
            <a:off x="3374136" y="2834640"/>
            <a:ext cx="2578608" cy="2331720"/>
          </a:xfrm>
          <a:prstGeom prst="roundRect">
            <a:avLst>
              <a:gd name="adj" fmla="val 3137"/>
            </a:avLst>
          </a:prstGeom>
          <a:solidFill>
            <a:schemeClr val="bg2"/>
          </a:solidFill>
          <a:ln/>
        </p:spPr>
      </p:sp>
      <p:sp>
        <p:nvSpPr>
          <p:cNvPr id="14" name="Quick wins timing"/>
          <p:cNvSpPr txBox="1"/>
          <p:nvPr/>
        </p:nvSpPr>
        <p:spPr>
          <a:xfrm>
            <a:off x="3602736" y="3017520"/>
            <a:ext cx="2212848" cy="274320"/>
          </a:xfrm>
          <a:prstGeom prst="rect">
            <a:avLst/>
          </a:prstGeom>
          <a:noFill/>
          <a:ln/>
        </p:spPr>
        <p:txBody>
          <a:bodyPr wrap="square" lIns="0" tIns="0" rIns="0" bIns="0" rtlCol="0" anchor="t"/>
          <a:lstStyle/>
          <a:p>
            <a:pPr indent="0" marL="0">
              <a:buNone/>
            </a:pPr>
            <a:r>
              <a:rPr lang="en-US" sz="1200" b="1" dirty="0">
                <a:solidFill>
                  <a:schemeClr val="accent1"/>
                </a:solidFill>
              </a:rPr>
              <a:t>Weeks 3–6  |  Do</a:t>
            </a:r>
            <a:endParaRPr lang="en-US" sz="1200" dirty="0"/>
          </a:p>
        </p:txBody>
      </p:sp>
      <p:sp>
        <p:nvSpPr>
          <p:cNvPr id="15" name="Quick wins title"/>
          <p:cNvSpPr txBox="1"/>
          <p:nvPr/>
        </p:nvSpPr>
        <p:spPr>
          <a:xfrm>
            <a:off x="3602736" y="3310128"/>
            <a:ext cx="2212848" cy="411480"/>
          </a:xfrm>
          <a:prstGeom prst="rect">
            <a:avLst/>
          </a:prstGeom>
          <a:noFill/>
          <a:ln/>
        </p:spPr>
        <p:txBody>
          <a:bodyPr wrap="square" lIns="0" tIns="0" rIns="0" bIns="0" rtlCol="0" anchor="t"/>
          <a:lstStyle/>
          <a:p>
            <a:pPr indent="0" marL="0">
              <a:buNone/>
            </a:pPr>
            <a:r>
              <a:rPr lang="en-US" sz="2000" b="1" dirty="0">
                <a:solidFill>
                  <a:schemeClr val="tx2"/>
                </a:solidFill>
              </a:rPr>
              <a:t>Quick wins</a:t>
            </a:r>
            <a:endParaRPr lang="en-US" sz="2000" dirty="0"/>
          </a:p>
        </p:txBody>
      </p:sp>
      <p:sp>
        <p:nvSpPr>
          <p:cNvPr id="16" name="Quick wins steps"/>
          <p:cNvSpPr txBox="1"/>
          <p:nvPr/>
        </p:nvSpPr>
        <p:spPr>
          <a:xfrm>
            <a:off x="3602736" y="3840480"/>
            <a:ext cx="2212848" cy="1188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5S and visual boards</a:t>
            </a:r>
            <a:endParaRPr lang="en-US" sz="1400" dirty="0"/>
          </a:p>
          <a:p>
            <a:pPr marL="177800" indent="-177800">
              <a:spcAft>
                <a:spcPts val="800"/>
              </a:spcAft>
              <a:buSzPct val="100000"/>
              <a:buChar char="•"/>
            </a:pPr>
            <a:r>
              <a:rPr lang="en-US" sz="1400" dirty="0">
                <a:solidFill>
                  <a:schemeClr val="tx1"/>
                </a:solidFill>
              </a:rPr>
              <a:t>SMED workshop</a:t>
            </a:r>
            <a:endParaRPr lang="en-US" sz="1400" dirty="0"/>
          </a:p>
          <a:p>
            <a:pPr marL="177800" indent="-177800">
              <a:spcAft>
                <a:spcPts val="800"/>
              </a:spcAft>
              <a:buSzPct val="100000"/>
              <a:buChar char="•"/>
            </a:pPr>
            <a:r>
              <a:rPr lang="en-US" sz="1400" dirty="0">
                <a:solidFill>
                  <a:schemeClr val="tx1"/>
                </a:solidFill>
              </a:rPr>
              <a:t>FIFO lane, kits, jib crane</a:t>
            </a:r>
            <a:endParaRPr lang="en-US" sz="1400" dirty="0"/>
          </a:p>
        </p:txBody>
      </p:sp>
      <p:sp>
        <p:nvSpPr>
          <p:cNvPr id="17" name="Output circle 3"/>
          <p:cNvSpPr/>
          <p:nvPr/>
        </p:nvSpPr>
        <p:spPr>
          <a:xfrm>
            <a:off x="7077456" y="1719072"/>
            <a:ext cx="822960" cy="822960"/>
          </a:xfrm>
          <a:prstGeom prst="ellipse">
            <a:avLst/>
          </a:prstGeom>
          <a:solidFill>
            <a:schemeClr val="accent2"/>
          </a:solidFill>
          <a:ln w="25400">
            <a:solidFill>
              <a:schemeClr val="bg1"/>
            </a:solidFill>
            <a:prstDash val="solid"/>
          </a:ln>
        </p:spPr>
      </p:sp>
      <p:sp>
        <p:nvSpPr>
          <p:cNvPr id="18" name="Output value 3"/>
          <p:cNvSpPr txBox="1"/>
          <p:nvPr/>
        </p:nvSpPr>
        <p:spPr>
          <a:xfrm>
            <a:off x="7077456" y="1719072"/>
            <a:ext cx="822960" cy="822960"/>
          </a:xfrm>
          <a:prstGeom prst="rect">
            <a:avLst/>
          </a:prstGeom>
          <a:noFill/>
          <a:ln/>
        </p:spPr>
        <p:txBody>
          <a:bodyPr wrap="square" lIns="0" tIns="0" rIns="0" bIns="0" rtlCol="0" anchor="ctr"/>
          <a:lstStyle/>
          <a:p>
            <a:pPr algn="ctr" indent="0" marL="0">
              <a:buNone/>
            </a:pPr>
            <a:r>
              <a:rPr lang="en-US" sz="1700" b="1" dirty="0">
                <a:solidFill>
                  <a:schemeClr val="tx2"/>
                </a:solidFill>
              </a:rPr>
              <a:t>11.6</a:t>
            </a:r>
            <a:endParaRPr lang="en-US" sz="1700" dirty="0"/>
          </a:p>
        </p:txBody>
      </p:sp>
      <p:sp>
        <p:nvSpPr>
          <p:cNvPr id="19" name="Fix root causes card"/>
          <p:cNvSpPr/>
          <p:nvPr/>
        </p:nvSpPr>
        <p:spPr>
          <a:xfrm>
            <a:off x="6199632" y="2834640"/>
            <a:ext cx="2578608" cy="2331720"/>
          </a:xfrm>
          <a:prstGeom prst="roundRect">
            <a:avLst>
              <a:gd name="adj" fmla="val 3137"/>
            </a:avLst>
          </a:prstGeom>
          <a:solidFill>
            <a:schemeClr val="bg2"/>
          </a:solidFill>
          <a:ln/>
        </p:spPr>
      </p:sp>
      <p:sp>
        <p:nvSpPr>
          <p:cNvPr id="20" name="Fix root causes timing"/>
          <p:cNvSpPr txBox="1"/>
          <p:nvPr/>
        </p:nvSpPr>
        <p:spPr>
          <a:xfrm>
            <a:off x="6428232" y="3017520"/>
            <a:ext cx="2212848" cy="274320"/>
          </a:xfrm>
          <a:prstGeom prst="rect">
            <a:avLst/>
          </a:prstGeom>
          <a:noFill/>
          <a:ln/>
        </p:spPr>
        <p:txBody>
          <a:bodyPr wrap="square" lIns="0" tIns="0" rIns="0" bIns="0" rtlCol="0" anchor="t"/>
          <a:lstStyle/>
          <a:p>
            <a:pPr indent="0" marL="0">
              <a:buNone/>
            </a:pPr>
            <a:r>
              <a:rPr lang="en-US" sz="1200" b="1" dirty="0">
                <a:solidFill>
                  <a:schemeClr val="accent1"/>
                </a:solidFill>
              </a:rPr>
              <a:t>Weeks 7–10  |  Do</a:t>
            </a:r>
            <a:endParaRPr lang="en-US" sz="1200" dirty="0"/>
          </a:p>
        </p:txBody>
      </p:sp>
      <p:sp>
        <p:nvSpPr>
          <p:cNvPr id="21" name="Fix root causes title"/>
          <p:cNvSpPr txBox="1"/>
          <p:nvPr/>
        </p:nvSpPr>
        <p:spPr>
          <a:xfrm>
            <a:off x="6428232" y="3310128"/>
            <a:ext cx="2212848" cy="411480"/>
          </a:xfrm>
          <a:prstGeom prst="rect">
            <a:avLst/>
          </a:prstGeom>
          <a:noFill/>
          <a:ln/>
        </p:spPr>
        <p:txBody>
          <a:bodyPr wrap="square" lIns="0" tIns="0" rIns="0" bIns="0" rtlCol="0" anchor="t"/>
          <a:lstStyle/>
          <a:p>
            <a:pPr indent="0" marL="0">
              <a:buNone/>
            </a:pPr>
            <a:r>
              <a:rPr lang="en-US" sz="2000" b="1" dirty="0">
                <a:solidFill>
                  <a:schemeClr val="tx2"/>
                </a:solidFill>
              </a:rPr>
              <a:t>Fix root causes</a:t>
            </a:r>
            <a:endParaRPr lang="en-US" sz="2000" dirty="0"/>
          </a:p>
        </p:txBody>
      </p:sp>
      <p:sp>
        <p:nvSpPr>
          <p:cNvPr id="22" name="Fix root causes steps"/>
          <p:cNvSpPr txBox="1"/>
          <p:nvPr/>
        </p:nvSpPr>
        <p:spPr>
          <a:xfrm>
            <a:off x="6428232" y="3840480"/>
            <a:ext cx="2212848" cy="1188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TPM routines</a:t>
            </a:r>
            <a:endParaRPr lang="en-US" sz="1400" dirty="0"/>
          </a:p>
          <a:p>
            <a:pPr marL="177800" indent="-177800">
              <a:spcAft>
                <a:spcPts val="800"/>
              </a:spcAft>
              <a:buSzPct val="100000"/>
              <a:buChar char="•"/>
            </a:pPr>
            <a:r>
              <a:rPr lang="en-US" sz="1400" dirty="0">
                <a:solidFill>
                  <a:schemeClr val="tx1"/>
                </a:solidFill>
              </a:rPr>
              <a:t>Probing and quick clamps</a:t>
            </a:r>
            <a:endParaRPr lang="en-US" sz="1400" dirty="0"/>
          </a:p>
          <a:p>
            <a:pPr marL="177800" indent="-177800">
              <a:spcAft>
                <a:spcPts val="800"/>
              </a:spcAft>
              <a:buSzPct val="100000"/>
              <a:buChar char="•"/>
            </a:pPr>
            <a:r>
              <a:rPr lang="en-US" sz="1400" dirty="0">
                <a:solidFill>
                  <a:schemeClr val="tx1"/>
                </a:solidFill>
              </a:rPr>
              <a:t>Poka-yoke, move drilling</a:t>
            </a:r>
            <a:endParaRPr lang="en-US" sz="1400" dirty="0"/>
          </a:p>
        </p:txBody>
      </p:sp>
      <p:sp>
        <p:nvSpPr>
          <p:cNvPr id="23" name="Output circle 4"/>
          <p:cNvSpPr/>
          <p:nvPr/>
        </p:nvSpPr>
        <p:spPr>
          <a:xfrm>
            <a:off x="9902952" y="1719072"/>
            <a:ext cx="822960" cy="822960"/>
          </a:xfrm>
          <a:prstGeom prst="ellipse">
            <a:avLst/>
          </a:prstGeom>
          <a:solidFill>
            <a:schemeClr val="accent4"/>
          </a:solidFill>
          <a:ln w="25400">
            <a:solidFill>
              <a:schemeClr val="bg1"/>
            </a:solidFill>
            <a:prstDash val="solid"/>
          </a:ln>
        </p:spPr>
      </p:sp>
      <p:sp>
        <p:nvSpPr>
          <p:cNvPr id="24" name="Output value 4"/>
          <p:cNvSpPr txBox="1"/>
          <p:nvPr/>
        </p:nvSpPr>
        <p:spPr>
          <a:xfrm>
            <a:off x="9902952" y="1719072"/>
            <a:ext cx="822960" cy="822960"/>
          </a:xfrm>
          <a:prstGeom prst="rect">
            <a:avLst/>
          </a:prstGeom>
          <a:noFill/>
          <a:ln/>
        </p:spPr>
        <p:txBody>
          <a:bodyPr wrap="square" lIns="0" tIns="0" rIns="0" bIns="0" rtlCol="0" anchor="ctr"/>
          <a:lstStyle/>
          <a:p>
            <a:pPr algn="ctr" indent="0" marL="0">
              <a:buNone/>
            </a:pPr>
            <a:r>
              <a:rPr lang="en-US" sz="2000" b="1" dirty="0">
                <a:solidFill>
                  <a:schemeClr val="bg1"/>
                </a:solidFill>
              </a:rPr>
              <a:t>12</a:t>
            </a:r>
            <a:endParaRPr lang="en-US" sz="2000" dirty="0"/>
          </a:p>
        </p:txBody>
      </p:sp>
      <p:sp>
        <p:nvSpPr>
          <p:cNvPr id="25" name="Lock it in card"/>
          <p:cNvSpPr/>
          <p:nvPr/>
        </p:nvSpPr>
        <p:spPr>
          <a:xfrm>
            <a:off x="9025128" y="2834640"/>
            <a:ext cx="2578608" cy="2331720"/>
          </a:xfrm>
          <a:prstGeom prst="roundRect">
            <a:avLst>
              <a:gd name="adj" fmla="val 3137"/>
            </a:avLst>
          </a:prstGeom>
          <a:solidFill>
            <a:schemeClr val="bg2"/>
          </a:solidFill>
          <a:ln/>
        </p:spPr>
      </p:sp>
      <p:sp>
        <p:nvSpPr>
          <p:cNvPr id="26" name="Lock it in timing"/>
          <p:cNvSpPr txBox="1"/>
          <p:nvPr/>
        </p:nvSpPr>
        <p:spPr>
          <a:xfrm>
            <a:off x="9253728" y="3017520"/>
            <a:ext cx="2212848" cy="274320"/>
          </a:xfrm>
          <a:prstGeom prst="rect">
            <a:avLst/>
          </a:prstGeom>
          <a:noFill/>
          <a:ln/>
        </p:spPr>
        <p:txBody>
          <a:bodyPr wrap="square" lIns="0" tIns="0" rIns="0" bIns="0" rtlCol="0" anchor="t"/>
          <a:lstStyle/>
          <a:p>
            <a:pPr indent="0" marL="0">
              <a:buNone/>
            </a:pPr>
            <a:r>
              <a:rPr lang="en-US" sz="1200" b="1" dirty="0">
                <a:solidFill>
                  <a:schemeClr val="accent1"/>
                </a:solidFill>
              </a:rPr>
              <a:t>Weeks 11–12  |  Check &amp; act</a:t>
            </a:r>
            <a:endParaRPr lang="en-US" sz="1200" dirty="0"/>
          </a:p>
        </p:txBody>
      </p:sp>
      <p:sp>
        <p:nvSpPr>
          <p:cNvPr id="27" name="Lock it in title"/>
          <p:cNvSpPr txBox="1"/>
          <p:nvPr/>
        </p:nvSpPr>
        <p:spPr>
          <a:xfrm>
            <a:off x="9253728" y="3310128"/>
            <a:ext cx="2212848" cy="411480"/>
          </a:xfrm>
          <a:prstGeom prst="rect">
            <a:avLst/>
          </a:prstGeom>
          <a:noFill/>
          <a:ln/>
        </p:spPr>
        <p:txBody>
          <a:bodyPr wrap="square" lIns="0" tIns="0" rIns="0" bIns="0" rtlCol="0" anchor="t"/>
          <a:lstStyle/>
          <a:p>
            <a:pPr indent="0" marL="0">
              <a:buNone/>
            </a:pPr>
            <a:r>
              <a:rPr lang="en-US" sz="2000" b="1" dirty="0">
                <a:solidFill>
                  <a:schemeClr val="tx2"/>
                </a:solidFill>
              </a:rPr>
              <a:t>Lock it in</a:t>
            </a:r>
            <a:endParaRPr lang="en-US" sz="2000" dirty="0"/>
          </a:p>
        </p:txBody>
      </p:sp>
      <p:sp>
        <p:nvSpPr>
          <p:cNvPr id="28" name="Lock it in steps"/>
          <p:cNvSpPr txBox="1"/>
          <p:nvPr/>
        </p:nvSpPr>
        <p:spPr>
          <a:xfrm>
            <a:off x="9253728" y="3840480"/>
            <a:ext cx="2212848" cy="1188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Check FPY and Cpk</a:t>
            </a:r>
            <a:endParaRPr lang="en-US" sz="1400" dirty="0"/>
          </a:p>
          <a:p>
            <a:pPr marL="177800" indent="-177800">
              <a:spcAft>
                <a:spcPts val="800"/>
              </a:spcAft>
              <a:buSzPct val="100000"/>
              <a:buChar char="•"/>
            </a:pPr>
            <a:r>
              <a:rPr lang="en-US" sz="1400" dirty="0">
                <a:solidFill>
                  <a:schemeClr val="tx1"/>
                </a:solidFill>
              </a:rPr>
              <a:t>Freeze standard work</a:t>
            </a:r>
            <a:endParaRPr lang="en-US" sz="1400" dirty="0"/>
          </a:p>
          <a:p>
            <a:pPr marL="177800" indent="-177800">
              <a:spcAft>
                <a:spcPts val="800"/>
              </a:spcAft>
              <a:buSzPct val="100000"/>
              <a:buChar char="•"/>
            </a:pPr>
            <a:r>
              <a:rPr lang="en-US" sz="1400" dirty="0">
                <a:solidFill>
                  <a:schemeClr val="tx1"/>
                </a:solidFill>
              </a:rPr>
              <a:t>Roll out to OP10, 20, 40</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486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Three things we'd like you to remember</a:t>
            </a:r>
            <a:endParaRPr lang="en-US" sz="3600" dirty="0"/>
          </a:p>
        </p:txBody>
      </p:sp>
      <p:sp>
        <p:nvSpPr>
          <p:cNvPr id="3" name="It's waste, not speed circle"/>
          <p:cNvSpPr/>
          <p:nvPr/>
        </p:nvSpPr>
        <p:spPr>
          <a:xfrm>
            <a:off x="548640" y="1828800"/>
            <a:ext cx="731520" cy="731520"/>
          </a:xfrm>
          <a:prstGeom prst="ellipse">
            <a:avLst/>
          </a:prstGeom>
          <a:solidFill>
            <a:schemeClr val="accent2"/>
          </a:solidFill>
          <a:ln/>
        </p:spPr>
      </p:sp>
      <p:pic>
        <p:nvPicPr>
          <p:cNvPr id="4" name="It's waste, not speed icon" descr="It's waste, not speed">    </p:cNvPr>
          <p:cNvPicPr>
            <a:picLocks noChangeAspect="1"/>
          </p:cNvPicPr>
          <p:nvPr/>
        </p:nvPicPr>
        <p:blipFill>
          <a:blip r:embed="rId1"/>
          <a:stretch>
            <a:fillRect/>
          </a:stretch>
        </p:blipFill>
        <p:spPr>
          <a:xfrm>
            <a:off x="724205" y="2004365"/>
            <a:ext cx="380390" cy="380390"/>
          </a:xfrm>
          <a:prstGeom prst="rect">
            <a:avLst/>
          </a:prstGeom>
        </p:spPr>
      </p:pic>
      <p:sp>
        <p:nvSpPr>
          <p:cNvPr id="5" name="It&amp;apos;s waste, not speed heading"/>
          <p:cNvSpPr txBox="1"/>
          <p:nvPr/>
        </p:nvSpPr>
        <p:spPr>
          <a:xfrm>
            <a:off x="548640" y="2788920"/>
            <a:ext cx="3474720" cy="411480"/>
          </a:xfrm>
          <a:prstGeom prst="rect">
            <a:avLst/>
          </a:prstGeom>
          <a:noFill/>
          <a:ln/>
        </p:spPr>
        <p:txBody>
          <a:bodyPr wrap="square" lIns="0" tIns="0" rIns="0" bIns="0" rtlCol="0" anchor="t"/>
          <a:lstStyle/>
          <a:p>
            <a:pPr indent="0" marL="0">
              <a:buNone/>
            </a:pPr>
            <a:r>
              <a:rPr lang="en-US" sz="2000" b="1" dirty="0">
                <a:solidFill>
                  <a:schemeClr val="bg1"/>
                </a:solidFill>
              </a:rPr>
              <a:t>It's waste, not speed</a:t>
            </a:r>
            <a:endParaRPr lang="en-US" sz="2000" dirty="0"/>
          </a:p>
        </p:txBody>
      </p:sp>
      <p:sp>
        <p:nvSpPr>
          <p:cNvPr id="6" name="It&amp;apos;s waste, not speed text"/>
          <p:cNvSpPr txBox="1"/>
          <p:nvPr/>
        </p:nvSpPr>
        <p:spPr>
          <a:xfrm>
            <a:off x="548640" y="3291840"/>
            <a:ext cx="3291840" cy="914400"/>
          </a:xfrm>
          <a:prstGeom prst="rect">
            <a:avLst/>
          </a:prstGeom>
          <a:noFill/>
          <a:ln/>
        </p:spPr>
        <p:txBody>
          <a:bodyPr wrap="square" lIns="0" tIns="0" rIns="0" bIns="0" rtlCol="0" anchor="t"/>
          <a:lstStyle/>
          <a:p>
            <a:pPr indent="0" marL="0">
              <a:buNone/>
            </a:pPr>
            <a:r>
              <a:rPr lang="en-US" sz="1500" dirty="0">
                <a:solidFill>
                  <a:schemeClr val="bg2"/>
                </a:solidFill>
              </a:rPr>
              <a:t>Most of the two extra machines come from 75 lost minutes we win back at OP30.</a:t>
            </a:r>
            <a:endParaRPr lang="en-US" sz="1500" dirty="0"/>
          </a:p>
        </p:txBody>
      </p:sp>
      <p:sp>
        <p:nvSpPr>
          <p:cNvPr id="7" name="Quality is built in circle"/>
          <p:cNvSpPr/>
          <p:nvPr/>
        </p:nvSpPr>
        <p:spPr>
          <a:xfrm>
            <a:off x="4343400" y="1828800"/>
            <a:ext cx="731520" cy="731520"/>
          </a:xfrm>
          <a:prstGeom prst="ellipse">
            <a:avLst/>
          </a:prstGeom>
          <a:solidFill>
            <a:schemeClr val="accent2"/>
          </a:solidFill>
          <a:ln/>
        </p:spPr>
      </p:sp>
      <p:pic>
        <p:nvPicPr>
          <p:cNvPr id="8" name="Quality is built in icon" descr="Quality is built in">    </p:cNvPr>
          <p:cNvPicPr>
            <a:picLocks noChangeAspect="1"/>
          </p:cNvPicPr>
          <p:nvPr/>
        </p:nvPicPr>
        <p:blipFill>
          <a:blip r:embed="rId2"/>
          <a:stretch>
            <a:fillRect/>
          </a:stretch>
        </p:blipFill>
        <p:spPr>
          <a:xfrm>
            <a:off x="4518965" y="2004365"/>
            <a:ext cx="380390" cy="380390"/>
          </a:xfrm>
          <a:prstGeom prst="rect">
            <a:avLst/>
          </a:prstGeom>
        </p:spPr>
      </p:pic>
      <p:sp>
        <p:nvSpPr>
          <p:cNvPr id="9" name="Quality is built in heading"/>
          <p:cNvSpPr txBox="1"/>
          <p:nvPr/>
        </p:nvSpPr>
        <p:spPr>
          <a:xfrm>
            <a:off x="4343400" y="2788920"/>
            <a:ext cx="3474720" cy="411480"/>
          </a:xfrm>
          <a:prstGeom prst="rect">
            <a:avLst/>
          </a:prstGeom>
          <a:noFill/>
          <a:ln/>
        </p:spPr>
        <p:txBody>
          <a:bodyPr wrap="square" lIns="0" tIns="0" rIns="0" bIns="0" rtlCol="0" anchor="t"/>
          <a:lstStyle/>
          <a:p>
            <a:pPr indent="0" marL="0">
              <a:buNone/>
            </a:pPr>
            <a:r>
              <a:rPr lang="en-US" sz="2000" b="1" dirty="0">
                <a:solidFill>
                  <a:schemeClr val="bg1"/>
                </a:solidFill>
              </a:rPr>
              <a:t>Quality is built in</a:t>
            </a:r>
            <a:endParaRPr lang="en-US" sz="2000" dirty="0"/>
          </a:p>
        </p:txBody>
      </p:sp>
      <p:sp>
        <p:nvSpPr>
          <p:cNvPr id="10" name="Quality is built in text"/>
          <p:cNvSpPr txBox="1"/>
          <p:nvPr/>
        </p:nvSpPr>
        <p:spPr>
          <a:xfrm>
            <a:off x="4343400" y="3291840"/>
            <a:ext cx="3291840" cy="914400"/>
          </a:xfrm>
          <a:prstGeom prst="rect">
            <a:avLst/>
          </a:prstGeom>
          <a:noFill/>
          <a:ln/>
        </p:spPr>
        <p:txBody>
          <a:bodyPr wrap="square" lIns="0" tIns="0" rIns="0" bIns="0" rtlCol="0" anchor="t"/>
          <a:lstStyle/>
          <a:p>
            <a:pPr indent="0" marL="0">
              <a:buNone/>
            </a:pPr>
            <a:r>
              <a:rPr lang="en-US" sz="1500" dirty="0">
                <a:solidFill>
                  <a:schemeClr val="bg2"/>
                </a:solidFill>
              </a:rPr>
              <a:t>No inspection step is removed. If quality slips, we stop and fix it first.</a:t>
            </a:r>
            <a:endParaRPr lang="en-US" sz="1500" dirty="0"/>
          </a:p>
        </p:txBody>
      </p:sp>
      <p:sp>
        <p:nvSpPr>
          <p:cNvPr id="11" name="The system makes it stick circle"/>
          <p:cNvSpPr/>
          <p:nvPr/>
        </p:nvSpPr>
        <p:spPr>
          <a:xfrm>
            <a:off x="8138160" y="1828800"/>
            <a:ext cx="731520" cy="731520"/>
          </a:xfrm>
          <a:prstGeom prst="ellipse">
            <a:avLst/>
          </a:prstGeom>
          <a:solidFill>
            <a:schemeClr val="accent2"/>
          </a:solidFill>
          <a:ln/>
        </p:spPr>
      </p:sp>
      <p:pic>
        <p:nvPicPr>
          <p:cNvPr id="12" name="The system makes it stick icon" descr="The system makes it stick">    </p:cNvPr>
          <p:cNvPicPr>
            <a:picLocks noChangeAspect="1"/>
          </p:cNvPicPr>
          <p:nvPr/>
        </p:nvPicPr>
        <p:blipFill>
          <a:blip r:embed="rId3"/>
          <a:stretch>
            <a:fillRect/>
          </a:stretch>
        </p:blipFill>
        <p:spPr>
          <a:xfrm>
            <a:off x="8313725" y="2004365"/>
            <a:ext cx="380390" cy="380390"/>
          </a:xfrm>
          <a:prstGeom prst="rect">
            <a:avLst/>
          </a:prstGeom>
        </p:spPr>
      </p:pic>
      <p:sp>
        <p:nvSpPr>
          <p:cNvPr id="13" name="The system makes it stick heading"/>
          <p:cNvSpPr txBox="1"/>
          <p:nvPr/>
        </p:nvSpPr>
        <p:spPr>
          <a:xfrm>
            <a:off x="8138160" y="2788920"/>
            <a:ext cx="3474720" cy="411480"/>
          </a:xfrm>
          <a:prstGeom prst="rect">
            <a:avLst/>
          </a:prstGeom>
          <a:noFill/>
          <a:ln/>
        </p:spPr>
        <p:txBody>
          <a:bodyPr wrap="square" lIns="0" tIns="0" rIns="0" bIns="0" rtlCol="0" anchor="t"/>
          <a:lstStyle/>
          <a:p>
            <a:pPr indent="0" marL="0">
              <a:buNone/>
            </a:pPr>
            <a:r>
              <a:rPr lang="en-US" sz="2000" b="1" dirty="0">
                <a:solidFill>
                  <a:schemeClr val="bg1"/>
                </a:solidFill>
              </a:rPr>
              <a:t>The system makes it stick</a:t>
            </a:r>
            <a:endParaRPr lang="en-US" sz="2000" dirty="0"/>
          </a:p>
        </p:txBody>
      </p:sp>
      <p:sp>
        <p:nvSpPr>
          <p:cNvPr id="14" name="The system makes it stick text"/>
          <p:cNvSpPr txBox="1"/>
          <p:nvPr/>
        </p:nvSpPr>
        <p:spPr>
          <a:xfrm>
            <a:off x="8138160" y="3291840"/>
            <a:ext cx="3291840" cy="914400"/>
          </a:xfrm>
          <a:prstGeom prst="rect">
            <a:avLst/>
          </a:prstGeom>
          <a:noFill/>
          <a:ln/>
        </p:spPr>
        <p:txBody>
          <a:bodyPr wrap="square" lIns="0" tIns="0" rIns="0" bIns="0" rtlCol="0" anchor="t"/>
          <a:lstStyle/>
          <a:p>
            <a:pPr indent="0" marL="0">
              <a:buNone/>
            </a:pPr>
            <a:r>
              <a:rPr lang="en-US" sz="1500" dirty="0">
                <a:solidFill>
                  <a:schemeClr val="bg2"/>
                </a:solidFill>
              </a:rPr>
              <a:t>Standard work and daily kaizen, the Volvo Production System way.</a:t>
            </a:r>
            <a:endParaRPr lang="en-US" sz="1500" dirty="0"/>
          </a:p>
        </p:txBody>
      </p:sp>
      <p:sp>
        <p:nvSpPr>
          <p:cNvPr id="15" name="Thank you"/>
          <p:cNvSpPr txBox="1"/>
          <p:nvPr/>
        </p:nvSpPr>
        <p:spPr>
          <a:xfrm>
            <a:off x="548640" y="4892040"/>
            <a:ext cx="11064240" cy="82296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Thank you. Questions?</a:t>
            </a:r>
            <a:endParaRPr lang="en-US" sz="4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Group 3 Volvo CE">
  <a:themeElements>
    <a:clrScheme name="Group 3 Volvo CE">
      <a:dk1>
        <a:srgbClr val="1E2633"/>
      </a:dk1>
      <a:lt1>
        <a:srgbClr val="FFFFFF"/>
      </a:lt1>
      <a:dk2>
        <a:srgbClr val="14233A"/>
      </a:dk2>
      <a:lt2>
        <a:srgbClr val="F1F3F6"/>
      </a:lt2>
      <a:accent1>
        <a:srgbClr val="1F4E79"/>
      </a:accent1>
      <a:accent2>
        <a:srgbClr val="F2A900"/>
      </a:accent2>
      <a:accent3>
        <a:srgbClr val="C8443A"/>
      </a:accent3>
      <a:accent4>
        <a:srgbClr val="2E7D4F"/>
      </a:accent4>
      <a:accent5>
        <a:srgbClr val="5F6B7A"/>
      </a:accent5>
      <a:accent6>
        <a:srgbClr val="B9C3CF"/>
      </a:accent6>
      <a:hlink>
        <a:srgbClr val="1F4E79"/>
      </a:hlink>
      <a:folHlink>
        <a:srgbClr val="5F6B7A"/>
      </a:folHlink>
    </a:clrScheme>
    <a:fontScheme name="Group 3 Volvo 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10 to 12 excavators a day</dc:title>
  <dc:subject>Business Operations Excellence: Volvo CE India, Peenya</dc:subject>
  <dc:creator>Group 3</dc:creator>
  <cp:lastModifiedBy>Group 3</cp:lastModifiedBy>
  <cp:revision>1</cp:revision>
  <dcterms:created xsi:type="dcterms:W3CDTF">2026-10-26T15:53:35Z</dcterms:created>
  <dcterms:modified xsi:type="dcterms:W3CDTF">2026-10-26T15:53:35Z</dcterms:modified>
</cp:coreProperties>
</file>