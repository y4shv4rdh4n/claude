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c62533-50ea-89c8-70fd-c3778c49ee71}">
          <p14:sldIdLst>
            <p14:sldId id="256"/>
          </p14:sldIdLst>
        </p14:section>
        <p14:section name="Company context" id="{2c2761b5-9980-286c-2bab-dbbc820fc501}">
          <p14:sldIdLst>
            <p14:sldId id="257"/>
            <p14:sldId id="258"/>
            <p14:sldId id="259"/>
            <p14:sldId id="260"/>
          </p14:sldIdLst>
        </p14:section>
        <p14:section name="Group 3 problem" id="{b1fa1c1f-1e5e-6d80-7574-04eeb43d8715}">
          <p14:sldIdLst>
            <p14:sldId id="261"/>
            <p14:sldId id="262"/>
            <p14:sldId id="263"/>
          </p14:sldIdLst>
        </p14:section>
        <p14:section name="Solution" id="{5b6ce222-d51a-c9bb-ba7c-faf7e5aa290d}">
          <p14:sldIdLst>
            <p14:sldId id="264"/>
            <p14:sldId id="265"/>
            <p14:sldId id="266"/>
          </p14:sldIdLst>
        </p14:section>
        <p14:section name="Roadmap" id="{363f1574-c035-8f69-cef3-60f5cb97d3f3}">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F"/>
                </a:solidFill>
                <a:latin typeface="+mn-lt"/>
              </a:defRPr>
            </a:pPr>
            <a:r>
              <a:rPr sz="1300" b="0" i="0" u="none" strike="noStrike">
                <a:solidFill>
                  <a:srgbClr val="12263F"/>
                </a:solidFill>
                <a:latin typeface="+mn-lt"/>
              </a:rPr>
              <a:t>2025 net sales by region, SEK bn (Volvo CE Q4 2025 report)</a:t>
            </a:r>
          </a:p>
        </c:rich>
      </c:tx>
      <c:layout/>
      <c:overlay val="0"/>
    </c:title>
    <c:autoTitleDeleted val="0"/>
    <c:plotArea>
      <c:layout/>
      <c:barChart>
        <c:barDir val="bar"/>
        <c:grouping val="clustered"/>
        <c:varyColors val="0"/>
        <c:ser>
          <c:idx val="0"/>
          <c:order val="0"/>
          <c:tx>
            <c:strRef>
              <c:f>Sheet1!$B$1</c:f>
              <c:strCache>
                <c:ptCount val="1"/>
                <c:pt idx="0">
                  <c:v>Net sales 2025</c:v>
                </c:pt>
              </c:strCache>
            </c:strRef>
          </c:tx>
          <c:spPr>
            <a:solidFill>
              <a:srgbClr val="1F5A8A"/>
            </a:solidFill>
            <a:effectLst/>
          </c:spPr>
          <c:invertIfNegative val="0"/>
          <c:dLbls>
            <c:numFmt formatCode="0.0"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Europe</c:v>
                  </c:pt>
                  <c:pt idx="1">
                    <c:v>Asia</c:v>
                  </c:pt>
                  <c:pt idx="2">
                    <c:v>North America</c:v>
                  </c:pt>
                  <c:pt idx="3">
                    <c:v>Rest of world</c:v>
                  </c:pt>
                </c:lvl>
              </c:multiLvlStrCache>
            </c:multiLvlStrRef>
          </c:cat>
          <c:val>
            <c:numRef>
              <c:f>Sheet1!$B$2:$B$5</c:f>
              <c:numCache>
                <c:formatCode>General</c:formatCode>
                <c:ptCount val="4"/>
                <c:pt idx="0">
                  <c:v>27.8</c:v>
                </c:pt>
                <c:pt idx="1">
                  <c:v>23.4</c:v>
                </c:pt>
                <c:pt idx="2">
                  <c:v>19.3</c:v>
                </c:pt>
                <c:pt idx="3">
                  <c:v>11.2</c:v>
                </c:pt>
              </c:numCache>
            </c:numRef>
          </c:val>
        </c:ser>
        <c:dLbls>
          <c:numFmt formatCode="0.0"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6B7A8F"/>
                </a:solidFill>
                <a:latin typeface="+mn-lt"/>
              </a:defRPr>
            </a:pPr>
            <a:endParaRPr lang="en-US"/>
          </a:p>
        </c:txPr>
        <c:crossAx val="2094734552"/>
        <c:crosses val="autoZero"/>
        <c:auto val="1"/>
        <c:lblAlgn val="ctr"/>
        <c:noMultiLvlLbl val="1"/>
      </c:catAx>
      <c:valAx>
        <c:axId val="2094734552"/>
        <c:scaling>
          <c:orientation val="minMax"/>
          <c:max val="3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F"/>
                </a:solidFill>
                <a:latin typeface="+mn-lt"/>
              </a:defRPr>
            </a:pPr>
            <a:r>
              <a:rPr sz="1300" b="0" i="0" u="none" strike="noStrike">
                <a:solidFill>
                  <a:srgbClr val="12263F"/>
                </a:solidFill>
                <a:latin typeface="+mn-lt"/>
              </a:rPr>
              <a:t>Effective cycle time per operation, min per excavator (assumed data)</a:t>
            </a:r>
          </a:p>
        </c:rich>
      </c:tx>
      <c:layout/>
      <c:overlay val="0"/>
    </c:title>
    <c:autoTitleDeleted val="0"/>
    <c:plotArea>
      <c:layout/>
      <c:barChart>
        <c:barDir val="col"/>
        <c:grouping val="stacked"/>
        <c:varyColors val="0"/>
        <c:ser>
          <c:idx val="0"/>
          <c:order val="0"/>
          <c:tx>
            <c:strRef>
              <c:f>Sheet1!$B$1</c:f>
              <c:strCache>
                <c:ptCount val="1"/>
                <c:pt idx="0">
                  <c:v>Effective cycle time</c:v>
                </c:pt>
              </c:strCache>
            </c:strRef>
          </c:tx>
          <c:spPr>
            <a:solidFill>
              <a:srgbClr val="1F5A8A"/>
            </a:solidFill>
            <a:effectLst/>
          </c:spPr>
          <c:invertIfNegative val="0"/>
          <c:dLbls>
            <c:numFmt formatCode="0;;;"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OP10 Boom</c:v>
                  </c:pt>
                  <c:pt idx="1">
                    <c:v>OP20 Arm</c:v>
                  </c:pt>
                  <c:pt idx="2">
                    <c:v>OP30 Upper frame</c:v>
                  </c:pt>
                  <c:pt idx="3">
                    <c:v>OP40 Lower frame</c:v>
                  </c:pt>
                  <c:pt idx="4">
                    <c:v>OP50 Links &amp; pins</c:v>
                  </c:pt>
                  <c:pt idx="5">
                    <c:v>OP60 Wash &amp; CMM</c:v>
                  </c:pt>
                </c:lvl>
              </c:multiLvlStrCache>
            </c:multiLvlStrRef>
          </c:cat>
          <c:val>
            <c:numRef>
              <c:f>Sheet1!$B$2:$B$7</c:f>
              <c:numCache>
                <c:formatCode>General</c:formatCode>
                <c:ptCount val="6"/>
                <c:pt idx="0">
                  <c:v>39</c:v>
                </c:pt>
                <c:pt idx="1">
                  <c:v>36</c:v>
                </c:pt>
                <c:pt idx="2">
                  <c:v>0</c:v>
                </c:pt>
                <c:pt idx="3">
                  <c:v>38</c:v>
                </c:pt>
                <c:pt idx="4">
                  <c:v>27</c:v>
                </c:pt>
                <c:pt idx="5">
                  <c:v>30</c:v>
                </c:pt>
              </c:numCache>
            </c:numRef>
          </c:val>
        </c:ser>
        <c:ser>
          <c:idx val="1"/>
          <c:order val="1"/>
          <c:tx>
            <c:strRef>
              <c:f>Sheet1!$C$1</c:f>
              <c:strCache>
                <c:ptCount val="1"/>
                <c:pt idx="0">
                  <c:v>Bottleneck (OP30)</c:v>
                </c:pt>
              </c:strCache>
            </c:strRef>
          </c:tx>
          <c:spPr>
            <a:solidFill>
              <a:srgbClr val="D1495B"/>
            </a:solidFill>
            <a:effectLst/>
          </c:spPr>
          <c:invertIfNegative val="0"/>
          <c:dLbls>
            <c:numFmt formatCode="0;;;"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OP10 Boom</c:v>
                  </c:pt>
                  <c:pt idx="1">
                    <c:v>OP20 Arm</c:v>
                  </c:pt>
                  <c:pt idx="2">
                    <c:v>OP30 Upper frame</c:v>
                  </c:pt>
                  <c:pt idx="3">
                    <c:v>OP40 Lower frame</c:v>
                  </c:pt>
                  <c:pt idx="4">
                    <c:v>OP50 Links &amp; pins</c:v>
                  </c:pt>
                  <c:pt idx="5">
                    <c:v>OP60 Wash &amp; CMM</c:v>
                  </c:pt>
                </c:lvl>
              </c:multiLvlStrCache>
            </c:multiLvlStrRef>
          </c:cat>
          <c:val>
            <c:numRef>
              <c:f>Sheet1!$C$2:$C$7</c:f>
              <c:numCache>
                <c:formatCode>General</c:formatCode>
                <c:ptCount val="6"/>
                <c:pt idx="0">
                  <c:v>0</c:v>
                </c:pt>
                <c:pt idx="1">
                  <c:v>0</c:v>
                </c:pt>
                <c:pt idx="2">
                  <c:v>42</c:v>
                </c:pt>
                <c:pt idx="3">
                  <c:v>0</c:v>
                </c:pt>
                <c:pt idx="4">
                  <c:v>0</c:v>
                </c:pt>
                <c:pt idx="5">
                  <c:v>0</c:v>
                </c:pt>
              </c:numCache>
            </c:numRef>
          </c:val>
        </c:ser>
        <c:dLbls>
          <c:numFmt formatCode="0;;;"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lineChart>
        <c:varyColors val="0"/>
        <c:ser>
          <c:idx val="2"/>
          <c:order val="2"/>
          <c:tx>
            <c:strRef>
              <c:f>Sheet1!$D$1</c:f>
              <c:strCache>
                <c:ptCount val="1"/>
                <c:pt idx="0">
                  <c:v>Takt today (42 min)</c:v>
                </c:pt>
              </c:strCache>
            </c:strRef>
          </c:tx>
          <c:spPr>
            <a:solidFill>
              <a:srgbClr val="6B7A8F"/>
            </a:solidFill>
            <a:ln w="31750" cap="flat">
              <a:solidFill>
                <a:srgbClr val="6B7A8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6B7A8F"/>
              </a:solidFill>
              <a:ln w="9525" cap="flat">
                <a:solidFill>
                  <a:srgbClr val="6B7A8F"/>
                </a:solidFill>
                <a:prstDash val="solid"/>
                <a:round/>
              </a:ln>
              <a:effectLst/>
            </c:spPr>
          </c:marker>
          <c:cat>
            <c:multiLvlStrRef>
              <c:f>Sheet1!$A$2:$A$7</c:f>
              <c:multiLvlStrCache>
                <c:ptCount val="6"/>
                <c:lvl>
                  <c:pt idx="0">
                    <c:v>OP10 Boom</c:v>
                  </c:pt>
                  <c:pt idx="1">
                    <c:v>OP20 Arm</c:v>
                  </c:pt>
                  <c:pt idx="2">
                    <c:v>OP30 Upper frame</c:v>
                  </c:pt>
                  <c:pt idx="3">
                    <c:v>OP40 Lower frame</c:v>
                  </c:pt>
                  <c:pt idx="4">
                    <c:v>OP50 Links &amp; pins</c:v>
                  </c:pt>
                  <c:pt idx="5">
                    <c:v>OP60 Wash &amp; CMM</c:v>
                  </c:pt>
                </c:lvl>
              </c:multiLvlStrCache>
            </c:multiLvlStrRef>
          </c:cat>
          <c:val>
            <c:numRef>
              <c:f>Sheet1!$D$2:$D$7</c:f>
              <c:numCache>
                <c:formatCode>General</c:formatCode>
                <c:ptCount val="6"/>
                <c:pt idx="0">
                  <c:v>42</c:v>
                </c:pt>
                <c:pt idx="1">
                  <c:v>42</c:v>
                </c:pt>
                <c:pt idx="2">
                  <c:v>42</c:v>
                </c:pt>
                <c:pt idx="3">
                  <c:v>42</c:v>
                </c:pt>
                <c:pt idx="4">
                  <c:v>42</c:v>
                </c:pt>
                <c:pt idx="5">
                  <c:v>42</c:v>
                </c:pt>
              </c:numCache>
            </c:numRef>
          </c:val>
          <c:smooth val="0"/>
        </c:ser>
        <c:ser>
          <c:idx val="3"/>
          <c:order val="3"/>
          <c:tx>
            <c:strRef>
              <c:f>Sheet1!$E$1</c:f>
              <c:strCache>
                <c:ptCount val="1"/>
                <c:pt idx="0">
                  <c:v>Target takt (35 min)</c:v>
                </c:pt>
              </c:strCache>
            </c:strRef>
          </c:tx>
          <c:spPr>
            <a:solidFill>
              <a:srgbClr val="12263F"/>
            </a:solidFill>
            <a:ln w="31750" cap="flat">
              <a:solidFill>
                <a:srgbClr val="12263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6B7A8F"/>
              </a:solidFill>
              <a:ln w="9525" cap="flat">
                <a:solidFill>
                  <a:srgbClr val="12263F"/>
                </a:solidFill>
                <a:prstDash val="solid"/>
                <a:round/>
              </a:ln>
              <a:effectLst/>
            </c:spPr>
          </c:marker>
          <c:cat>
            <c:multiLvlStrRef>
              <c:f>Sheet1!$A$2:$A$7</c:f>
              <c:multiLvlStrCache>
                <c:ptCount val="6"/>
                <c:lvl>
                  <c:pt idx="0">
                    <c:v>OP10 Boom</c:v>
                  </c:pt>
                  <c:pt idx="1">
                    <c:v>OP20 Arm</c:v>
                  </c:pt>
                  <c:pt idx="2">
                    <c:v>OP30 Upper frame</c:v>
                  </c:pt>
                  <c:pt idx="3">
                    <c:v>OP40 Lower frame</c:v>
                  </c:pt>
                  <c:pt idx="4">
                    <c:v>OP50 Links &amp; pins</c:v>
                  </c:pt>
                  <c:pt idx="5">
                    <c:v>OP60 Wash &amp; CMM</c:v>
                  </c:pt>
                </c:lvl>
              </c:multiLvlStrCache>
            </c:multiLvlStrRef>
          </c:cat>
          <c:val>
            <c:numRef>
              <c:f>Sheet1!$E$2:$E$7</c:f>
              <c:numCache>
                <c:formatCode>General</c:formatCode>
                <c:ptCount val="6"/>
                <c:pt idx="0">
                  <c:v>35</c:v>
                </c:pt>
                <c:pt idx="1">
                  <c:v>35</c:v>
                </c:pt>
                <c:pt idx="2">
                  <c:v>35</c:v>
                </c:pt>
                <c:pt idx="3">
                  <c:v>35</c:v>
                </c:pt>
                <c:pt idx="4">
                  <c:v>35</c:v>
                </c:pt>
                <c:pt idx="5">
                  <c:v>35</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F"/>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OP30 minutes</c:v>
                </c:pt>
              </c:strCache>
            </c:strRef>
          </c:tx>
          <c:spPr>
            <a:solidFill>
              <a:schemeClr val="accent1"/>
            </a:solidFill>
            <a:ln w="9525" cap="flat">
              <a:solidFill>
                <a:srgbClr val="F9F9F9"/>
              </a:solidFill>
              <a:prstDash val="solid"/>
              <a:round/>
            </a:ln>
            <a:effectLst/>
          </c:spPr>
          <c:dPt>
            <c:idx val="0"/>
            <c:bubble3D val="0"/>
            <c:spPr>
              <a:solidFill>
                <a:srgbClr val="1F5A8A"/>
              </a:solidFill>
              <a:ln w="19050" cap="flat">
                <a:solidFill>
                  <a:srgbClr val="FFFFFF"/>
                </a:solidFill>
                <a:prstDash val="solid"/>
                <a:round/>
              </a:ln>
              <a:effectLst/>
            </c:spPr>
          </c:dPt>
          <c:dPt>
            <c:idx val="1"/>
            <c:bubble3D val="0"/>
            <c:spPr>
              <a:solidFill>
                <a:srgbClr val="F2A900"/>
              </a:solidFill>
              <a:ln w="19050" cap="flat">
                <a:solidFill>
                  <a:srgbClr val="FFFFFF"/>
                </a:solidFill>
                <a:prstDash val="solid"/>
                <a:round/>
              </a:ln>
              <a:effectLst/>
            </c:spPr>
          </c:dPt>
          <c:dPt>
            <c:idx val="2"/>
            <c:bubble3D val="0"/>
            <c:spPr>
              <a:solidFill>
                <a:srgbClr val="D1495B"/>
              </a:solidFill>
              <a:ln w="19050" cap="flat">
                <a:solidFill>
                  <a:srgbClr val="FFFFFF"/>
                </a:solidFill>
                <a:prstDash val="solid"/>
                <a:round/>
              </a:ln>
              <a:effectLst/>
            </c:spPr>
          </c:dPt>
          <c:dPt>
            <c:idx val="3"/>
            <c:bubble3D val="0"/>
            <c:spPr>
              <a:solidFill>
                <a:srgbClr val="6B7A8F"/>
              </a:solidFill>
              <a:ln w="19050" cap="flat">
                <a:solidFill>
                  <a:srgbClr val="FFFFFF"/>
                </a:solidFill>
                <a:prstDash val="solid"/>
                <a:round/>
              </a:ln>
              <a:effectLst/>
            </c:spPr>
          </c:dPt>
          <c:dPt>
            <c:idx val="4"/>
            <c:bubble3D val="0"/>
            <c:spPr>
              <a:solidFill>
                <a:srgbClr val="A9B7C6"/>
              </a:solidFill>
              <a:ln w="19050" cap="flat">
                <a:solidFill>
                  <a:srgbClr val="FFFFFF"/>
                </a:solidFill>
                <a:prstDash val="solid"/>
                <a:round/>
              </a:ln>
              <a:effectLst/>
            </c:spPr>
          </c:dPt>
          <c:dPt>
            <c:idx val="5"/>
            <c:bubble3D val="0"/>
            <c:spPr>
              <a:solidFill>
                <a:srgbClr val="12263F"/>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Value-adding machining</c:v>
                </c:pt>
                <c:pt idx="1">
                  <c:v>Changeovers</c:v>
                </c:pt>
                <c:pt idx="2">
                  <c:v>Breakdowns &amp; minor stops</c:v>
                </c:pt>
                <c:pt idx="3">
                  <c:v>Waiting: crane, parts, QC</c:v>
                </c:pt>
                <c:pt idx="4">
                  <c:v>Slow set-up: dial-gauge alignment</c:v>
                </c:pt>
                <c:pt idx="5">
                  <c:v>Rework / re-machining</c:v>
                </c:pt>
              </c:strCache>
            </c:strRef>
          </c:cat>
          <c:val>
            <c:numRef>
              <c:f>Sheet1!$B$2:$B$7</c:f>
              <c:numCache>
                <c:ptCount val="6"/>
                <c:pt idx="0">
                  <c:v>300</c:v>
                </c:pt>
                <c:pt idx="1">
                  <c:v>45</c:v>
                </c:pt>
                <c:pt idx="2">
                  <c:v>25</c:v>
                </c:pt>
                <c:pt idx="3">
                  <c:v>20</c:v>
                </c:pt>
                <c:pt idx="4">
                  <c:v>15</c:v>
                </c:pt>
                <c:pt idx="5">
                  <c:v>15</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F"/>
                </a:solidFill>
                <a:latin typeface="+mn-lt"/>
              </a:defRPr>
            </a:pPr>
            <a:r>
              <a:rPr sz="1300" b="0" i="0" u="none" strike="noStrike">
                <a:solidFill>
                  <a:srgbClr val="12263F"/>
                </a:solidFill>
                <a:latin typeface="+mn-lt"/>
              </a:rPr>
              <a:t>Line balancing: effective cycle time, min per excavator</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A9B7C6"/>
            </a:solidFill>
            <a:effectLst/>
          </c:spPr>
          <c:invertIfNegative val="0"/>
          <c:dLbls>
            <c:numFmt formatCode="General" sourceLinked="0"/>
            <c:txPr>
              <a:bodyPr/>
              <a:lstStyle/>
              <a:p>
                <a:pPr>
                  <a:defRPr b="0" i="0" strike="noStrike" sz="1100" u="none">
                    <a:solidFill>
                      <a:srgbClr val="1B1F24"/>
                    </a:solidFill>
                    <a:latin typeface="+mn-lt"/>
                  </a:defRPr>
                </a:pPr>
              </a:p>
            </c:txPr>
            <c:dLblPos val="outEnd"/>
            <c:showLegendKey val="0"/>
            <c:showVal val="1"/>
            <c:showCatName val="0"/>
            <c:showSerName val="0"/>
            <c:showPercent val="0"/>
            <c:showBubbleSize val="0"/>
            <c:showLeaderLines val="0"/>
          </c:dLbls>
          <c:cat>
            <c:multiLvlStrRef>
              <c:f>Sheet1!$A$2:$A$7</c:f>
              <c:multiLvlStrCache>
                <c:ptCount val="6"/>
                <c:lvl>
                  <c:pt idx="0">
                    <c:v>OP10 Boom</c:v>
                  </c:pt>
                  <c:pt idx="1">
                    <c:v>OP20 Arm</c:v>
                  </c:pt>
                  <c:pt idx="2">
                    <c:v>OP30 Upper frame</c:v>
                  </c:pt>
                  <c:pt idx="3">
                    <c:v>OP40 Lower frame</c:v>
                  </c:pt>
                  <c:pt idx="4">
                    <c:v>OP50 Links &amp; pins</c:v>
                  </c:pt>
                  <c:pt idx="5">
                    <c:v>OP60 Wash &amp; CMM</c:v>
                  </c:pt>
                </c:lvl>
              </c:multiLvlStrCache>
            </c:multiLvlStrRef>
          </c:cat>
          <c:val>
            <c:numRef>
              <c:f>Sheet1!$B$2:$B$7</c:f>
              <c:numCache>
                <c:formatCode>General</c:formatCode>
                <c:ptCount val="6"/>
                <c:pt idx="0">
                  <c:v>39</c:v>
                </c:pt>
                <c:pt idx="1">
                  <c:v>36</c:v>
                </c:pt>
                <c:pt idx="2">
                  <c:v>42</c:v>
                </c:pt>
                <c:pt idx="3">
                  <c:v>38</c:v>
                </c:pt>
                <c:pt idx="4">
                  <c:v>27</c:v>
                </c:pt>
                <c:pt idx="5">
                  <c:v>30</c:v>
                </c:pt>
              </c:numCache>
            </c:numRef>
          </c:val>
        </c:ser>
        <c:ser>
          <c:idx val="1"/>
          <c:order val="1"/>
          <c:tx>
            <c:strRef>
              <c:f>Sheet1!$C$1</c:f>
              <c:strCache>
                <c:ptCount val="1"/>
                <c:pt idx="0">
                  <c:v>After</c:v>
                </c:pt>
              </c:strCache>
            </c:strRef>
          </c:tx>
          <c:spPr>
            <a:solidFill>
              <a:srgbClr val="2F8F5B"/>
            </a:solidFill>
            <a:effectLst/>
          </c:spPr>
          <c:invertIfNegative val="0"/>
          <c:dLbls>
            <c:numFmt formatCode="General" sourceLinked="0"/>
            <c:txPr>
              <a:bodyPr/>
              <a:lstStyle/>
              <a:p>
                <a:pPr>
                  <a:defRPr b="0" i="0" strike="noStrike" sz="1100" u="none">
                    <a:solidFill>
                      <a:srgbClr val="1B1F24"/>
                    </a:solidFill>
                    <a:latin typeface="+mn-lt"/>
                  </a:defRPr>
                </a:pPr>
              </a:p>
            </c:txPr>
            <c:dLblPos val="outEnd"/>
            <c:showLegendKey val="0"/>
            <c:showVal val="1"/>
            <c:showCatName val="0"/>
            <c:showSerName val="0"/>
            <c:showPercent val="0"/>
            <c:showBubbleSize val="0"/>
            <c:showLeaderLines val="0"/>
          </c:dLbls>
          <c:cat>
            <c:multiLvlStrRef>
              <c:f>Sheet1!$A$2:$A$7</c:f>
              <c:multiLvlStrCache>
                <c:ptCount val="6"/>
                <c:lvl>
                  <c:pt idx="0">
                    <c:v>OP10 Boom</c:v>
                  </c:pt>
                  <c:pt idx="1">
                    <c:v>OP20 Arm</c:v>
                  </c:pt>
                  <c:pt idx="2">
                    <c:v>OP30 Upper frame</c:v>
                  </c:pt>
                  <c:pt idx="3">
                    <c:v>OP40 Lower frame</c:v>
                  </c:pt>
                  <c:pt idx="4">
                    <c:v>OP50 Links &amp; pins</c:v>
                  </c:pt>
                  <c:pt idx="5">
                    <c:v>OP60 Wash &amp; CMM</c:v>
                  </c:pt>
                </c:lvl>
              </c:multiLvlStrCache>
            </c:multiLvlStrRef>
          </c:cat>
          <c:val>
            <c:numRef>
              <c:f>Sheet1!$C$2:$C$7</c:f>
              <c:numCache>
                <c:formatCode>General</c:formatCode>
                <c:ptCount val="6"/>
                <c:pt idx="0">
                  <c:v>33</c:v>
                </c:pt>
                <c:pt idx="1">
                  <c:v>31</c:v>
                </c:pt>
                <c:pt idx="2">
                  <c:v>32.5</c:v>
                </c:pt>
                <c:pt idx="3">
                  <c:v>33</c:v>
                </c:pt>
                <c:pt idx="4">
                  <c:v>30</c:v>
                </c:pt>
                <c:pt idx="5">
                  <c:v>28</c:v>
                </c:pt>
              </c:numCache>
            </c:numRef>
          </c:val>
        </c:ser>
        <c:dLbls>
          <c:numFmt formatCode="General" sourceLinked="0"/>
          <c:txPr>
            <a:bodyPr/>
            <a:lstStyle/>
            <a:p>
              <a:pPr>
                <a:defRPr b="0" i="0" strike="noStrike" sz="1100" u="none">
                  <a:solidFill>
                    <a:srgbClr val="1B1F24"/>
                  </a:solidFill>
                  <a:latin typeface="+mn-lt"/>
                </a:defRPr>
              </a:pPr>
            </a:p>
          </c:txPr>
          <c:dLblPos val="outEnd"/>
          <c:showLegendKey val="0"/>
          <c:showVal val="1"/>
          <c:showCatName val="0"/>
          <c:showSerName val="0"/>
          <c:showPercent val="0"/>
          <c:showBubbleSize val="0"/>
          <c:showLeaderLines val="0"/>
        </c:dLbls>
        <c:gapWidth val="40"/>
        <c:overlap val="0"/>
        <c:axId val="2094734554"/>
        <c:axId val="2094734552"/>
        <c:axId val="2094734556"/>
      </c:barChart>
      <c:lineChart>
        <c:varyColors val="0"/>
        <c:ser>
          <c:idx val="2"/>
          <c:order val="2"/>
          <c:tx>
            <c:strRef>
              <c:f>Sheet1!$D$1</c:f>
              <c:strCache>
                <c:ptCount val="1"/>
                <c:pt idx="0">
                  <c:v>Target takt (35 min)</c:v>
                </c:pt>
              </c:strCache>
            </c:strRef>
          </c:tx>
          <c:spPr>
            <a:solidFill>
              <a:srgbClr val="12263F"/>
            </a:solidFill>
            <a:ln w="31750" cap="flat">
              <a:solidFill>
                <a:srgbClr val="12263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12263F"/>
              </a:solidFill>
              <a:ln w="9525" cap="flat">
                <a:solidFill>
                  <a:srgbClr val="12263F"/>
                </a:solidFill>
                <a:prstDash val="solid"/>
                <a:round/>
              </a:ln>
              <a:effectLst/>
            </c:spPr>
          </c:marker>
          <c:cat>
            <c:multiLvlStrRef>
              <c:f>Sheet1!$A$2:$A$7</c:f>
              <c:multiLvlStrCache>
                <c:ptCount val="6"/>
                <c:lvl>
                  <c:pt idx="0">
                    <c:v>OP10 Boom</c:v>
                  </c:pt>
                  <c:pt idx="1">
                    <c:v>OP20 Arm</c:v>
                  </c:pt>
                  <c:pt idx="2">
                    <c:v>OP30 Upper frame</c:v>
                  </c:pt>
                  <c:pt idx="3">
                    <c:v>OP40 Lower frame</c:v>
                  </c:pt>
                  <c:pt idx="4">
                    <c:v>OP50 Links &amp; pins</c:v>
                  </c:pt>
                  <c:pt idx="5">
                    <c:v>OP60 Wash &amp; CMM</c:v>
                  </c:pt>
                </c:lvl>
              </c:multiLvlStrCache>
            </c:multiLvlStrRef>
          </c:cat>
          <c:val>
            <c:numRef>
              <c:f>Sheet1!$D$2:$D$7</c:f>
              <c:numCache>
                <c:formatCode>General</c:formatCode>
                <c:ptCount val="6"/>
                <c:pt idx="0">
                  <c:v>35</c:v>
                </c:pt>
                <c:pt idx="1">
                  <c:v>35</c:v>
                </c:pt>
                <c:pt idx="2">
                  <c:v>35</c:v>
                </c:pt>
                <c:pt idx="3">
                  <c:v>35</c:v>
                </c:pt>
                <c:pt idx="4">
                  <c:v>35</c:v>
                </c:pt>
                <c:pt idx="5">
                  <c:v>35</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F"/>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3. Our brief from the Volvo CE India visit on 8 September: raise machine-shop output by 20%, from 10 to 12 excavators per 8-hour shift, without hurting quality.
Structure: (1) Volvo CE worldwide, (2) the global product segments by application and tonnage, (3) Volvo CE India's Peenya operations and offering, (4) our Group 3 problem: diagnosis, six Operations Excellence levers, results and a 12-week roadmap.
Note: machine-shop cycle times and losses are assumed figures for analysis, as the brief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Volvo CE traces its roots to 1832, when Johan Theofron Munktell began making machines in Eskilstuna, Sweden, which makes it one of the oldest industrial companies still building construction equipment. Volvo bought Bolinder-Munktell in 1950, and the business became Volvo BM in 1973 and Volvo Construction Equipment in 1995. It is a business area of the Volvo Group (about 99,000 employees and SEK 479 bn sales in 2025).
2025: net sales SEK 81.6 bn (2024: SEK 88.3 bn), adjusted operating margin 13.3%. By region: Europe 27.8, Asia 23.4, North America 19.3, rest of world (South America, Africa and Oceania) about 11.2 SEK bn. About 13,000 employees of 85 nationalities (Jan 2026).
Brands: Volvo (premium) and Rokbak (articulated haulers, Motherwell, Scotland). Volvo CE sold its 70% stake in China's SDLG to Lingong Group for SEK 8 bn (closed 1 Sep 2025) and bought its largest European dealer, Swecon, for SEK 7 bn (Jan 2026). A new crawler excavator plant (up to 3,500 machines a year, 14–50 t) is planned at Eskilstuna.
Sources: Volvo CE Q4 2025 report; volvoce.com company information; Volvo Group press releases (Jun/Sep 2025, Nov 2025, Jan 2026). SEK to INR conversion is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Volvo CE segments its machines by application and size. Excavators: compact (about 1.5–9 t) for utilities and urban work; wheeled (6–24 t) for roadworks and material handling; crawler (14–95 t, EC140 to EC950) for infrastructure, quarrying and mining.
Loaders: compact wheel loaders (L20–L50) for landscaping, agriculture and rental; wheel loaders L60 to L350 (11–56 t) for aggregates, recycling, ports and forestry.
Haulers: Volvo articulated haulers A25 to A60 carry 24–55 t; Rokbak RA30/RA40 serve the value segment. Road machinery: soil and asphalt compactors and ABG pavers for road building.
Electromobility: Volvo offers electric compact excavators and loaders plus the EC230 Electric and L120 Electric. Figures are approximate operating weights from Volvo CE regional spec pages (e.g., EC950 about 91–95 t, L350H about 50–56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Volvo CE India Pvt. Ltd. has its India headquarters and plant in the Peenya Industrial Area, Bengaluru. The site dates to 1978 and Volvo CE has operated in India since 1997.
In 2011 Volvo CE invested SEK 144 million (about ₹90 crore) to upgrade the plant and opened a new excavator assembly line; the first EC210B Prime and EC290B rolled off it. The plant specialises in crawler excavators, soil compactors and asphalt pavers. The EC210 is about 70% localised and Peenya also exports to selected emerging markets.
Process flow we saw: receiving → fabrication (welding of booms, arms, upper and lower frames) → machine shop (boring of pin bores, milling the swing-bearing face, drilling and tapping) → paint shop → assembly line paced by the digital takt board → function test, final inspection and dispatch. Group 3's focus is step 3, the machine shop.
Network: 19 dealers, 800+ dealer staff, 180+ touchpoints. MD Dimitrov Krishnan cited about 6.5% share of the Indian CE market (2024). Milestones: EXCON 2025 in Bengaluru (EC215, SD110, L120 Electric); bauma CONEXPO INDIA, Sep 2026 (EC650); localised medium wheel loaders are planned for 2027 from the Bengaluru Technology Centre.
Sources: volvoce.com Bangalore location page; Volvo CE press release 2011; Autocar Professional, The Machine Maker, ANI (2024–2026).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Volvo CE India covers four application clusters: (1) construction and infrastructure with 20–22 t excavators (EC210, the India-built EC215 'Made in Bharat' and EC220), where the 20 t class is about 70% of India's 30,000–35,000 excavators a year; (2) quarrying and heavy earthmoving with 30–48 t excavators; (3) mining with the 65 t EC650 launched at bauma CONEXPO INDIA in September 2026 and the 75 t EC750; (4) road building with SD110 soil compactors, DD90C/DD100C double-drum and PT220 pneumatic compactors, and ABG pavers (P4370D wheeled, P5320D–P8820D tracked).
Wheel loaders: about 100 premium Volvo units a year for mining and industry; after the SDLG exit, localised medium wheel loaders are planned for 2027. Some machines use Volvo-Eicher CV5 engines.
Link to our problem: Volvo CE India held about 4% of the 20 t excavator segment in 2024 and aims to more than double it. Growth on that scale needs more output from Peenya, which is our brief.
Sources: volvoce.com/en-in product pages; Autocar Professional (Jun 2024, Dec 2025, Sep 2026); The Machine Maker; NBM&amp;CW.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10 excavators per 8-hour shift today (assumed, as allowed). The production manager must reach 12 a day, which is +20% or two more machines, without hurting quality. The brief's wording 'current production rate, which is 12' is read as 10 today and 12 as the target.
Available time: 480 min shift minus 30 lunch, 2 x 10 tea breaks and a 10-minute start-up meeting with 5S leaves 420 min. Takt time = available time / customer demand: 420/10 = 42 min today, 420/12 = 35 min target. Every machine-shop operation must therefore finish one excavator's parts in 35 minutes or less.
Options: overtime or a second shift adds cost, and fatigue is a quality risk. A new 5-axis machining centre is roughly ₹4–5 crore (indicative) with a 9–12 month lead time. Operations Excellence attacks waste with low capex in about 12 weeks and builds capability, so we choose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Assumed routing for one excavator's structural parts after welding: OP10 boom and OP20 arm on horizontal boring mills (pin bores); OP30 upper (revolving) frame on a 5-face machining centre (swing-bearing face, boom-foot bores, drilling and tapping); OP40 lower frame and track frames; OP50 links, pins and small parts on a VMC; OP60 deburr, wash and CMM check, then the paint shop.
Effective cycle time includes each station's losses. OP30 needs 42 min, which equals today's takt, so it is the bottleneck (Theory of Constraints, step 1: identify the constraint). At the 35-min target takt, OP10, OP20, OP30 and OP40 are all too slow; OP50 and OP60 have spare capacity.
Findings assumed for the analysis (replace with what your group actually observed if different): frames wait for the shared EOT crane and first-off quality sign-off; set-up uses a dial gauge; three model changeovers a day between EC210/215/220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OP30's 420 available minutes into Nakajima's six big losses. Only 300 minutes add value. Changeovers take 45 (3 x 15), breakdowns and minor stops 25, waiting for the crane, parts or QC 20, slow dial-gauge set-up 15, and rework 15.
OEE = Availability x Performance x Quality. A = (420 − 70)/420 = 83.3%. P = (28-min ideal cycle x 10.5 frames)/350 run minutes = 84.0%. Q = 10 good / 10.5 machined = 95.2%. OEE = 66.7%, against a world-class benchmark of about 85%. Check: 10 good x 28 / 420 = 66.7%.
Key insight: the 120 lost minutes equal four excavators' worth of OP30 machining at 30 min each. We only need about 60 of them back to make 2 more machines. The extra output comes from removing waste, not from operators working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frame the levers with the Volvo Production System (VPS): teamwork as the foundation; process stability, built-in quality and just-in-time as pillars; continuous improvement on top. We apply Theory of Constraints first: exploit OP30, subordinate the other stations to it, then roll the gains out.
Lever 1, SMED: split internal from external set-up. The next model's fixture and tools are preset offline while the current frame is cut. Zero-point quick clamps and a tool presetter cut each changeover from 15 to 5 min, so 45 → 15 min a day. Frames are sequenced by family. Gain: 30 min, about 1.0 excavator of capacity at a 29-min cycle.
Lever 2, TPM: autonomous maintenance by operators (a daily CLIT check: clean, lubricate, inspect, tighten), a planned-maintenance calendar, spindle vibration and coolant monitoring, and a spares kit to cut MTTR. Breakdowns 25 → 12 min/day: +0.4 unit.
Lever 3, JIT: a FIFO lane with a 2-frame buffer in front of OP30 (the TOC 'buffer'), Kanban pull of weldments from fabrication, model-wise tool kits and a dedicated jib crane. Waiting 20 → 6 min/day: +0.5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 4, standardised work and line balancing: a time study gives each operation a standard work chart. Using a Yamazumi view we move non-critical drilling and tapping from OP10 and OP40 to the VMC at OP50, which had spare time (OP50 rises 27 → 30 min but stays under takt). In-machine probing (e.g., Renishaw-type) replaces dial-gauge alignment, and CNC tool paths are optimised within validated feeds and speeds. Slow set-up 15 → 6 min and cycle 30 → 29 min: +0.7 unit.
Lever 5, built-in quality: poka-yoke locating pins make wrong clamping impossible; the probe checks critical pin bores before the frame is unloaded; SPC charts on bores with Cpk ≥ 1.33; jidoka, so the machine stops itself on a tool-wear or out-of-tolerance alarm. Rework 15 → 6 min: +0.3 unit, and fewer defects reach paint and assembly.
Lever 6, 5S, visual management and kaizen: 5S and shadow boards at every machine; hour-by-hour output, OEE and Andon on the digital board; daily tier-1/tier-2 meetings; PDCA kaizen; a skill matrix so operators can cover breaks. This sustains the other five levers.
Result in the chart: every operation is at or below the 35-min target takt.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bridge at OP30, in excavators per shift. Freed minutes are converted at the new 29-min cycle: SMED 30 min (+1.0), TPM 13 min (+0.4), JIT 14 min (+0.5), standard work 9 min of slow set-up plus 10 min from the faster cycle (+0.7), built-in quality 9 min less rework (+0.3). Total 10 → 12.9.
Check: losses fall from 120 to 45 min (15 changeover, 12 breakdown, 6 waiting, 6 slow set-up, 6 rework). Good output = (420 − 45)/29 = 12.9 excavators. After-state OEE: A = 393/420 = 93.6%, P = 28 x 13.14/393 = 93.6%, Q = 98.4% → 86% capability. Scheduled at 12 a day, OP30 is loaded to 80% OEE, which keeps about 7% protective capacity.
Robustness: at 70% realisation, 10 + 0.7 x 2.93 = 12.05 units. Upside not counted: a multi-skilled relief operator keeps OP30 running through the two tea breaks (+20 min, about +0.7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(PDCA): weeks 1–2 Plan: Gemba walks, time study, OEE baseline and a cross-functional kaizen team (production, maintenance, quality, industrial engineering, operators). Weeks 3–6 Do, quick wins: 5S, visual boards, SMED workshop at OP30, FIFO lane, kitting and jib crane, reaching about 11 a shift. Weeks 7–10 Do, structural: TPM steps 1–3, probing and zero-point clamps, CNC optimisation, poka-yoke, moving drilling to OP50, about 11.6. Weeks 11–12 Check and Act: verify FPY/Cpk, freeze standard work, layered audits, roll out to OP10/20/40, reaching 12.
Takeaways: (1) the extra output comes from removing waste: most of it from 75 of 120 lost minutes, the rest from a 1-min faster validated cycle. (2) Quality is protected by design: no inspection step is removed, feeds and speeds stay within validated limits, and FPY or Cpk below target triggers stop-and-fix. (3) The Volvo Production System culture of teamwork, standard work and daily improvement sustains it.
Thank you.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325880"/>
            <a:ext cx="6949440" cy="365760"/>
          </a:xfrm>
          <a:prstGeom prst="rect">
            <a:avLst/>
          </a:prstGeom>
          <a:noFill/>
          <a:ln/>
        </p:spPr>
        <p:txBody>
          <a:bodyPr wrap="square" rtlCol="0"/>
          <a:lstStyle>
            <a:lvl1pPr indent="0" marL="0">
              <a:buNone/>
              <a:defRPr lang="en-US" sz="1400" b="1" spc="3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40080" y="1783080"/>
            <a:ext cx="713232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640080" y="3611880"/>
            <a:ext cx="676656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5" name="Text 0"/>
          <p:cNvSpPr/>
          <p:nvPr>
            <p:ph idx="103" type="body" hasCustomPrompt="1"/>
          </p:nvPr>
        </p:nvSpPr>
        <p:spPr>
          <a:xfrm>
            <a:off x="640080" y="4892040"/>
            <a:ext cx="6766560" cy="1005840"/>
          </a:xfrm>
          <a:prstGeom prst="rect">
            <a:avLst/>
          </a:prstGeom>
          <a:noFill/>
          <a:ln/>
        </p:spPr>
        <p:txBody>
          <a:bodyPr wrap="square" rtlCol="0"/>
          <a:lstStyle>
            <a:lvl1pPr indent="0" marL="0">
              <a:buNone/>
              <a:defRPr lang="en-US" sz="1400" dirty="0">
                <a:solidFill>
                  <a:schemeClr val="accent6"/>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446520"/>
            <a:ext cx="8686800" cy="256032"/>
          </a:xfrm>
          <a:prstGeom prst="rect">
            <a:avLst/>
          </a:prstGeom>
          <a:noFill/>
          <a:ln/>
        </p:spPr>
        <p:txBody>
          <a:bodyPr wrap="square" lIns="0" tIns="0" rIns="0" bIns="0" rtlCol="0" anchor="ctr"/>
          <a:lstStyle/>
          <a:p>
            <a:pPr indent="0" marL="0">
              <a:buNone/>
            </a:pPr>
            <a:r>
              <a:rPr lang="en-US" sz="1000" dirty="0">
                <a:solidFill>
                  <a:schemeClr val="accent3"/>
                </a:solidFill>
              </a:rPr>
              <a:t>Group 3  |  Volvo CE India, Peenya, Bengaluru  |  Business Operations Excellence</a:t>
            </a:r>
            <a:endParaRPr lang="en-US" sz="10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46520"/>
            <a:ext cx="8686800" cy="256032"/>
          </a:xfrm>
          <a:prstGeom prst="rect">
            <a:avLst/>
          </a:prstGeom>
          <a:noFill/>
          <a:ln/>
        </p:spPr>
        <p:txBody>
          <a:bodyPr wrap="square" lIns="0" tIns="0" rIns="0" bIns="0" rtlCol="0" anchor="ctr"/>
          <a:lstStyle/>
          <a:p>
            <a:pPr indent="0" marL="0">
              <a:buNone/>
            </a:pPr>
            <a:r>
              <a:rPr lang="en-US" sz="1000" dirty="0">
                <a:solidFill>
                  <a:schemeClr val="accent6"/>
                </a:solidFill>
              </a:rPr>
              <a:t>Group 3  |  Volvo CE India, Peenya, Bengaluru  |  Business Operations Excellence</a:t>
            </a:r>
            <a:endParaRPr lang="en-US" sz="10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325880"/>
            <a:ext cx="6949440" cy="365760"/>
          </a:xfrm>
          <a:prstGeom prst="rect">
            <a:avLst/>
          </a:prstGeom>
          <a:noFill/>
          <a:ln/>
        </p:spPr>
        <p:txBody>
          <a:bodyPr wrap="square" lIns="0" tIns="0" rIns="0" bIns="0" rtlCol="0"/>
          <a:lstStyle/>
          <a:p>
            <a:pPr indent="0" marL="0">
              <a:buNone/>
            </a:pPr>
            <a:r>
              <a:rPr lang="en-US" sz="1400" b="1" spc="300" kern="0" dirty="0">
                <a:solidFill>
                  <a:schemeClr val="accent1"/>
                </a:solidFill>
              </a:rPr>
              <a:t>BUSINESS OPERATIONS EXCELLENCE  ·  GROUP 3</a:t>
            </a:r>
            <a:endParaRPr lang="en-US" sz="1400" dirty="0"/>
          </a:p>
        </p:txBody>
      </p:sp>
      <p:sp>
        <p:nvSpPr>
          <p:cNvPr id="3" name="Text 0"/>
          <p:cNvSpPr/>
          <p:nvPr>
            <p:ph idx="101" type="title" hasCustomPrompt="1"/>
          </p:nvPr>
        </p:nvSpPr>
        <p:spPr>
          <a:xfrm>
            <a:off x="640080" y="1783080"/>
            <a:ext cx="7132320" cy="1737360"/>
          </a:xfrm>
          <a:prstGeom prst="rect">
            <a:avLst/>
          </a:prstGeom>
          <a:noFill/>
          <a:ln/>
        </p:spPr>
        <p:txBody>
          <a:bodyPr wrap="square" lIns="0" tIns="0" rIns="0" bIns="0" rtlCol="0" anchor="t"/>
          <a:lstStyle/>
          <a:p>
            <a:pPr algn="l" indent="0" marL="0">
              <a:buNone/>
            </a:pPr>
            <a:r>
              <a:rPr lang="en-US" sz="4800" b="1" dirty="0">
                <a:solidFill>
                  <a:schemeClr val="bg1"/>
                </a:solidFill>
              </a:rPr>
              <a:t>From 10 to 12 Excavators a Day</a:t>
            </a:r>
            <a:endParaRPr lang="en-US" sz="4800" dirty="0"/>
          </a:p>
        </p:txBody>
      </p:sp>
      <p:sp>
        <p:nvSpPr>
          <p:cNvPr id="4" name="Text 0"/>
          <p:cNvSpPr/>
          <p:nvPr>
            <p:ph idx="102" type="body" hasCustomPrompt="1"/>
          </p:nvPr>
        </p:nvSpPr>
        <p:spPr>
          <a:xfrm>
            <a:off x="640080" y="3611880"/>
            <a:ext cx="6766560" cy="914400"/>
          </a:xfrm>
          <a:prstGeom prst="rect">
            <a:avLst/>
          </a:prstGeom>
          <a:noFill/>
          <a:ln/>
        </p:spPr>
        <p:txBody>
          <a:bodyPr wrap="square" lIns="0" tIns="0" rIns="0" bIns="0" rtlCol="0" anchor="t"/>
          <a:lstStyle/>
          <a:p>
            <a:pPr indent="0" marL="0">
              <a:buNone/>
            </a:pPr>
            <a:r>
              <a:rPr lang="en-US" sz="2000" dirty="0">
                <a:solidFill>
                  <a:schemeClr val="bg2"/>
                </a:solidFill>
              </a:rPr>
              <a:t>Applying Operations Excellence to the machine shop at Volvo CE India, Peenya, Bengaluru</a:t>
            </a:r>
            <a:endParaRPr lang="en-US" sz="2000" dirty="0"/>
          </a:p>
        </p:txBody>
      </p:sp>
      <p:sp>
        <p:nvSpPr>
          <p:cNvPr id="5" name="Text 0"/>
          <p:cNvSpPr/>
          <p:nvPr>
            <p:ph idx="103" type="body" hasCustomPrompt="1"/>
          </p:nvPr>
        </p:nvSpPr>
        <p:spPr>
          <a:xfrm>
            <a:off x="640080" y="4892040"/>
            <a:ext cx="6766560" cy="1005840"/>
          </a:xfrm>
          <a:prstGeom prst="rect">
            <a:avLst/>
          </a:prstGeom>
          <a:noFill/>
          <a:ln/>
        </p:spPr>
        <p:txBody>
          <a:bodyPr wrap="square" lIns="0" tIns="0" rIns="0" bIns="0" rtlCol="0" anchor="t"/>
          <a:lstStyle/>
          <a:p>
            <a:pPr indent="0" marL="0">
              <a:buNone/>
            </a:pPr>
            <a:r>
              <a:rPr lang="en-US" sz="1400" dirty="0">
                <a:solidFill>
                  <a:schemeClr val="accent6"/>
                </a:solidFill>
              </a:rPr>
              <a:t>Industrial visit: 8 September 2026</a:t>
            </a:r>
            <a:endParaRPr lang="en-US" sz="1400" dirty="0"/>
          </a:p>
          <a:p>
            <a:pPr indent="0" marL="0">
              <a:buNone/>
            </a:pPr>
            <a:r>
              <a:rPr lang="en-US" sz="1400" dirty="0">
                <a:solidFill>
                  <a:schemeClr val="accent6"/>
                </a:solidFill>
              </a:rPr>
              <a:t>Presentation: 3–4 November 2026  ·  BBA, Group 3</a:t>
            </a:r>
            <a:endParaRPr lang="en-US" sz="1400" dirty="0"/>
          </a:p>
        </p:txBody>
      </p:sp>
      <p:sp>
        <p:nvSpPr>
          <p:cNvPr id="6" name="halo ring"/>
          <p:cNvSpPr/>
          <p:nvPr/>
        </p:nvSpPr>
        <p:spPr>
          <a:xfrm>
            <a:off x="7818120" y="960120"/>
            <a:ext cx="4114800" cy="4114800"/>
          </a:xfrm>
          <a:prstGeom prst="ellipse">
            <a:avLst/>
          </a:prstGeom>
          <a:ln w="19050">
            <a:solidFill>
              <a:schemeClr val="accent1"/>
            </a:solidFill>
            <a:prstDash val="dash"/>
          </a:ln>
        </p:spPr>
      </p:sp>
      <p:sp>
        <p:nvSpPr>
          <p:cNvPr id="7" name="hero circle"/>
          <p:cNvSpPr/>
          <p:nvPr/>
        </p:nvSpPr>
        <p:spPr>
          <a:xfrm>
            <a:off x="8092440" y="1234440"/>
            <a:ext cx="3566160" cy="3566160"/>
          </a:xfrm>
          <a:prstGeom prst="ellipse">
            <a:avLst/>
          </a:prstGeom>
          <a:solidFill>
            <a:schemeClr val="accent1"/>
          </a:solidFill>
          <a:ln/>
        </p:spPr>
      </p:sp>
      <p:pic>
        <p:nvPicPr>
          <p:cNvPr id="8" name="excavator icon" descr="Excavator icon">    </p:cNvPr>
          <p:cNvPicPr>
            <a:picLocks noChangeAspect="1"/>
          </p:cNvPicPr>
          <p:nvPr/>
        </p:nvPicPr>
        <p:blipFill>
          <a:blip r:embed="rId1"/>
          <a:stretch>
            <a:fillRect/>
          </a:stretch>
        </p:blipFill>
        <p:spPr>
          <a:xfrm>
            <a:off x="8732520" y="1874520"/>
            <a:ext cx="2286000" cy="2286000"/>
          </a:xfrm>
          <a:prstGeom prst="rect">
            <a:avLst/>
          </a:prstGeom>
        </p:spPr>
      </p:pic>
      <p:pic>
        <p:nvPicPr>
          <p:cNvPr id="9" name="pin" descr="Location">    </p:cNvPr>
          <p:cNvPicPr>
            <a:picLocks noChangeAspect="1"/>
          </p:cNvPicPr>
          <p:nvPr/>
        </p:nvPicPr>
        <p:blipFill>
          <a:blip r:embed="rId2"/>
          <a:stretch>
            <a:fillRect/>
          </a:stretch>
        </p:blipFill>
        <p:spPr>
          <a:xfrm>
            <a:off x="8321040" y="5440680"/>
            <a:ext cx="292608" cy="292608"/>
          </a:xfrm>
          <a:prstGeom prst="rect">
            <a:avLst/>
          </a:prstGeom>
        </p:spPr>
      </p:pic>
      <p:sp>
        <p:nvSpPr>
          <p:cNvPr id="10" name="Text 6"/>
          <p:cNvSpPr txBox="1"/>
          <p:nvPr/>
        </p:nvSpPr>
        <p:spPr>
          <a:xfrm>
            <a:off x="8686800" y="5394960"/>
            <a:ext cx="3017520" cy="384048"/>
          </a:xfrm>
          <a:prstGeom prst="rect">
            <a:avLst/>
          </a:prstGeom>
          <a:noFill/>
          <a:ln/>
        </p:spPr>
        <p:txBody>
          <a:bodyPr wrap="square" lIns="0" tIns="0" rIns="0" bIns="0" rtlCol="0" anchor="ctr"/>
          <a:lstStyle/>
          <a:p>
            <a:pPr indent="0" marL="0">
              <a:buNone/>
            </a:pPr>
            <a:r>
              <a:rPr lang="en-US" sz="1400" dirty="0">
                <a:solidFill>
                  <a:schemeClr val="bg2"/>
                </a:solidFill>
              </a:rPr>
              <a:t>Peenya Industrial Area, Bengaluru</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1 · VOLVO CE WORLDWIDE</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tx2"/>
                </a:solidFill>
              </a:rPr>
              <a:t>Volvo CE worldwide at a glance</a:t>
            </a:r>
            <a:endParaRPr lang="en-US" sz="3600" dirty="0"/>
          </a:p>
        </p:txBody>
      </p:sp>
      <p:sp>
        <p:nvSpPr>
          <p:cNvPr id="4" name="stat tile"/>
          <p:cNvSpPr/>
          <p:nvPr/>
        </p:nvSpPr>
        <p:spPr>
          <a:xfrm>
            <a:off x="548640" y="1463040"/>
            <a:ext cx="2450592" cy="1133856"/>
          </a:xfrm>
          <a:prstGeom prst="roundRect">
            <a:avLst>
              <a:gd name="adj" fmla="val 6452"/>
            </a:avLst>
          </a:prstGeom>
          <a:solidFill>
            <a:schemeClr val="bg2"/>
          </a:solidFill>
          <a:ln/>
        </p:spPr>
      </p:sp>
      <p:sp>
        <p:nvSpPr>
          <p:cNvPr id="5" name="Text 3"/>
          <p:cNvSpPr txBox="1"/>
          <p:nvPr/>
        </p:nvSpPr>
        <p:spPr>
          <a:xfrm>
            <a:off x="713232" y="1591056"/>
            <a:ext cx="1920240" cy="502920"/>
          </a:xfrm>
          <a:prstGeom prst="rect">
            <a:avLst/>
          </a:prstGeom>
          <a:noFill/>
          <a:ln/>
        </p:spPr>
        <p:txBody>
          <a:bodyPr wrap="square" lIns="0" tIns="0" rIns="0" bIns="0" rtlCol="0" anchor="ctr"/>
          <a:lstStyle/>
          <a:p>
            <a:pPr indent="0" marL="0">
              <a:buNone/>
            </a:pPr>
            <a:r>
              <a:rPr lang="en-US" sz="2400" b="1" dirty="0">
                <a:solidFill>
                  <a:schemeClr val="tx2"/>
                </a:solidFill>
                <a:latin typeface="Arial" pitchFamily="34" charset="0"/>
                <a:ea typeface="Arial" pitchFamily="34" charset="-122"/>
                <a:cs typeface="Arial" pitchFamily="34" charset="-120"/>
              </a:rPr>
              <a:t>SEK 81.6 bn</a:t>
            </a:r>
            <a:endParaRPr lang="en-US" sz="2400" dirty="0"/>
          </a:p>
        </p:txBody>
      </p:sp>
      <p:sp>
        <p:nvSpPr>
          <p:cNvPr id="6" name="Text 4"/>
          <p:cNvSpPr txBox="1"/>
          <p:nvPr/>
        </p:nvSpPr>
        <p:spPr>
          <a:xfrm>
            <a:off x="713232" y="2121408"/>
            <a:ext cx="2194560" cy="365760"/>
          </a:xfrm>
          <a:prstGeom prst="rect">
            <a:avLst/>
          </a:prstGeom>
          <a:noFill/>
          <a:ln/>
        </p:spPr>
        <p:txBody>
          <a:bodyPr wrap="square" lIns="0" tIns="0" rIns="0" bIns="0" rtlCol="0" anchor="t"/>
          <a:lstStyle/>
          <a:p>
            <a:pPr indent="0" marL="0">
              <a:buNone/>
            </a:pPr>
            <a:r>
              <a:rPr lang="en-US" sz="1200" dirty="0">
                <a:solidFill>
                  <a:schemeClr val="accent3"/>
                </a:solidFill>
              </a:rPr>
              <a:t>Net sales 2025 (≈ ₹ 74,000 cr)</a:t>
            </a:r>
            <a:endParaRPr lang="en-US" sz="1200" dirty="0"/>
          </a:p>
        </p:txBody>
      </p:sp>
      <p:pic>
        <p:nvPicPr>
          <p:cNvPr id="7" name="tile icon" descr="Net sales 2025 (≈ ₹ 74,000 cr)">    </p:cNvPr>
          <p:cNvPicPr>
            <a:picLocks noChangeAspect="1"/>
          </p:cNvPicPr>
          <p:nvPr/>
        </p:nvPicPr>
        <p:blipFill>
          <a:blip r:embed="rId1"/>
          <a:stretch>
            <a:fillRect/>
          </a:stretch>
        </p:blipFill>
        <p:spPr>
          <a:xfrm>
            <a:off x="2651760" y="1591056"/>
            <a:ext cx="219456" cy="219456"/>
          </a:xfrm>
          <a:prstGeom prst="rect">
            <a:avLst/>
          </a:prstGeom>
        </p:spPr>
      </p:pic>
      <p:sp>
        <p:nvSpPr>
          <p:cNvPr id="8" name="stat tile"/>
          <p:cNvSpPr/>
          <p:nvPr/>
        </p:nvSpPr>
        <p:spPr>
          <a:xfrm>
            <a:off x="3227832" y="1463040"/>
            <a:ext cx="2450592" cy="1133856"/>
          </a:xfrm>
          <a:prstGeom prst="roundRect">
            <a:avLst>
              <a:gd name="adj" fmla="val 6452"/>
            </a:avLst>
          </a:prstGeom>
          <a:solidFill>
            <a:schemeClr val="bg2"/>
          </a:solidFill>
          <a:ln/>
        </p:spPr>
      </p:sp>
      <p:sp>
        <p:nvSpPr>
          <p:cNvPr id="9" name="Text 6"/>
          <p:cNvSpPr txBox="1"/>
          <p:nvPr/>
        </p:nvSpPr>
        <p:spPr>
          <a:xfrm>
            <a:off x="3392424" y="1591056"/>
            <a:ext cx="1920240" cy="502920"/>
          </a:xfrm>
          <a:prstGeom prst="rect">
            <a:avLst/>
          </a:prstGeom>
          <a:noFill/>
          <a:ln/>
        </p:spPr>
        <p:txBody>
          <a:bodyPr wrap="square" lIns="0" tIns="0" rIns="0" bIns="0" rtlCol="0" anchor="ctr"/>
          <a:lstStyle/>
          <a:p>
            <a:pPr indent="0" marL="0">
              <a:buNone/>
            </a:pPr>
            <a:r>
              <a:rPr lang="en-US" sz="2400" b="1" dirty="0">
                <a:solidFill>
                  <a:schemeClr val="tx2"/>
                </a:solidFill>
                <a:latin typeface="Arial" pitchFamily="34" charset="0"/>
                <a:ea typeface="Arial" pitchFamily="34" charset="-122"/>
                <a:cs typeface="Arial" pitchFamily="34" charset="-120"/>
              </a:rPr>
              <a:t>13.3%</a:t>
            </a:r>
            <a:endParaRPr lang="en-US" sz="2400" dirty="0"/>
          </a:p>
        </p:txBody>
      </p:sp>
      <p:sp>
        <p:nvSpPr>
          <p:cNvPr id="10" name="Text 7"/>
          <p:cNvSpPr txBox="1"/>
          <p:nvPr/>
        </p:nvSpPr>
        <p:spPr>
          <a:xfrm>
            <a:off x="3392424" y="2121408"/>
            <a:ext cx="2194560" cy="365760"/>
          </a:xfrm>
          <a:prstGeom prst="rect">
            <a:avLst/>
          </a:prstGeom>
          <a:noFill/>
          <a:ln/>
        </p:spPr>
        <p:txBody>
          <a:bodyPr wrap="square" lIns="0" tIns="0" rIns="0" bIns="0" rtlCol="0" anchor="t"/>
          <a:lstStyle/>
          <a:p>
            <a:pPr indent="0" marL="0">
              <a:buNone/>
            </a:pPr>
            <a:r>
              <a:rPr lang="en-US" sz="1200" dirty="0">
                <a:solidFill>
                  <a:schemeClr val="accent3"/>
                </a:solidFill>
              </a:rPr>
              <a:t>Adjusted operating margin 2025</a:t>
            </a:r>
            <a:endParaRPr lang="en-US" sz="1200" dirty="0"/>
          </a:p>
        </p:txBody>
      </p:sp>
      <p:pic>
        <p:nvPicPr>
          <p:cNvPr id="11" name="tile icon" descr="Adjusted operating margin 2025">    </p:cNvPr>
          <p:cNvPicPr>
            <a:picLocks noChangeAspect="1"/>
          </p:cNvPicPr>
          <p:nvPr/>
        </p:nvPicPr>
        <p:blipFill>
          <a:blip r:embed="rId2"/>
          <a:stretch>
            <a:fillRect/>
          </a:stretch>
        </p:blipFill>
        <p:spPr>
          <a:xfrm>
            <a:off x="5330952" y="1591056"/>
            <a:ext cx="219456" cy="219456"/>
          </a:xfrm>
          <a:prstGeom prst="rect">
            <a:avLst/>
          </a:prstGeom>
        </p:spPr>
      </p:pic>
      <p:sp>
        <p:nvSpPr>
          <p:cNvPr id="12" name="stat tile"/>
          <p:cNvSpPr/>
          <p:nvPr/>
        </p:nvSpPr>
        <p:spPr>
          <a:xfrm>
            <a:off x="548640" y="2761488"/>
            <a:ext cx="2450592" cy="1133856"/>
          </a:xfrm>
          <a:prstGeom prst="roundRect">
            <a:avLst>
              <a:gd name="adj" fmla="val 6452"/>
            </a:avLst>
          </a:prstGeom>
          <a:solidFill>
            <a:schemeClr val="bg2"/>
          </a:solidFill>
          <a:ln/>
        </p:spPr>
      </p:sp>
      <p:sp>
        <p:nvSpPr>
          <p:cNvPr id="13" name="Text 9"/>
          <p:cNvSpPr txBox="1"/>
          <p:nvPr/>
        </p:nvSpPr>
        <p:spPr>
          <a:xfrm>
            <a:off x="713232" y="2889504"/>
            <a:ext cx="1920240" cy="502920"/>
          </a:xfrm>
          <a:prstGeom prst="rect">
            <a:avLst/>
          </a:prstGeom>
          <a:noFill/>
          <a:ln/>
        </p:spPr>
        <p:txBody>
          <a:bodyPr wrap="square" lIns="0" tIns="0" rIns="0" bIns="0" rtlCol="0" anchor="ctr"/>
          <a:lstStyle/>
          <a:p>
            <a:pPr indent="0" marL="0">
              <a:buNone/>
            </a:pPr>
            <a:r>
              <a:rPr lang="en-US" sz="2400" b="1" dirty="0">
                <a:solidFill>
                  <a:schemeClr val="tx2"/>
                </a:solidFill>
                <a:latin typeface="Arial" pitchFamily="34" charset="0"/>
                <a:ea typeface="Arial" pitchFamily="34" charset="-122"/>
                <a:cs typeface="Arial" pitchFamily="34" charset="-120"/>
              </a:rPr>
              <a:t>~13,000</a:t>
            </a:r>
            <a:endParaRPr lang="en-US" sz="2400" dirty="0"/>
          </a:p>
        </p:txBody>
      </p:sp>
      <p:sp>
        <p:nvSpPr>
          <p:cNvPr id="14" name="Text 10"/>
          <p:cNvSpPr txBox="1"/>
          <p:nvPr/>
        </p:nvSpPr>
        <p:spPr>
          <a:xfrm>
            <a:off x="713232" y="3419856"/>
            <a:ext cx="2194560" cy="365760"/>
          </a:xfrm>
          <a:prstGeom prst="rect">
            <a:avLst/>
          </a:prstGeom>
          <a:noFill/>
          <a:ln/>
        </p:spPr>
        <p:txBody>
          <a:bodyPr wrap="square" lIns="0" tIns="0" rIns="0" bIns="0" rtlCol="0" anchor="t"/>
          <a:lstStyle/>
          <a:p>
            <a:pPr indent="0" marL="0">
              <a:buNone/>
            </a:pPr>
            <a:r>
              <a:rPr lang="en-US" sz="1200" dirty="0">
                <a:solidFill>
                  <a:schemeClr val="accent3"/>
                </a:solidFill>
              </a:rPr>
              <a:t>Employees, 85 nationalities</a:t>
            </a:r>
            <a:endParaRPr lang="en-US" sz="1200" dirty="0"/>
          </a:p>
        </p:txBody>
      </p:sp>
      <p:pic>
        <p:nvPicPr>
          <p:cNvPr id="15" name="tile icon" descr="Employees, 85 nationalities">    </p:cNvPr>
          <p:cNvPicPr>
            <a:picLocks noChangeAspect="1"/>
          </p:cNvPicPr>
          <p:nvPr/>
        </p:nvPicPr>
        <p:blipFill>
          <a:blip r:embed="rId3"/>
          <a:stretch>
            <a:fillRect/>
          </a:stretch>
        </p:blipFill>
        <p:spPr>
          <a:xfrm>
            <a:off x="2651760" y="2889504"/>
            <a:ext cx="219456" cy="219456"/>
          </a:xfrm>
          <a:prstGeom prst="rect">
            <a:avLst/>
          </a:prstGeom>
        </p:spPr>
      </p:pic>
      <p:sp>
        <p:nvSpPr>
          <p:cNvPr id="16" name="stat tile"/>
          <p:cNvSpPr/>
          <p:nvPr/>
        </p:nvSpPr>
        <p:spPr>
          <a:xfrm>
            <a:off x="3227832" y="2761488"/>
            <a:ext cx="2450592" cy="1133856"/>
          </a:xfrm>
          <a:prstGeom prst="roundRect">
            <a:avLst>
              <a:gd name="adj" fmla="val 6452"/>
            </a:avLst>
          </a:prstGeom>
          <a:solidFill>
            <a:schemeClr val="bg2"/>
          </a:solidFill>
          <a:ln/>
        </p:spPr>
      </p:sp>
      <p:sp>
        <p:nvSpPr>
          <p:cNvPr id="17" name="Text 12"/>
          <p:cNvSpPr txBox="1"/>
          <p:nvPr/>
        </p:nvSpPr>
        <p:spPr>
          <a:xfrm>
            <a:off x="3392424" y="2889504"/>
            <a:ext cx="1920240" cy="502920"/>
          </a:xfrm>
          <a:prstGeom prst="rect">
            <a:avLst/>
          </a:prstGeom>
          <a:noFill/>
          <a:ln/>
        </p:spPr>
        <p:txBody>
          <a:bodyPr wrap="square" lIns="0" tIns="0" rIns="0" bIns="0" rtlCol="0" anchor="ctr"/>
          <a:lstStyle/>
          <a:p>
            <a:pPr indent="0" marL="0">
              <a:buNone/>
            </a:pPr>
            <a:r>
              <a:rPr lang="en-US" sz="2400" b="1" dirty="0">
                <a:solidFill>
                  <a:schemeClr val="tx2"/>
                </a:solidFill>
                <a:latin typeface="Arial" pitchFamily="34" charset="0"/>
                <a:ea typeface="Arial" pitchFamily="34" charset="-122"/>
                <a:cs typeface="Arial" pitchFamily="34" charset="-120"/>
              </a:rPr>
              <a:t>180</a:t>
            </a:r>
            <a:endParaRPr lang="en-US" sz="2400" dirty="0"/>
          </a:p>
        </p:txBody>
      </p:sp>
      <p:sp>
        <p:nvSpPr>
          <p:cNvPr id="18" name="Text 13"/>
          <p:cNvSpPr txBox="1"/>
          <p:nvPr/>
        </p:nvSpPr>
        <p:spPr>
          <a:xfrm>
            <a:off x="3392424" y="3419856"/>
            <a:ext cx="2194560" cy="365760"/>
          </a:xfrm>
          <a:prstGeom prst="rect">
            <a:avLst/>
          </a:prstGeom>
          <a:noFill/>
          <a:ln/>
        </p:spPr>
        <p:txBody>
          <a:bodyPr wrap="square" lIns="0" tIns="0" rIns="0" bIns="0" rtlCol="0" anchor="t"/>
          <a:lstStyle/>
          <a:p>
            <a:pPr indent="0" marL="0">
              <a:buNone/>
            </a:pPr>
            <a:r>
              <a:rPr lang="en-US" sz="1200" dirty="0">
                <a:solidFill>
                  <a:schemeClr val="accent3"/>
                </a:solidFill>
              </a:rPr>
              <a:t>Markets served via dealers</a:t>
            </a:r>
            <a:endParaRPr lang="en-US" sz="1200" dirty="0"/>
          </a:p>
        </p:txBody>
      </p:sp>
      <p:pic>
        <p:nvPicPr>
          <p:cNvPr id="19" name="tile icon" descr="Markets served via dealers">    </p:cNvPr>
          <p:cNvPicPr>
            <a:picLocks noChangeAspect="1"/>
          </p:cNvPicPr>
          <p:nvPr/>
        </p:nvPicPr>
        <p:blipFill>
          <a:blip r:embed="rId4"/>
          <a:stretch>
            <a:fillRect/>
          </a:stretch>
        </p:blipFill>
        <p:spPr>
          <a:xfrm>
            <a:off x="5330952" y="2889504"/>
            <a:ext cx="219456" cy="219456"/>
          </a:xfrm>
          <a:prstGeom prst="rect">
            <a:avLst/>
          </a:prstGeom>
        </p:spPr>
      </p:pic>
      <p:sp>
        <p:nvSpPr>
          <p:cNvPr id="20" name="Text 14"/>
          <p:cNvSpPr txBox="1"/>
          <p:nvPr/>
        </p:nvSpPr>
        <p:spPr>
          <a:xfrm>
            <a:off x="548640" y="4114800"/>
            <a:ext cx="914400" cy="365760"/>
          </a:xfrm>
          <a:prstGeom prst="rect">
            <a:avLst/>
          </a:prstGeom>
          <a:noFill/>
          <a:ln/>
        </p:spPr>
        <p:txBody>
          <a:bodyPr wrap="square" lIns="0" tIns="0" rIns="0" bIns="0" rtlCol="0" anchor="ctr"/>
          <a:lstStyle/>
          <a:p>
            <a:pPr indent="0" marL="0">
              <a:buNone/>
            </a:pPr>
            <a:r>
              <a:rPr lang="en-US" sz="1400" b="1" dirty="0">
                <a:solidFill>
                  <a:schemeClr val="tx2"/>
                </a:solidFill>
              </a:rPr>
              <a:t>Brands</a:t>
            </a:r>
            <a:endParaRPr lang="en-US" sz="1400" dirty="0"/>
          </a:p>
        </p:txBody>
      </p:sp>
      <p:sp>
        <p:nvSpPr>
          <p:cNvPr id="21" name="chip"/>
          <p:cNvSpPr/>
          <p:nvPr/>
        </p:nvSpPr>
        <p:spPr>
          <a:xfrm>
            <a:off x="1371600" y="4151376"/>
            <a:ext cx="2103120" cy="292608"/>
          </a:xfrm>
          <a:prstGeom prst="roundRect">
            <a:avLst>
              <a:gd name="adj" fmla="val 50000"/>
            </a:avLst>
          </a:prstGeom>
          <a:solidFill>
            <a:schemeClr val="tx2"/>
          </a:solidFill>
          <a:ln/>
        </p:spPr>
      </p:sp>
      <p:sp>
        <p:nvSpPr>
          <p:cNvPr id="22" name="chip text"/>
          <p:cNvSpPr txBox="1"/>
          <p:nvPr/>
        </p:nvSpPr>
        <p:spPr>
          <a:xfrm>
            <a:off x="1371600" y="4151376"/>
            <a:ext cx="2103120" cy="292608"/>
          </a:xfrm>
          <a:prstGeom prst="rect">
            <a:avLst/>
          </a:prstGeom>
          <a:noFill/>
          <a:ln/>
        </p:spPr>
        <p:txBody>
          <a:bodyPr wrap="square" lIns="0" tIns="0" rIns="0" bIns="0" rtlCol="0" anchor="ctr"/>
          <a:lstStyle/>
          <a:p>
            <a:pPr algn="ctr" indent="0" marL="0">
              <a:buNone/>
            </a:pPr>
            <a:r>
              <a:rPr lang="en-US" sz="1100" b="1" spc="100" kern="0" dirty="0">
                <a:solidFill>
                  <a:schemeClr val="bg1"/>
                </a:solidFill>
              </a:rPr>
              <a:t>VOLVO · premium machines</a:t>
            </a:r>
            <a:endParaRPr lang="en-US" sz="1100" dirty="0"/>
          </a:p>
        </p:txBody>
      </p:sp>
      <p:sp>
        <p:nvSpPr>
          <p:cNvPr id="23" name="chip"/>
          <p:cNvSpPr/>
          <p:nvPr/>
        </p:nvSpPr>
        <p:spPr>
          <a:xfrm>
            <a:off x="3611880" y="4151376"/>
            <a:ext cx="2103120" cy="292608"/>
          </a:xfrm>
          <a:prstGeom prst="roundRect">
            <a:avLst>
              <a:gd name="adj" fmla="val 50000"/>
            </a:avLst>
          </a:prstGeom>
          <a:solidFill>
            <a:schemeClr val="accent1"/>
          </a:solidFill>
          <a:ln/>
        </p:spPr>
      </p:sp>
      <p:sp>
        <p:nvSpPr>
          <p:cNvPr id="24" name="chip text"/>
          <p:cNvSpPr txBox="1"/>
          <p:nvPr/>
        </p:nvSpPr>
        <p:spPr>
          <a:xfrm>
            <a:off x="3611880" y="4151376"/>
            <a:ext cx="2103120" cy="292608"/>
          </a:xfrm>
          <a:prstGeom prst="rect">
            <a:avLst/>
          </a:prstGeom>
          <a:noFill/>
          <a:ln/>
        </p:spPr>
        <p:txBody>
          <a:bodyPr wrap="square" lIns="0" tIns="0" rIns="0" bIns="0" rtlCol="0" anchor="ctr"/>
          <a:lstStyle/>
          <a:p>
            <a:pPr algn="ctr" indent="0" marL="0">
              <a:buNone/>
            </a:pPr>
            <a:r>
              <a:rPr lang="en-US" sz="1100" b="1" spc="100" kern="0" dirty="0">
                <a:solidFill>
                  <a:schemeClr val="tx2"/>
                </a:solidFill>
              </a:rPr>
              <a:t>ROKBAK · haulers, Scotland</a:t>
            </a:r>
            <a:endParaRPr lang="en-US" sz="1100" dirty="0"/>
          </a:p>
        </p:txBody>
      </p:sp>
      <p:sp>
        <p:nvSpPr>
          <p:cNvPr id="25" name="Text 19"/>
          <p:cNvSpPr txBox="1"/>
          <p:nvPr/>
        </p:nvSpPr>
        <p:spPr>
          <a:xfrm>
            <a:off x="548640" y="4498848"/>
            <a:ext cx="5120640" cy="274320"/>
          </a:xfrm>
          <a:prstGeom prst="rect">
            <a:avLst/>
          </a:prstGeom>
          <a:noFill/>
          <a:ln/>
        </p:spPr>
        <p:txBody>
          <a:bodyPr wrap="square" lIns="0" tIns="0" rIns="0" bIns="0" rtlCol="0" anchor="ctr"/>
          <a:lstStyle/>
          <a:p>
            <a:pPr indent="0" marL="0">
              <a:buNone/>
            </a:pPr>
            <a:r>
              <a:rPr lang="en-US" sz="1100" i="1" dirty="0">
                <a:solidFill>
                  <a:schemeClr val="accent3"/>
                </a:solidFill>
              </a:rPr>
              <a:t>SDLG stake (70%) sold in Sep 2025; dealer Swecon bought in Jan 2026</a:t>
            </a:r>
            <a:endParaRPr lang="en-US" sz="1100" dirty="0"/>
          </a:p>
        </p:txBody>
      </p:sp>
      <p:graphicFrame>
        <p:nvGraphicFramePr>
          <p:cNvPr id="26" name="Chart 0" descr=""/>
          <p:cNvGraphicFramePr/>
          <p:nvPr/>
        </p:nvGraphicFramePr>
        <p:xfrm>
          <a:off x="5989320" y="1371600"/>
          <a:ext cx="5669280" cy="2697480"/>
        </p:xfrm>
        <a:graphic xmlns:a="http://schemas.openxmlformats.org/drawingml/2006/main">
          <a:graphicData uri="http://schemas.openxmlformats.org/drawingml/2006/chart">
            <c:chart xmlns:c="http://schemas.openxmlformats.org/drawingml/2006/chart" r:id="rId5"/>
          </a:graphicData>
        </a:graphic>
      </p:graphicFrame>
      <p:sp>
        <p:nvSpPr>
          <p:cNvPr id="27" name="globe circle"/>
          <p:cNvSpPr/>
          <p:nvPr/>
        </p:nvSpPr>
        <p:spPr>
          <a:xfrm>
            <a:off x="6035040" y="4114800"/>
            <a:ext cx="411480" cy="411480"/>
          </a:xfrm>
          <a:prstGeom prst="ellipse">
            <a:avLst/>
          </a:prstGeom>
          <a:solidFill>
            <a:schemeClr val="tx2"/>
          </a:solidFill>
          <a:ln/>
        </p:spPr>
      </p:sp>
      <p:pic>
        <p:nvPicPr>
          <p:cNvPr id="28" name="globe" descr="globe">    </p:cNvPr>
          <p:cNvPicPr>
            <a:picLocks noChangeAspect="1"/>
          </p:cNvPicPr>
          <p:nvPr/>
        </p:nvPicPr>
        <p:blipFill>
          <a:blip r:embed="rId6"/>
          <a:stretch>
            <a:fillRect/>
          </a:stretch>
        </p:blipFill>
        <p:spPr>
          <a:xfrm>
            <a:off x="6125566" y="4205326"/>
            <a:ext cx="230429" cy="230429"/>
          </a:xfrm>
          <a:prstGeom prst="rect">
            <a:avLst/>
          </a:prstGeom>
        </p:spPr>
      </p:pic>
      <p:sp>
        <p:nvSpPr>
          <p:cNvPr id="29" name="Text 21"/>
          <p:cNvSpPr txBox="1"/>
          <p:nvPr/>
        </p:nvSpPr>
        <p:spPr>
          <a:xfrm>
            <a:off x="6537960" y="4087368"/>
            <a:ext cx="5120640" cy="475488"/>
          </a:xfrm>
          <a:prstGeom prst="rect">
            <a:avLst/>
          </a:prstGeom>
          <a:noFill/>
          <a:ln/>
        </p:spPr>
        <p:txBody>
          <a:bodyPr wrap="square" lIns="0" tIns="0" rIns="0" bIns="0" rtlCol="0" anchor="ctr"/>
          <a:lstStyle/>
          <a:p>
            <a:pPr indent="0" marL="0">
              <a:buNone/>
            </a:pPr>
            <a:r>
              <a:rPr lang="en-US" sz="1300" dirty="0">
                <a:solidFill>
                  <a:schemeClr val="tx1"/>
                </a:solidFill>
              </a:rPr>
              <a:t>Plants in Sweden, Germany, France, Poland, UK, USA, Brazil, South Korea, China and India</a:t>
            </a:r>
            <a:endParaRPr lang="en-US" sz="1300" dirty="0"/>
          </a:p>
        </p:txBody>
      </p:sp>
      <p:sp>
        <p:nvSpPr>
          <p:cNvPr id="30" name="timeline"/>
          <p:cNvSpPr/>
          <p:nvPr/>
        </p:nvSpPr>
        <p:spPr>
          <a:xfrm>
            <a:off x="548640" y="5413248"/>
            <a:ext cx="11091672" cy="0"/>
          </a:xfrm>
          <a:prstGeom prst="line">
            <a:avLst/>
          </a:prstGeom>
          <a:noFill/>
          <a:ln w="19050">
            <a:solidFill>
              <a:schemeClr val="accent6"/>
            </a:solidFill>
            <a:prstDash val="solid"/>
          </a:ln>
        </p:spPr>
      </p:sp>
      <p:sp>
        <p:nvSpPr>
          <p:cNvPr id="31" name="timeline dot"/>
          <p:cNvSpPr/>
          <p:nvPr/>
        </p:nvSpPr>
        <p:spPr>
          <a:xfrm>
            <a:off x="1380744" y="5330952"/>
            <a:ext cx="164592" cy="164592"/>
          </a:xfrm>
          <a:prstGeom prst="ellipse">
            <a:avLst/>
          </a:prstGeom>
          <a:solidFill>
            <a:schemeClr val="tx2"/>
          </a:solidFill>
          <a:ln/>
        </p:spPr>
      </p:sp>
      <p:sp>
        <p:nvSpPr>
          <p:cNvPr id="32" name="Text 24"/>
          <p:cNvSpPr txBox="1"/>
          <p:nvPr/>
        </p:nvSpPr>
        <p:spPr>
          <a:xfrm>
            <a:off x="594360" y="4956048"/>
            <a:ext cx="1737360" cy="329184"/>
          </a:xfrm>
          <a:prstGeom prst="rect">
            <a:avLst/>
          </a:prstGeom>
          <a:noFill/>
          <a:ln/>
        </p:spPr>
        <p:txBody>
          <a:bodyPr wrap="square" lIns="0" tIns="0" rIns="0" bIns="0" rtlCol="0" anchor="ctr"/>
          <a:lstStyle/>
          <a:p>
            <a:pPr algn="ctr" indent="0" marL="0">
              <a:buNone/>
            </a:pPr>
            <a:r>
              <a:rPr lang="en-US" sz="1500" b="1" dirty="0">
                <a:solidFill>
                  <a:schemeClr val="tx2"/>
                </a:solidFill>
              </a:rPr>
              <a:t>1832</a:t>
            </a:r>
            <a:endParaRPr lang="en-US" sz="1500" dirty="0"/>
          </a:p>
        </p:txBody>
      </p:sp>
      <p:sp>
        <p:nvSpPr>
          <p:cNvPr id="33" name="Text 25"/>
          <p:cNvSpPr txBox="1"/>
          <p:nvPr/>
        </p:nvSpPr>
        <p:spPr>
          <a:xfrm>
            <a:off x="621792" y="5550408"/>
            <a:ext cx="1682496" cy="548640"/>
          </a:xfrm>
          <a:prstGeom prst="rect">
            <a:avLst/>
          </a:prstGeom>
          <a:noFill/>
          <a:ln/>
        </p:spPr>
        <p:txBody>
          <a:bodyPr wrap="square" lIns="0" tIns="0" rIns="0" bIns="0" rtlCol="0" anchor="t"/>
          <a:lstStyle/>
          <a:p>
            <a:pPr algn="ctr" indent="0" marL="0">
              <a:buNone/>
            </a:pPr>
            <a:r>
              <a:rPr lang="en-US" sz="1100" dirty="0">
                <a:solidFill>
                  <a:schemeClr val="tx1"/>
                </a:solidFill>
              </a:rPr>
              <a:t>Munktell starts the business in Eskilstuna, Sweden</a:t>
            </a:r>
            <a:endParaRPr lang="en-US" sz="1100" dirty="0"/>
          </a:p>
        </p:txBody>
      </p:sp>
      <p:sp>
        <p:nvSpPr>
          <p:cNvPr id="34" name="timeline dot"/>
          <p:cNvSpPr/>
          <p:nvPr/>
        </p:nvSpPr>
        <p:spPr>
          <a:xfrm>
            <a:off x="3233318" y="5330952"/>
            <a:ext cx="164592" cy="164592"/>
          </a:xfrm>
          <a:prstGeom prst="ellipse">
            <a:avLst/>
          </a:prstGeom>
          <a:solidFill>
            <a:schemeClr val="tx2"/>
          </a:solidFill>
          <a:ln/>
        </p:spPr>
      </p:sp>
      <p:sp>
        <p:nvSpPr>
          <p:cNvPr id="35" name="Text 27"/>
          <p:cNvSpPr txBox="1"/>
          <p:nvPr/>
        </p:nvSpPr>
        <p:spPr>
          <a:xfrm>
            <a:off x="2446934" y="4956048"/>
            <a:ext cx="1737360" cy="329184"/>
          </a:xfrm>
          <a:prstGeom prst="rect">
            <a:avLst/>
          </a:prstGeom>
          <a:noFill/>
          <a:ln/>
        </p:spPr>
        <p:txBody>
          <a:bodyPr wrap="square" lIns="0" tIns="0" rIns="0" bIns="0" rtlCol="0" anchor="ctr"/>
          <a:lstStyle/>
          <a:p>
            <a:pPr algn="ctr" indent="0" marL="0">
              <a:buNone/>
            </a:pPr>
            <a:r>
              <a:rPr lang="en-US" sz="1500" b="1" dirty="0">
                <a:solidFill>
                  <a:schemeClr val="tx2"/>
                </a:solidFill>
              </a:rPr>
              <a:t>1950</a:t>
            </a:r>
            <a:endParaRPr lang="en-US" sz="1500" dirty="0"/>
          </a:p>
        </p:txBody>
      </p:sp>
      <p:sp>
        <p:nvSpPr>
          <p:cNvPr id="36" name="Text 28"/>
          <p:cNvSpPr txBox="1"/>
          <p:nvPr/>
        </p:nvSpPr>
        <p:spPr>
          <a:xfrm>
            <a:off x="2474366" y="5550408"/>
            <a:ext cx="1682496" cy="548640"/>
          </a:xfrm>
          <a:prstGeom prst="rect">
            <a:avLst/>
          </a:prstGeom>
          <a:noFill/>
          <a:ln/>
        </p:spPr>
        <p:txBody>
          <a:bodyPr wrap="square" lIns="0" tIns="0" rIns="0" bIns="0" rtlCol="0" anchor="t"/>
          <a:lstStyle/>
          <a:p>
            <a:pPr algn="ctr" indent="0" marL="0">
              <a:buNone/>
            </a:pPr>
            <a:r>
              <a:rPr lang="en-US" sz="1100" dirty="0">
                <a:solidFill>
                  <a:schemeClr val="tx1"/>
                </a:solidFill>
              </a:rPr>
              <a:t>Volvo buys Bolinder-Munktell</a:t>
            </a:r>
            <a:endParaRPr lang="en-US" sz="1100" dirty="0"/>
          </a:p>
        </p:txBody>
      </p:sp>
      <p:sp>
        <p:nvSpPr>
          <p:cNvPr id="37" name="timeline dot"/>
          <p:cNvSpPr/>
          <p:nvPr/>
        </p:nvSpPr>
        <p:spPr>
          <a:xfrm>
            <a:off x="5085893" y="5330952"/>
            <a:ext cx="164592" cy="164592"/>
          </a:xfrm>
          <a:prstGeom prst="ellipse">
            <a:avLst/>
          </a:prstGeom>
          <a:solidFill>
            <a:schemeClr val="tx2"/>
          </a:solidFill>
          <a:ln/>
        </p:spPr>
      </p:sp>
      <p:sp>
        <p:nvSpPr>
          <p:cNvPr id="38" name="Text 30"/>
          <p:cNvSpPr txBox="1"/>
          <p:nvPr/>
        </p:nvSpPr>
        <p:spPr>
          <a:xfrm>
            <a:off x="4299509" y="4956048"/>
            <a:ext cx="1737360" cy="329184"/>
          </a:xfrm>
          <a:prstGeom prst="rect">
            <a:avLst/>
          </a:prstGeom>
          <a:noFill/>
          <a:ln/>
        </p:spPr>
        <p:txBody>
          <a:bodyPr wrap="square" lIns="0" tIns="0" rIns="0" bIns="0" rtlCol="0" anchor="ctr"/>
          <a:lstStyle/>
          <a:p>
            <a:pPr algn="ctr" indent="0" marL="0">
              <a:buNone/>
            </a:pPr>
            <a:r>
              <a:rPr lang="en-US" sz="1500" b="1" dirty="0">
                <a:solidFill>
                  <a:schemeClr val="tx2"/>
                </a:solidFill>
              </a:rPr>
              <a:t>1995</a:t>
            </a:r>
            <a:endParaRPr lang="en-US" sz="1500" dirty="0"/>
          </a:p>
        </p:txBody>
      </p:sp>
      <p:sp>
        <p:nvSpPr>
          <p:cNvPr id="39" name="Text 31"/>
          <p:cNvSpPr txBox="1"/>
          <p:nvPr/>
        </p:nvSpPr>
        <p:spPr>
          <a:xfrm>
            <a:off x="4326941" y="5550408"/>
            <a:ext cx="1682496" cy="548640"/>
          </a:xfrm>
          <a:prstGeom prst="rect">
            <a:avLst/>
          </a:prstGeom>
          <a:noFill/>
          <a:ln/>
        </p:spPr>
        <p:txBody>
          <a:bodyPr wrap="square" lIns="0" tIns="0" rIns="0" bIns="0" rtlCol="0" anchor="t"/>
          <a:lstStyle/>
          <a:p>
            <a:pPr algn="ctr" indent="0" marL="0">
              <a:buNone/>
            </a:pPr>
            <a:r>
              <a:rPr lang="en-US" sz="1100" dirty="0">
                <a:solidFill>
                  <a:schemeClr val="tx1"/>
                </a:solidFill>
              </a:rPr>
              <a:t>Renamed Volvo Construction Equipment</a:t>
            </a:r>
            <a:endParaRPr lang="en-US" sz="1100" dirty="0"/>
          </a:p>
        </p:txBody>
      </p:sp>
      <p:sp>
        <p:nvSpPr>
          <p:cNvPr id="40" name="timeline dot"/>
          <p:cNvSpPr/>
          <p:nvPr/>
        </p:nvSpPr>
        <p:spPr>
          <a:xfrm>
            <a:off x="6938467" y="5330952"/>
            <a:ext cx="164592" cy="164592"/>
          </a:xfrm>
          <a:prstGeom prst="ellipse">
            <a:avLst/>
          </a:prstGeom>
          <a:solidFill>
            <a:schemeClr val="accent1"/>
          </a:solidFill>
          <a:ln/>
        </p:spPr>
      </p:sp>
      <p:sp>
        <p:nvSpPr>
          <p:cNvPr id="41" name="Text 33"/>
          <p:cNvSpPr txBox="1"/>
          <p:nvPr/>
        </p:nvSpPr>
        <p:spPr>
          <a:xfrm>
            <a:off x="6152083" y="4956048"/>
            <a:ext cx="1737360" cy="329184"/>
          </a:xfrm>
          <a:prstGeom prst="rect">
            <a:avLst/>
          </a:prstGeom>
          <a:noFill/>
          <a:ln/>
        </p:spPr>
        <p:txBody>
          <a:bodyPr wrap="square" lIns="0" tIns="0" rIns="0" bIns="0" rtlCol="0" anchor="ctr"/>
          <a:lstStyle/>
          <a:p>
            <a:pPr algn="ctr" indent="0" marL="0">
              <a:buNone/>
            </a:pPr>
            <a:r>
              <a:rPr lang="en-US" sz="1500" b="1" dirty="0">
                <a:solidFill>
                  <a:schemeClr val="accent2"/>
                </a:solidFill>
              </a:rPr>
              <a:t>1997</a:t>
            </a:r>
            <a:endParaRPr lang="en-US" sz="1500" dirty="0"/>
          </a:p>
        </p:txBody>
      </p:sp>
      <p:sp>
        <p:nvSpPr>
          <p:cNvPr id="42" name="Text 34"/>
          <p:cNvSpPr txBox="1"/>
          <p:nvPr/>
        </p:nvSpPr>
        <p:spPr>
          <a:xfrm>
            <a:off x="6179515" y="5550408"/>
            <a:ext cx="1682496" cy="548640"/>
          </a:xfrm>
          <a:prstGeom prst="rect">
            <a:avLst/>
          </a:prstGeom>
          <a:noFill/>
          <a:ln/>
        </p:spPr>
        <p:txBody>
          <a:bodyPr wrap="square" lIns="0" tIns="0" rIns="0" bIns="0" rtlCol="0" anchor="t"/>
          <a:lstStyle/>
          <a:p>
            <a:pPr algn="ctr" indent="0" marL="0">
              <a:buNone/>
            </a:pPr>
            <a:r>
              <a:rPr lang="en-US" sz="1100" dirty="0">
                <a:solidFill>
                  <a:schemeClr val="tx1"/>
                </a:solidFill>
              </a:rPr>
              <a:t>Volvo CE India starts in Bengaluru</a:t>
            </a:r>
            <a:endParaRPr lang="en-US" sz="1100" dirty="0"/>
          </a:p>
        </p:txBody>
      </p:sp>
      <p:sp>
        <p:nvSpPr>
          <p:cNvPr id="43" name="timeline dot"/>
          <p:cNvSpPr/>
          <p:nvPr/>
        </p:nvSpPr>
        <p:spPr>
          <a:xfrm>
            <a:off x="8791042" y="5330952"/>
            <a:ext cx="164592" cy="164592"/>
          </a:xfrm>
          <a:prstGeom prst="ellipse">
            <a:avLst/>
          </a:prstGeom>
          <a:solidFill>
            <a:schemeClr val="tx2"/>
          </a:solidFill>
          <a:ln/>
        </p:spPr>
      </p:sp>
      <p:sp>
        <p:nvSpPr>
          <p:cNvPr id="44" name="Text 36"/>
          <p:cNvSpPr txBox="1"/>
          <p:nvPr/>
        </p:nvSpPr>
        <p:spPr>
          <a:xfrm>
            <a:off x="8004658" y="4956048"/>
            <a:ext cx="1737360" cy="329184"/>
          </a:xfrm>
          <a:prstGeom prst="rect">
            <a:avLst/>
          </a:prstGeom>
          <a:noFill/>
          <a:ln/>
        </p:spPr>
        <p:txBody>
          <a:bodyPr wrap="square" lIns="0" tIns="0" rIns="0" bIns="0" rtlCol="0" anchor="ctr"/>
          <a:lstStyle/>
          <a:p>
            <a:pPr algn="ctr" indent="0" marL="0">
              <a:buNone/>
            </a:pPr>
            <a:r>
              <a:rPr lang="en-US" sz="1500" b="1" dirty="0">
                <a:solidFill>
                  <a:schemeClr val="tx2"/>
                </a:solidFill>
              </a:rPr>
              <a:t>2025</a:t>
            </a:r>
            <a:endParaRPr lang="en-US" sz="1500" dirty="0"/>
          </a:p>
        </p:txBody>
      </p:sp>
      <p:sp>
        <p:nvSpPr>
          <p:cNvPr id="45" name="Text 37"/>
          <p:cNvSpPr txBox="1"/>
          <p:nvPr/>
        </p:nvSpPr>
        <p:spPr>
          <a:xfrm>
            <a:off x="8032090" y="5550408"/>
            <a:ext cx="1682496" cy="548640"/>
          </a:xfrm>
          <a:prstGeom prst="rect">
            <a:avLst/>
          </a:prstGeom>
          <a:noFill/>
          <a:ln/>
        </p:spPr>
        <p:txBody>
          <a:bodyPr wrap="square" lIns="0" tIns="0" rIns="0" bIns="0" rtlCol="0" anchor="t"/>
          <a:lstStyle/>
          <a:p>
            <a:pPr algn="ctr" indent="0" marL="0">
              <a:buNone/>
            </a:pPr>
            <a:r>
              <a:rPr lang="en-US" sz="1100" dirty="0">
                <a:solidFill>
                  <a:schemeClr val="tx1"/>
                </a:solidFill>
              </a:rPr>
              <a:t>Exits SDLG; new Eskilstuna excavator plant</a:t>
            </a:r>
            <a:endParaRPr lang="en-US" sz="1100" dirty="0"/>
          </a:p>
        </p:txBody>
      </p:sp>
      <p:sp>
        <p:nvSpPr>
          <p:cNvPr id="46" name="timeline dot"/>
          <p:cNvSpPr/>
          <p:nvPr/>
        </p:nvSpPr>
        <p:spPr>
          <a:xfrm>
            <a:off x="10643616" y="5330952"/>
            <a:ext cx="164592" cy="164592"/>
          </a:xfrm>
          <a:prstGeom prst="ellipse">
            <a:avLst/>
          </a:prstGeom>
          <a:solidFill>
            <a:schemeClr val="tx2"/>
          </a:solidFill>
          <a:ln/>
        </p:spPr>
      </p:sp>
      <p:sp>
        <p:nvSpPr>
          <p:cNvPr id="47" name="Text 39"/>
          <p:cNvSpPr txBox="1"/>
          <p:nvPr/>
        </p:nvSpPr>
        <p:spPr>
          <a:xfrm>
            <a:off x="9857232" y="4956048"/>
            <a:ext cx="1737360" cy="329184"/>
          </a:xfrm>
          <a:prstGeom prst="rect">
            <a:avLst/>
          </a:prstGeom>
          <a:noFill/>
          <a:ln/>
        </p:spPr>
        <p:txBody>
          <a:bodyPr wrap="square" lIns="0" tIns="0" rIns="0" bIns="0" rtlCol="0" anchor="ctr"/>
          <a:lstStyle/>
          <a:p>
            <a:pPr algn="ctr" indent="0" marL="0">
              <a:buNone/>
            </a:pPr>
            <a:r>
              <a:rPr lang="en-US" sz="1500" b="1" dirty="0">
                <a:solidFill>
                  <a:schemeClr val="tx2"/>
                </a:solidFill>
              </a:rPr>
              <a:t>2026</a:t>
            </a:r>
            <a:endParaRPr lang="en-US" sz="1500" dirty="0"/>
          </a:p>
        </p:txBody>
      </p:sp>
      <p:sp>
        <p:nvSpPr>
          <p:cNvPr id="48" name="Text 40"/>
          <p:cNvSpPr txBox="1"/>
          <p:nvPr/>
        </p:nvSpPr>
        <p:spPr>
          <a:xfrm>
            <a:off x="9884664" y="5550408"/>
            <a:ext cx="1682496" cy="548640"/>
          </a:xfrm>
          <a:prstGeom prst="rect">
            <a:avLst/>
          </a:prstGeom>
          <a:noFill/>
          <a:ln/>
        </p:spPr>
        <p:txBody>
          <a:bodyPr wrap="square" lIns="0" tIns="0" rIns="0" bIns="0" rtlCol="0" anchor="t"/>
          <a:lstStyle/>
          <a:p>
            <a:pPr algn="ctr" indent="0" marL="0">
              <a:buNone/>
            </a:pPr>
            <a:r>
              <a:rPr lang="en-US" sz="1100" dirty="0">
                <a:solidFill>
                  <a:schemeClr val="tx1"/>
                </a:solidFill>
              </a:rPr>
              <a:t>Buys Swecon; EC650 launched in India</a:t>
            </a:r>
            <a:endParaRPr lang="en-US" sz="11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2 · PRODUCT SEGMENTS BY APPLICATION AND TONNAGE</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tx2"/>
                </a:solidFill>
              </a:rPr>
              <a:t>Global portfolio: application &amp; tonnage</a:t>
            </a:r>
            <a:endParaRPr lang="en-US" sz="3600" dirty="0"/>
          </a:p>
        </p:txBody>
      </p:sp>
      <p:sp>
        <p:nvSpPr>
          <p:cNvPr id="4" name="Text 2"/>
          <p:cNvSpPr txBox="1"/>
          <p:nvPr/>
        </p:nvSpPr>
        <p:spPr>
          <a:xfrm>
            <a:off x="685800" y="1417320"/>
            <a:ext cx="2377440" cy="274320"/>
          </a:xfrm>
          <a:prstGeom prst="rect">
            <a:avLst/>
          </a:prstGeom>
          <a:noFill/>
          <a:ln/>
        </p:spPr>
        <p:txBody>
          <a:bodyPr wrap="square" lIns="0" tIns="0" rIns="0" bIns="0" rtlCol="0" anchor="ctr"/>
          <a:lstStyle/>
          <a:p>
            <a:pPr indent="0" marL="0">
              <a:buNone/>
            </a:pPr>
            <a:r>
              <a:rPr lang="en-US" sz="1200" b="1" dirty="0">
                <a:solidFill>
                  <a:schemeClr val="accent3"/>
                </a:solidFill>
              </a:rPr>
              <a:t>Product line</a:t>
            </a:r>
            <a:endParaRPr lang="en-US" sz="1200" dirty="0"/>
          </a:p>
        </p:txBody>
      </p:sp>
      <p:sp>
        <p:nvSpPr>
          <p:cNvPr id="5" name="Text 3"/>
          <p:cNvSpPr txBox="1"/>
          <p:nvPr/>
        </p:nvSpPr>
        <p:spPr>
          <a:xfrm>
            <a:off x="8869680" y="1417320"/>
            <a:ext cx="2743200" cy="274320"/>
          </a:xfrm>
          <a:prstGeom prst="rect">
            <a:avLst/>
          </a:prstGeom>
          <a:noFill/>
          <a:ln/>
        </p:spPr>
        <p:txBody>
          <a:bodyPr wrap="square" lIns="0" tIns="0" rIns="0" bIns="0" rtlCol="0" anchor="ctr"/>
          <a:lstStyle/>
          <a:p>
            <a:pPr indent="0" marL="0">
              <a:buNone/>
            </a:pPr>
            <a:r>
              <a:rPr lang="en-US" sz="1200" b="1" dirty="0">
                <a:solidFill>
                  <a:schemeClr val="accent3"/>
                </a:solidFill>
              </a:rPr>
              <a:t>Main applications</a:t>
            </a:r>
            <a:endParaRPr lang="en-US" sz="1200" dirty="0"/>
          </a:p>
        </p:txBody>
      </p:sp>
      <p:sp>
        <p:nvSpPr>
          <p:cNvPr id="6" name="Text 4"/>
          <p:cNvSpPr txBox="1"/>
          <p:nvPr/>
        </p:nvSpPr>
        <p:spPr>
          <a:xfrm>
            <a:off x="3200400" y="1417320"/>
            <a:ext cx="640080" cy="274320"/>
          </a:xfrm>
          <a:prstGeom prst="rect">
            <a:avLst/>
          </a:prstGeom>
          <a:noFill/>
          <a:ln/>
        </p:spPr>
        <p:txBody>
          <a:bodyPr wrap="square" lIns="0" tIns="0" rIns="0" bIns="0" rtlCol="0" anchor="ctr"/>
          <a:lstStyle/>
          <a:p>
            <a:pPr algn="ctr" indent="0" marL="0">
              <a:buNone/>
            </a:pPr>
            <a:r>
              <a:rPr lang="en-US" sz="1100" dirty="0">
                <a:solidFill>
                  <a:schemeClr val="accent3"/>
                </a:solidFill>
              </a:rPr>
              <a:t>0</a:t>
            </a:r>
            <a:endParaRPr lang="en-US" sz="1100" dirty="0"/>
          </a:p>
        </p:txBody>
      </p:sp>
      <p:sp>
        <p:nvSpPr>
          <p:cNvPr id="7" name="gridline"/>
          <p:cNvSpPr/>
          <p:nvPr/>
        </p:nvSpPr>
        <p:spPr>
          <a:xfrm>
            <a:off x="3520440" y="1737360"/>
            <a:ext cx="0" cy="4069080"/>
          </a:xfrm>
          <a:prstGeom prst="line">
            <a:avLst/>
          </a:prstGeom>
          <a:noFill/>
          <a:ln w="9525">
            <a:solidFill>
              <a:schemeClr val="accent6"/>
            </a:solidFill>
            <a:prstDash val="dash"/>
          </a:ln>
        </p:spPr>
      </p:sp>
      <p:sp>
        <p:nvSpPr>
          <p:cNvPr id="8" name="Text 6"/>
          <p:cNvSpPr txBox="1"/>
          <p:nvPr/>
        </p:nvSpPr>
        <p:spPr>
          <a:xfrm>
            <a:off x="4343400" y="1417320"/>
            <a:ext cx="640080" cy="274320"/>
          </a:xfrm>
          <a:prstGeom prst="rect">
            <a:avLst/>
          </a:prstGeom>
          <a:noFill/>
          <a:ln/>
        </p:spPr>
        <p:txBody>
          <a:bodyPr wrap="square" lIns="0" tIns="0" rIns="0" bIns="0" rtlCol="0" anchor="ctr"/>
          <a:lstStyle/>
          <a:p>
            <a:pPr algn="ctr" indent="0" marL="0">
              <a:buNone/>
            </a:pPr>
            <a:r>
              <a:rPr lang="en-US" sz="1100" dirty="0">
                <a:solidFill>
                  <a:schemeClr val="accent3"/>
                </a:solidFill>
              </a:rPr>
              <a:t>25</a:t>
            </a:r>
            <a:endParaRPr lang="en-US" sz="1100" dirty="0"/>
          </a:p>
        </p:txBody>
      </p:sp>
      <p:sp>
        <p:nvSpPr>
          <p:cNvPr id="9" name="gridline"/>
          <p:cNvSpPr/>
          <p:nvPr/>
        </p:nvSpPr>
        <p:spPr>
          <a:xfrm>
            <a:off x="4663440" y="1737360"/>
            <a:ext cx="0" cy="4069080"/>
          </a:xfrm>
          <a:prstGeom prst="line">
            <a:avLst/>
          </a:prstGeom>
          <a:noFill/>
          <a:ln w="9525">
            <a:solidFill>
              <a:schemeClr val="accent6"/>
            </a:solidFill>
            <a:prstDash val="dash"/>
          </a:ln>
        </p:spPr>
      </p:sp>
      <p:sp>
        <p:nvSpPr>
          <p:cNvPr id="10" name="Text 8"/>
          <p:cNvSpPr txBox="1"/>
          <p:nvPr/>
        </p:nvSpPr>
        <p:spPr>
          <a:xfrm>
            <a:off x="5486400" y="1417320"/>
            <a:ext cx="640080" cy="274320"/>
          </a:xfrm>
          <a:prstGeom prst="rect">
            <a:avLst/>
          </a:prstGeom>
          <a:noFill/>
          <a:ln/>
        </p:spPr>
        <p:txBody>
          <a:bodyPr wrap="square" lIns="0" tIns="0" rIns="0" bIns="0" rtlCol="0" anchor="ctr"/>
          <a:lstStyle/>
          <a:p>
            <a:pPr algn="ctr" indent="0" marL="0">
              <a:buNone/>
            </a:pPr>
            <a:r>
              <a:rPr lang="en-US" sz="1100" dirty="0">
                <a:solidFill>
                  <a:schemeClr val="accent3"/>
                </a:solidFill>
              </a:rPr>
              <a:t>50</a:t>
            </a:r>
            <a:endParaRPr lang="en-US" sz="1100" dirty="0"/>
          </a:p>
        </p:txBody>
      </p:sp>
      <p:sp>
        <p:nvSpPr>
          <p:cNvPr id="11" name="gridline"/>
          <p:cNvSpPr/>
          <p:nvPr/>
        </p:nvSpPr>
        <p:spPr>
          <a:xfrm>
            <a:off x="5806440" y="1737360"/>
            <a:ext cx="0" cy="4069080"/>
          </a:xfrm>
          <a:prstGeom prst="line">
            <a:avLst/>
          </a:prstGeom>
          <a:noFill/>
          <a:ln w="9525">
            <a:solidFill>
              <a:schemeClr val="accent6"/>
            </a:solidFill>
            <a:prstDash val="dash"/>
          </a:ln>
        </p:spPr>
      </p:sp>
      <p:sp>
        <p:nvSpPr>
          <p:cNvPr id="12" name="Text 10"/>
          <p:cNvSpPr txBox="1"/>
          <p:nvPr/>
        </p:nvSpPr>
        <p:spPr>
          <a:xfrm>
            <a:off x="6629400" y="1417320"/>
            <a:ext cx="640080" cy="274320"/>
          </a:xfrm>
          <a:prstGeom prst="rect">
            <a:avLst/>
          </a:prstGeom>
          <a:noFill/>
          <a:ln/>
        </p:spPr>
        <p:txBody>
          <a:bodyPr wrap="square" lIns="0" tIns="0" rIns="0" bIns="0" rtlCol="0" anchor="ctr"/>
          <a:lstStyle/>
          <a:p>
            <a:pPr algn="ctr" indent="0" marL="0">
              <a:buNone/>
            </a:pPr>
            <a:r>
              <a:rPr lang="en-US" sz="1100" dirty="0">
                <a:solidFill>
                  <a:schemeClr val="accent3"/>
                </a:solidFill>
              </a:rPr>
              <a:t>75</a:t>
            </a:r>
            <a:endParaRPr lang="en-US" sz="1100" dirty="0"/>
          </a:p>
        </p:txBody>
      </p:sp>
      <p:sp>
        <p:nvSpPr>
          <p:cNvPr id="13" name="gridline"/>
          <p:cNvSpPr/>
          <p:nvPr/>
        </p:nvSpPr>
        <p:spPr>
          <a:xfrm>
            <a:off x="6949440" y="1737360"/>
            <a:ext cx="0" cy="4069080"/>
          </a:xfrm>
          <a:prstGeom prst="line">
            <a:avLst/>
          </a:prstGeom>
          <a:noFill/>
          <a:ln w="9525">
            <a:solidFill>
              <a:schemeClr val="accent6"/>
            </a:solidFill>
            <a:prstDash val="dash"/>
          </a:ln>
        </p:spPr>
      </p:sp>
      <p:sp>
        <p:nvSpPr>
          <p:cNvPr id="14" name="Text 12"/>
          <p:cNvSpPr txBox="1"/>
          <p:nvPr/>
        </p:nvSpPr>
        <p:spPr>
          <a:xfrm>
            <a:off x="7772400" y="1417320"/>
            <a:ext cx="640080" cy="274320"/>
          </a:xfrm>
          <a:prstGeom prst="rect">
            <a:avLst/>
          </a:prstGeom>
          <a:noFill/>
          <a:ln/>
        </p:spPr>
        <p:txBody>
          <a:bodyPr wrap="square" lIns="0" tIns="0" rIns="0" bIns="0" rtlCol="0" anchor="ctr"/>
          <a:lstStyle/>
          <a:p>
            <a:pPr algn="ctr" indent="0" marL="0">
              <a:buNone/>
            </a:pPr>
            <a:r>
              <a:rPr lang="en-US" sz="1100" dirty="0">
                <a:solidFill>
                  <a:schemeClr val="accent3"/>
                </a:solidFill>
              </a:rPr>
              <a:t>100 t</a:t>
            </a:r>
            <a:endParaRPr lang="en-US" sz="1100" dirty="0"/>
          </a:p>
        </p:txBody>
      </p:sp>
      <p:sp>
        <p:nvSpPr>
          <p:cNvPr id="15" name="gridline"/>
          <p:cNvSpPr/>
          <p:nvPr/>
        </p:nvSpPr>
        <p:spPr>
          <a:xfrm>
            <a:off x="8092440" y="1737360"/>
            <a:ext cx="0" cy="4069080"/>
          </a:xfrm>
          <a:prstGeom prst="line">
            <a:avLst/>
          </a:prstGeom>
          <a:noFill/>
          <a:ln w="9525">
            <a:solidFill>
              <a:schemeClr val="accent6"/>
            </a:solidFill>
            <a:prstDash val="dash"/>
          </a:ln>
        </p:spPr>
      </p:sp>
      <p:sp>
        <p:nvSpPr>
          <p:cNvPr id="16" name="zebra row"/>
          <p:cNvSpPr/>
          <p:nvPr/>
        </p:nvSpPr>
        <p:spPr>
          <a:xfrm>
            <a:off x="548640" y="1783080"/>
            <a:ext cx="11091672" cy="530352"/>
          </a:xfrm>
          <a:prstGeom prst="roundRect">
            <a:avLst>
              <a:gd name="adj" fmla="val 8621"/>
            </a:avLst>
          </a:prstGeom>
          <a:solidFill>
            <a:schemeClr val="bg2"/>
          </a:solidFill>
          <a:ln/>
        </p:spPr>
      </p:sp>
      <p:sp>
        <p:nvSpPr>
          <p:cNvPr id="17" name="Text 15"/>
          <p:cNvSpPr txBox="1"/>
          <p:nvPr/>
        </p:nvSpPr>
        <p:spPr>
          <a:xfrm>
            <a:off x="685800" y="1819656"/>
            <a:ext cx="2423160" cy="256032"/>
          </a:xfrm>
          <a:prstGeom prst="rect">
            <a:avLst/>
          </a:prstGeom>
          <a:noFill/>
          <a:ln/>
        </p:spPr>
        <p:txBody>
          <a:bodyPr wrap="square" lIns="0" tIns="0" rIns="0" bIns="0" rtlCol="0" anchor="ctr"/>
          <a:lstStyle/>
          <a:p>
            <a:pPr indent="0" marL="0">
              <a:buNone/>
            </a:pPr>
            <a:r>
              <a:rPr lang="en-US" sz="1400" b="1" dirty="0">
                <a:solidFill>
                  <a:schemeClr val="tx2"/>
                </a:solidFill>
              </a:rPr>
              <a:t>Compact excavators</a:t>
            </a:r>
            <a:endParaRPr lang="en-US" sz="1400" dirty="0"/>
          </a:p>
        </p:txBody>
      </p:sp>
      <p:sp>
        <p:nvSpPr>
          <p:cNvPr id="18" name="Text 16"/>
          <p:cNvSpPr txBox="1"/>
          <p:nvPr/>
        </p:nvSpPr>
        <p:spPr>
          <a:xfrm>
            <a:off x="685800" y="2066544"/>
            <a:ext cx="2514600" cy="219456"/>
          </a:xfrm>
          <a:prstGeom prst="rect">
            <a:avLst/>
          </a:prstGeom>
          <a:noFill/>
          <a:ln/>
        </p:spPr>
        <p:txBody>
          <a:bodyPr wrap="square" lIns="0" tIns="0" rIns="0" bIns="0" rtlCol="0" anchor="ctr"/>
          <a:lstStyle/>
          <a:p>
            <a:pPr indent="0" marL="0">
              <a:buNone/>
            </a:pPr>
            <a:r>
              <a:rPr lang="en-US" sz="1100" dirty="0">
                <a:solidFill>
                  <a:schemeClr val="accent3"/>
                </a:solidFill>
              </a:rPr>
              <a:t>ECR18 → ECR88</a:t>
            </a:r>
            <a:endParaRPr lang="en-US" sz="1100" dirty="0"/>
          </a:p>
        </p:txBody>
      </p:sp>
      <p:pic>
        <p:nvPicPr>
          <p:cNvPr id="19" name="electric marker" descr="Electric models available">    </p:cNvPr>
          <p:cNvPicPr>
            <a:picLocks noChangeAspect="1"/>
          </p:cNvPicPr>
          <p:nvPr/>
        </p:nvPicPr>
        <p:blipFill>
          <a:blip r:embed="rId1"/>
          <a:stretch>
            <a:fillRect/>
          </a:stretch>
        </p:blipFill>
        <p:spPr>
          <a:xfrm>
            <a:off x="3154680" y="1911096"/>
            <a:ext cx="274320" cy="274320"/>
          </a:xfrm>
          <a:prstGeom prst="rect">
            <a:avLst/>
          </a:prstGeom>
        </p:spPr>
      </p:pic>
      <p:sp>
        <p:nvSpPr>
          <p:cNvPr id="20" name="range bar Compact excavators"/>
          <p:cNvSpPr/>
          <p:nvPr/>
        </p:nvSpPr>
        <p:spPr>
          <a:xfrm>
            <a:off x="3589020" y="1920240"/>
            <a:ext cx="342900" cy="256032"/>
          </a:xfrm>
          <a:prstGeom prst="roundRect">
            <a:avLst>
              <a:gd name="adj" fmla="val 50000"/>
            </a:avLst>
          </a:prstGeom>
          <a:solidFill>
            <a:schemeClr val="accent2"/>
          </a:solidFill>
          <a:ln/>
        </p:spPr>
      </p:sp>
      <p:sp>
        <p:nvSpPr>
          <p:cNvPr id="21" name="Text 18"/>
          <p:cNvSpPr txBox="1"/>
          <p:nvPr/>
        </p:nvSpPr>
        <p:spPr>
          <a:xfrm>
            <a:off x="4005072" y="1892808"/>
            <a:ext cx="1371600" cy="310896"/>
          </a:xfrm>
          <a:prstGeom prst="rect">
            <a:avLst/>
          </a:prstGeom>
          <a:noFill/>
          <a:ln/>
        </p:spPr>
        <p:txBody>
          <a:bodyPr wrap="square" lIns="0" tIns="0" rIns="0" bIns="0" rtlCol="0" anchor="ctr"/>
          <a:lstStyle/>
          <a:p>
            <a:pPr indent="0" marL="0">
              <a:buNone/>
            </a:pPr>
            <a:r>
              <a:rPr lang="en-US" sz="1200" b="1" dirty="0">
                <a:solidFill>
                  <a:schemeClr val="tx1"/>
                </a:solidFill>
              </a:rPr>
              <a:t>1.5–9 t</a:t>
            </a:r>
            <a:endParaRPr lang="en-US" sz="1200" dirty="0"/>
          </a:p>
        </p:txBody>
      </p:sp>
      <p:sp>
        <p:nvSpPr>
          <p:cNvPr id="22" name="Text 19"/>
          <p:cNvSpPr txBox="1"/>
          <p:nvPr/>
        </p:nvSpPr>
        <p:spPr>
          <a:xfrm>
            <a:off x="8869680" y="1801368"/>
            <a:ext cx="2743200" cy="493776"/>
          </a:xfrm>
          <a:prstGeom prst="rect">
            <a:avLst/>
          </a:prstGeom>
          <a:noFill/>
          <a:ln/>
        </p:spPr>
        <p:txBody>
          <a:bodyPr wrap="square" lIns="0" tIns="0" rIns="0" bIns="0" rtlCol="0" anchor="ctr"/>
          <a:lstStyle/>
          <a:p>
            <a:pPr indent="0" marL="0">
              <a:buNone/>
            </a:pPr>
            <a:r>
              <a:rPr lang="en-US" sz="1200" dirty="0">
                <a:solidFill>
                  <a:schemeClr val="tx1"/>
                </a:solidFill>
              </a:rPr>
              <a:t>Utilities, landscaping, urban sites, rental</a:t>
            </a:r>
            <a:endParaRPr lang="en-US" sz="1200" dirty="0"/>
          </a:p>
        </p:txBody>
      </p:sp>
      <p:sp>
        <p:nvSpPr>
          <p:cNvPr id="23" name="Text 20"/>
          <p:cNvSpPr txBox="1"/>
          <p:nvPr/>
        </p:nvSpPr>
        <p:spPr>
          <a:xfrm>
            <a:off x="685800" y="2395728"/>
            <a:ext cx="2423160" cy="256032"/>
          </a:xfrm>
          <a:prstGeom prst="rect">
            <a:avLst/>
          </a:prstGeom>
          <a:noFill/>
          <a:ln/>
        </p:spPr>
        <p:txBody>
          <a:bodyPr wrap="square" lIns="0" tIns="0" rIns="0" bIns="0" rtlCol="0" anchor="ctr"/>
          <a:lstStyle/>
          <a:p>
            <a:pPr indent="0" marL="0">
              <a:buNone/>
            </a:pPr>
            <a:r>
              <a:rPr lang="en-US" sz="1400" b="1" dirty="0">
                <a:solidFill>
                  <a:schemeClr val="tx2"/>
                </a:solidFill>
              </a:rPr>
              <a:t>Wheeled excavators</a:t>
            </a:r>
            <a:endParaRPr lang="en-US" sz="1400" dirty="0"/>
          </a:p>
        </p:txBody>
      </p:sp>
      <p:sp>
        <p:nvSpPr>
          <p:cNvPr id="24" name="Text 21"/>
          <p:cNvSpPr txBox="1"/>
          <p:nvPr/>
        </p:nvSpPr>
        <p:spPr>
          <a:xfrm>
            <a:off x="685800" y="2642616"/>
            <a:ext cx="2514600" cy="219456"/>
          </a:xfrm>
          <a:prstGeom prst="rect">
            <a:avLst/>
          </a:prstGeom>
          <a:noFill/>
          <a:ln/>
        </p:spPr>
        <p:txBody>
          <a:bodyPr wrap="square" lIns="0" tIns="0" rIns="0" bIns="0" rtlCol="0" anchor="ctr"/>
          <a:lstStyle/>
          <a:p>
            <a:pPr indent="0" marL="0">
              <a:buNone/>
            </a:pPr>
            <a:r>
              <a:rPr lang="en-US" sz="1100" dirty="0">
                <a:solidFill>
                  <a:schemeClr val="accent3"/>
                </a:solidFill>
              </a:rPr>
              <a:t>EW60 → EW240</a:t>
            </a:r>
            <a:endParaRPr lang="en-US" sz="1100" dirty="0"/>
          </a:p>
        </p:txBody>
      </p:sp>
      <p:sp>
        <p:nvSpPr>
          <p:cNvPr id="25" name="range bar Wheeled excavators"/>
          <p:cNvSpPr/>
          <p:nvPr/>
        </p:nvSpPr>
        <p:spPr>
          <a:xfrm>
            <a:off x="3794760" y="2496312"/>
            <a:ext cx="822960" cy="256032"/>
          </a:xfrm>
          <a:prstGeom prst="roundRect">
            <a:avLst>
              <a:gd name="adj" fmla="val 50000"/>
            </a:avLst>
          </a:prstGeom>
          <a:solidFill>
            <a:schemeClr val="accent2"/>
          </a:solidFill>
          <a:ln/>
        </p:spPr>
      </p:sp>
      <p:sp>
        <p:nvSpPr>
          <p:cNvPr id="26" name="Text 23"/>
          <p:cNvSpPr txBox="1"/>
          <p:nvPr/>
        </p:nvSpPr>
        <p:spPr>
          <a:xfrm>
            <a:off x="4690872" y="2468880"/>
            <a:ext cx="1371600" cy="310896"/>
          </a:xfrm>
          <a:prstGeom prst="rect">
            <a:avLst/>
          </a:prstGeom>
          <a:noFill/>
          <a:ln/>
        </p:spPr>
        <p:txBody>
          <a:bodyPr wrap="square" lIns="0" tIns="0" rIns="0" bIns="0" rtlCol="0" anchor="ctr"/>
          <a:lstStyle/>
          <a:p>
            <a:pPr indent="0" marL="0">
              <a:buNone/>
            </a:pPr>
            <a:r>
              <a:rPr lang="en-US" sz="1200" b="1" dirty="0">
                <a:solidFill>
                  <a:schemeClr val="tx1"/>
                </a:solidFill>
              </a:rPr>
              <a:t>6–24 t</a:t>
            </a:r>
            <a:endParaRPr lang="en-US" sz="1200" dirty="0"/>
          </a:p>
        </p:txBody>
      </p:sp>
      <p:sp>
        <p:nvSpPr>
          <p:cNvPr id="27" name="Text 24"/>
          <p:cNvSpPr txBox="1"/>
          <p:nvPr/>
        </p:nvSpPr>
        <p:spPr>
          <a:xfrm>
            <a:off x="8869680" y="2377440"/>
            <a:ext cx="2743200" cy="493776"/>
          </a:xfrm>
          <a:prstGeom prst="rect">
            <a:avLst/>
          </a:prstGeom>
          <a:noFill/>
          <a:ln/>
        </p:spPr>
        <p:txBody>
          <a:bodyPr wrap="square" lIns="0" tIns="0" rIns="0" bIns="0" rtlCol="0" anchor="ctr"/>
          <a:lstStyle/>
          <a:p>
            <a:pPr indent="0" marL="0">
              <a:buNone/>
            </a:pPr>
            <a:r>
              <a:rPr lang="en-US" sz="1200" dirty="0">
                <a:solidFill>
                  <a:schemeClr val="tx1"/>
                </a:solidFill>
              </a:rPr>
              <a:t>Urban roadworks, utilities, material handling</a:t>
            </a:r>
            <a:endParaRPr lang="en-US" sz="1200" dirty="0"/>
          </a:p>
        </p:txBody>
      </p:sp>
      <p:sp>
        <p:nvSpPr>
          <p:cNvPr id="28" name="zebra row"/>
          <p:cNvSpPr/>
          <p:nvPr/>
        </p:nvSpPr>
        <p:spPr>
          <a:xfrm>
            <a:off x="548640" y="2935224"/>
            <a:ext cx="11091672" cy="530352"/>
          </a:xfrm>
          <a:prstGeom prst="roundRect">
            <a:avLst>
              <a:gd name="adj" fmla="val 8621"/>
            </a:avLst>
          </a:prstGeom>
          <a:solidFill>
            <a:schemeClr val="bg2"/>
          </a:solidFill>
          <a:ln/>
        </p:spPr>
      </p:sp>
      <p:sp>
        <p:nvSpPr>
          <p:cNvPr id="29" name="Text 26"/>
          <p:cNvSpPr txBox="1"/>
          <p:nvPr/>
        </p:nvSpPr>
        <p:spPr>
          <a:xfrm>
            <a:off x="685800" y="2971800"/>
            <a:ext cx="2423160" cy="256032"/>
          </a:xfrm>
          <a:prstGeom prst="rect">
            <a:avLst/>
          </a:prstGeom>
          <a:noFill/>
          <a:ln/>
        </p:spPr>
        <p:txBody>
          <a:bodyPr wrap="square" lIns="0" tIns="0" rIns="0" bIns="0" rtlCol="0" anchor="ctr"/>
          <a:lstStyle/>
          <a:p>
            <a:pPr indent="0" marL="0">
              <a:buNone/>
            </a:pPr>
            <a:r>
              <a:rPr lang="en-US" sz="1400" b="1" dirty="0">
                <a:solidFill>
                  <a:schemeClr val="tx2"/>
                </a:solidFill>
              </a:rPr>
              <a:t>Crawler excavators</a:t>
            </a:r>
            <a:endParaRPr lang="en-US" sz="1400" dirty="0"/>
          </a:p>
        </p:txBody>
      </p:sp>
      <p:sp>
        <p:nvSpPr>
          <p:cNvPr id="30" name="Text 27"/>
          <p:cNvSpPr txBox="1"/>
          <p:nvPr/>
        </p:nvSpPr>
        <p:spPr>
          <a:xfrm>
            <a:off x="685800" y="3218688"/>
            <a:ext cx="2514600" cy="219456"/>
          </a:xfrm>
          <a:prstGeom prst="rect">
            <a:avLst/>
          </a:prstGeom>
          <a:noFill/>
          <a:ln/>
        </p:spPr>
        <p:txBody>
          <a:bodyPr wrap="square" lIns="0" tIns="0" rIns="0" bIns="0" rtlCol="0" anchor="ctr"/>
          <a:lstStyle/>
          <a:p>
            <a:pPr indent="0" marL="0">
              <a:buNone/>
            </a:pPr>
            <a:r>
              <a:rPr lang="en-US" sz="1100" dirty="0">
                <a:solidFill>
                  <a:schemeClr val="accent3"/>
                </a:solidFill>
              </a:rPr>
              <a:t>EC140 → EC950</a:t>
            </a:r>
            <a:endParaRPr lang="en-US" sz="1100" dirty="0"/>
          </a:p>
        </p:txBody>
      </p:sp>
      <p:pic>
        <p:nvPicPr>
          <p:cNvPr id="31" name="electric marker" descr="Electric models available">    </p:cNvPr>
          <p:cNvPicPr>
            <a:picLocks noChangeAspect="1"/>
          </p:cNvPicPr>
          <p:nvPr/>
        </p:nvPicPr>
        <p:blipFill>
          <a:blip r:embed="rId2"/>
          <a:stretch>
            <a:fillRect/>
          </a:stretch>
        </p:blipFill>
        <p:spPr>
          <a:xfrm>
            <a:off x="3154680" y="3063240"/>
            <a:ext cx="274320" cy="274320"/>
          </a:xfrm>
          <a:prstGeom prst="rect">
            <a:avLst/>
          </a:prstGeom>
        </p:spPr>
      </p:pic>
      <p:sp>
        <p:nvSpPr>
          <p:cNvPr id="32" name="range bar Crawler excavators"/>
          <p:cNvSpPr/>
          <p:nvPr/>
        </p:nvSpPr>
        <p:spPr>
          <a:xfrm>
            <a:off x="4160520" y="3072384"/>
            <a:ext cx="3703320" cy="256032"/>
          </a:xfrm>
          <a:prstGeom prst="roundRect">
            <a:avLst>
              <a:gd name="adj" fmla="val 50000"/>
            </a:avLst>
          </a:prstGeom>
          <a:solidFill>
            <a:schemeClr val="accent2"/>
          </a:solidFill>
          <a:ln/>
        </p:spPr>
      </p:sp>
      <p:sp>
        <p:nvSpPr>
          <p:cNvPr id="33" name="Text 29"/>
          <p:cNvSpPr txBox="1"/>
          <p:nvPr/>
        </p:nvSpPr>
        <p:spPr>
          <a:xfrm>
            <a:off x="7936992" y="3044952"/>
            <a:ext cx="1371600" cy="310896"/>
          </a:xfrm>
          <a:prstGeom prst="rect">
            <a:avLst/>
          </a:prstGeom>
          <a:noFill/>
          <a:ln/>
        </p:spPr>
        <p:txBody>
          <a:bodyPr wrap="square" lIns="0" tIns="0" rIns="0" bIns="0" rtlCol="0" anchor="ctr"/>
          <a:lstStyle/>
          <a:p>
            <a:pPr indent="0" marL="0">
              <a:buNone/>
            </a:pPr>
            <a:r>
              <a:rPr lang="en-US" sz="1200" b="1" dirty="0">
                <a:solidFill>
                  <a:schemeClr val="tx1"/>
                </a:solidFill>
              </a:rPr>
              <a:t>14–95 t</a:t>
            </a:r>
            <a:endParaRPr lang="en-US" sz="1200" dirty="0"/>
          </a:p>
        </p:txBody>
      </p:sp>
      <p:sp>
        <p:nvSpPr>
          <p:cNvPr id="34" name="Text 30"/>
          <p:cNvSpPr txBox="1"/>
          <p:nvPr/>
        </p:nvSpPr>
        <p:spPr>
          <a:xfrm>
            <a:off x="8869680" y="2953512"/>
            <a:ext cx="2743200" cy="493776"/>
          </a:xfrm>
          <a:prstGeom prst="rect">
            <a:avLst/>
          </a:prstGeom>
          <a:noFill/>
          <a:ln/>
        </p:spPr>
        <p:txBody>
          <a:bodyPr wrap="square" lIns="0" tIns="0" rIns="0" bIns="0" rtlCol="0" anchor="ctr"/>
          <a:lstStyle/>
          <a:p>
            <a:pPr indent="0" marL="0">
              <a:buNone/>
            </a:pPr>
            <a:r>
              <a:rPr lang="en-US" sz="1200" dirty="0">
                <a:solidFill>
                  <a:schemeClr val="tx1"/>
                </a:solidFill>
              </a:rPr>
              <a:t>Infrastructure, quarrying, mining</a:t>
            </a:r>
            <a:endParaRPr lang="en-US" sz="1200" dirty="0"/>
          </a:p>
        </p:txBody>
      </p:sp>
      <p:sp>
        <p:nvSpPr>
          <p:cNvPr id="35" name="Text 31"/>
          <p:cNvSpPr txBox="1"/>
          <p:nvPr/>
        </p:nvSpPr>
        <p:spPr>
          <a:xfrm>
            <a:off x="685800" y="3547872"/>
            <a:ext cx="2423160" cy="256032"/>
          </a:xfrm>
          <a:prstGeom prst="rect">
            <a:avLst/>
          </a:prstGeom>
          <a:noFill/>
          <a:ln/>
        </p:spPr>
        <p:txBody>
          <a:bodyPr wrap="square" lIns="0" tIns="0" rIns="0" bIns="0" rtlCol="0" anchor="ctr"/>
          <a:lstStyle/>
          <a:p>
            <a:pPr indent="0" marL="0">
              <a:buNone/>
            </a:pPr>
            <a:r>
              <a:rPr lang="en-US" sz="1400" b="1" dirty="0">
                <a:solidFill>
                  <a:schemeClr val="tx2"/>
                </a:solidFill>
              </a:rPr>
              <a:t>Compact wheel loaders</a:t>
            </a:r>
            <a:endParaRPr lang="en-US" sz="1400" dirty="0"/>
          </a:p>
        </p:txBody>
      </p:sp>
      <p:sp>
        <p:nvSpPr>
          <p:cNvPr id="36" name="Text 32"/>
          <p:cNvSpPr txBox="1"/>
          <p:nvPr/>
        </p:nvSpPr>
        <p:spPr>
          <a:xfrm>
            <a:off x="685800" y="3794760"/>
            <a:ext cx="2514600" cy="219456"/>
          </a:xfrm>
          <a:prstGeom prst="rect">
            <a:avLst/>
          </a:prstGeom>
          <a:noFill/>
          <a:ln/>
        </p:spPr>
        <p:txBody>
          <a:bodyPr wrap="square" lIns="0" tIns="0" rIns="0" bIns="0" rtlCol="0" anchor="ctr"/>
          <a:lstStyle/>
          <a:p>
            <a:pPr indent="0" marL="0">
              <a:buNone/>
            </a:pPr>
            <a:r>
              <a:rPr lang="en-US" sz="1100" dirty="0">
                <a:solidFill>
                  <a:schemeClr val="accent3"/>
                </a:solidFill>
              </a:rPr>
              <a:t>L20 → L50</a:t>
            </a:r>
            <a:endParaRPr lang="en-US" sz="1100" dirty="0"/>
          </a:p>
        </p:txBody>
      </p:sp>
      <p:pic>
        <p:nvPicPr>
          <p:cNvPr id="37" name="electric marker" descr="Electric models available">    </p:cNvPr>
          <p:cNvPicPr>
            <a:picLocks noChangeAspect="1"/>
          </p:cNvPicPr>
          <p:nvPr/>
        </p:nvPicPr>
        <p:blipFill>
          <a:blip r:embed="rId3"/>
          <a:stretch>
            <a:fillRect/>
          </a:stretch>
        </p:blipFill>
        <p:spPr>
          <a:xfrm>
            <a:off x="3154680" y="3639312"/>
            <a:ext cx="274320" cy="274320"/>
          </a:xfrm>
          <a:prstGeom prst="rect">
            <a:avLst/>
          </a:prstGeom>
        </p:spPr>
      </p:pic>
      <p:sp>
        <p:nvSpPr>
          <p:cNvPr id="38" name="range bar Compact wheel loaders"/>
          <p:cNvSpPr/>
          <p:nvPr/>
        </p:nvSpPr>
        <p:spPr>
          <a:xfrm>
            <a:off x="3726180" y="3648456"/>
            <a:ext cx="251460" cy="256032"/>
          </a:xfrm>
          <a:prstGeom prst="roundRect">
            <a:avLst>
              <a:gd name="adj" fmla="val 50909"/>
            </a:avLst>
          </a:prstGeom>
          <a:solidFill>
            <a:schemeClr val="accent1"/>
          </a:solidFill>
          <a:ln/>
        </p:spPr>
      </p:sp>
      <p:sp>
        <p:nvSpPr>
          <p:cNvPr id="39" name="Text 34"/>
          <p:cNvSpPr txBox="1"/>
          <p:nvPr/>
        </p:nvSpPr>
        <p:spPr>
          <a:xfrm>
            <a:off x="4050792" y="3621024"/>
            <a:ext cx="1371600" cy="310896"/>
          </a:xfrm>
          <a:prstGeom prst="rect">
            <a:avLst/>
          </a:prstGeom>
          <a:noFill/>
          <a:ln/>
        </p:spPr>
        <p:txBody>
          <a:bodyPr wrap="square" lIns="0" tIns="0" rIns="0" bIns="0" rtlCol="0" anchor="ctr"/>
          <a:lstStyle/>
          <a:p>
            <a:pPr indent="0" marL="0">
              <a:buNone/>
            </a:pPr>
            <a:r>
              <a:rPr lang="en-US" sz="1200" b="1" dirty="0">
                <a:solidFill>
                  <a:schemeClr val="tx1"/>
                </a:solidFill>
              </a:rPr>
              <a:t>4.5–10 t</a:t>
            </a:r>
            <a:endParaRPr lang="en-US" sz="1200" dirty="0"/>
          </a:p>
        </p:txBody>
      </p:sp>
      <p:sp>
        <p:nvSpPr>
          <p:cNvPr id="40" name="Text 35"/>
          <p:cNvSpPr txBox="1"/>
          <p:nvPr/>
        </p:nvSpPr>
        <p:spPr>
          <a:xfrm>
            <a:off x="8869680" y="3529584"/>
            <a:ext cx="2743200" cy="493776"/>
          </a:xfrm>
          <a:prstGeom prst="rect">
            <a:avLst/>
          </a:prstGeom>
          <a:noFill/>
          <a:ln/>
        </p:spPr>
        <p:txBody>
          <a:bodyPr wrap="square" lIns="0" tIns="0" rIns="0" bIns="0" rtlCol="0" anchor="ctr"/>
          <a:lstStyle/>
          <a:p>
            <a:pPr indent="0" marL="0">
              <a:buNone/>
            </a:pPr>
            <a:r>
              <a:rPr lang="en-US" sz="1200" dirty="0">
                <a:solidFill>
                  <a:schemeClr val="tx1"/>
                </a:solidFill>
              </a:rPr>
              <a:t>Landscaping, agriculture, rental</a:t>
            </a:r>
            <a:endParaRPr lang="en-US" sz="1200" dirty="0"/>
          </a:p>
        </p:txBody>
      </p:sp>
      <p:sp>
        <p:nvSpPr>
          <p:cNvPr id="41" name="zebra row"/>
          <p:cNvSpPr/>
          <p:nvPr/>
        </p:nvSpPr>
        <p:spPr>
          <a:xfrm>
            <a:off x="548640" y="4087368"/>
            <a:ext cx="11091672" cy="530352"/>
          </a:xfrm>
          <a:prstGeom prst="roundRect">
            <a:avLst>
              <a:gd name="adj" fmla="val 8621"/>
            </a:avLst>
          </a:prstGeom>
          <a:solidFill>
            <a:schemeClr val="bg2"/>
          </a:solidFill>
          <a:ln/>
        </p:spPr>
      </p:sp>
      <p:sp>
        <p:nvSpPr>
          <p:cNvPr id="42" name="Text 37"/>
          <p:cNvSpPr txBox="1"/>
          <p:nvPr/>
        </p:nvSpPr>
        <p:spPr>
          <a:xfrm>
            <a:off x="685800" y="4123944"/>
            <a:ext cx="2423160" cy="256032"/>
          </a:xfrm>
          <a:prstGeom prst="rect">
            <a:avLst/>
          </a:prstGeom>
          <a:noFill/>
          <a:ln/>
        </p:spPr>
        <p:txBody>
          <a:bodyPr wrap="square" lIns="0" tIns="0" rIns="0" bIns="0" rtlCol="0" anchor="ctr"/>
          <a:lstStyle/>
          <a:p>
            <a:pPr indent="0" marL="0">
              <a:buNone/>
            </a:pPr>
            <a:r>
              <a:rPr lang="en-US" sz="1400" b="1" dirty="0">
                <a:solidFill>
                  <a:schemeClr val="tx2"/>
                </a:solidFill>
              </a:rPr>
              <a:t>Wheel loaders</a:t>
            </a:r>
            <a:endParaRPr lang="en-US" sz="1400" dirty="0"/>
          </a:p>
        </p:txBody>
      </p:sp>
      <p:sp>
        <p:nvSpPr>
          <p:cNvPr id="43" name="Text 38"/>
          <p:cNvSpPr txBox="1"/>
          <p:nvPr/>
        </p:nvSpPr>
        <p:spPr>
          <a:xfrm>
            <a:off x="685800" y="4370832"/>
            <a:ext cx="2514600" cy="219456"/>
          </a:xfrm>
          <a:prstGeom prst="rect">
            <a:avLst/>
          </a:prstGeom>
          <a:noFill/>
          <a:ln/>
        </p:spPr>
        <p:txBody>
          <a:bodyPr wrap="square" lIns="0" tIns="0" rIns="0" bIns="0" rtlCol="0" anchor="ctr"/>
          <a:lstStyle/>
          <a:p>
            <a:pPr indent="0" marL="0">
              <a:buNone/>
            </a:pPr>
            <a:r>
              <a:rPr lang="en-US" sz="1100" dirty="0">
                <a:solidFill>
                  <a:schemeClr val="accent3"/>
                </a:solidFill>
              </a:rPr>
              <a:t>L60 → L350</a:t>
            </a:r>
            <a:endParaRPr lang="en-US" sz="1100" dirty="0"/>
          </a:p>
        </p:txBody>
      </p:sp>
      <p:pic>
        <p:nvPicPr>
          <p:cNvPr id="44" name="electric marker" descr="Electric models available">    </p:cNvPr>
          <p:cNvPicPr>
            <a:picLocks noChangeAspect="1"/>
          </p:cNvPicPr>
          <p:nvPr/>
        </p:nvPicPr>
        <p:blipFill>
          <a:blip r:embed="rId4"/>
          <a:stretch>
            <a:fillRect/>
          </a:stretch>
        </p:blipFill>
        <p:spPr>
          <a:xfrm>
            <a:off x="3154680" y="4215384"/>
            <a:ext cx="274320" cy="274320"/>
          </a:xfrm>
          <a:prstGeom prst="rect">
            <a:avLst/>
          </a:prstGeom>
        </p:spPr>
      </p:pic>
      <p:sp>
        <p:nvSpPr>
          <p:cNvPr id="45" name="range bar Wheel loaders"/>
          <p:cNvSpPr/>
          <p:nvPr/>
        </p:nvSpPr>
        <p:spPr>
          <a:xfrm>
            <a:off x="4023360" y="4224528"/>
            <a:ext cx="2057400" cy="256032"/>
          </a:xfrm>
          <a:prstGeom prst="roundRect">
            <a:avLst>
              <a:gd name="adj" fmla="val 50000"/>
            </a:avLst>
          </a:prstGeom>
          <a:solidFill>
            <a:schemeClr val="accent1"/>
          </a:solidFill>
          <a:ln/>
        </p:spPr>
      </p:sp>
      <p:sp>
        <p:nvSpPr>
          <p:cNvPr id="46" name="Text 40"/>
          <p:cNvSpPr txBox="1"/>
          <p:nvPr/>
        </p:nvSpPr>
        <p:spPr>
          <a:xfrm>
            <a:off x="6153912" y="4197096"/>
            <a:ext cx="1371600" cy="310896"/>
          </a:xfrm>
          <a:prstGeom prst="rect">
            <a:avLst/>
          </a:prstGeom>
          <a:noFill/>
          <a:ln/>
        </p:spPr>
        <p:txBody>
          <a:bodyPr wrap="square" lIns="0" tIns="0" rIns="0" bIns="0" rtlCol="0" anchor="ctr"/>
          <a:lstStyle/>
          <a:p>
            <a:pPr indent="0" marL="0">
              <a:buNone/>
            </a:pPr>
            <a:r>
              <a:rPr lang="en-US" sz="1200" b="1" dirty="0">
                <a:solidFill>
                  <a:schemeClr val="tx1"/>
                </a:solidFill>
              </a:rPr>
              <a:t>11–56 t</a:t>
            </a:r>
            <a:endParaRPr lang="en-US" sz="1200" dirty="0"/>
          </a:p>
        </p:txBody>
      </p:sp>
      <p:sp>
        <p:nvSpPr>
          <p:cNvPr id="47" name="Text 41"/>
          <p:cNvSpPr txBox="1"/>
          <p:nvPr/>
        </p:nvSpPr>
        <p:spPr>
          <a:xfrm>
            <a:off x="8869680" y="4105656"/>
            <a:ext cx="2743200" cy="493776"/>
          </a:xfrm>
          <a:prstGeom prst="rect">
            <a:avLst/>
          </a:prstGeom>
          <a:noFill/>
          <a:ln/>
        </p:spPr>
        <p:txBody>
          <a:bodyPr wrap="square" lIns="0" tIns="0" rIns="0" bIns="0" rtlCol="0" anchor="ctr"/>
          <a:lstStyle/>
          <a:p>
            <a:pPr indent="0" marL="0">
              <a:buNone/>
            </a:pPr>
            <a:r>
              <a:rPr lang="en-US" sz="1200" dirty="0">
                <a:solidFill>
                  <a:schemeClr val="tx1"/>
                </a:solidFill>
              </a:rPr>
              <a:t>Aggregates, recycling, ports, forestry</a:t>
            </a:r>
            <a:endParaRPr lang="en-US" sz="1200" dirty="0"/>
          </a:p>
        </p:txBody>
      </p:sp>
      <p:sp>
        <p:nvSpPr>
          <p:cNvPr id="48" name="Text 42"/>
          <p:cNvSpPr txBox="1"/>
          <p:nvPr/>
        </p:nvSpPr>
        <p:spPr>
          <a:xfrm>
            <a:off x="685800" y="4700016"/>
            <a:ext cx="2423160" cy="256032"/>
          </a:xfrm>
          <a:prstGeom prst="rect">
            <a:avLst/>
          </a:prstGeom>
          <a:noFill/>
          <a:ln/>
        </p:spPr>
        <p:txBody>
          <a:bodyPr wrap="square" lIns="0" tIns="0" rIns="0" bIns="0" rtlCol="0" anchor="ctr"/>
          <a:lstStyle/>
          <a:p>
            <a:pPr indent="0" marL="0">
              <a:buNone/>
            </a:pPr>
            <a:r>
              <a:rPr lang="en-US" sz="1400" b="1" dirty="0">
                <a:solidFill>
                  <a:schemeClr val="tx2"/>
                </a:solidFill>
              </a:rPr>
              <a:t>Articulated haulers</a:t>
            </a:r>
            <a:endParaRPr lang="en-US" sz="1400" dirty="0"/>
          </a:p>
        </p:txBody>
      </p:sp>
      <p:sp>
        <p:nvSpPr>
          <p:cNvPr id="49" name="Text 43"/>
          <p:cNvSpPr txBox="1"/>
          <p:nvPr/>
        </p:nvSpPr>
        <p:spPr>
          <a:xfrm>
            <a:off x="685800" y="4946904"/>
            <a:ext cx="2514600" cy="219456"/>
          </a:xfrm>
          <a:prstGeom prst="rect">
            <a:avLst/>
          </a:prstGeom>
          <a:noFill/>
          <a:ln/>
        </p:spPr>
        <p:txBody>
          <a:bodyPr wrap="square" lIns="0" tIns="0" rIns="0" bIns="0" rtlCol="0" anchor="ctr"/>
          <a:lstStyle/>
          <a:p>
            <a:pPr indent="0" marL="0">
              <a:buNone/>
            </a:pPr>
            <a:r>
              <a:rPr lang="en-US" sz="1100" dirty="0">
                <a:solidFill>
                  <a:schemeClr val="accent3"/>
                </a:solidFill>
              </a:rPr>
              <a:t>A25 → A60 · Rokbak RA30/40</a:t>
            </a:r>
            <a:endParaRPr lang="en-US" sz="1100" dirty="0"/>
          </a:p>
        </p:txBody>
      </p:sp>
      <p:sp>
        <p:nvSpPr>
          <p:cNvPr id="50" name="range bar Articulated haulers"/>
          <p:cNvSpPr/>
          <p:nvPr/>
        </p:nvSpPr>
        <p:spPr>
          <a:xfrm>
            <a:off x="4617720" y="4800600"/>
            <a:ext cx="1417320" cy="256032"/>
          </a:xfrm>
          <a:prstGeom prst="roundRect">
            <a:avLst>
              <a:gd name="adj" fmla="val 50000"/>
            </a:avLst>
          </a:prstGeom>
          <a:solidFill>
            <a:schemeClr val="tx2"/>
          </a:solidFill>
          <a:ln/>
        </p:spPr>
      </p:sp>
      <p:sp>
        <p:nvSpPr>
          <p:cNvPr id="51" name="Text 45"/>
          <p:cNvSpPr txBox="1"/>
          <p:nvPr/>
        </p:nvSpPr>
        <p:spPr>
          <a:xfrm>
            <a:off x="6108192" y="4773168"/>
            <a:ext cx="1371600" cy="310896"/>
          </a:xfrm>
          <a:prstGeom prst="rect">
            <a:avLst/>
          </a:prstGeom>
          <a:noFill/>
          <a:ln/>
        </p:spPr>
        <p:txBody>
          <a:bodyPr wrap="square" lIns="0" tIns="0" rIns="0" bIns="0" rtlCol="0" anchor="ctr"/>
          <a:lstStyle/>
          <a:p>
            <a:pPr indent="0" marL="0">
              <a:buNone/>
            </a:pPr>
            <a:r>
              <a:rPr lang="en-US" sz="1200" b="1" dirty="0">
                <a:solidFill>
                  <a:schemeClr val="tx1"/>
                </a:solidFill>
              </a:rPr>
              <a:t>24–55 t payload</a:t>
            </a:r>
            <a:endParaRPr lang="en-US" sz="1200" dirty="0"/>
          </a:p>
        </p:txBody>
      </p:sp>
      <p:sp>
        <p:nvSpPr>
          <p:cNvPr id="52" name="Text 46"/>
          <p:cNvSpPr txBox="1"/>
          <p:nvPr/>
        </p:nvSpPr>
        <p:spPr>
          <a:xfrm>
            <a:off x="8869680" y="4681728"/>
            <a:ext cx="2743200" cy="493776"/>
          </a:xfrm>
          <a:prstGeom prst="rect">
            <a:avLst/>
          </a:prstGeom>
          <a:noFill/>
          <a:ln/>
        </p:spPr>
        <p:txBody>
          <a:bodyPr wrap="square" lIns="0" tIns="0" rIns="0" bIns="0" rtlCol="0" anchor="ctr"/>
          <a:lstStyle/>
          <a:p>
            <a:pPr indent="0" marL="0">
              <a:buNone/>
            </a:pPr>
            <a:r>
              <a:rPr lang="en-US" sz="1200" dirty="0">
                <a:solidFill>
                  <a:schemeClr val="tx1"/>
                </a:solidFill>
              </a:rPr>
              <a:t>Earthmoving, quarrying, mining</a:t>
            </a:r>
            <a:endParaRPr lang="en-US" sz="1200" dirty="0"/>
          </a:p>
        </p:txBody>
      </p:sp>
      <p:sp>
        <p:nvSpPr>
          <p:cNvPr id="53" name="zebra row"/>
          <p:cNvSpPr/>
          <p:nvPr/>
        </p:nvSpPr>
        <p:spPr>
          <a:xfrm>
            <a:off x="548640" y="5239512"/>
            <a:ext cx="11091672" cy="530352"/>
          </a:xfrm>
          <a:prstGeom prst="roundRect">
            <a:avLst>
              <a:gd name="adj" fmla="val 8621"/>
            </a:avLst>
          </a:prstGeom>
          <a:solidFill>
            <a:schemeClr val="bg2"/>
          </a:solidFill>
          <a:ln/>
        </p:spPr>
      </p:sp>
      <p:sp>
        <p:nvSpPr>
          <p:cNvPr id="54" name="Text 48"/>
          <p:cNvSpPr txBox="1"/>
          <p:nvPr/>
        </p:nvSpPr>
        <p:spPr>
          <a:xfrm>
            <a:off x="685800" y="5276088"/>
            <a:ext cx="2423160" cy="256032"/>
          </a:xfrm>
          <a:prstGeom prst="rect">
            <a:avLst/>
          </a:prstGeom>
          <a:noFill/>
          <a:ln/>
        </p:spPr>
        <p:txBody>
          <a:bodyPr wrap="square" lIns="0" tIns="0" rIns="0" bIns="0" rtlCol="0" anchor="ctr"/>
          <a:lstStyle/>
          <a:p>
            <a:pPr indent="0" marL="0">
              <a:buNone/>
            </a:pPr>
            <a:r>
              <a:rPr lang="en-US" sz="1400" b="1" dirty="0">
                <a:solidFill>
                  <a:schemeClr val="tx2"/>
                </a:solidFill>
              </a:rPr>
              <a:t>Road machinery</a:t>
            </a:r>
            <a:endParaRPr lang="en-US" sz="1400" dirty="0"/>
          </a:p>
        </p:txBody>
      </p:sp>
      <p:sp>
        <p:nvSpPr>
          <p:cNvPr id="55" name="Text 49"/>
          <p:cNvSpPr txBox="1"/>
          <p:nvPr/>
        </p:nvSpPr>
        <p:spPr>
          <a:xfrm>
            <a:off x="685800" y="5522976"/>
            <a:ext cx="2514600" cy="219456"/>
          </a:xfrm>
          <a:prstGeom prst="rect">
            <a:avLst/>
          </a:prstGeom>
          <a:noFill/>
          <a:ln/>
        </p:spPr>
        <p:txBody>
          <a:bodyPr wrap="square" lIns="0" tIns="0" rIns="0" bIns="0" rtlCol="0" anchor="ctr"/>
          <a:lstStyle/>
          <a:p>
            <a:pPr indent="0" marL="0">
              <a:buNone/>
            </a:pPr>
            <a:r>
              <a:rPr lang="en-US" sz="1100" dirty="0">
                <a:solidFill>
                  <a:schemeClr val="accent3"/>
                </a:solidFill>
              </a:rPr>
              <a:t>Compactors · ABG pavers</a:t>
            </a:r>
            <a:endParaRPr lang="en-US" sz="1100" dirty="0"/>
          </a:p>
        </p:txBody>
      </p:sp>
      <p:sp>
        <p:nvSpPr>
          <p:cNvPr id="56" name="range bar Road machinery"/>
          <p:cNvSpPr/>
          <p:nvPr/>
        </p:nvSpPr>
        <p:spPr>
          <a:xfrm>
            <a:off x="3589020" y="5376672"/>
            <a:ext cx="937260" cy="256032"/>
          </a:xfrm>
          <a:prstGeom prst="roundRect">
            <a:avLst>
              <a:gd name="adj" fmla="val 50000"/>
            </a:avLst>
          </a:prstGeom>
          <a:solidFill>
            <a:schemeClr val="accent3"/>
          </a:solidFill>
          <a:ln/>
        </p:spPr>
      </p:sp>
      <p:sp>
        <p:nvSpPr>
          <p:cNvPr id="57" name="Text 51"/>
          <p:cNvSpPr txBox="1"/>
          <p:nvPr/>
        </p:nvSpPr>
        <p:spPr>
          <a:xfrm>
            <a:off x="4599432" y="5349240"/>
            <a:ext cx="1371600" cy="310896"/>
          </a:xfrm>
          <a:prstGeom prst="rect">
            <a:avLst/>
          </a:prstGeom>
          <a:noFill/>
          <a:ln/>
        </p:spPr>
        <p:txBody>
          <a:bodyPr wrap="square" lIns="0" tIns="0" rIns="0" bIns="0" rtlCol="0" anchor="ctr"/>
          <a:lstStyle/>
          <a:p>
            <a:pPr indent="0" marL="0">
              <a:buNone/>
            </a:pPr>
            <a:r>
              <a:rPr lang="en-US" sz="1200" b="1" dirty="0">
                <a:solidFill>
                  <a:schemeClr val="tx1"/>
                </a:solidFill>
              </a:rPr>
              <a:t>≈1.5–22 t</a:t>
            </a:r>
            <a:endParaRPr lang="en-US" sz="1200" dirty="0"/>
          </a:p>
        </p:txBody>
      </p:sp>
      <p:sp>
        <p:nvSpPr>
          <p:cNvPr id="58" name="Text 52"/>
          <p:cNvSpPr txBox="1"/>
          <p:nvPr/>
        </p:nvSpPr>
        <p:spPr>
          <a:xfrm>
            <a:off x="8869680" y="5257800"/>
            <a:ext cx="2743200" cy="493776"/>
          </a:xfrm>
          <a:prstGeom prst="rect">
            <a:avLst/>
          </a:prstGeom>
          <a:noFill/>
          <a:ln/>
        </p:spPr>
        <p:txBody>
          <a:bodyPr wrap="square" lIns="0" tIns="0" rIns="0" bIns="0" rtlCol="0" anchor="ctr"/>
          <a:lstStyle/>
          <a:p>
            <a:pPr indent="0" marL="0">
              <a:buNone/>
            </a:pPr>
            <a:r>
              <a:rPr lang="en-US" sz="1200" dirty="0">
                <a:solidFill>
                  <a:schemeClr val="tx1"/>
                </a:solidFill>
              </a:rPr>
              <a:t>Road building, highways, airports</a:t>
            </a:r>
            <a:endParaRPr lang="en-US" sz="1200" dirty="0"/>
          </a:p>
        </p:txBody>
      </p:sp>
      <p:pic>
        <p:nvPicPr>
          <p:cNvPr id="59" name="legend bolt" descr="Electric">    </p:cNvPr>
          <p:cNvPicPr>
            <a:picLocks noChangeAspect="1"/>
          </p:cNvPicPr>
          <p:nvPr/>
        </p:nvPicPr>
        <p:blipFill>
          <a:blip r:embed="rId5"/>
          <a:stretch>
            <a:fillRect/>
          </a:stretch>
        </p:blipFill>
        <p:spPr>
          <a:xfrm>
            <a:off x="566928" y="5870448"/>
            <a:ext cx="237744" cy="237744"/>
          </a:xfrm>
          <a:prstGeom prst="rect">
            <a:avLst/>
          </a:prstGeom>
        </p:spPr>
      </p:pic>
      <p:sp>
        <p:nvSpPr>
          <p:cNvPr id="60" name="Text 53"/>
          <p:cNvSpPr txBox="1"/>
          <p:nvPr/>
        </p:nvSpPr>
        <p:spPr>
          <a:xfrm>
            <a:off x="868680" y="5833872"/>
            <a:ext cx="10789920" cy="329184"/>
          </a:xfrm>
          <a:prstGeom prst="rect">
            <a:avLst/>
          </a:prstGeom>
          <a:noFill/>
          <a:ln/>
        </p:spPr>
        <p:txBody>
          <a:bodyPr wrap="square" lIns="0" tIns="0" rIns="0" bIns="0" rtlCol="0" anchor="ctr"/>
          <a:lstStyle/>
          <a:p>
            <a:pPr indent="0" marL="0">
              <a:buNone/>
            </a:pPr>
            <a:r>
              <a:rPr lang="en-US" sz="1100" i="1" dirty="0">
                <a:solidFill>
                  <a:schemeClr val="accent3"/>
                </a:solidFill>
              </a:rPr>
              <a:t>Electric models offered (e.g., ECR25, EC230, L25, L120 Electric). Bars show approx. operating weight; haulers show rated payload (Volvo CE spec sheets).</a:t>
            </a:r>
            <a:endParaRPr lang="en-US" sz="11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3 · VOLVO CE INDIA OPERATIONS</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tx2"/>
                </a:solidFill>
              </a:rPr>
              <a:t>Volvo CE India: the Peenya hub</a:t>
            </a:r>
            <a:endParaRPr lang="en-US" sz="3600" dirty="0"/>
          </a:p>
        </p:txBody>
      </p:sp>
      <p:sp>
        <p:nvSpPr>
          <p:cNvPr id="4" name="Where circle"/>
          <p:cNvSpPr/>
          <p:nvPr/>
        </p:nvSpPr>
        <p:spPr>
          <a:xfrm>
            <a:off x="548640" y="1527048"/>
            <a:ext cx="512064" cy="512064"/>
          </a:xfrm>
          <a:prstGeom prst="ellipse">
            <a:avLst/>
          </a:prstGeom>
          <a:solidFill>
            <a:schemeClr val="tx2"/>
          </a:solidFill>
          <a:ln/>
        </p:spPr>
      </p:sp>
      <p:pic>
        <p:nvPicPr>
          <p:cNvPr id="5" name="Where" descr="Where">    </p:cNvPr>
          <p:cNvPicPr>
            <a:picLocks noChangeAspect="1"/>
          </p:cNvPicPr>
          <p:nvPr/>
        </p:nvPicPr>
        <p:blipFill>
          <a:blip r:embed="rId1"/>
          <a:stretch>
            <a:fillRect/>
          </a:stretch>
        </p:blipFill>
        <p:spPr>
          <a:xfrm>
            <a:off x="661294" y="1639702"/>
            <a:ext cx="286756" cy="286756"/>
          </a:xfrm>
          <a:prstGeom prst="rect">
            <a:avLst/>
          </a:prstGeom>
        </p:spPr>
      </p:pic>
      <p:sp>
        <p:nvSpPr>
          <p:cNvPr id="6" name="Text 3"/>
          <p:cNvSpPr txBox="1"/>
          <p:nvPr/>
        </p:nvSpPr>
        <p:spPr>
          <a:xfrm>
            <a:off x="1234440" y="1481328"/>
            <a:ext cx="4297680" cy="274320"/>
          </a:xfrm>
          <a:prstGeom prst="rect">
            <a:avLst/>
          </a:prstGeom>
          <a:noFill/>
          <a:ln/>
        </p:spPr>
        <p:txBody>
          <a:bodyPr wrap="square" lIns="0" tIns="0" rIns="0" bIns="0" rtlCol="0" anchor="ctr"/>
          <a:lstStyle/>
          <a:p>
            <a:pPr indent="0" marL="0">
              <a:buNone/>
            </a:pPr>
            <a:r>
              <a:rPr lang="en-US" sz="1400" b="1" dirty="0">
                <a:solidFill>
                  <a:schemeClr val="tx2"/>
                </a:solidFill>
              </a:rPr>
              <a:t>Where</a:t>
            </a:r>
            <a:endParaRPr lang="en-US" sz="1400" dirty="0"/>
          </a:p>
        </p:txBody>
      </p:sp>
      <p:sp>
        <p:nvSpPr>
          <p:cNvPr id="7" name="Text 4"/>
          <p:cNvSpPr txBox="1"/>
          <p:nvPr/>
        </p:nvSpPr>
        <p:spPr>
          <a:xfrm>
            <a:off x="1234440" y="1755648"/>
            <a:ext cx="4343400" cy="548640"/>
          </a:xfrm>
          <a:prstGeom prst="rect">
            <a:avLst/>
          </a:prstGeom>
          <a:noFill/>
          <a:ln/>
        </p:spPr>
        <p:txBody>
          <a:bodyPr wrap="square" lIns="0" tIns="0" rIns="0" bIns="0" rtlCol="0" anchor="t"/>
          <a:lstStyle/>
          <a:p>
            <a:pPr indent="0" marL="0">
              <a:buNone/>
            </a:pPr>
            <a:r>
              <a:rPr lang="en-US" sz="1300" dirty="0">
                <a:solidFill>
                  <a:schemeClr val="tx1"/>
                </a:solidFill>
              </a:rPr>
              <a:t>India HQ and plant in Peenya Industrial Area, Bengaluru</a:t>
            </a:r>
            <a:endParaRPr lang="en-US" sz="1300" dirty="0"/>
          </a:p>
        </p:txBody>
      </p:sp>
      <p:sp>
        <p:nvSpPr>
          <p:cNvPr id="8" name="History circle"/>
          <p:cNvSpPr/>
          <p:nvPr/>
        </p:nvSpPr>
        <p:spPr>
          <a:xfrm>
            <a:off x="548640" y="2441448"/>
            <a:ext cx="512064" cy="512064"/>
          </a:xfrm>
          <a:prstGeom prst="ellipse">
            <a:avLst/>
          </a:prstGeom>
          <a:solidFill>
            <a:schemeClr val="tx2"/>
          </a:solidFill>
          <a:ln/>
        </p:spPr>
      </p:sp>
      <p:pic>
        <p:nvPicPr>
          <p:cNvPr id="9" name="History" descr="History">    </p:cNvPr>
          <p:cNvPicPr>
            <a:picLocks noChangeAspect="1"/>
          </p:cNvPicPr>
          <p:nvPr/>
        </p:nvPicPr>
        <p:blipFill>
          <a:blip r:embed="rId2"/>
          <a:stretch>
            <a:fillRect/>
          </a:stretch>
        </p:blipFill>
        <p:spPr>
          <a:xfrm>
            <a:off x="661294" y="2554102"/>
            <a:ext cx="286756" cy="286756"/>
          </a:xfrm>
          <a:prstGeom prst="rect">
            <a:avLst/>
          </a:prstGeom>
        </p:spPr>
      </p:pic>
      <p:sp>
        <p:nvSpPr>
          <p:cNvPr id="10" name="Text 6"/>
          <p:cNvSpPr txBox="1"/>
          <p:nvPr/>
        </p:nvSpPr>
        <p:spPr>
          <a:xfrm>
            <a:off x="1234440" y="2395728"/>
            <a:ext cx="4297680" cy="274320"/>
          </a:xfrm>
          <a:prstGeom prst="rect">
            <a:avLst/>
          </a:prstGeom>
          <a:noFill/>
          <a:ln/>
        </p:spPr>
        <p:txBody>
          <a:bodyPr wrap="square" lIns="0" tIns="0" rIns="0" bIns="0" rtlCol="0" anchor="ctr"/>
          <a:lstStyle/>
          <a:p>
            <a:pPr indent="0" marL="0">
              <a:buNone/>
            </a:pPr>
            <a:r>
              <a:rPr lang="en-US" sz="1400" b="1" dirty="0">
                <a:solidFill>
                  <a:schemeClr val="tx2"/>
                </a:solidFill>
              </a:rPr>
              <a:t>History</a:t>
            </a:r>
            <a:endParaRPr lang="en-US" sz="1400" dirty="0"/>
          </a:p>
        </p:txBody>
      </p:sp>
      <p:sp>
        <p:nvSpPr>
          <p:cNvPr id="11" name="Text 7"/>
          <p:cNvSpPr txBox="1"/>
          <p:nvPr/>
        </p:nvSpPr>
        <p:spPr>
          <a:xfrm>
            <a:off x="1234440" y="2670048"/>
            <a:ext cx="4343400" cy="548640"/>
          </a:xfrm>
          <a:prstGeom prst="rect">
            <a:avLst/>
          </a:prstGeom>
          <a:noFill/>
          <a:ln/>
        </p:spPr>
        <p:txBody>
          <a:bodyPr wrap="square" lIns="0" tIns="0" rIns="0" bIns="0" rtlCol="0" anchor="t"/>
          <a:lstStyle/>
          <a:p>
            <a:pPr indent="0" marL="0">
              <a:buNone/>
            </a:pPr>
            <a:r>
              <a:rPr lang="en-US" sz="1300" dirty="0">
                <a:solidFill>
                  <a:schemeClr val="tx1"/>
                </a:solidFill>
              </a:rPr>
              <a:t>Site since 1978; Volvo CE India since 1997; ₹90 cr upgrade and new excavator line in 2011</a:t>
            </a:r>
            <a:endParaRPr lang="en-US" sz="1300" dirty="0"/>
          </a:p>
        </p:txBody>
      </p:sp>
      <p:sp>
        <p:nvSpPr>
          <p:cNvPr id="12" name="What it builds circle"/>
          <p:cNvSpPr/>
          <p:nvPr/>
        </p:nvSpPr>
        <p:spPr>
          <a:xfrm>
            <a:off x="548640" y="3355848"/>
            <a:ext cx="512064" cy="512064"/>
          </a:xfrm>
          <a:prstGeom prst="ellipse">
            <a:avLst/>
          </a:prstGeom>
          <a:solidFill>
            <a:schemeClr val="tx2"/>
          </a:solidFill>
          <a:ln/>
        </p:spPr>
      </p:sp>
      <p:pic>
        <p:nvPicPr>
          <p:cNvPr id="13" name="What it builds" descr="What it builds">    </p:cNvPr>
          <p:cNvPicPr>
            <a:picLocks noChangeAspect="1"/>
          </p:cNvPicPr>
          <p:nvPr/>
        </p:nvPicPr>
        <p:blipFill>
          <a:blip r:embed="rId3"/>
          <a:stretch>
            <a:fillRect/>
          </a:stretch>
        </p:blipFill>
        <p:spPr>
          <a:xfrm>
            <a:off x="661294" y="3468502"/>
            <a:ext cx="286756" cy="286756"/>
          </a:xfrm>
          <a:prstGeom prst="rect">
            <a:avLst/>
          </a:prstGeom>
        </p:spPr>
      </p:pic>
      <p:sp>
        <p:nvSpPr>
          <p:cNvPr id="14" name="Text 9"/>
          <p:cNvSpPr txBox="1"/>
          <p:nvPr/>
        </p:nvSpPr>
        <p:spPr>
          <a:xfrm>
            <a:off x="1234440" y="3310128"/>
            <a:ext cx="4297680" cy="274320"/>
          </a:xfrm>
          <a:prstGeom prst="rect">
            <a:avLst/>
          </a:prstGeom>
          <a:noFill/>
          <a:ln/>
        </p:spPr>
        <p:txBody>
          <a:bodyPr wrap="square" lIns="0" tIns="0" rIns="0" bIns="0" rtlCol="0" anchor="ctr"/>
          <a:lstStyle/>
          <a:p>
            <a:pPr indent="0" marL="0">
              <a:buNone/>
            </a:pPr>
            <a:r>
              <a:rPr lang="en-US" sz="1400" b="1" dirty="0">
                <a:solidFill>
                  <a:schemeClr val="tx2"/>
                </a:solidFill>
              </a:rPr>
              <a:t>What it builds</a:t>
            </a:r>
            <a:endParaRPr lang="en-US" sz="1400" dirty="0"/>
          </a:p>
        </p:txBody>
      </p:sp>
      <p:sp>
        <p:nvSpPr>
          <p:cNvPr id="15" name="Text 10"/>
          <p:cNvSpPr txBox="1"/>
          <p:nvPr/>
        </p:nvSpPr>
        <p:spPr>
          <a:xfrm>
            <a:off x="1234440" y="3584448"/>
            <a:ext cx="4343400" cy="548640"/>
          </a:xfrm>
          <a:prstGeom prst="rect">
            <a:avLst/>
          </a:prstGeom>
          <a:noFill/>
          <a:ln/>
        </p:spPr>
        <p:txBody>
          <a:bodyPr wrap="square" lIns="0" tIns="0" rIns="0" bIns="0" rtlCol="0" anchor="t"/>
          <a:lstStyle/>
          <a:p>
            <a:pPr indent="0" marL="0">
              <a:buNone/>
            </a:pPr>
            <a:r>
              <a:rPr lang="en-US" sz="1300" dirty="0">
                <a:solidFill>
                  <a:schemeClr val="tx1"/>
                </a:solidFill>
              </a:rPr>
              <a:t>Crawler excavators, soil compactors and asphalt pavers; EC210 is ~70% localised</a:t>
            </a:r>
            <a:endParaRPr lang="en-US" sz="1300" dirty="0"/>
          </a:p>
        </p:txBody>
      </p:sp>
      <p:sp>
        <p:nvSpPr>
          <p:cNvPr id="16" name="Market reach circle"/>
          <p:cNvSpPr/>
          <p:nvPr/>
        </p:nvSpPr>
        <p:spPr>
          <a:xfrm>
            <a:off x="548640" y="4270248"/>
            <a:ext cx="512064" cy="512064"/>
          </a:xfrm>
          <a:prstGeom prst="ellipse">
            <a:avLst/>
          </a:prstGeom>
          <a:solidFill>
            <a:schemeClr val="tx2"/>
          </a:solidFill>
          <a:ln/>
        </p:spPr>
      </p:sp>
      <p:pic>
        <p:nvPicPr>
          <p:cNvPr id="17" name="Market reach" descr="Market reach">    </p:cNvPr>
          <p:cNvPicPr>
            <a:picLocks noChangeAspect="1"/>
          </p:cNvPicPr>
          <p:nvPr/>
        </p:nvPicPr>
        <p:blipFill>
          <a:blip r:embed="rId4"/>
          <a:stretch>
            <a:fillRect/>
          </a:stretch>
        </p:blipFill>
        <p:spPr>
          <a:xfrm>
            <a:off x="661294" y="4382902"/>
            <a:ext cx="286756" cy="286756"/>
          </a:xfrm>
          <a:prstGeom prst="rect">
            <a:avLst/>
          </a:prstGeom>
        </p:spPr>
      </p:pic>
      <p:sp>
        <p:nvSpPr>
          <p:cNvPr id="18" name="Text 12"/>
          <p:cNvSpPr txBox="1"/>
          <p:nvPr/>
        </p:nvSpPr>
        <p:spPr>
          <a:xfrm>
            <a:off x="1234440" y="4224528"/>
            <a:ext cx="4297680" cy="274320"/>
          </a:xfrm>
          <a:prstGeom prst="rect">
            <a:avLst/>
          </a:prstGeom>
          <a:noFill/>
          <a:ln/>
        </p:spPr>
        <p:txBody>
          <a:bodyPr wrap="square" lIns="0" tIns="0" rIns="0" bIns="0" rtlCol="0" anchor="ctr"/>
          <a:lstStyle/>
          <a:p>
            <a:pPr indent="0" marL="0">
              <a:buNone/>
            </a:pPr>
            <a:r>
              <a:rPr lang="en-US" sz="1400" b="1" dirty="0">
                <a:solidFill>
                  <a:schemeClr val="tx2"/>
                </a:solidFill>
              </a:rPr>
              <a:t>Market reach</a:t>
            </a:r>
            <a:endParaRPr lang="en-US" sz="1400" dirty="0"/>
          </a:p>
        </p:txBody>
      </p:sp>
      <p:sp>
        <p:nvSpPr>
          <p:cNvPr id="19" name="Text 13"/>
          <p:cNvSpPr txBox="1"/>
          <p:nvPr/>
        </p:nvSpPr>
        <p:spPr>
          <a:xfrm>
            <a:off x="1234440" y="4498848"/>
            <a:ext cx="4343400" cy="548640"/>
          </a:xfrm>
          <a:prstGeom prst="rect">
            <a:avLst/>
          </a:prstGeom>
          <a:noFill/>
          <a:ln/>
        </p:spPr>
        <p:txBody>
          <a:bodyPr wrap="square" lIns="0" tIns="0" rIns="0" bIns="0" rtlCol="0" anchor="t"/>
          <a:lstStyle/>
          <a:p>
            <a:pPr indent="0" marL="0">
              <a:buNone/>
            </a:pPr>
            <a:r>
              <a:rPr lang="en-US" sz="1300" dirty="0">
                <a:solidFill>
                  <a:schemeClr val="tx1"/>
                </a:solidFill>
              </a:rPr>
              <a:t>19 dealers, 180+ touchpoints; ~6.5% Indian CE share (2024); exports to emerging markets</a:t>
            </a:r>
            <a:endParaRPr lang="en-US" sz="1300" dirty="0"/>
          </a:p>
        </p:txBody>
      </p:sp>
      <p:sp>
        <p:nvSpPr>
          <p:cNvPr id="20" name="Engineering circle"/>
          <p:cNvSpPr/>
          <p:nvPr/>
        </p:nvSpPr>
        <p:spPr>
          <a:xfrm>
            <a:off x="548640" y="5184648"/>
            <a:ext cx="512064" cy="512064"/>
          </a:xfrm>
          <a:prstGeom prst="ellipse">
            <a:avLst/>
          </a:prstGeom>
          <a:solidFill>
            <a:schemeClr val="tx2"/>
          </a:solidFill>
          <a:ln/>
        </p:spPr>
      </p:sp>
      <p:pic>
        <p:nvPicPr>
          <p:cNvPr id="21" name="Engineering" descr="Engineering">    </p:cNvPr>
          <p:cNvPicPr>
            <a:picLocks noChangeAspect="1"/>
          </p:cNvPicPr>
          <p:nvPr/>
        </p:nvPicPr>
        <p:blipFill>
          <a:blip r:embed="rId5"/>
          <a:stretch>
            <a:fillRect/>
          </a:stretch>
        </p:blipFill>
        <p:spPr>
          <a:xfrm>
            <a:off x="661294" y="5297302"/>
            <a:ext cx="286756" cy="286756"/>
          </a:xfrm>
          <a:prstGeom prst="rect">
            <a:avLst/>
          </a:prstGeom>
        </p:spPr>
      </p:pic>
      <p:sp>
        <p:nvSpPr>
          <p:cNvPr id="22" name="Text 15"/>
          <p:cNvSpPr txBox="1"/>
          <p:nvPr/>
        </p:nvSpPr>
        <p:spPr>
          <a:xfrm>
            <a:off x="1234440" y="5138928"/>
            <a:ext cx="4297680" cy="274320"/>
          </a:xfrm>
          <a:prstGeom prst="rect">
            <a:avLst/>
          </a:prstGeom>
          <a:noFill/>
          <a:ln/>
        </p:spPr>
        <p:txBody>
          <a:bodyPr wrap="square" lIns="0" tIns="0" rIns="0" bIns="0" rtlCol="0" anchor="ctr"/>
          <a:lstStyle/>
          <a:p>
            <a:pPr indent="0" marL="0">
              <a:buNone/>
            </a:pPr>
            <a:r>
              <a:rPr lang="en-US" sz="1400" b="1" dirty="0">
                <a:solidFill>
                  <a:schemeClr val="tx2"/>
                </a:solidFill>
              </a:rPr>
              <a:t>Engineering</a:t>
            </a:r>
            <a:endParaRPr lang="en-US" sz="1400" dirty="0"/>
          </a:p>
        </p:txBody>
      </p:sp>
      <p:sp>
        <p:nvSpPr>
          <p:cNvPr id="23" name="Text 16"/>
          <p:cNvSpPr txBox="1"/>
          <p:nvPr/>
        </p:nvSpPr>
        <p:spPr>
          <a:xfrm>
            <a:off x="1234440" y="5413248"/>
            <a:ext cx="4343400" cy="548640"/>
          </a:xfrm>
          <a:prstGeom prst="rect">
            <a:avLst/>
          </a:prstGeom>
          <a:noFill/>
          <a:ln/>
        </p:spPr>
        <p:txBody>
          <a:bodyPr wrap="square" lIns="0" tIns="0" rIns="0" bIns="0" rtlCol="0" anchor="t"/>
          <a:lstStyle/>
          <a:p>
            <a:pPr indent="0" marL="0">
              <a:buNone/>
            </a:pPr>
            <a:r>
              <a:rPr lang="en-US" sz="1300" dirty="0">
                <a:solidFill>
                  <a:schemeClr val="tx1"/>
                </a:solidFill>
              </a:rPr>
              <a:t>Bengaluru Technology Centre: R&amp;D and localisation for India and the world</a:t>
            </a:r>
            <a:endParaRPr lang="en-US" sz="1300" dirty="0"/>
          </a:p>
        </p:txBody>
      </p:sp>
      <p:sp>
        <p:nvSpPr>
          <p:cNvPr id="24" name="Text 17"/>
          <p:cNvSpPr txBox="1"/>
          <p:nvPr/>
        </p:nvSpPr>
        <p:spPr>
          <a:xfrm>
            <a:off x="5852160" y="1417320"/>
            <a:ext cx="5760720" cy="329184"/>
          </a:xfrm>
          <a:prstGeom prst="rect">
            <a:avLst/>
          </a:prstGeom>
          <a:noFill/>
          <a:ln/>
        </p:spPr>
        <p:txBody>
          <a:bodyPr wrap="square" lIns="0" tIns="0" rIns="0" bIns="0" rtlCol="0" anchor="ctr"/>
          <a:lstStyle/>
          <a:p>
            <a:pPr indent="0" marL="0">
              <a:buNone/>
            </a:pPr>
            <a:r>
              <a:rPr lang="en-US" sz="1600" b="1" dirty="0">
                <a:solidFill>
                  <a:schemeClr val="tx2"/>
                </a:solidFill>
              </a:rPr>
              <a:t>From steel to machine at Peenya</a:t>
            </a:r>
            <a:endParaRPr lang="en-US" sz="1600" dirty="0"/>
          </a:p>
        </p:txBody>
      </p:sp>
      <p:sp>
        <p:nvSpPr>
          <p:cNvPr id="25" name="flow step 1"/>
          <p:cNvSpPr/>
          <p:nvPr/>
        </p:nvSpPr>
        <p:spPr>
          <a:xfrm>
            <a:off x="5852160" y="1847088"/>
            <a:ext cx="1874520" cy="566928"/>
          </a:xfrm>
          <a:prstGeom prst="chevron">
            <a:avLst/>
          </a:prstGeom>
          <a:solidFill>
            <a:schemeClr val="tx2"/>
          </a:solidFill>
          <a:ln/>
        </p:spPr>
      </p:sp>
      <p:sp>
        <p:nvSpPr>
          <p:cNvPr id="26" name="Text 19"/>
          <p:cNvSpPr txBox="1"/>
          <p:nvPr/>
        </p:nvSpPr>
        <p:spPr>
          <a:xfrm>
            <a:off x="6053328" y="1847088"/>
            <a:ext cx="1508760" cy="566928"/>
          </a:xfrm>
          <a:prstGeom prst="rect">
            <a:avLst/>
          </a:prstGeom>
          <a:noFill/>
          <a:ln/>
        </p:spPr>
        <p:txBody>
          <a:bodyPr wrap="square" lIns="0" tIns="0" rIns="0" bIns="0" rtlCol="0" anchor="ctr"/>
          <a:lstStyle/>
          <a:p>
            <a:pPr algn="ctr" indent="0" marL="0">
              <a:buNone/>
            </a:pPr>
            <a:r>
              <a:rPr lang="en-US" sz="1300" b="1" dirty="0">
                <a:solidFill>
                  <a:schemeClr val="bg1"/>
                </a:solidFill>
              </a:rPr>
              <a:t>1  Receiving</a:t>
            </a:r>
            <a:endParaRPr lang="en-US" sz="1300" dirty="0"/>
          </a:p>
        </p:txBody>
      </p:sp>
      <p:sp>
        <p:nvSpPr>
          <p:cNvPr id="27" name="Text 20"/>
          <p:cNvSpPr txBox="1"/>
          <p:nvPr/>
        </p:nvSpPr>
        <p:spPr>
          <a:xfrm>
            <a:off x="5897880" y="2450592"/>
            <a:ext cx="1783080" cy="457200"/>
          </a:xfrm>
          <a:prstGeom prst="rect">
            <a:avLst/>
          </a:prstGeom>
          <a:noFill/>
          <a:ln/>
        </p:spPr>
        <p:txBody>
          <a:bodyPr wrap="square" lIns="0" tIns="0" rIns="0" bIns="0" rtlCol="0" anchor="t"/>
          <a:lstStyle/>
          <a:p>
            <a:pPr algn="ctr" indent="0" marL="0">
              <a:buNone/>
            </a:pPr>
            <a:r>
              <a:rPr lang="en-US" sz="1100" dirty="0">
                <a:solidFill>
                  <a:schemeClr val="accent3"/>
                </a:solidFill>
              </a:rPr>
              <a:t>Steel plate, castings, purchased parts</a:t>
            </a:r>
            <a:endParaRPr lang="en-US" sz="1100" dirty="0"/>
          </a:p>
        </p:txBody>
      </p:sp>
      <p:sp>
        <p:nvSpPr>
          <p:cNvPr id="28" name="flow step 2"/>
          <p:cNvSpPr/>
          <p:nvPr/>
        </p:nvSpPr>
        <p:spPr>
          <a:xfrm>
            <a:off x="7808976" y="1847088"/>
            <a:ext cx="1874520" cy="566928"/>
          </a:xfrm>
          <a:prstGeom prst="chevron">
            <a:avLst/>
          </a:prstGeom>
          <a:solidFill>
            <a:schemeClr val="tx2"/>
          </a:solidFill>
          <a:ln/>
        </p:spPr>
      </p:sp>
      <p:sp>
        <p:nvSpPr>
          <p:cNvPr id="29" name="Text 22"/>
          <p:cNvSpPr txBox="1"/>
          <p:nvPr/>
        </p:nvSpPr>
        <p:spPr>
          <a:xfrm>
            <a:off x="8010144" y="1847088"/>
            <a:ext cx="1508760" cy="566928"/>
          </a:xfrm>
          <a:prstGeom prst="rect">
            <a:avLst/>
          </a:prstGeom>
          <a:noFill/>
          <a:ln/>
        </p:spPr>
        <p:txBody>
          <a:bodyPr wrap="square" lIns="0" tIns="0" rIns="0" bIns="0" rtlCol="0" anchor="ctr"/>
          <a:lstStyle/>
          <a:p>
            <a:pPr algn="ctr" indent="0" marL="0">
              <a:buNone/>
            </a:pPr>
            <a:r>
              <a:rPr lang="en-US" sz="1300" b="1" dirty="0">
                <a:solidFill>
                  <a:schemeClr val="bg1"/>
                </a:solidFill>
              </a:rPr>
              <a:t>2  Fabrication</a:t>
            </a:r>
            <a:endParaRPr lang="en-US" sz="1300" dirty="0"/>
          </a:p>
        </p:txBody>
      </p:sp>
      <p:sp>
        <p:nvSpPr>
          <p:cNvPr id="30" name="Text 23"/>
          <p:cNvSpPr txBox="1"/>
          <p:nvPr/>
        </p:nvSpPr>
        <p:spPr>
          <a:xfrm>
            <a:off x="7854696" y="2450592"/>
            <a:ext cx="1783080" cy="457200"/>
          </a:xfrm>
          <a:prstGeom prst="rect">
            <a:avLst/>
          </a:prstGeom>
          <a:noFill/>
          <a:ln/>
        </p:spPr>
        <p:txBody>
          <a:bodyPr wrap="square" lIns="0" tIns="0" rIns="0" bIns="0" rtlCol="0" anchor="t"/>
          <a:lstStyle/>
          <a:p>
            <a:pPr algn="ctr" indent="0" marL="0">
              <a:buNone/>
            </a:pPr>
            <a:r>
              <a:rPr lang="en-US" sz="1100" dirty="0">
                <a:solidFill>
                  <a:schemeClr val="accent3"/>
                </a:solidFill>
              </a:rPr>
              <a:t>Cutting and welding of booms, arms, frames</a:t>
            </a:r>
            <a:endParaRPr lang="en-US" sz="1100" dirty="0"/>
          </a:p>
        </p:txBody>
      </p:sp>
      <p:sp>
        <p:nvSpPr>
          <p:cNvPr id="31" name="flow step 3"/>
          <p:cNvSpPr/>
          <p:nvPr/>
        </p:nvSpPr>
        <p:spPr>
          <a:xfrm>
            <a:off x="9765792" y="1847088"/>
            <a:ext cx="1874520" cy="566928"/>
          </a:xfrm>
          <a:prstGeom prst="chevron">
            <a:avLst/>
          </a:prstGeom>
          <a:solidFill>
            <a:schemeClr val="accent1"/>
          </a:solidFill>
          <a:ln/>
        </p:spPr>
      </p:sp>
      <p:sp>
        <p:nvSpPr>
          <p:cNvPr id="32" name="Text 25"/>
          <p:cNvSpPr txBox="1"/>
          <p:nvPr/>
        </p:nvSpPr>
        <p:spPr>
          <a:xfrm>
            <a:off x="9966960" y="1847088"/>
            <a:ext cx="1508760" cy="566928"/>
          </a:xfrm>
          <a:prstGeom prst="rect">
            <a:avLst/>
          </a:prstGeom>
          <a:noFill/>
          <a:ln/>
        </p:spPr>
        <p:txBody>
          <a:bodyPr wrap="square" lIns="0" tIns="0" rIns="0" bIns="0" rtlCol="0" anchor="ctr"/>
          <a:lstStyle/>
          <a:p>
            <a:pPr algn="ctr" indent="0" marL="0">
              <a:buNone/>
            </a:pPr>
            <a:r>
              <a:rPr lang="en-US" sz="1300" b="1" dirty="0">
                <a:solidFill>
                  <a:schemeClr val="tx2"/>
                </a:solidFill>
              </a:rPr>
              <a:t>3  Machine shop</a:t>
            </a:r>
            <a:endParaRPr lang="en-US" sz="1300" dirty="0"/>
          </a:p>
        </p:txBody>
      </p:sp>
      <p:sp>
        <p:nvSpPr>
          <p:cNvPr id="33" name="Text 26"/>
          <p:cNvSpPr txBox="1"/>
          <p:nvPr/>
        </p:nvSpPr>
        <p:spPr>
          <a:xfrm>
            <a:off x="9811512" y="2450592"/>
            <a:ext cx="1783080" cy="457200"/>
          </a:xfrm>
          <a:prstGeom prst="rect">
            <a:avLst/>
          </a:prstGeom>
          <a:noFill/>
          <a:ln/>
        </p:spPr>
        <p:txBody>
          <a:bodyPr wrap="square" lIns="0" tIns="0" rIns="0" bIns="0" rtlCol="0" anchor="t"/>
          <a:lstStyle/>
          <a:p>
            <a:pPr algn="ctr" indent="0" marL="0">
              <a:buNone/>
            </a:pPr>
            <a:r>
              <a:rPr lang="en-US" sz="1100" b="1" dirty="0">
                <a:solidFill>
                  <a:schemeClr val="accent2"/>
                </a:solidFill>
              </a:rPr>
              <a:t>Boring, milling, drilling: our focus</a:t>
            </a:r>
            <a:endParaRPr lang="en-US" sz="1100" dirty="0"/>
          </a:p>
        </p:txBody>
      </p:sp>
      <p:sp>
        <p:nvSpPr>
          <p:cNvPr id="34" name="flow step 4"/>
          <p:cNvSpPr/>
          <p:nvPr/>
        </p:nvSpPr>
        <p:spPr>
          <a:xfrm>
            <a:off x="5852160" y="3054096"/>
            <a:ext cx="1874520" cy="566928"/>
          </a:xfrm>
          <a:prstGeom prst="chevron">
            <a:avLst/>
          </a:prstGeom>
          <a:solidFill>
            <a:schemeClr val="tx2"/>
          </a:solidFill>
          <a:ln/>
        </p:spPr>
      </p:sp>
      <p:sp>
        <p:nvSpPr>
          <p:cNvPr id="35" name="Text 28"/>
          <p:cNvSpPr txBox="1"/>
          <p:nvPr/>
        </p:nvSpPr>
        <p:spPr>
          <a:xfrm>
            <a:off x="6053328" y="3054096"/>
            <a:ext cx="1508760" cy="566928"/>
          </a:xfrm>
          <a:prstGeom prst="rect">
            <a:avLst/>
          </a:prstGeom>
          <a:noFill/>
          <a:ln/>
        </p:spPr>
        <p:txBody>
          <a:bodyPr wrap="square" lIns="0" tIns="0" rIns="0" bIns="0" rtlCol="0" anchor="ctr"/>
          <a:lstStyle/>
          <a:p>
            <a:pPr algn="ctr" indent="0" marL="0">
              <a:buNone/>
            </a:pPr>
            <a:r>
              <a:rPr lang="en-US" sz="1300" b="1" dirty="0">
                <a:solidFill>
                  <a:schemeClr val="bg1"/>
                </a:solidFill>
              </a:rPr>
              <a:t>4  Paint shop</a:t>
            </a:r>
            <a:endParaRPr lang="en-US" sz="1300" dirty="0"/>
          </a:p>
        </p:txBody>
      </p:sp>
      <p:sp>
        <p:nvSpPr>
          <p:cNvPr id="36" name="Text 29"/>
          <p:cNvSpPr txBox="1"/>
          <p:nvPr/>
        </p:nvSpPr>
        <p:spPr>
          <a:xfrm>
            <a:off x="5897880" y="3657600"/>
            <a:ext cx="1783080" cy="457200"/>
          </a:xfrm>
          <a:prstGeom prst="rect">
            <a:avLst/>
          </a:prstGeom>
          <a:noFill/>
          <a:ln/>
        </p:spPr>
        <p:txBody>
          <a:bodyPr wrap="square" lIns="0" tIns="0" rIns="0" bIns="0" rtlCol="0" anchor="t"/>
          <a:lstStyle/>
          <a:p>
            <a:pPr algn="ctr" indent="0" marL="0">
              <a:buNone/>
            </a:pPr>
            <a:r>
              <a:rPr lang="en-US" sz="1100" dirty="0">
                <a:solidFill>
                  <a:schemeClr val="accent3"/>
                </a:solidFill>
              </a:rPr>
              <a:t>Frames primed and painted</a:t>
            </a:r>
            <a:endParaRPr lang="en-US" sz="1100" dirty="0"/>
          </a:p>
        </p:txBody>
      </p:sp>
      <p:sp>
        <p:nvSpPr>
          <p:cNvPr id="37" name="flow step 5"/>
          <p:cNvSpPr/>
          <p:nvPr/>
        </p:nvSpPr>
        <p:spPr>
          <a:xfrm>
            <a:off x="7808976" y="3054096"/>
            <a:ext cx="1874520" cy="566928"/>
          </a:xfrm>
          <a:prstGeom prst="chevron">
            <a:avLst/>
          </a:prstGeom>
          <a:solidFill>
            <a:schemeClr val="tx2"/>
          </a:solidFill>
          <a:ln/>
        </p:spPr>
      </p:sp>
      <p:sp>
        <p:nvSpPr>
          <p:cNvPr id="38" name="Text 31"/>
          <p:cNvSpPr txBox="1"/>
          <p:nvPr/>
        </p:nvSpPr>
        <p:spPr>
          <a:xfrm>
            <a:off x="8010144" y="3054096"/>
            <a:ext cx="1508760" cy="566928"/>
          </a:xfrm>
          <a:prstGeom prst="rect">
            <a:avLst/>
          </a:prstGeom>
          <a:noFill/>
          <a:ln/>
        </p:spPr>
        <p:txBody>
          <a:bodyPr wrap="square" lIns="0" tIns="0" rIns="0" bIns="0" rtlCol="0" anchor="ctr"/>
          <a:lstStyle/>
          <a:p>
            <a:pPr algn="ctr" indent="0" marL="0">
              <a:buNone/>
            </a:pPr>
            <a:r>
              <a:rPr lang="en-US" sz="1300" b="1" dirty="0">
                <a:solidFill>
                  <a:schemeClr val="bg1"/>
                </a:solidFill>
              </a:rPr>
              <a:t>5  Assembly</a:t>
            </a:r>
            <a:endParaRPr lang="en-US" sz="1300" dirty="0"/>
          </a:p>
        </p:txBody>
      </p:sp>
      <p:sp>
        <p:nvSpPr>
          <p:cNvPr id="39" name="Text 32"/>
          <p:cNvSpPr txBox="1"/>
          <p:nvPr/>
        </p:nvSpPr>
        <p:spPr>
          <a:xfrm>
            <a:off x="7854696" y="3657600"/>
            <a:ext cx="1783080" cy="457200"/>
          </a:xfrm>
          <a:prstGeom prst="rect">
            <a:avLst/>
          </a:prstGeom>
          <a:noFill/>
          <a:ln/>
        </p:spPr>
        <p:txBody>
          <a:bodyPr wrap="square" lIns="0" tIns="0" rIns="0" bIns="0" rtlCol="0" anchor="t"/>
          <a:lstStyle/>
          <a:p>
            <a:pPr algn="ctr" indent="0" marL="0">
              <a:buNone/>
            </a:pPr>
            <a:r>
              <a:rPr lang="en-US" sz="1100" dirty="0">
                <a:solidFill>
                  <a:schemeClr val="accent3"/>
                </a:solidFill>
              </a:rPr>
              <a:t>Line paced by the digital takt board</a:t>
            </a:r>
            <a:endParaRPr lang="en-US" sz="1100" dirty="0"/>
          </a:p>
        </p:txBody>
      </p:sp>
      <p:sp>
        <p:nvSpPr>
          <p:cNvPr id="40" name="flow step 6"/>
          <p:cNvSpPr/>
          <p:nvPr/>
        </p:nvSpPr>
        <p:spPr>
          <a:xfrm>
            <a:off x="9765792" y="3054096"/>
            <a:ext cx="1874520" cy="566928"/>
          </a:xfrm>
          <a:prstGeom prst="chevron">
            <a:avLst/>
          </a:prstGeom>
          <a:solidFill>
            <a:schemeClr val="tx2"/>
          </a:solidFill>
          <a:ln/>
        </p:spPr>
      </p:sp>
      <p:sp>
        <p:nvSpPr>
          <p:cNvPr id="41" name="Text 34"/>
          <p:cNvSpPr txBox="1"/>
          <p:nvPr/>
        </p:nvSpPr>
        <p:spPr>
          <a:xfrm>
            <a:off x="9966960" y="3054096"/>
            <a:ext cx="1508760" cy="566928"/>
          </a:xfrm>
          <a:prstGeom prst="rect">
            <a:avLst/>
          </a:prstGeom>
          <a:noFill/>
          <a:ln/>
        </p:spPr>
        <p:txBody>
          <a:bodyPr wrap="square" lIns="0" tIns="0" rIns="0" bIns="0" rtlCol="0" anchor="ctr"/>
          <a:lstStyle/>
          <a:p>
            <a:pPr algn="ctr" indent="0" marL="0">
              <a:buNone/>
            </a:pPr>
            <a:r>
              <a:rPr lang="en-US" sz="1300" b="1" dirty="0">
                <a:solidFill>
                  <a:schemeClr val="bg1"/>
                </a:solidFill>
              </a:rPr>
              <a:t>6  Test &amp; dispatch</a:t>
            </a:r>
            <a:endParaRPr lang="en-US" sz="1300" dirty="0"/>
          </a:p>
        </p:txBody>
      </p:sp>
      <p:sp>
        <p:nvSpPr>
          <p:cNvPr id="42" name="Text 35"/>
          <p:cNvSpPr txBox="1"/>
          <p:nvPr/>
        </p:nvSpPr>
        <p:spPr>
          <a:xfrm>
            <a:off x="9811512" y="3657600"/>
            <a:ext cx="1783080" cy="457200"/>
          </a:xfrm>
          <a:prstGeom prst="rect">
            <a:avLst/>
          </a:prstGeom>
          <a:noFill/>
          <a:ln/>
        </p:spPr>
        <p:txBody>
          <a:bodyPr wrap="square" lIns="0" tIns="0" rIns="0" bIns="0" rtlCol="0" anchor="t"/>
          <a:lstStyle/>
          <a:p>
            <a:pPr algn="ctr" indent="0" marL="0">
              <a:buNone/>
            </a:pPr>
            <a:r>
              <a:rPr lang="en-US" sz="1100" dirty="0">
                <a:solidFill>
                  <a:schemeClr val="accent3"/>
                </a:solidFill>
              </a:rPr>
              <a:t>Function test, final inspection, dispatch</a:t>
            </a:r>
            <a:endParaRPr lang="en-US" sz="1100" dirty="0"/>
          </a:p>
        </p:txBody>
      </p:sp>
      <p:sp>
        <p:nvSpPr>
          <p:cNvPr id="43" name="Text 36"/>
          <p:cNvSpPr txBox="1"/>
          <p:nvPr/>
        </p:nvSpPr>
        <p:spPr>
          <a:xfrm>
            <a:off x="5852160" y="4315968"/>
            <a:ext cx="5760720" cy="292608"/>
          </a:xfrm>
          <a:prstGeom prst="rect">
            <a:avLst/>
          </a:prstGeom>
          <a:noFill/>
          <a:ln/>
        </p:spPr>
        <p:txBody>
          <a:bodyPr wrap="square" lIns="0" tIns="0" rIns="0" bIns="0" rtlCol="0" anchor="ctr"/>
          <a:lstStyle/>
          <a:p>
            <a:pPr indent="0" marL="0">
              <a:buNone/>
            </a:pPr>
            <a:r>
              <a:rPr lang="en-US" sz="1400" b="1" dirty="0">
                <a:solidFill>
                  <a:schemeClr val="tx2"/>
                </a:solidFill>
              </a:rPr>
              <a:t>Recent milestones</a:t>
            </a:r>
            <a:endParaRPr lang="en-US" sz="1400" dirty="0"/>
          </a:p>
        </p:txBody>
      </p:sp>
      <p:sp>
        <p:nvSpPr>
          <p:cNvPr id="44" name="milestone card"/>
          <p:cNvSpPr/>
          <p:nvPr/>
        </p:nvSpPr>
        <p:spPr>
          <a:xfrm>
            <a:off x="5852160" y="4663440"/>
            <a:ext cx="1810512" cy="1508760"/>
          </a:xfrm>
          <a:prstGeom prst="roundRect">
            <a:avLst>
              <a:gd name="adj" fmla="val 4848"/>
            </a:avLst>
          </a:prstGeom>
          <a:solidFill>
            <a:schemeClr val="bg2"/>
          </a:solidFill>
          <a:ln/>
        </p:spPr>
      </p:sp>
      <p:sp>
        <p:nvSpPr>
          <p:cNvPr id="45" name="Text 38"/>
          <p:cNvSpPr txBox="1"/>
          <p:nvPr/>
        </p:nvSpPr>
        <p:spPr>
          <a:xfrm>
            <a:off x="5961888" y="4736592"/>
            <a:ext cx="1609344" cy="457200"/>
          </a:xfrm>
          <a:prstGeom prst="rect">
            <a:avLst/>
          </a:prstGeom>
          <a:noFill/>
          <a:ln/>
        </p:spPr>
        <p:txBody>
          <a:bodyPr wrap="square" lIns="0" tIns="0" rIns="0" bIns="0" rtlCol="0" anchor="t"/>
          <a:lstStyle/>
          <a:p>
            <a:pPr indent="0" marL="0">
              <a:buNone/>
            </a:pPr>
            <a:r>
              <a:rPr lang="en-US" sz="1200" b="1" dirty="0">
                <a:solidFill>
                  <a:schemeClr val="accent2"/>
                </a:solidFill>
              </a:rPr>
              <a:t>Dec 2025 · EXCON, Bengaluru</a:t>
            </a:r>
            <a:endParaRPr lang="en-US" sz="1200" dirty="0"/>
          </a:p>
        </p:txBody>
      </p:sp>
      <p:sp>
        <p:nvSpPr>
          <p:cNvPr id="46" name="Text 39"/>
          <p:cNvSpPr txBox="1"/>
          <p:nvPr/>
        </p:nvSpPr>
        <p:spPr>
          <a:xfrm>
            <a:off x="5961888" y="5212080"/>
            <a:ext cx="1609344" cy="868680"/>
          </a:xfrm>
          <a:prstGeom prst="rect">
            <a:avLst/>
          </a:prstGeom>
          <a:noFill/>
          <a:ln/>
        </p:spPr>
        <p:txBody>
          <a:bodyPr wrap="square" lIns="0" tIns="0" rIns="0" bIns="0" rtlCol="0" anchor="t"/>
          <a:lstStyle/>
          <a:p>
            <a:pPr indent="0" marL="0">
              <a:buNone/>
            </a:pPr>
            <a:r>
              <a:rPr lang="en-US" sz="1200" dirty="0">
                <a:solidFill>
                  <a:schemeClr val="tx1"/>
                </a:solidFill>
              </a:rPr>
              <a:t>EC215 “Made in Bharat” 20–22 t excavator unveiled</a:t>
            </a:r>
            <a:endParaRPr lang="en-US" sz="1200" dirty="0"/>
          </a:p>
        </p:txBody>
      </p:sp>
      <p:sp>
        <p:nvSpPr>
          <p:cNvPr id="47" name="milestone card"/>
          <p:cNvSpPr/>
          <p:nvPr/>
        </p:nvSpPr>
        <p:spPr>
          <a:xfrm>
            <a:off x="7808976" y="4663440"/>
            <a:ext cx="1810512" cy="1508760"/>
          </a:xfrm>
          <a:prstGeom prst="roundRect">
            <a:avLst>
              <a:gd name="adj" fmla="val 4848"/>
            </a:avLst>
          </a:prstGeom>
          <a:solidFill>
            <a:schemeClr val="bg2"/>
          </a:solidFill>
          <a:ln/>
        </p:spPr>
      </p:sp>
      <p:sp>
        <p:nvSpPr>
          <p:cNvPr id="48" name="Text 41"/>
          <p:cNvSpPr txBox="1"/>
          <p:nvPr/>
        </p:nvSpPr>
        <p:spPr>
          <a:xfrm>
            <a:off x="7918704" y="4736592"/>
            <a:ext cx="1609344" cy="457200"/>
          </a:xfrm>
          <a:prstGeom prst="rect">
            <a:avLst/>
          </a:prstGeom>
          <a:noFill/>
          <a:ln/>
        </p:spPr>
        <p:txBody>
          <a:bodyPr wrap="square" lIns="0" tIns="0" rIns="0" bIns="0" rtlCol="0" anchor="t"/>
          <a:lstStyle/>
          <a:p>
            <a:pPr indent="0" marL="0">
              <a:buNone/>
            </a:pPr>
            <a:r>
              <a:rPr lang="en-US" sz="1200" b="1" dirty="0">
                <a:solidFill>
                  <a:schemeClr val="accent2"/>
                </a:solidFill>
              </a:rPr>
              <a:t>Sep 2026 · bauma CONEXPO INDIA</a:t>
            </a:r>
            <a:endParaRPr lang="en-US" sz="1200" dirty="0"/>
          </a:p>
        </p:txBody>
      </p:sp>
      <p:sp>
        <p:nvSpPr>
          <p:cNvPr id="49" name="Text 42"/>
          <p:cNvSpPr txBox="1"/>
          <p:nvPr/>
        </p:nvSpPr>
        <p:spPr>
          <a:xfrm>
            <a:off x="7918704" y="5212080"/>
            <a:ext cx="1609344" cy="868680"/>
          </a:xfrm>
          <a:prstGeom prst="rect">
            <a:avLst/>
          </a:prstGeom>
          <a:noFill/>
          <a:ln/>
        </p:spPr>
        <p:txBody>
          <a:bodyPr wrap="square" lIns="0" tIns="0" rIns="0" bIns="0" rtlCol="0" anchor="t"/>
          <a:lstStyle/>
          <a:p>
            <a:pPr indent="0" marL="0">
              <a:buNone/>
            </a:pPr>
            <a:r>
              <a:rPr lang="en-US" sz="1200" dirty="0">
                <a:solidFill>
                  <a:schemeClr val="tx1"/>
                </a:solidFill>
              </a:rPr>
              <a:t>EC650, a 65 t mining excavator, launched</a:t>
            </a:r>
            <a:endParaRPr lang="en-US" sz="1200" dirty="0"/>
          </a:p>
        </p:txBody>
      </p:sp>
      <p:sp>
        <p:nvSpPr>
          <p:cNvPr id="50" name="milestone card"/>
          <p:cNvSpPr/>
          <p:nvPr/>
        </p:nvSpPr>
        <p:spPr>
          <a:xfrm>
            <a:off x="9765792" y="4663440"/>
            <a:ext cx="1810512" cy="1508760"/>
          </a:xfrm>
          <a:prstGeom prst="roundRect">
            <a:avLst>
              <a:gd name="adj" fmla="val 4848"/>
            </a:avLst>
          </a:prstGeom>
          <a:solidFill>
            <a:schemeClr val="bg2"/>
          </a:solidFill>
          <a:ln/>
        </p:spPr>
      </p:sp>
      <p:sp>
        <p:nvSpPr>
          <p:cNvPr id="51" name="Text 44"/>
          <p:cNvSpPr txBox="1"/>
          <p:nvPr/>
        </p:nvSpPr>
        <p:spPr>
          <a:xfrm>
            <a:off x="9875520" y="4736592"/>
            <a:ext cx="1609344" cy="457200"/>
          </a:xfrm>
          <a:prstGeom prst="rect">
            <a:avLst/>
          </a:prstGeom>
          <a:noFill/>
          <a:ln/>
        </p:spPr>
        <p:txBody>
          <a:bodyPr wrap="square" lIns="0" tIns="0" rIns="0" bIns="0" rtlCol="0" anchor="t"/>
          <a:lstStyle/>
          <a:p>
            <a:pPr indent="0" marL="0">
              <a:buNone/>
            </a:pPr>
            <a:r>
              <a:rPr lang="en-US" sz="1200" b="1" dirty="0">
                <a:solidFill>
                  <a:schemeClr val="accent2"/>
                </a:solidFill>
              </a:rPr>
              <a:t>2027 · Next</a:t>
            </a:r>
            <a:endParaRPr lang="en-US" sz="1200" dirty="0"/>
          </a:p>
        </p:txBody>
      </p:sp>
      <p:sp>
        <p:nvSpPr>
          <p:cNvPr id="52" name="Text 45"/>
          <p:cNvSpPr txBox="1"/>
          <p:nvPr/>
        </p:nvSpPr>
        <p:spPr>
          <a:xfrm>
            <a:off x="9875520" y="5212080"/>
            <a:ext cx="1609344" cy="868680"/>
          </a:xfrm>
          <a:prstGeom prst="rect">
            <a:avLst/>
          </a:prstGeom>
          <a:noFill/>
          <a:ln/>
        </p:spPr>
        <p:txBody>
          <a:bodyPr wrap="square" lIns="0" tIns="0" rIns="0" bIns="0" rtlCol="0" anchor="t"/>
          <a:lstStyle/>
          <a:p>
            <a:pPr indent="0" marL="0">
              <a:buNone/>
            </a:pPr>
            <a:r>
              <a:rPr lang="en-US" sz="1200" dirty="0">
                <a:solidFill>
                  <a:schemeClr val="tx1"/>
                </a:solidFill>
              </a:rPr>
              <a:t>Localised medium wheel loaders after SDLG exit</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3 · VOLVO CE INDIA PRODUCT OFFERING</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tx2"/>
                </a:solidFill>
              </a:rPr>
              <a:t>India offering: application &amp; tonnage</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909560" cy="914400"/>
        </p:xfrm>
        <a:graphic>
          <a:graphicData uri="http://schemas.openxmlformats.org/drawingml/2006/table">
            <a:tbl>
              <a:tblPr/>
              <a:tblGrid>
                <a:gridCol w="1965960"/>
                <a:gridCol w="2377440"/>
                <a:gridCol w="960120"/>
                <a:gridCol w="2606040"/>
              </a:tblGrid>
              <a:tr h="384048">
                <a:tc>
                  <a:txBody>
                    <a:bodyPr/>
                    <a:lstStyle/>
                    <a:p>
                      <a:pPr indent="0" marL="0">
                        <a:buNone/>
                      </a:pPr>
                      <a:r>
                        <a:rPr lang="en-US" sz="1200" b="1" dirty="0">
                          <a:solidFill>
                            <a:schemeClr val="bg1"/>
                          </a:solidFill>
                        </a:rPr>
                        <a:t>Segment</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Models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Tonnage</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Typical applications in India</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chemeClr val="tx2"/>
                    </a:solidFill>
                  </a:tcPr>
                </a:tc>
              </a:tr>
              <a:tr h="603504">
                <a:tc>
                  <a:txBody>
                    <a:bodyPr/>
                    <a:lstStyle/>
                    <a:p>
                      <a:pPr indent="0" marL="0">
                        <a:buNone/>
                      </a:pPr>
                      <a:r>
                        <a:rPr lang="en-US" sz="1200" b="1" dirty="0">
                          <a:solidFill>
                            <a:schemeClr val="tx1"/>
                          </a:solidFill>
                        </a:rPr>
                        <a:t>20–22 t crawler excavators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EC210, EC215, EC220</a:t>
                      </a:r>
                      <a:endParaRPr lang="en-US" sz="1200" dirty="0"/>
                    </a:p>
                    <a:p>
                      <a:pPr indent="0" marL="0">
                        <a:buNone/>
                      </a:pPr>
                      <a:r>
                        <a:rPr lang="en-US" sz="1100" b="1" dirty="0">
                          <a:solidFill>
                            <a:schemeClr val="accent2"/>
                          </a:solidFill>
                        </a:rPr>
                        <a:t>  ● Built at Peenya</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20–22 t</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Highways, irrigation canals, urban infra, stone quarries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chemeClr val="tx1"/>
                          </a:solidFill>
                        </a:rPr>
                        <a:t>Heavy crawler excavators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EC300, EC380, EC480</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30–48 t</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Quarrying, mass earthmoving, overburden removal</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chemeClr val="tx1"/>
                          </a:solidFill>
                        </a:rPr>
                        <a:t>Mining excavators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EC650 (new, Sep 2026), EC750</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65–75 t</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Coal and iron-ore mines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chemeClr val="tx1"/>
                          </a:solidFill>
                        </a:rPr>
                        <a:t>Wheel loaders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Premium L-series incl. L120 Electric</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≈20 t +</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Mining, cement, steel plants, ports (~100 a year)</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chemeClr val="tx1"/>
                          </a:solidFill>
                        </a:rPr>
                        <a:t>Soil compactors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SD110 / SD110C</a:t>
                      </a:r>
                      <a:endParaRPr lang="en-US" sz="1200" dirty="0"/>
                    </a:p>
                    <a:p>
                      <a:pPr indent="0" marL="0">
                        <a:buNone/>
                      </a:pPr>
                      <a:r>
                        <a:rPr lang="en-US" sz="1100" b="1" dirty="0">
                          <a:solidFill>
                            <a:schemeClr val="accent2"/>
                          </a:solidFill>
                        </a:rPr>
                        <a:t>  ● Built at Peenya</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≈11 t</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Highway embankments, sub-grade compaction</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chemeClr val="tx1"/>
                          </a:solidFill>
                        </a:rPr>
                        <a:t>Asphalt compactors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DD90C, DD100C, PT220</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≈9–10 t</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Bituminous surfacing of roads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chemeClr val="tx1"/>
                          </a:solidFill>
                        </a:rPr>
                        <a:t>Asphalt pavers (ABG)</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P4370D wheeled; P5320D–P8820D tracked</a:t>
                      </a:r>
                      <a:endParaRPr lang="en-US" sz="1200" dirty="0"/>
                    </a:p>
                    <a:p>
                      <a:pPr indent="0" marL="0">
                        <a:buNone/>
                      </a:pPr>
                      <a:r>
                        <a:rPr lang="en-US" sz="1100" b="1" dirty="0">
                          <a:solidFill>
                            <a:schemeClr val="accent2"/>
                          </a:solidFill>
                        </a:rPr>
                        <a:t>  ● Built at Peenya</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Paving width</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National highways and expressways</a:t>
                      </a:r>
                      <a:endParaRPr lang="en-US" sz="1200" dirty="0"/>
                    </a:p>
                  </a:txBody>
                  <a:tcPr marL="73152" marR="73152" marT="36576" marB="36576"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bl>
          </a:graphicData>
        </a:graphic>
      </p:graphicFrame>
      <p:sp>
        <p:nvSpPr>
          <p:cNvPr id="5" name="insight card"/>
          <p:cNvSpPr/>
          <p:nvPr/>
        </p:nvSpPr>
        <p:spPr>
          <a:xfrm>
            <a:off x="8732520" y="1463040"/>
            <a:ext cx="2907792" cy="4709160"/>
          </a:xfrm>
          <a:prstGeom prst="roundRect">
            <a:avLst>
              <a:gd name="adj" fmla="val 2516"/>
            </a:avLst>
          </a:prstGeom>
          <a:solidFill>
            <a:schemeClr val="tx2"/>
          </a:solidFill>
          <a:ln/>
        </p:spPr>
      </p:sp>
      <p:sp>
        <p:nvSpPr>
          <p:cNvPr id="6" name="Text 3"/>
          <p:cNvSpPr txBox="1"/>
          <p:nvPr/>
        </p:nvSpPr>
        <p:spPr>
          <a:xfrm>
            <a:off x="8915400" y="1627632"/>
            <a:ext cx="256032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WHY +20% MATTERS</a:t>
            </a:r>
            <a:endParaRPr lang="en-US" sz="1200" dirty="0"/>
          </a:p>
        </p:txBody>
      </p:sp>
      <p:sp>
        <p:nvSpPr>
          <p:cNvPr id="7" name="Text 4"/>
          <p:cNvSpPr txBox="1"/>
          <p:nvPr/>
        </p:nvSpPr>
        <p:spPr>
          <a:xfrm>
            <a:off x="8915400" y="1938528"/>
            <a:ext cx="2560320" cy="6858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≈70%</a:t>
            </a:r>
            <a:endParaRPr lang="en-US" sz="4000" dirty="0"/>
          </a:p>
        </p:txBody>
      </p:sp>
      <p:sp>
        <p:nvSpPr>
          <p:cNvPr id="8" name="Text 5"/>
          <p:cNvSpPr txBox="1"/>
          <p:nvPr/>
        </p:nvSpPr>
        <p:spPr>
          <a:xfrm>
            <a:off x="8915400" y="2633472"/>
            <a:ext cx="2560320" cy="914400"/>
          </a:xfrm>
          <a:prstGeom prst="rect">
            <a:avLst/>
          </a:prstGeom>
          <a:noFill/>
          <a:ln/>
        </p:spPr>
        <p:txBody>
          <a:bodyPr wrap="square" lIns="0" tIns="0" rIns="0" bIns="0" rtlCol="0" anchor="t"/>
          <a:lstStyle/>
          <a:p>
            <a:pPr indent="0" marL="0">
              <a:buNone/>
            </a:pPr>
            <a:r>
              <a:rPr lang="en-US" sz="1300" dirty="0">
                <a:solidFill>
                  <a:schemeClr val="bg1"/>
                </a:solidFill>
              </a:rPr>
              <a:t>of India's 30,000–35,000 excavators a year are in the 20 t class, the core of the Peenya line</a:t>
            </a:r>
            <a:endParaRPr lang="en-US" sz="1300" dirty="0"/>
          </a:p>
        </p:txBody>
      </p:sp>
      <p:sp>
        <p:nvSpPr>
          <p:cNvPr id="9" name="Text 6"/>
          <p:cNvSpPr txBox="1"/>
          <p:nvPr/>
        </p:nvSpPr>
        <p:spPr>
          <a:xfrm>
            <a:off x="8915400" y="3657600"/>
            <a:ext cx="2560320" cy="594360"/>
          </a:xfrm>
          <a:prstGeom prst="rect">
            <a:avLst/>
          </a:prstGeom>
          <a:noFill/>
          <a:ln/>
        </p:spPr>
        <p:txBody>
          <a:bodyPr wrap="square" lIns="0" tIns="0" rIns="0" bIns="0" rtlCol="0" anchor="ctr"/>
          <a:lstStyle/>
          <a:p>
            <a:pPr indent="0" marL="0">
              <a:buNone/>
            </a:pPr>
            <a:r>
              <a:rPr lang="en-US" sz="3200" b="1" dirty="0">
                <a:solidFill>
                  <a:schemeClr val="accent1"/>
                </a:solidFill>
                <a:latin typeface="Arial" pitchFamily="34" charset="0"/>
                <a:ea typeface="Arial" pitchFamily="34" charset="-122"/>
                <a:cs typeface="Arial" pitchFamily="34" charset="-120"/>
              </a:rPr>
              <a:t>4% → 8%+</a:t>
            </a:r>
            <a:endParaRPr lang="en-US" sz="3200" dirty="0"/>
          </a:p>
        </p:txBody>
      </p:sp>
      <p:sp>
        <p:nvSpPr>
          <p:cNvPr id="10" name="Text 7"/>
          <p:cNvSpPr txBox="1"/>
          <p:nvPr/>
        </p:nvSpPr>
        <p:spPr>
          <a:xfrm>
            <a:off x="8915400" y="4251960"/>
            <a:ext cx="2560320" cy="731520"/>
          </a:xfrm>
          <a:prstGeom prst="rect">
            <a:avLst/>
          </a:prstGeom>
          <a:noFill/>
          <a:ln/>
        </p:spPr>
        <p:txBody>
          <a:bodyPr wrap="square" lIns="0" tIns="0" rIns="0" bIns="0" rtlCol="0" anchor="t"/>
          <a:lstStyle/>
          <a:p>
            <a:pPr indent="0" marL="0">
              <a:buNone/>
            </a:pPr>
            <a:r>
              <a:rPr lang="en-US" sz="1300" dirty="0">
                <a:solidFill>
                  <a:schemeClr val="bg1"/>
                </a:solidFill>
              </a:rPr>
              <a:t>Volvo CE India's 20 t share in 2024 and its goal to more than double it</a:t>
            </a:r>
            <a:endParaRPr lang="en-US" sz="1300" dirty="0"/>
          </a:p>
        </p:txBody>
      </p:sp>
      <p:sp>
        <p:nvSpPr>
          <p:cNvPr id="11" name="Text 8"/>
          <p:cNvSpPr txBox="1"/>
          <p:nvPr/>
        </p:nvSpPr>
        <p:spPr>
          <a:xfrm>
            <a:off x="8915400" y="5074920"/>
            <a:ext cx="2560320" cy="914400"/>
          </a:xfrm>
          <a:prstGeom prst="rect">
            <a:avLst/>
          </a:prstGeom>
          <a:noFill/>
          <a:ln/>
        </p:spPr>
        <p:txBody>
          <a:bodyPr wrap="square" lIns="0" tIns="0" rIns="0" bIns="0" rtlCol="0" anchor="t"/>
          <a:lstStyle/>
          <a:p>
            <a:pPr indent="0" marL="0">
              <a:buNone/>
            </a:pPr>
            <a:r>
              <a:rPr lang="en-US" sz="1300" b="1" i="1" dirty="0">
                <a:solidFill>
                  <a:schemeClr val="bg2"/>
                </a:solidFill>
              </a:rPr>
              <a:t>More demand at Peenya means the machine shop must deliver more units per shift.</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4 · GROUP 3 PROBLEM STATEMENT</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tx2"/>
                </a:solidFill>
              </a:rPr>
              <a:t>The brief: 10 → 12 excavators a shift</a:t>
            </a:r>
            <a:endParaRPr lang="en-US" sz="3600" dirty="0"/>
          </a:p>
        </p:txBody>
      </p:sp>
      <p:sp>
        <p:nvSpPr>
          <p:cNvPr id="4" name="stat tile"/>
          <p:cNvSpPr/>
          <p:nvPr/>
        </p:nvSpPr>
        <p:spPr>
          <a:xfrm>
            <a:off x="548640" y="1463040"/>
            <a:ext cx="2569464" cy="1371600"/>
          </a:xfrm>
          <a:prstGeom prst="roundRect">
            <a:avLst>
              <a:gd name="adj" fmla="val 5333"/>
            </a:avLst>
          </a:prstGeom>
          <a:solidFill>
            <a:schemeClr val="bg2"/>
          </a:solidFill>
          <a:ln/>
        </p:spPr>
      </p:sp>
      <p:sp>
        <p:nvSpPr>
          <p:cNvPr id="5" name="Text 3"/>
          <p:cNvSpPr txBox="1"/>
          <p:nvPr/>
        </p:nvSpPr>
        <p:spPr>
          <a:xfrm>
            <a:off x="731520" y="1554480"/>
            <a:ext cx="2240280" cy="685800"/>
          </a:xfrm>
          <a:prstGeom prst="rect">
            <a:avLst/>
          </a:prstGeom>
          <a:noFill/>
          <a:ln/>
        </p:spPr>
        <p:txBody>
          <a:bodyPr wrap="square" lIns="0" tIns="0" rIns="0" bIns="0" rtlCol="0" anchor="ctr"/>
          <a:lstStyle/>
          <a:p>
            <a:pPr indent="0" marL="0">
              <a:buNone/>
            </a:pPr>
            <a:r>
              <a:rPr lang="en-US" sz="3600" b="1" dirty="0">
                <a:solidFill>
                  <a:schemeClr val="tx2"/>
                </a:solidFill>
                <a:latin typeface="Arial" pitchFamily="34" charset="0"/>
                <a:ea typeface="Arial" pitchFamily="34" charset="-122"/>
                <a:cs typeface="Arial" pitchFamily="34" charset="-120"/>
              </a:rPr>
              <a:t>10</a:t>
            </a:r>
            <a:endParaRPr lang="en-US" sz="3600" dirty="0"/>
          </a:p>
        </p:txBody>
      </p:sp>
      <p:sp>
        <p:nvSpPr>
          <p:cNvPr id="6" name="Text 4"/>
          <p:cNvSpPr txBox="1"/>
          <p:nvPr/>
        </p:nvSpPr>
        <p:spPr>
          <a:xfrm>
            <a:off x="731520" y="2240280"/>
            <a:ext cx="2240280" cy="502920"/>
          </a:xfrm>
          <a:prstGeom prst="rect">
            <a:avLst/>
          </a:prstGeom>
          <a:noFill/>
          <a:ln/>
        </p:spPr>
        <p:txBody>
          <a:bodyPr wrap="square" lIns="0" tIns="0" rIns="0" bIns="0" rtlCol="0" anchor="t"/>
          <a:lstStyle/>
          <a:p>
            <a:pPr indent="0" marL="0">
              <a:buNone/>
            </a:pPr>
            <a:r>
              <a:rPr lang="en-US" sz="1300" dirty="0">
                <a:solidFill>
                  <a:schemeClr val="accent3"/>
                </a:solidFill>
              </a:rPr>
              <a:t>excavators per 8-hour shift today (assumed)</a:t>
            </a:r>
            <a:endParaRPr lang="en-US" sz="1300" dirty="0"/>
          </a:p>
        </p:txBody>
      </p:sp>
      <p:sp>
        <p:nvSpPr>
          <p:cNvPr id="7" name="stat tile"/>
          <p:cNvSpPr/>
          <p:nvPr/>
        </p:nvSpPr>
        <p:spPr>
          <a:xfrm>
            <a:off x="3392424" y="1463040"/>
            <a:ext cx="2569464" cy="1371600"/>
          </a:xfrm>
          <a:prstGeom prst="roundRect">
            <a:avLst>
              <a:gd name="adj" fmla="val 5333"/>
            </a:avLst>
          </a:prstGeom>
          <a:solidFill>
            <a:schemeClr val="tx2"/>
          </a:solidFill>
          <a:ln/>
        </p:spPr>
      </p:sp>
      <p:sp>
        <p:nvSpPr>
          <p:cNvPr id="8" name="Text 6"/>
          <p:cNvSpPr txBox="1"/>
          <p:nvPr/>
        </p:nvSpPr>
        <p:spPr>
          <a:xfrm>
            <a:off x="3575304" y="1554480"/>
            <a:ext cx="224028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12</a:t>
            </a:r>
            <a:endParaRPr lang="en-US" sz="3600" dirty="0"/>
          </a:p>
        </p:txBody>
      </p:sp>
      <p:sp>
        <p:nvSpPr>
          <p:cNvPr id="9" name="Text 7"/>
          <p:cNvSpPr txBox="1"/>
          <p:nvPr/>
        </p:nvSpPr>
        <p:spPr>
          <a:xfrm>
            <a:off x="3575304" y="2240280"/>
            <a:ext cx="2240280" cy="502920"/>
          </a:xfrm>
          <a:prstGeom prst="rect">
            <a:avLst/>
          </a:prstGeom>
          <a:noFill/>
          <a:ln/>
        </p:spPr>
        <p:txBody>
          <a:bodyPr wrap="square" lIns="0" tIns="0" rIns="0" bIns="0" rtlCol="0" anchor="t"/>
          <a:lstStyle/>
          <a:p>
            <a:pPr indent="0" marL="0">
              <a:buNone/>
            </a:pPr>
            <a:r>
              <a:rPr lang="en-US" sz="1300" dirty="0">
                <a:solidFill>
                  <a:schemeClr val="bg1"/>
                </a:solidFill>
              </a:rPr>
              <a:t>target per shift: +20%, i.e. 2 more units</a:t>
            </a:r>
            <a:endParaRPr lang="en-US" sz="1300" dirty="0"/>
          </a:p>
        </p:txBody>
      </p:sp>
      <p:sp>
        <p:nvSpPr>
          <p:cNvPr id="10" name="stat tile"/>
          <p:cNvSpPr/>
          <p:nvPr/>
        </p:nvSpPr>
        <p:spPr>
          <a:xfrm>
            <a:off x="6236208" y="1463040"/>
            <a:ext cx="2569464" cy="1371600"/>
          </a:xfrm>
          <a:prstGeom prst="roundRect">
            <a:avLst>
              <a:gd name="adj" fmla="val 5333"/>
            </a:avLst>
          </a:prstGeom>
          <a:solidFill>
            <a:schemeClr val="bg2"/>
          </a:solidFill>
          <a:ln/>
        </p:spPr>
      </p:sp>
      <p:sp>
        <p:nvSpPr>
          <p:cNvPr id="11" name="Text 9"/>
          <p:cNvSpPr txBox="1"/>
          <p:nvPr/>
        </p:nvSpPr>
        <p:spPr>
          <a:xfrm>
            <a:off x="6419088" y="1554480"/>
            <a:ext cx="2240280" cy="685800"/>
          </a:xfrm>
          <a:prstGeom prst="rect">
            <a:avLst/>
          </a:prstGeom>
          <a:noFill/>
          <a:ln/>
        </p:spPr>
        <p:txBody>
          <a:bodyPr wrap="square" lIns="0" tIns="0" rIns="0" bIns="0" rtlCol="0" anchor="ctr"/>
          <a:lstStyle/>
          <a:p>
            <a:pPr indent="0" marL="0">
              <a:buNone/>
            </a:pPr>
            <a:r>
              <a:rPr lang="en-US" sz="3600" b="1" dirty="0">
                <a:solidFill>
                  <a:schemeClr val="tx2"/>
                </a:solidFill>
                <a:latin typeface="Arial" pitchFamily="34" charset="0"/>
                <a:ea typeface="Arial" pitchFamily="34" charset="-122"/>
                <a:cs typeface="Arial" pitchFamily="34" charset="-120"/>
              </a:rPr>
              <a:t>420</a:t>
            </a:r>
            <a:endParaRPr lang="en-US" sz="3600" dirty="0"/>
          </a:p>
        </p:txBody>
      </p:sp>
      <p:sp>
        <p:nvSpPr>
          <p:cNvPr id="12" name="Text 10"/>
          <p:cNvSpPr txBox="1"/>
          <p:nvPr/>
        </p:nvSpPr>
        <p:spPr>
          <a:xfrm>
            <a:off x="6419088" y="2240280"/>
            <a:ext cx="2240280" cy="502920"/>
          </a:xfrm>
          <a:prstGeom prst="rect">
            <a:avLst/>
          </a:prstGeom>
          <a:noFill/>
          <a:ln/>
        </p:spPr>
        <p:txBody>
          <a:bodyPr wrap="square" lIns="0" tIns="0" rIns="0" bIns="0" rtlCol="0" anchor="t"/>
          <a:lstStyle/>
          <a:p>
            <a:pPr indent="0" marL="0">
              <a:buNone/>
            </a:pPr>
            <a:r>
              <a:rPr lang="en-US" sz="1300" dirty="0">
                <a:solidFill>
                  <a:schemeClr val="accent3"/>
                </a:solidFill>
              </a:rPr>
              <a:t>minutes available per shift after breaks</a:t>
            </a:r>
            <a:endParaRPr lang="en-US" sz="1300" dirty="0"/>
          </a:p>
        </p:txBody>
      </p:sp>
      <p:sp>
        <p:nvSpPr>
          <p:cNvPr id="13" name="stat tile"/>
          <p:cNvSpPr/>
          <p:nvPr/>
        </p:nvSpPr>
        <p:spPr>
          <a:xfrm>
            <a:off x="9079992" y="1463040"/>
            <a:ext cx="2569464" cy="1371600"/>
          </a:xfrm>
          <a:prstGeom prst="roundRect">
            <a:avLst>
              <a:gd name="adj" fmla="val 5333"/>
            </a:avLst>
          </a:prstGeom>
          <a:solidFill>
            <a:schemeClr val="bg2"/>
          </a:solidFill>
          <a:ln/>
        </p:spPr>
      </p:sp>
      <p:sp>
        <p:nvSpPr>
          <p:cNvPr id="14" name="Text 12"/>
          <p:cNvSpPr txBox="1"/>
          <p:nvPr/>
        </p:nvSpPr>
        <p:spPr>
          <a:xfrm>
            <a:off x="9262872" y="1554480"/>
            <a:ext cx="2240280" cy="685800"/>
          </a:xfrm>
          <a:prstGeom prst="rect">
            <a:avLst/>
          </a:prstGeom>
          <a:noFill/>
          <a:ln/>
        </p:spPr>
        <p:txBody>
          <a:bodyPr wrap="square" lIns="0" tIns="0" rIns="0" bIns="0" rtlCol="0" anchor="ctr"/>
          <a:lstStyle/>
          <a:p>
            <a:pPr indent="0" marL="0">
              <a:buNone/>
            </a:pPr>
            <a:r>
              <a:rPr lang="en-US" sz="3600" b="1" dirty="0">
                <a:solidFill>
                  <a:schemeClr val="tx2"/>
                </a:solidFill>
                <a:latin typeface="Arial" pitchFamily="34" charset="0"/>
                <a:ea typeface="Arial" pitchFamily="34" charset="-122"/>
                <a:cs typeface="Arial" pitchFamily="34" charset="-120"/>
              </a:rPr>
              <a:t>42 → 35</a:t>
            </a:r>
            <a:endParaRPr lang="en-US" sz="3600" dirty="0"/>
          </a:p>
        </p:txBody>
      </p:sp>
      <p:sp>
        <p:nvSpPr>
          <p:cNvPr id="15" name="Text 13"/>
          <p:cNvSpPr txBox="1"/>
          <p:nvPr/>
        </p:nvSpPr>
        <p:spPr>
          <a:xfrm>
            <a:off x="9262872" y="2240280"/>
            <a:ext cx="2240280" cy="502920"/>
          </a:xfrm>
          <a:prstGeom prst="rect">
            <a:avLst/>
          </a:prstGeom>
          <a:noFill/>
          <a:ln/>
        </p:spPr>
        <p:txBody>
          <a:bodyPr wrap="square" lIns="0" tIns="0" rIns="0" bIns="0" rtlCol="0" anchor="t"/>
          <a:lstStyle/>
          <a:p>
            <a:pPr indent="0" marL="0">
              <a:buNone/>
            </a:pPr>
            <a:r>
              <a:rPr lang="en-US" sz="1300" dirty="0">
                <a:solidFill>
                  <a:schemeClr val="accent3"/>
                </a:solidFill>
              </a:rPr>
              <a:t>takt time, minutes per excavator</a:t>
            </a:r>
            <a:endParaRPr lang="en-US" sz="1300" dirty="0"/>
          </a:p>
        </p:txBody>
      </p:sp>
      <p:sp>
        <p:nvSpPr>
          <p:cNvPr id="16" name="Text 14"/>
          <p:cNvSpPr txBox="1"/>
          <p:nvPr/>
        </p:nvSpPr>
        <p:spPr>
          <a:xfrm>
            <a:off x="548640" y="3063240"/>
            <a:ext cx="5486400" cy="292608"/>
          </a:xfrm>
          <a:prstGeom prst="rect">
            <a:avLst/>
          </a:prstGeom>
          <a:noFill/>
          <a:ln/>
        </p:spPr>
        <p:txBody>
          <a:bodyPr wrap="square" lIns="0" tIns="0" rIns="0" bIns="0" rtlCol="0" anchor="ctr"/>
          <a:lstStyle/>
          <a:p>
            <a:pPr indent="0" marL="0">
              <a:buNone/>
            </a:pPr>
            <a:r>
              <a:rPr lang="en-US" sz="1500" b="1" dirty="0">
                <a:solidFill>
                  <a:schemeClr val="tx2"/>
                </a:solidFill>
              </a:rPr>
              <a:t>Where the 420 minutes come from</a:t>
            </a:r>
            <a:endParaRPr lang="en-US" sz="1500" dirty="0"/>
          </a:p>
        </p:txBody>
      </p:sp>
      <p:sp>
        <p:nvSpPr>
          <p:cNvPr id="17" name="time box"/>
          <p:cNvSpPr/>
          <p:nvPr/>
        </p:nvSpPr>
        <p:spPr>
          <a:xfrm>
            <a:off x="548640" y="3429000"/>
            <a:ext cx="896112" cy="777240"/>
          </a:xfrm>
          <a:prstGeom prst="roundRect">
            <a:avLst>
              <a:gd name="adj" fmla="val 9412"/>
            </a:avLst>
          </a:prstGeom>
          <a:solidFill>
            <a:schemeClr val="bg2"/>
          </a:solidFill>
          <a:ln/>
        </p:spPr>
      </p:sp>
      <p:sp>
        <p:nvSpPr>
          <p:cNvPr id="18" name="Text 16"/>
          <p:cNvSpPr txBox="1"/>
          <p:nvPr/>
        </p:nvSpPr>
        <p:spPr>
          <a:xfrm>
            <a:off x="548640" y="3456432"/>
            <a:ext cx="896112" cy="411480"/>
          </a:xfrm>
          <a:prstGeom prst="rect">
            <a:avLst/>
          </a:prstGeom>
          <a:noFill/>
          <a:ln/>
        </p:spPr>
        <p:txBody>
          <a:bodyPr wrap="square" lIns="0" tIns="0" rIns="0" bIns="0" rtlCol="0" anchor="ctr"/>
          <a:lstStyle/>
          <a:p>
            <a:pPr algn="ctr" indent="0" marL="0">
              <a:buNone/>
            </a:pPr>
            <a:r>
              <a:rPr lang="en-US" sz="2000" b="1" dirty="0">
                <a:solidFill>
                  <a:schemeClr val="tx2"/>
                </a:solidFill>
              </a:rPr>
              <a:t>480</a:t>
            </a:r>
            <a:endParaRPr lang="en-US" sz="2000" dirty="0"/>
          </a:p>
        </p:txBody>
      </p:sp>
      <p:sp>
        <p:nvSpPr>
          <p:cNvPr id="19" name="Text 17"/>
          <p:cNvSpPr txBox="1"/>
          <p:nvPr/>
        </p:nvSpPr>
        <p:spPr>
          <a:xfrm>
            <a:off x="548640" y="3840480"/>
            <a:ext cx="896112" cy="320040"/>
          </a:xfrm>
          <a:prstGeom prst="rect">
            <a:avLst/>
          </a:prstGeom>
          <a:noFill/>
          <a:ln/>
        </p:spPr>
        <p:txBody>
          <a:bodyPr wrap="square" lIns="0" tIns="0" rIns="0" bIns="0" rtlCol="0" anchor="ctr"/>
          <a:lstStyle/>
          <a:p>
            <a:pPr algn="ctr" indent="0" marL="0">
              <a:buNone/>
            </a:pPr>
            <a:r>
              <a:rPr lang="en-US" sz="1000" dirty="0">
                <a:solidFill>
                  <a:schemeClr val="tx1"/>
                </a:solidFill>
              </a:rPr>
              <a:t>shift</a:t>
            </a:r>
            <a:endParaRPr lang="en-US" sz="1000" dirty="0"/>
          </a:p>
        </p:txBody>
      </p:sp>
      <p:sp>
        <p:nvSpPr>
          <p:cNvPr id="20" name="Text 18"/>
          <p:cNvSpPr txBox="1"/>
          <p:nvPr/>
        </p:nvSpPr>
        <p:spPr>
          <a:xfrm>
            <a:off x="1444752" y="3429000"/>
            <a:ext cx="219456" cy="777240"/>
          </a:xfrm>
          <a:prstGeom prst="rect">
            <a:avLst/>
          </a:prstGeom>
          <a:no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21" name="time box"/>
          <p:cNvSpPr/>
          <p:nvPr/>
        </p:nvSpPr>
        <p:spPr>
          <a:xfrm>
            <a:off x="1664208" y="3429000"/>
            <a:ext cx="896112" cy="777240"/>
          </a:xfrm>
          <a:prstGeom prst="roundRect">
            <a:avLst>
              <a:gd name="adj" fmla="val 9412"/>
            </a:avLst>
          </a:prstGeom>
          <a:solidFill>
            <a:schemeClr val="bg2"/>
          </a:solidFill>
          <a:ln/>
        </p:spPr>
      </p:sp>
      <p:sp>
        <p:nvSpPr>
          <p:cNvPr id="22" name="Text 20"/>
          <p:cNvSpPr txBox="1"/>
          <p:nvPr/>
        </p:nvSpPr>
        <p:spPr>
          <a:xfrm>
            <a:off x="1664208" y="3456432"/>
            <a:ext cx="896112" cy="411480"/>
          </a:xfrm>
          <a:prstGeom prst="rect">
            <a:avLst/>
          </a:prstGeom>
          <a:noFill/>
          <a:ln/>
        </p:spPr>
        <p:txBody>
          <a:bodyPr wrap="square" lIns="0" tIns="0" rIns="0" bIns="0" rtlCol="0" anchor="ctr"/>
          <a:lstStyle/>
          <a:p>
            <a:pPr algn="ctr" indent="0" marL="0">
              <a:buNone/>
            </a:pPr>
            <a:r>
              <a:rPr lang="en-US" sz="2000" b="1" dirty="0">
                <a:solidFill>
                  <a:schemeClr val="tx2"/>
                </a:solidFill>
              </a:rPr>
              <a:t>30</a:t>
            </a:r>
            <a:endParaRPr lang="en-US" sz="2000" dirty="0"/>
          </a:p>
        </p:txBody>
      </p:sp>
      <p:sp>
        <p:nvSpPr>
          <p:cNvPr id="23" name="Text 21"/>
          <p:cNvSpPr txBox="1"/>
          <p:nvPr/>
        </p:nvSpPr>
        <p:spPr>
          <a:xfrm>
            <a:off x="1664208" y="3840480"/>
            <a:ext cx="896112" cy="320040"/>
          </a:xfrm>
          <a:prstGeom prst="rect">
            <a:avLst/>
          </a:prstGeom>
          <a:noFill/>
          <a:ln/>
        </p:spPr>
        <p:txBody>
          <a:bodyPr wrap="square" lIns="0" tIns="0" rIns="0" bIns="0" rtlCol="0" anchor="ctr"/>
          <a:lstStyle/>
          <a:p>
            <a:pPr algn="ctr" indent="0" marL="0">
              <a:buNone/>
            </a:pPr>
            <a:r>
              <a:rPr lang="en-US" sz="1000" dirty="0">
                <a:solidFill>
                  <a:schemeClr val="tx1"/>
                </a:solidFill>
              </a:rPr>
              <a:t>lunch</a:t>
            </a:r>
            <a:endParaRPr lang="en-US" sz="1000" dirty="0"/>
          </a:p>
        </p:txBody>
      </p:sp>
      <p:sp>
        <p:nvSpPr>
          <p:cNvPr id="24" name="Text 22"/>
          <p:cNvSpPr txBox="1"/>
          <p:nvPr/>
        </p:nvSpPr>
        <p:spPr>
          <a:xfrm>
            <a:off x="2560320" y="3429000"/>
            <a:ext cx="219456" cy="777240"/>
          </a:xfrm>
          <a:prstGeom prst="rect">
            <a:avLst/>
          </a:prstGeom>
          <a:no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25" name="time box"/>
          <p:cNvSpPr/>
          <p:nvPr/>
        </p:nvSpPr>
        <p:spPr>
          <a:xfrm>
            <a:off x="2779776" y="3429000"/>
            <a:ext cx="896112" cy="777240"/>
          </a:xfrm>
          <a:prstGeom prst="roundRect">
            <a:avLst>
              <a:gd name="adj" fmla="val 9412"/>
            </a:avLst>
          </a:prstGeom>
          <a:solidFill>
            <a:schemeClr val="bg2"/>
          </a:solidFill>
          <a:ln/>
        </p:spPr>
      </p:sp>
      <p:sp>
        <p:nvSpPr>
          <p:cNvPr id="26" name="Text 24"/>
          <p:cNvSpPr txBox="1"/>
          <p:nvPr/>
        </p:nvSpPr>
        <p:spPr>
          <a:xfrm>
            <a:off x="2779776" y="3456432"/>
            <a:ext cx="896112" cy="411480"/>
          </a:xfrm>
          <a:prstGeom prst="rect">
            <a:avLst/>
          </a:prstGeom>
          <a:noFill/>
          <a:ln/>
        </p:spPr>
        <p:txBody>
          <a:bodyPr wrap="square" lIns="0" tIns="0" rIns="0" bIns="0" rtlCol="0" anchor="ctr"/>
          <a:lstStyle/>
          <a:p>
            <a:pPr algn="ctr" indent="0" marL="0">
              <a:buNone/>
            </a:pPr>
            <a:r>
              <a:rPr lang="en-US" sz="2000" b="1" dirty="0">
                <a:solidFill>
                  <a:schemeClr val="tx2"/>
                </a:solidFill>
              </a:rPr>
              <a:t>20</a:t>
            </a:r>
            <a:endParaRPr lang="en-US" sz="2000" dirty="0"/>
          </a:p>
        </p:txBody>
      </p:sp>
      <p:sp>
        <p:nvSpPr>
          <p:cNvPr id="27" name="Text 25"/>
          <p:cNvSpPr txBox="1"/>
          <p:nvPr/>
        </p:nvSpPr>
        <p:spPr>
          <a:xfrm>
            <a:off x="2779776" y="3840480"/>
            <a:ext cx="896112" cy="320040"/>
          </a:xfrm>
          <a:prstGeom prst="rect">
            <a:avLst/>
          </a:prstGeom>
          <a:noFill/>
          <a:ln/>
        </p:spPr>
        <p:txBody>
          <a:bodyPr wrap="square" lIns="0" tIns="0" rIns="0" bIns="0" rtlCol="0" anchor="ctr"/>
          <a:lstStyle/>
          <a:p>
            <a:pPr algn="ctr" indent="0" marL="0">
              <a:buNone/>
            </a:pPr>
            <a:r>
              <a:rPr lang="en-US" sz="1000" dirty="0">
                <a:solidFill>
                  <a:schemeClr val="tx1"/>
                </a:solidFill>
              </a:rPr>
              <a:t>2 tea breaks</a:t>
            </a:r>
            <a:endParaRPr lang="en-US" sz="1000" dirty="0"/>
          </a:p>
        </p:txBody>
      </p:sp>
      <p:sp>
        <p:nvSpPr>
          <p:cNvPr id="28" name="Text 26"/>
          <p:cNvSpPr txBox="1"/>
          <p:nvPr/>
        </p:nvSpPr>
        <p:spPr>
          <a:xfrm>
            <a:off x="3675888" y="3429000"/>
            <a:ext cx="219456" cy="777240"/>
          </a:xfrm>
          <a:prstGeom prst="rect">
            <a:avLst/>
          </a:prstGeom>
          <a:no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29" name="time box"/>
          <p:cNvSpPr/>
          <p:nvPr/>
        </p:nvSpPr>
        <p:spPr>
          <a:xfrm>
            <a:off x="3895344" y="3429000"/>
            <a:ext cx="896112" cy="777240"/>
          </a:xfrm>
          <a:prstGeom prst="roundRect">
            <a:avLst>
              <a:gd name="adj" fmla="val 9412"/>
            </a:avLst>
          </a:prstGeom>
          <a:solidFill>
            <a:schemeClr val="bg2"/>
          </a:solidFill>
          <a:ln/>
        </p:spPr>
      </p:sp>
      <p:sp>
        <p:nvSpPr>
          <p:cNvPr id="30" name="Text 28"/>
          <p:cNvSpPr txBox="1"/>
          <p:nvPr/>
        </p:nvSpPr>
        <p:spPr>
          <a:xfrm>
            <a:off x="3895344" y="3456432"/>
            <a:ext cx="896112" cy="411480"/>
          </a:xfrm>
          <a:prstGeom prst="rect">
            <a:avLst/>
          </a:prstGeom>
          <a:noFill/>
          <a:ln/>
        </p:spPr>
        <p:txBody>
          <a:bodyPr wrap="square" lIns="0" tIns="0" rIns="0" bIns="0" rtlCol="0" anchor="ctr"/>
          <a:lstStyle/>
          <a:p>
            <a:pPr algn="ctr" indent="0" marL="0">
              <a:buNone/>
            </a:pPr>
            <a:r>
              <a:rPr lang="en-US" sz="2000" b="1" dirty="0">
                <a:solidFill>
                  <a:schemeClr val="tx2"/>
                </a:solidFill>
              </a:rPr>
              <a:t>10</a:t>
            </a:r>
            <a:endParaRPr lang="en-US" sz="2000" dirty="0"/>
          </a:p>
        </p:txBody>
      </p:sp>
      <p:sp>
        <p:nvSpPr>
          <p:cNvPr id="31" name="Text 29"/>
          <p:cNvSpPr txBox="1"/>
          <p:nvPr/>
        </p:nvSpPr>
        <p:spPr>
          <a:xfrm>
            <a:off x="3895344" y="3840480"/>
            <a:ext cx="896112" cy="320040"/>
          </a:xfrm>
          <a:prstGeom prst="rect">
            <a:avLst/>
          </a:prstGeom>
          <a:noFill/>
          <a:ln/>
        </p:spPr>
        <p:txBody>
          <a:bodyPr wrap="square" lIns="0" tIns="0" rIns="0" bIns="0" rtlCol="0" anchor="ctr"/>
          <a:lstStyle/>
          <a:p>
            <a:pPr algn="ctr" indent="0" marL="0">
              <a:buNone/>
            </a:pPr>
            <a:r>
              <a:rPr lang="en-US" sz="1000" dirty="0">
                <a:solidFill>
                  <a:schemeClr val="tx1"/>
                </a:solidFill>
              </a:rPr>
              <a:t>start-up &amp; 5S</a:t>
            </a:r>
            <a:endParaRPr lang="en-US" sz="1000" dirty="0"/>
          </a:p>
        </p:txBody>
      </p:sp>
      <p:sp>
        <p:nvSpPr>
          <p:cNvPr id="32" name="Text 30"/>
          <p:cNvSpPr txBox="1"/>
          <p:nvPr/>
        </p:nvSpPr>
        <p:spPr>
          <a:xfrm>
            <a:off x="4791456" y="3429000"/>
            <a:ext cx="219456" cy="777240"/>
          </a:xfrm>
          <a:prstGeom prst="rect">
            <a:avLst/>
          </a:prstGeom>
          <a:no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33" name="time box"/>
          <p:cNvSpPr/>
          <p:nvPr/>
        </p:nvSpPr>
        <p:spPr>
          <a:xfrm>
            <a:off x="5010912" y="3429000"/>
            <a:ext cx="896112" cy="777240"/>
          </a:xfrm>
          <a:prstGeom prst="roundRect">
            <a:avLst>
              <a:gd name="adj" fmla="val 9412"/>
            </a:avLst>
          </a:prstGeom>
          <a:solidFill>
            <a:schemeClr val="accent1"/>
          </a:solidFill>
          <a:ln/>
        </p:spPr>
      </p:sp>
      <p:sp>
        <p:nvSpPr>
          <p:cNvPr id="34" name="Text 32"/>
          <p:cNvSpPr txBox="1"/>
          <p:nvPr/>
        </p:nvSpPr>
        <p:spPr>
          <a:xfrm>
            <a:off x="5010912" y="3456432"/>
            <a:ext cx="896112" cy="411480"/>
          </a:xfrm>
          <a:prstGeom prst="rect">
            <a:avLst/>
          </a:prstGeom>
          <a:noFill/>
          <a:ln/>
        </p:spPr>
        <p:txBody>
          <a:bodyPr wrap="square" lIns="0" tIns="0" rIns="0" bIns="0" rtlCol="0" anchor="ctr"/>
          <a:lstStyle/>
          <a:p>
            <a:pPr algn="ctr" indent="0" marL="0">
              <a:buNone/>
            </a:pPr>
            <a:r>
              <a:rPr lang="en-US" sz="2000" b="1" dirty="0">
                <a:solidFill>
                  <a:schemeClr val="tx2"/>
                </a:solidFill>
              </a:rPr>
              <a:t>420</a:t>
            </a:r>
            <a:endParaRPr lang="en-US" sz="2000" dirty="0"/>
          </a:p>
        </p:txBody>
      </p:sp>
      <p:sp>
        <p:nvSpPr>
          <p:cNvPr id="35" name="Text 33"/>
          <p:cNvSpPr txBox="1"/>
          <p:nvPr/>
        </p:nvSpPr>
        <p:spPr>
          <a:xfrm>
            <a:off x="5010912" y="3840480"/>
            <a:ext cx="896112" cy="320040"/>
          </a:xfrm>
          <a:prstGeom prst="rect">
            <a:avLst/>
          </a:prstGeom>
          <a:noFill/>
          <a:ln/>
        </p:spPr>
        <p:txBody>
          <a:bodyPr wrap="square" lIns="0" tIns="0" rIns="0" bIns="0" rtlCol="0" anchor="ctr"/>
          <a:lstStyle/>
          <a:p>
            <a:pPr algn="ctr" indent="0" marL="0">
              <a:buNone/>
            </a:pPr>
            <a:r>
              <a:rPr lang="en-US" sz="1000" dirty="0">
                <a:solidFill>
                  <a:schemeClr val="tx1"/>
                </a:solidFill>
              </a:rPr>
              <a:t>available</a:t>
            </a:r>
            <a:endParaRPr lang="en-US" sz="1000" dirty="0"/>
          </a:p>
        </p:txBody>
      </p:sp>
      <p:sp>
        <p:nvSpPr>
          <p:cNvPr id="36" name="Text 34"/>
          <p:cNvSpPr txBox="1"/>
          <p:nvPr/>
        </p:nvSpPr>
        <p:spPr>
          <a:xfrm>
            <a:off x="548640" y="4297680"/>
            <a:ext cx="5486400" cy="548640"/>
          </a:xfrm>
          <a:prstGeom prst="rect">
            <a:avLst/>
          </a:prstGeom>
          <a:noFill/>
          <a:ln/>
        </p:spPr>
        <p:txBody>
          <a:bodyPr wrap="square" lIns="0" tIns="0" rIns="0" bIns="0" rtlCol="0" anchor="t"/>
          <a:lstStyle/>
          <a:p>
            <a:pPr indent="0" marL="0">
              <a:buNone/>
            </a:pPr>
            <a:r>
              <a:rPr lang="en-US" sz="1400" b="1" dirty="0">
                <a:solidFill>
                  <a:schemeClr val="tx1"/>
                </a:solidFill>
              </a:rPr>
              <a:t>Takt = available time ÷ demand</a:t>
            </a:r>
            <a:endParaRPr lang="en-US" sz="1400" dirty="0"/>
          </a:p>
          <a:p>
            <a:pPr indent="0" marL="0">
              <a:buNone/>
            </a:pPr>
            <a:r>
              <a:rPr lang="en-US" sz="1400" dirty="0">
                <a:solidFill>
                  <a:schemeClr val="tx1"/>
                </a:solidFill>
              </a:rPr>
              <a:t>420 ÷ 10 = 42 min today  →  420 ÷ 12 = 35 min target</a:t>
            </a:r>
            <a:endParaRPr lang="en-US" sz="1400" dirty="0"/>
          </a:p>
        </p:txBody>
      </p:sp>
      <p:sp>
        <p:nvSpPr>
          <p:cNvPr id="37" name="Text 35"/>
          <p:cNvSpPr txBox="1"/>
          <p:nvPr/>
        </p:nvSpPr>
        <p:spPr>
          <a:xfrm>
            <a:off x="6263640" y="3063240"/>
            <a:ext cx="5394960" cy="292608"/>
          </a:xfrm>
          <a:prstGeom prst="rect">
            <a:avLst/>
          </a:prstGeom>
          <a:noFill/>
          <a:ln/>
        </p:spPr>
        <p:txBody>
          <a:bodyPr wrap="square" lIns="0" tIns="0" rIns="0" bIns="0" rtlCol="0" anchor="ctr"/>
          <a:lstStyle/>
          <a:p>
            <a:pPr indent="0" marL="0">
              <a:buNone/>
            </a:pPr>
            <a:r>
              <a:rPr lang="en-US" sz="1500" b="1" dirty="0">
                <a:solidFill>
                  <a:schemeClr val="tx2"/>
                </a:solidFill>
              </a:rPr>
              <a:t>Ground rules we set ourselves</a:t>
            </a:r>
            <a:endParaRPr lang="en-US" sz="1500" dirty="0"/>
          </a:p>
        </p:txBody>
      </p:sp>
      <p:pic>
        <p:nvPicPr>
          <p:cNvPr id="38" name="check" descr="Rule">    </p:cNvPr>
          <p:cNvPicPr>
            <a:picLocks noChangeAspect="1"/>
          </p:cNvPicPr>
          <p:nvPr/>
        </p:nvPicPr>
        <p:blipFill>
          <a:blip r:embed="rId1"/>
          <a:stretch>
            <a:fillRect/>
          </a:stretch>
        </p:blipFill>
        <p:spPr>
          <a:xfrm>
            <a:off x="6263640" y="3493008"/>
            <a:ext cx="237744" cy="237744"/>
          </a:xfrm>
          <a:prstGeom prst="rect">
            <a:avLst/>
          </a:prstGeom>
        </p:spPr>
      </p:pic>
      <p:sp>
        <p:nvSpPr>
          <p:cNvPr id="39" name="Text 36"/>
          <p:cNvSpPr txBox="1"/>
          <p:nvPr/>
        </p:nvSpPr>
        <p:spPr>
          <a:xfrm>
            <a:off x="6629400" y="3456432"/>
            <a:ext cx="5029200" cy="310896"/>
          </a:xfrm>
          <a:prstGeom prst="rect">
            <a:avLst/>
          </a:prstGeom>
          <a:noFill/>
          <a:ln/>
        </p:spPr>
        <p:txBody>
          <a:bodyPr wrap="square" lIns="0" tIns="0" rIns="0" bIns="0" rtlCol="0" anchor="ctr"/>
          <a:lstStyle/>
          <a:p>
            <a:pPr indent="0" marL="0">
              <a:buNone/>
            </a:pPr>
            <a:r>
              <a:rPr lang="en-US" sz="1400" dirty="0">
                <a:solidFill>
                  <a:schemeClr val="tx1"/>
                </a:solidFill>
              </a:rPr>
              <a:t>Same 8-hour shift and the same headcount</a:t>
            </a:r>
            <a:endParaRPr lang="en-US" sz="1400" dirty="0"/>
          </a:p>
        </p:txBody>
      </p:sp>
      <p:pic>
        <p:nvPicPr>
          <p:cNvPr id="40" name="check" descr="Rule">    </p:cNvPr>
          <p:cNvPicPr>
            <a:picLocks noChangeAspect="1"/>
          </p:cNvPicPr>
          <p:nvPr/>
        </p:nvPicPr>
        <p:blipFill>
          <a:blip r:embed="rId2"/>
          <a:stretch>
            <a:fillRect/>
          </a:stretch>
        </p:blipFill>
        <p:spPr>
          <a:xfrm>
            <a:off x="6263640" y="3858768"/>
            <a:ext cx="237744" cy="237744"/>
          </a:xfrm>
          <a:prstGeom prst="rect">
            <a:avLst/>
          </a:prstGeom>
        </p:spPr>
      </p:pic>
      <p:sp>
        <p:nvSpPr>
          <p:cNvPr id="41" name="Text 37"/>
          <p:cNvSpPr txBox="1"/>
          <p:nvPr/>
        </p:nvSpPr>
        <p:spPr>
          <a:xfrm>
            <a:off x="6629400" y="3822192"/>
            <a:ext cx="5029200" cy="310896"/>
          </a:xfrm>
          <a:prstGeom prst="rect">
            <a:avLst/>
          </a:prstGeom>
          <a:noFill/>
          <a:ln/>
        </p:spPr>
        <p:txBody>
          <a:bodyPr wrap="square" lIns="0" tIns="0" rIns="0" bIns="0" rtlCol="0" anchor="ctr"/>
          <a:lstStyle/>
          <a:p>
            <a:pPr indent="0" marL="0">
              <a:buNone/>
            </a:pPr>
            <a:r>
              <a:rPr lang="en-US" sz="1400" dirty="0">
                <a:solidFill>
                  <a:schemeClr val="tx1"/>
                </a:solidFill>
              </a:rPr>
              <a:t>No compromise on quality (first-pass yield, Cpk) or safety</a:t>
            </a:r>
            <a:endParaRPr lang="en-US" sz="1400" dirty="0"/>
          </a:p>
        </p:txBody>
      </p:sp>
      <p:pic>
        <p:nvPicPr>
          <p:cNvPr id="42" name="check" descr="Rule">    </p:cNvPr>
          <p:cNvPicPr>
            <a:picLocks noChangeAspect="1"/>
          </p:cNvPicPr>
          <p:nvPr/>
        </p:nvPicPr>
        <p:blipFill>
          <a:blip r:embed="rId3"/>
          <a:stretch>
            <a:fillRect/>
          </a:stretch>
        </p:blipFill>
        <p:spPr>
          <a:xfrm>
            <a:off x="6263640" y="4224528"/>
            <a:ext cx="237744" cy="237744"/>
          </a:xfrm>
          <a:prstGeom prst="rect">
            <a:avLst/>
          </a:prstGeom>
        </p:spPr>
      </p:pic>
      <p:sp>
        <p:nvSpPr>
          <p:cNvPr id="43" name="Text 38"/>
          <p:cNvSpPr txBox="1"/>
          <p:nvPr/>
        </p:nvSpPr>
        <p:spPr>
          <a:xfrm>
            <a:off x="6629400" y="4187952"/>
            <a:ext cx="5029200" cy="310896"/>
          </a:xfrm>
          <a:prstGeom prst="rect">
            <a:avLst/>
          </a:prstGeom>
          <a:noFill/>
          <a:ln/>
        </p:spPr>
        <p:txBody>
          <a:bodyPr wrap="square" lIns="0" tIns="0" rIns="0" bIns="0" rtlCol="0" anchor="ctr"/>
          <a:lstStyle/>
          <a:p>
            <a:pPr indent="0" marL="0">
              <a:buNone/>
            </a:pPr>
            <a:r>
              <a:rPr lang="en-US" sz="1400" dirty="0">
                <a:solidFill>
                  <a:schemeClr val="tx1"/>
                </a:solidFill>
              </a:rPr>
              <a:t>Minimal capex: fix the process before buying capacity</a:t>
            </a:r>
            <a:endParaRPr lang="en-US" sz="1400" dirty="0"/>
          </a:p>
        </p:txBody>
      </p:sp>
      <p:pic>
        <p:nvPicPr>
          <p:cNvPr id="44" name="check" descr="Rule">    </p:cNvPr>
          <p:cNvPicPr>
            <a:picLocks noChangeAspect="1"/>
          </p:cNvPicPr>
          <p:nvPr/>
        </p:nvPicPr>
        <p:blipFill>
          <a:blip r:embed="rId4"/>
          <a:stretch>
            <a:fillRect/>
          </a:stretch>
        </p:blipFill>
        <p:spPr>
          <a:xfrm>
            <a:off x="6263640" y="4590288"/>
            <a:ext cx="237744" cy="237744"/>
          </a:xfrm>
          <a:prstGeom prst="rect">
            <a:avLst/>
          </a:prstGeom>
        </p:spPr>
      </p:pic>
      <p:sp>
        <p:nvSpPr>
          <p:cNvPr id="45" name="Text 39"/>
          <p:cNvSpPr txBox="1"/>
          <p:nvPr/>
        </p:nvSpPr>
        <p:spPr>
          <a:xfrm>
            <a:off x="6629400" y="4553712"/>
            <a:ext cx="5029200" cy="310896"/>
          </a:xfrm>
          <a:prstGeom prst="rect">
            <a:avLst/>
          </a:prstGeom>
          <a:noFill/>
          <a:ln/>
        </p:spPr>
        <p:txBody>
          <a:bodyPr wrap="square" lIns="0" tIns="0" rIns="0" bIns="0" rtlCol="0" anchor="ctr"/>
          <a:lstStyle/>
          <a:p>
            <a:pPr indent="0" marL="0">
              <a:buNone/>
            </a:pPr>
            <a:r>
              <a:rPr lang="en-US" sz="1400" dirty="0">
                <a:solidFill>
                  <a:schemeClr val="tx1"/>
                </a:solidFill>
              </a:rPr>
              <a:t>Scope: machine shop feeding the EC210/215/220 line</a:t>
            </a:r>
            <a:endParaRPr lang="en-US" sz="1400" dirty="0"/>
          </a:p>
        </p:txBody>
      </p:sp>
      <p:sp>
        <p:nvSpPr>
          <p:cNvPr id="46" name="option card"/>
          <p:cNvSpPr/>
          <p:nvPr/>
        </p:nvSpPr>
        <p:spPr>
          <a:xfrm>
            <a:off x="548640" y="5029200"/>
            <a:ext cx="3520440" cy="1143000"/>
          </a:xfrm>
          <a:prstGeom prst="roundRect">
            <a:avLst>
              <a:gd name="adj" fmla="val 6400"/>
            </a:avLst>
          </a:prstGeom>
          <a:solidFill>
            <a:schemeClr val="bg2"/>
          </a:solidFill>
          <a:ln/>
        </p:spPr>
      </p:sp>
      <p:sp>
        <p:nvSpPr>
          <p:cNvPr id="47" name="Text 41"/>
          <p:cNvSpPr txBox="1"/>
          <p:nvPr/>
        </p:nvSpPr>
        <p:spPr>
          <a:xfrm>
            <a:off x="731520" y="5120640"/>
            <a:ext cx="3200400" cy="365760"/>
          </a:xfrm>
          <a:prstGeom prst="rect">
            <a:avLst/>
          </a:prstGeom>
          <a:noFill/>
          <a:ln/>
        </p:spPr>
        <p:txBody>
          <a:bodyPr wrap="square" lIns="0" tIns="0" rIns="0" bIns="0" rtlCol="0" anchor="ctr"/>
          <a:lstStyle/>
          <a:p>
            <a:pPr indent="0" marL="0">
              <a:buNone/>
            </a:pPr>
            <a:r>
              <a:rPr lang="en-US" sz="1500" b="1" dirty="0">
                <a:solidFill>
                  <a:schemeClr val="tx2"/>
                </a:solidFill>
              </a:rPr>
              <a:t>Overtime or a 2nd shift</a:t>
            </a:r>
            <a:endParaRPr lang="en-US" sz="1500" dirty="0"/>
          </a:p>
        </p:txBody>
      </p:sp>
      <p:sp>
        <p:nvSpPr>
          <p:cNvPr id="48" name="Text 42"/>
          <p:cNvSpPr txBox="1"/>
          <p:nvPr/>
        </p:nvSpPr>
        <p:spPr>
          <a:xfrm>
            <a:off x="731520" y="5504688"/>
            <a:ext cx="3200400" cy="548640"/>
          </a:xfrm>
          <a:prstGeom prst="rect">
            <a:avLst/>
          </a:prstGeom>
          <a:noFill/>
          <a:ln/>
        </p:spPr>
        <p:txBody>
          <a:bodyPr wrap="square" lIns="0" tIns="0" rIns="0" bIns="0" rtlCol="0" anchor="t"/>
          <a:lstStyle/>
          <a:p>
            <a:pPr indent="0" marL="0">
              <a:buNone/>
            </a:pPr>
            <a:r>
              <a:rPr lang="en-US" sz="1300" dirty="0">
                <a:solidFill>
                  <a:schemeClr val="tx1"/>
                </a:solidFill>
              </a:rPr>
              <a:t>Adds cost; fatigue raises the quality risk</a:t>
            </a:r>
            <a:endParaRPr lang="en-US" sz="1300" dirty="0"/>
          </a:p>
        </p:txBody>
      </p:sp>
      <p:sp>
        <p:nvSpPr>
          <p:cNvPr id="49" name="option card"/>
          <p:cNvSpPr/>
          <p:nvPr/>
        </p:nvSpPr>
        <p:spPr>
          <a:xfrm>
            <a:off x="4334256" y="5029200"/>
            <a:ext cx="3520440" cy="1143000"/>
          </a:xfrm>
          <a:prstGeom prst="roundRect">
            <a:avLst>
              <a:gd name="adj" fmla="val 6400"/>
            </a:avLst>
          </a:prstGeom>
          <a:solidFill>
            <a:schemeClr val="bg2"/>
          </a:solidFill>
          <a:ln/>
        </p:spPr>
      </p:sp>
      <p:sp>
        <p:nvSpPr>
          <p:cNvPr id="50" name="Text 44"/>
          <p:cNvSpPr txBox="1"/>
          <p:nvPr/>
        </p:nvSpPr>
        <p:spPr>
          <a:xfrm>
            <a:off x="4517136" y="5120640"/>
            <a:ext cx="3200400" cy="365760"/>
          </a:xfrm>
          <a:prstGeom prst="rect">
            <a:avLst/>
          </a:prstGeom>
          <a:noFill/>
          <a:ln/>
        </p:spPr>
        <p:txBody>
          <a:bodyPr wrap="square" lIns="0" tIns="0" rIns="0" bIns="0" rtlCol="0" anchor="ctr"/>
          <a:lstStyle/>
          <a:p>
            <a:pPr indent="0" marL="0">
              <a:buNone/>
            </a:pPr>
            <a:r>
              <a:rPr lang="en-US" sz="1500" b="1" dirty="0">
                <a:solidFill>
                  <a:schemeClr val="tx2"/>
                </a:solidFill>
              </a:rPr>
              <a:t>Buy another machining centre</a:t>
            </a:r>
            <a:endParaRPr lang="en-US" sz="1500" dirty="0"/>
          </a:p>
        </p:txBody>
      </p:sp>
      <p:sp>
        <p:nvSpPr>
          <p:cNvPr id="51" name="Text 45"/>
          <p:cNvSpPr txBox="1"/>
          <p:nvPr/>
        </p:nvSpPr>
        <p:spPr>
          <a:xfrm>
            <a:off x="4517136" y="5504688"/>
            <a:ext cx="3200400" cy="548640"/>
          </a:xfrm>
          <a:prstGeom prst="rect">
            <a:avLst/>
          </a:prstGeom>
          <a:noFill/>
          <a:ln/>
        </p:spPr>
        <p:txBody>
          <a:bodyPr wrap="square" lIns="0" tIns="0" rIns="0" bIns="0" rtlCol="0" anchor="t"/>
          <a:lstStyle/>
          <a:p>
            <a:pPr indent="0" marL="0">
              <a:buNone/>
            </a:pPr>
            <a:r>
              <a:rPr lang="en-US" sz="1300" dirty="0">
                <a:solidFill>
                  <a:schemeClr val="tx1"/>
                </a:solidFill>
              </a:rPr>
              <a:t>₹4–5 cr capex and a 9–12 month wait</a:t>
            </a:r>
            <a:endParaRPr lang="en-US" sz="1300" dirty="0"/>
          </a:p>
        </p:txBody>
      </p:sp>
      <p:sp>
        <p:nvSpPr>
          <p:cNvPr id="52" name="option card"/>
          <p:cNvSpPr/>
          <p:nvPr/>
        </p:nvSpPr>
        <p:spPr>
          <a:xfrm>
            <a:off x="8119872" y="5029200"/>
            <a:ext cx="3520440" cy="1143000"/>
          </a:xfrm>
          <a:prstGeom prst="roundRect">
            <a:avLst>
              <a:gd name="adj" fmla="val 6400"/>
            </a:avLst>
          </a:prstGeom>
          <a:solidFill>
            <a:schemeClr val="accent5"/>
          </a:solidFill>
          <a:ln/>
        </p:spPr>
      </p:sp>
      <p:sp>
        <p:nvSpPr>
          <p:cNvPr id="53" name="Text 47"/>
          <p:cNvSpPr txBox="1"/>
          <p:nvPr/>
        </p:nvSpPr>
        <p:spPr>
          <a:xfrm>
            <a:off x="8302752" y="5120640"/>
            <a:ext cx="3200400" cy="365760"/>
          </a:xfrm>
          <a:prstGeom prst="rect">
            <a:avLst/>
          </a:prstGeom>
          <a:noFill/>
          <a:ln/>
        </p:spPr>
        <p:txBody>
          <a:bodyPr wrap="square" lIns="0" tIns="0" rIns="0" bIns="0" rtlCol="0" anchor="ctr"/>
          <a:lstStyle/>
          <a:p>
            <a:pPr indent="0" marL="0">
              <a:buNone/>
            </a:pPr>
            <a:r>
              <a:rPr lang="en-US" sz="1500" b="1" dirty="0">
                <a:solidFill>
                  <a:schemeClr val="bg1"/>
                </a:solidFill>
              </a:rPr>
              <a:t>Operations Excellence  ✓</a:t>
            </a:r>
            <a:endParaRPr lang="en-US" sz="1500" dirty="0"/>
          </a:p>
        </p:txBody>
      </p:sp>
      <p:sp>
        <p:nvSpPr>
          <p:cNvPr id="54" name="Text 48"/>
          <p:cNvSpPr txBox="1"/>
          <p:nvPr/>
        </p:nvSpPr>
        <p:spPr>
          <a:xfrm>
            <a:off x="8302752" y="5504688"/>
            <a:ext cx="3200400" cy="548640"/>
          </a:xfrm>
          <a:prstGeom prst="rect">
            <a:avLst/>
          </a:prstGeom>
          <a:noFill/>
          <a:ln/>
        </p:spPr>
        <p:txBody>
          <a:bodyPr wrap="square" lIns="0" tIns="0" rIns="0" bIns="0" rtlCol="0" anchor="t"/>
          <a:lstStyle/>
          <a:p>
            <a:pPr indent="0" marL="0">
              <a:buNone/>
            </a:pPr>
            <a:r>
              <a:rPr lang="en-US" sz="1300" dirty="0">
                <a:solidFill>
                  <a:schemeClr val="bg1"/>
                </a:solidFill>
              </a:rPr>
              <a:t>Low capex, ~12 weeks, builds lasting capability</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4 · CURRENT STATE OF THE MACHINE SHOP</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tx2"/>
                </a:solidFill>
              </a:rPr>
              <a:t>Gemba finding: OP30 sets the pace</a:t>
            </a:r>
            <a:endParaRPr lang="en-US" sz="3600" dirty="0"/>
          </a:p>
        </p:txBody>
      </p:sp>
      <p:graphicFrame>
        <p:nvGraphicFramePr>
          <p:cNvPr id="4" name="Chart 0" descr=""/>
          <p:cNvGraphicFramePr/>
          <p:nvPr/>
        </p:nvGraphicFramePr>
        <p:xfrm>
          <a:off x="457200" y="137160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001000" y="1417320"/>
            <a:ext cx="3657600" cy="329184"/>
          </a:xfrm>
          <a:prstGeom prst="rect">
            <a:avLst/>
          </a:prstGeom>
          <a:noFill/>
          <a:ln/>
        </p:spPr>
        <p:txBody>
          <a:bodyPr wrap="square" lIns="0" tIns="0" rIns="0" bIns="0" rtlCol="0" anchor="ctr"/>
          <a:lstStyle/>
          <a:p>
            <a:pPr indent="0" marL="0">
              <a:buNone/>
            </a:pPr>
            <a:r>
              <a:rPr lang="en-US" sz="1600" b="1" dirty="0">
                <a:solidFill>
                  <a:schemeClr val="tx2"/>
                </a:solidFill>
              </a:rPr>
              <a:t>Gemba findings (assumed)</a:t>
            </a:r>
            <a:endParaRPr lang="en-US" sz="1600" dirty="0"/>
          </a:p>
        </p:txBody>
      </p:sp>
      <p:sp>
        <p:nvSpPr>
          <p:cNvPr id="6" name="number circle"/>
          <p:cNvSpPr/>
          <p:nvPr/>
        </p:nvSpPr>
        <p:spPr>
          <a:xfrm>
            <a:off x="8001000" y="1911096"/>
            <a:ext cx="420624" cy="420624"/>
          </a:xfrm>
          <a:prstGeom prst="ellipse">
            <a:avLst/>
          </a:prstGeom>
          <a:solidFill>
            <a:schemeClr val="accent1"/>
          </a:solidFill>
          <a:ln/>
        </p:spPr>
      </p:sp>
      <p:sp>
        <p:nvSpPr>
          <p:cNvPr id="7" name="Text 4"/>
          <p:cNvSpPr txBox="1"/>
          <p:nvPr/>
        </p:nvSpPr>
        <p:spPr>
          <a:xfrm>
            <a:off x="8001000" y="1911096"/>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8" name="Text 5"/>
          <p:cNvSpPr txBox="1"/>
          <p:nvPr/>
        </p:nvSpPr>
        <p:spPr>
          <a:xfrm>
            <a:off x="8549640" y="1874520"/>
            <a:ext cx="3108960" cy="960120"/>
          </a:xfrm>
          <a:prstGeom prst="rect">
            <a:avLst/>
          </a:prstGeom>
          <a:noFill/>
          <a:ln/>
        </p:spPr>
        <p:txBody>
          <a:bodyPr wrap="square" lIns="0" tIns="0" rIns="0" bIns="0" rtlCol="0" anchor="t"/>
          <a:lstStyle/>
          <a:p>
            <a:pPr indent="0" marL="0">
              <a:buNone/>
            </a:pPr>
            <a:r>
              <a:rPr lang="en-US" sz="1400" dirty="0">
                <a:solidFill>
                  <a:schemeClr val="tx1"/>
                </a:solidFill>
              </a:rPr>
              <a:t>OP30 (upper frame, 5-face machining centre) runs at 42 min = takt: zero spare capacity</a:t>
            </a:r>
            <a:endParaRPr lang="en-US" sz="1400" dirty="0"/>
          </a:p>
        </p:txBody>
      </p:sp>
      <p:sp>
        <p:nvSpPr>
          <p:cNvPr id="9" name="number circle"/>
          <p:cNvSpPr/>
          <p:nvPr/>
        </p:nvSpPr>
        <p:spPr>
          <a:xfrm>
            <a:off x="8001000" y="2990088"/>
            <a:ext cx="420624" cy="420624"/>
          </a:xfrm>
          <a:prstGeom prst="ellipse">
            <a:avLst/>
          </a:prstGeom>
          <a:solidFill>
            <a:schemeClr val="accent1"/>
          </a:solidFill>
          <a:ln/>
        </p:spPr>
      </p:sp>
      <p:sp>
        <p:nvSpPr>
          <p:cNvPr id="10" name="Text 7"/>
          <p:cNvSpPr txBox="1"/>
          <p:nvPr/>
        </p:nvSpPr>
        <p:spPr>
          <a:xfrm>
            <a:off x="8001000" y="2990088"/>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1" name="Text 8"/>
          <p:cNvSpPr txBox="1"/>
          <p:nvPr/>
        </p:nvSpPr>
        <p:spPr>
          <a:xfrm>
            <a:off x="8549640" y="2953512"/>
            <a:ext cx="3108960" cy="960120"/>
          </a:xfrm>
          <a:prstGeom prst="rect">
            <a:avLst/>
          </a:prstGeom>
          <a:noFill/>
          <a:ln/>
        </p:spPr>
        <p:txBody>
          <a:bodyPr wrap="square" lIns="0" tIns="0" rIns="0" bIns="0" rtlCol="0" anchor="t"/>
          <a:lstStyle/>
          <a:p>
            <a:pPr indent="0" marL="0">
              <a:buNone/>
            </a:pPr>
            <a:r>
              <a:rPr lang="en-US" sz="1400" dirty="0">
                <a:solidFill>
                  <a:schemeClr val="tx1"/>
                </a:solidFill>
              </a:rPr>
              <a:t>4 of 6 operations are slower than the 35 min target takt</a:t>
            </a:r>
            <a:endParaRPr lang="en-US" sz="1400" dirty="0"/>
          </a:p>
        </p:txBody>
      </p:sp>
      <p:sp>
        <p:nvSpPr>
          <p:cNvPr id="12" name="number circle"/>
          <p:cNvSpPr/>
          <p:nvPr/>
        </p:nvSpPr>
        <p:spPr>
          <a:xfrm>
            <a:off x="8001000" y="4069080"/>
            <a:ext cx="420624" cy="420624"/>
          </a:xfrm>
          <a:prstGeom prst="ellipse">
            <a:avLst/>
          </a:prstGeom>
          <a:solidFill>
            <a:schemeClr val="accent1"/>
          </a:solidFill>
          <a:ln/>
        </p:spPr>
      </p:sp>
      <p:sp>
        <p:nvSpPr>
          <p:cNvPr id="13" name="Text 10"/>
          <p:cNvSpPr txBox="1"/>
          <p:nvPr/>
        </p:nvSpPr>
        <p:spPr>
          <a:xfrm>
            <a:off x="8001000" y="4069080"/>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4" name="Text 11"/>
          <p:cNvSpPr txBox="1"/>
          <p:nvPr/>
        </p:nvSpPr>
        <p:spPr>
          <a:xfrm>
            <a:off x="8549640" y="4032504"/>
            <a:ext cx="3108960" cy="960120"/>
          </a:xfrm>
          <a:prstGeom prst="rect">
            <a:avLst/>
          </a:prstGeom>
          <a:noFill/>
          <a:ln/>
        </p:spPr>
        <p:txBody>
          <a:bodyPr wrap="square" lIns="0" tIns="0" rIns="0" bIns="0" rtlCol="0" anchor="t"/>
          <a:lstStyle/>
          <a:p>
            <a:pPr indent="0" marL="0">
              <a:buNone/>
            </a:pPr>
            <a:r>
              <a:rPr lang="en-US" sz="1400" dirty="0">
                <a:solidFill>
                  <a:schemeClr val="tx1"/>
                </a:solidFill>
              </a:rPr>
              <a:t>Frames wait for the shared overhead crane and first-off QC sign-off</a:t>
            </a:r>
            <a:endParaRPr lang="en-US" sz="1400" dirty="0"/>
          </a:p>
        </p:txBody>
      </p:sp>
      <p:sp>
        <p:nvSpPr>
          <p:cNvPr id="15" name="number circle"/>
          <p:cNvSpPr/>
          <p:nvPr/>
        </p:nvSpPr>
        <p:spPr>
          <a:xfrm>
            <a:off x="8001000" y="5148072"/>
            <a:ext cx="420624" cy="420624"/>
          </a:xfrm>
          <a:prstGeom prst="ellipse">
            <a:avLst/>
          </a:prstGeom>
          <a:solidFill>
            <a:schemeClr val="accent1"/>
          </a:solidFill>
          <a:ln/>
        </p:spPr>
      </p:sp>
      <p:sp>
        <p:nvSpPr>
          <p:cNvPr id="16" name="Text 13"/>
          <p:cNvSpPr txBox="1"/>
          <p:nvPr/>
        </p:nvSpPr>
        <p:spPr>
          <a:xfrm>
            <a:off x="8001000" y="5148072"/>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17" name="Text 14"/>
          <p:cNvSpPr txBox="1"/>
          <p:nvPr/>
        </p:nvSpPr>
        <p:spPr>
          <a:xfrm>
            <a:off x="8549640" y="5111496"/>
            <a:ext cx="3108960" cy="960120"/>
          </a:xfrm>
          <a:prstGeom prst="rect">
            <a:avLst/>
          </a:prstGeom>
          <a:noFill/>
          <a:ln/>
        </p:spPr>
        <p:txBody>
          <a:bodyPr wrap="square" lIns="0" tIns="0" rIns="0" bIns="0" rtlCol="0" anchor="t"/>
          <a:lstStyle/>
          <a:p>
            <a:pPr indent="0" marL="0">
              <a:buNone/>
            </a:pPr>
            <a:r>
              <a:rPr lang="en-US" sz="1400" dirty="0">
                <a:solidFill>
                  <a:schemeClr val="tx1"/>
                </a:solidFill>
              </a:rPr>
              <a:t>Manual dial-gauge alignment and 3 model changeovers a day (EC210/215/220)</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4 · LOSS ANALYSIS AT THE BOTTLENECK (OEE)</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tx2"/>
                </a:solidFill>
              </a:rPr>
              <a:t>Where OP30's 420 minutes go today</a:t>
            </a:r>
            <a:endParaRPr lang="en-US" sz="3600" dirty="0"/>
          </a:p>
        </p:txBody>
      </p:sp>
      <p:graphicFrame>
        <p:nvGraphicFramePr>
          <p:cNvPr id="4" name="Chart 0" descr=""/>
          <p:cNvGraphicFramePr/>
          <p:nvPr/>
        </p:nvGraphicFramePr>
        <p:xfrm>
          <a:off x="411480" y="1417320"/>
          <a:ext cx="356616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280160" y="2743200"/>
            <a:ext cx="1828800" cy="91440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420</a:t>
            </a:r>
            <a:endParaRPr lang="en-US" sz="3000" dirty="0"/>
          </a:p>
          <a:p>
            <a:pPr algn="ctr" indent="0" marL="0">
              <a:buNone/>
            </a:pPr>
            <a:r>
              <a:rPr lang="en-US" sz="1200" dirty="0">
                <a:solidFill>
                  <a:schemeClr val="accent3"/>
                </a:solidFill>
                <a:latin typeface="Arial" pitchFamily="34" charset="0"/>
                <a:ea typeface="Arial" pitchFamily="34" charset="-122"/>
                <a:cs typeface="Arial" pitchFamily="34" charset="-120"/>
              </a:rPr>
              <a:t>minutes</a:t>
            </a:r>
            <a:endParaRPr lang="en-US" sz="3000" dirty="0"/>
          </a:p>
        </p:txBody>
      </p:sp>
      <p:sp>
        <p:nvSpPr>
          <p:cNvPr id="6" name="legend key"/>
          <p:cNvSpPr/>
          <p:nvPr/>
        </p:nvSpPr>
        <p:spPr>
          <a:xfrm>
            <a:off x="4160520" y="1636776"/>
            <a:ext cx="201168" cy="201168"/>
          </a:xfrm>
          <a:prstGeom prst="rect">
            <a:avLst/>
          </a:prstGeom>
          <a:solidFill>
            <a:srgbClr val="1F5A8A"/>
          </a:solidFill>
          <a:ln/>
        </p:spPr>
      </p:sp>
      <p:sp>
        <p:nvSpPr>
          <p:cNvPr id="7" name="Text 4"/>
          <p:cNvSpPr txBox="1"/>
          <p:nvPr/>
        </p:nvSpPr>
        <p:spPr>
          <a:xfrm>
            <a:off x="4480560" y="1572768"/>
            <a:ext cx="2926080" cy="274320"/>
          </a:xfrm>
          <a:prstGeom prst="rect">
            <a:avLst/>
          </a:prstGeom>
          <a:noFill/>
          <a:ln/>
        </p:spPr>
        <p:txBody>
          <a:bodyPr wrap="square" lIns="0" tIns="0" rIns="0" bIns="0" rtlCol="0" anchor="ctr"/>
          <a:lstStyle/>
          <a:p>
            <a:pPr indent="0" marL="0">
              <a:buNone/>
            </a:pPr>
            <a:r>
              <a:rPr lang="en-US" sz="1300" b="1" dirty="0">
                <a:solidFill>
                  <a:schemeClr val="tx1"/>
                </a:solidFill>
              </a:rPr>
              <a:t>Value-adding machining  </a:t>
            </a:r>
            <a:pPr indent="0" marL="0">
              <a:buNone/>
            </a:pPr>
            <a:r>
              <a:rPr lang="en-US" sz="1300" b="1" dirty="0">
                <a:solidFill>
                  <a:schemeClr val="accent2"/>
                </a:solidFill>
              </a:rPr>
              <a:t>300 min</a:t>
            </a:r>
            <a:endParaRPr lang="en-US" sz="1300" dirty="0"/>
          </a:p>
        </p:txBody>
      </p:sp>
      <p:sp>
        <p:nvSpPr>
          <p:cNvPr id="8" name="Text 5"/>
          <p:cNvSpPr txBox="1"/>
          <p:nvPr/>
        </p:nvSpPr>
        <p:spPr>
          <a:xfrm>
            <a:off x="4480560" y="1828800"/>
            <a:ext cx="2926080" cy="219456"/>
          </a:xfrm>
          <a:prstGeom prst="rect">
            <a:avLst/>
          </a:prstGeom>
          <a:noFill/>
          <a:ln/>
        </p:spPr>
        <p:txBody>
          <a:bodyPr wrap="square" lIns="0" tIns="0" rIns="0" bIns="0" rtlCol="0" anchor="ctr"/>
          <a:lstStyle/>
          <a:p>
            <a:pPr indent="0" marL="0">
              <a:buNone/>
            </a:pPr>
            <a:r>
              <a:rPr lang="en-US" sz="1100" dirty="0">
                <a:solidFill>
                  <a:schemeClr val="accent3"/>
                </a:solidFill>
              </a:rPr>
              <a:t>10 good frames × 30 min each</a:t>
            </a:r>
            <a:endParaRPr lang="en-US" sz="1100" dirty="0"/>
          </a:p>
        </p:txBody>
      </p:sp>
      <p:sp>
        <p:nvSpPr>
          <p:cNvPr id="9" name="legend key"/>
          <p:cNvSpPr/>
          <p:nvPr/>
        </p:nvSpPr>
        <p:spPr>
          <a:xfrm>
            <a:off x="4160520" y="2185416"/>
            <a:ext cx="201168" cy="201168"/>
          </a:xfrm>
          <a:prstGeom prst="rect">
            <a:avLst/>
          </a:prstGeom>
          <a:solidFill>
            <a:srgbClr val="F2A900"/>
          </a:solidFill>
          <a:ln/>
        </p:spPr>
      </p:sp>
      <p:sp>
        <p:nvSpPr>
          <p:cNvPr id="10" name="Text 7"/>
          <p:cNvSpPr txBox="1"/>
          <p:nvPr/>
        </p:nvSpPr>
        <p:spPr>
          <a:xfrm>
            <a:off x="4480560" y="2121408"/>
            <a:ext cx="2926080" cy="274320"/>
          </a:xfrm>
          <a:prstGeom prst="rect">
            <a:avLst/>
          </a:prstGeom>
          <a:noFill/>
          <a:ln/>
        </p:spPr>
        <p:txBody>
          <a:bodyPr wrap="square" lIns="0" tIns="0" rIns="0" bIns="0" rtlCol="0" anchor="ctr"/>
          <a:lstStyle/>
          <a:p>
            <a:pPr indent="0" marL="0">
              <a:buNone/>
            </a:pPr>
            <a:r>
              <a:rPr lang="en-US" sz="1300" b="1" dirty="0">
                <a:solidFill>
                  <a:schemeClr val="tx1"/>
                </a:solidFill>
              </a:rPr>
              <a:t>Changeovers  </a:t>
            </a:r>
            <a:pPr indent="0" marL="0">
              <a:buNone/>
            </a:pPr>
            <a:r>
              <a:rPr lang="en-US" sz="1300" b="1" dirty="0">
                <a:solidFill>
                  <a:schemeClr val="accent2"/>
                </a:solidFill>
              </a:rPr>
              <a:t>45 min</a:t>
            </a:r>
            <a:endParaRPr lang="en-US" sz="1300" dirty="0"/>
          </a:p>
        </p:txBody>
      </p:sp>
      <p:sp>
        <p:nvSpPr>
          <p:cNvPr id="11" name="Text 8"/>
          <p:cNvSpPr txBox="1"/>
          <p:nvPr/>
        </p:nvSpPr>
        <p:spPr>
          <a:xfrm>
            <a:off x="4480560" y="2377440"/>
            <a:ext cx="2926080" cy="219456"/>
          </a:xfrm>
          <a:prstGeom prst="rect">
            <a:avLst/>
          </a:prstGeom>
          <a:noFill/>
          <a:ln/>
        </p:spPr>
        <p:txBody>
          <a:bodyPr wrap="square" lIns="0" tIns="0" rIns="0" bIns="0" rtlCol="0" anchor="ctr"/>
          <a:lstStyle/>
          <a:p>
            <a:pPr indent="0" marL="0">
              <a:buNone/>
            </a:pPr>
            <a:r>
              <a:rPr lang="en-US" sz="1100" dirty="0">
                <a:solidFill>
                  <a:schemeClr val="accent3"/>
                </a:solidFill>
              </a:rPr>
              <a:t>Availability loss</a:t>
            </a:r>
            <a:endParaRPr lang="en-US" sz="1100" dirty="0"/>
          </a:p>
        </p:txBody>
      </p:sp>
      <p:sp>
        <p:nvSpPr>
          <p:cNvPr id="12" name="legend key"/>
          <p:cNvSpPr/>
          <p:nvPr/>
        </p:nvSpPr>
        <p:spPr>
          <a:xfrm>
            <a:off x="4160520" y="2734056"/>
            <a:ext cx="201168" cy="201168"/>
          </a:xfrm>
          <a:prstGeom prst="rect">
            <a:avLst/>
          </a:prstGeom>
          <a:solidFill>
            <a:srgbClr val="D1495B"/>
          </a:solidFill>
          <a:ln/>
        </p:spPr>
      </p:sp>
      <p:sp>
        <p:nvSpPr>
          <p:cNvPr id="13" name="Text 10"/>
          <p:cNvSpPr txBox="1"/>
          <p:nvPr/>
        </p:nvSpPr>
        <p:spPr>
          <a:xfrm>
            <a:off x="4480560" y="2670048"/>
            <a:ext cx="2926080" cy="274320"/>
          </a:xfrm>
          <a:prstGeom prst="rect">
            <a:avLst/>
          </a:prstGeom>
          <a:noFill/>
          <a:ln/>
        </p:spPr>
        <p:txBody>
          <a:bodyPr wrap="square" lIns="0" tIns="0" rIns="0" bIns="0" rtlCol="0" anchor="ctr"/>
          <a:lstStyle/>
          <a:p>
            <a:pPr indent="0" marL="0">
              <a:buNone/>
            </a:pPr>
            <a:r>
              <a:rPr lang="en-US" sz="1300" b="1" dirty="0">
                <a:solidFill>
                  <a:schemeClr val="tx1"/>
                </a:solidFill>
              </a:rPr>
              <a:t>Breakdowns &amp; minor stops  </a:t>
            </a:r>
            <a:pPr indent="0" marL="0">
              <a:buNone/>
            </a:pPr>
            <a:r>
              <a:rPr lang="en-US" sz="1300" b="1" dirty="0">
                <a:solidFill>
                  <a:schemeClr val="accent2"/>
                </a:solidFill>
              </a:rPr>
              <a:t>25 min</a:t>
            </a:r>
            <a:endParaRPr lang="en-US" sz="1300" dirty="0"/>
          </a:p>
        </p:txBody>
      </p:sp>
      <p:sp>
        <p:nvSpPr>
          <p:cNvPr id="14" name="Text 11"/>
          <p:cNvSpPr txBox="1"/>
          <p:nvPr/>
        </p:nvSpPr>
        <p:spPr>
          <a:xfrm>
            <a:off x="4480560" y="2926080"/>
            <a:ext cx="2926080" cy="219456"/>
          </a:xfrm>
          <a:prstGeom prst="rect">
            <a:avLst/>
          </a:prstGeom>
          <a:noFill/>
          <a:ln/>
        </p:spPr>
        <p:txBody>
          <a:bodyPr wrap="square" lIns="0" tIns="0" rIns="0" bIns="0" rtlCol="0" anchor="ctr"/>
          <a:lstStyle/>
          <a:p>
            <a:pPr indent="0" marL="0">
              <a:buNone/>
            </a:pPr>
            <a:r>
              <a:rPr lang="en-US" sz="1100" dirty="0">
                <a:solidFill>
                  <a:schemeClr val="accent3"/>
                </a:solidFill>
              </a:rPr>
              <a:t>Availability loss</a:t>
            </a:r>
            <a:endParaRPr lang="en-US" sz="1100" dirty="0"/>
          </a:p>
        </p:txBody>
      </p:sp>
      <p:sp>
        <p:nvSpPr>
          <p:cNvPr id="15" name="legend key"/>
          <p:cNvSpPr/>
          <p:nvPr/>
        </p:nvSpPr>
        <p:spPr>
          <a:xfrm>
            <a:off x="4160520" y="3282696"/>
            <a:ext cx="201168" cy="201168"/>
          </a:xfrm>
          <a:prstGeom prst="rect">
            <a:avLst/>
          </a:prstGeom>
          <a:solidFill>
            <a:srgbClr val="6B7A8F"/>
          </a:solidFill>
          <a:ln/>
        </p:spPr>
      </p:sp>
      <p:sp>
        <p:nvSpPr>
          <p:cNvPr id="16" name="Text 13"/>
          <p:cNvSpPr txBox="1"/>
          <p:nvPr/>
        </p:nvSpPr>
        <p:spPr>
          <a:xfrm>
            <a:off x="4480560" y="3218688"/>
            <a:ext cx="2926080" cy="274320"/>
          </a:xfrm>
          <a:prstGeom prst="rect">
            <a:avLst/>
          </a:prstGeom>
          <a:noFill/>
          <a:ln/>
        </p:spPr>
        <p:txBody>
          <a:bodyPr wrap="square" lIns="0" tIns="0" rIns="0" bIns="0" rtlCol="0" anchor="ctr"/>
          <a:lstStyle/>
          <a:p>
            <a:pPr indent="0" marL="0">
              <a:buNone/>
            </a:pPr>
            <a:r>
              <a:rPr lang="en-US" sz="1300" b="1" dirty="0">
                <a:solidFill>
                  <a:schemeClr val="tx1"/>
                </a:solidFill>
              </a:rPr>
              <a:t>Waiting: crane, parts, QC  </a:t>
            </a:r>
            <a:pPr indent="0" marL="0">
              <a:buNone/>
            </a:pPr>
            <a:r>
              <a:rPr lang="en-US" sz="1300" b="1" dirty="0">
                <a:solidFill>
                  <a:schemeClr val="accent2"/>
                </a:solidFill>
              </a:rPr>
              <a:t>20 min</a:t>
            </a:r>
            <a:endParaRPr lang="en-US" sz="1300" dirty="0"/>
          </a:p>
        </p:txBody>
      </p:sp>
      <p:sp>
        <p:nvSpPr>
          <p:cNvPr id="17" name="Text 14"/>
          <p:cNvSpPr txBox="1"/>
          <p:nvPr/>
        </p:nvSpPr>
        <p:spPr>
          <a:xfrm>
            <a:off x="4480560" y="3474720"/>
            <a:ext cx="2926080" cy="219456"/>
          </a:xfrm>
          <a:prstGeom prst="rect">
            <a:avLst/>
          </a:prstGeom>
          <a:noFill/>
          <a:ln/>
        </p:spPr>
        <p:txBody>
          <a:bodyPr wrap="square" lIns="0" tIns="0" rIns="0" bIns="0" rtlCol="0" anchor="ctr"/>
          <a:lstStyle/>
          <a:p>
            <a:pPr indent="0" marL="0">
              <a:buNone/>
            </a:pPr>
            <a:r>
              <a:rPr lang="en-US" sz="1100" dirty="0">
                <a:solidFill>
                  <a:schemeClr val="accent3"/>
                </a:solidFill>
              </a:rPr>
              <a:t>Performance loss</a:t>
            </a:r>
            <a:endParaRPr lang="en-US" sz="1100" dirty="0"/>
          </a:p>
        </p:txBody>
      </p:sp>
      <p:sp>
        <p:nvSpPr>
          <p:cNvPr id="18" name="legend key"/>
          <p:cNvSpPr/>
          <p:nvPr/>
        </p:nvSpPr>
        <p:spPr>
          <a:xfrm>
            <a:off x="4160520" y="3831336"/>
            <a:ext cx="201168" cy="201168"/>
          </a:xfrm>
          <a:prstGeom prst="rect">
            <a:avLst/>
          </a:prstGeom>
          <a:solidFill>
            <a:srgbClr val="A9B7C6"/>
          </a:solidFill>
          <a:ln/>
        </p:spPr>
      </p:sp>
      <p:sp>
        <p:nvSpPr>
          <p:cNvPr id="19" name="Text 16"/>
          <p:cNvSpPr txBox="1"/>
          <p:nvPr/>
        </p:nvSpPr>
        <p:spPr>
          <a:xfrm>
            <a:off x="4480560" y="3767328"/>
            <a:ext cx="2926080" cy="274320"/>
          </a:xfrm>
          <a:prstGeom prst="rect">
            <a:avLst/>
          </a:prstGeom>
          <a:noFill/>
          <a:ln/>
        </p:spPr>
        <p:txBody>
          <a:bodyPr wrap="square" lIns="0" tIns="0" rIns="0" bIns="0" rtlCol="0" anchor="ctr"/>
          <a:lstStyle/>
          <a:p>
            <a:pPr indent="0" marL="0">
              <a:buNone/>
            </a:pPr>
            <a:r>
              <a:rPr lang="en-US" sz="1300" b="1" dirty="0">
                <a:solidFill>
                  <a:schemeClr val="tx1"/>
                </a:solidFill>
              </a:rPr>
              <a:t>Slow set-up: dial-gauge alignment  </a:t>
            </a:r>
            <a:pPr indent="0" marL="0">
              <a:buNone/>
            </a:pPr>
            <a:r>
              <a:rPr lang="en-US" sz="1300" b="1" dirty="0">
                <a:solidFill>
                  <a:schemeClr val="accent2"/>
                </a:solidFill>
              </a:rPr>
              <a:t>15 min</a:t>
            </a:r>
            <a:endParaRPr lang="en-US" sz="1300" dirty="0"/>
          </a:p>
        </p:txBody>
      </p:sp>
      <p:sp>
        <p:nvSpPr>
          <p:cNvPr id="20" name="Text 17"/>
          <p:cNvSpPr txBox="1"/>
          <p:nvPr/>
        </p:nvSpPr>
        <p:spPr>
          <a:xfrm>
            <a:off x="4480560" y="4023360"/>
            <a:ext cx="2926080" cy="219456"/>
          </a:xfrm>
          <a:prstGeom prst="rect">
            <a:avLst/>
          </a:prstGeom>
          <a:noFill/>
          <a:ln/>
        </p:spPr>
        <p:txBody>
          <a:bodyPr wrap="square" lIns="0" tIns="0" rIns="0" bIns="0" rtlCol="0" anchor="ctr"/>
          <a:lstStyle/>
          <a:p>
            <a:pPr indent="0" marL="0">
              <a:buNone/>
            </a:pPr>
            <a:r>
              <a:rPr lang="en-US" sz="1100" dirty="0">
                <a:solidFill>
                  <a:schemeClr val="accent3"/>
                </a:solidFill>
              </a:rPr>
              <a:t>Performance loss</a:t>
            </a:r>
            <a:endParaRPr lang="en-US" sz="1100" dirty="0"/>
          </a:p>
        </p:txBody>
      </p:sp>
      <p:sp>
        <p:nvSpPr>
          <p:cNvPr id="21" name="legend key"/>
          <p:cNvSpPr/>
          <p:nvPr/>
        </p:nvSpPr>
        <p:spPr>
          <a:xfrm>
            <a:off x="4160520" y="4379976"/>
            <a:ext cx="201168" cy="201168"/>
          </a:xfrm>
          <a:prstGeom prst="rect">
            <a:avLst/>
          </a:prstGeom>
          <a:solidFill>
            <a:srgbClr val="12263F"/>
          </a:solidFill>
          <a:ln/>
        </p:spPr>
      </p:sp>
      <p:sp>
        <p:nvSpPr>
          <p:cNvPr id="22" name="Text 19"/>
          <p:cNvSpPr txBox="1"/>
          <p:nvPr/>
        </p:nvSpPr>
        <p:spPr>
          <a:xfrm>
            <a:off x="4480560" y="4315968"/>
            <a:ext cx="2926080" cy="274320"/>
          </a:xfrm>
          <a:prstGeom prst="rect">
            <a:avLst/>
          </a:prstGeom>
          <a:noFill/>
          <a:ln/>
        </p:spPr>
        <p:txBody>
          <a:bodyPr wrap="square" lIns="0" tIns="0" rIns="0" bIns="0" rtlCol="0" anchor="ctr"/>
          <a:lstStyle/>
          <a:p>
            <a:pPr indent="0" marL="0">
              <a:buNone/>
            </a:pPr>
            <a:r>
              <a:rPr lang="en-US" sz="1300" b="1" dirty="0">
                <a:solidFill>
                  <a:schemeClr val="tx1"/>
                </a:solidFill>
              </a:rPr>
              <a:t>Rework / re-machining  </a:t>
            </a:r>
            <a:pPr indent="0" marL="0">
              <a:buNone/>
            </a:pPr>
            <a:r>
              <a:rPr lang="en-US" sz="1300" b="1" dirty="0">
                <a:solidFill>
                  <a:schemeClr val="accent2"/>
                </a:solidFill>
              </a:rPr>
              <a:t>15 min</a:t>
            </a:r>
            <a:endParaRPr lang="en-US" sz="1300" dirty="0"/>
          </a:p>
        </p:txBody>
      </p:sp>
      <p:sp>
        <p:nvSpPr>
          <p:cNvPr id="23" name="Text 20"/>
          <p:cNvSpPr txBox="1"/>
          <p:nvPr/>
        </p:nvSpPr>
        <p:spPr>
          <a:xfrm>
            <a:off x="4480560" y="4572000"/>
            <a:ext cx="2926080" cy="219456"/>
          </a:xfrm>
          <a:prstGeom prst="rect">
            <a:avLst/>
          </a:prstGeom>
          <a:noFill/>
          <a:ln/>
        </p:spPr>
        <p:txBody>
          <a:bodyPr wrap="square" lIns="0" tIns="0" rIns="0" bIns="0" rtlCol="0" anchor="ctr"/>
          <a:lstStyle/>
          <a:p>
            <a:pPr indent="0" marL="0">
              <a:buNone/>
            </a:pPr>
            <a:r>
              <a:rPr lang="en-US" sz="1100" dirty="0">
                <a:solidFill>
                  <a:schemeClr val="accent3"/>
                </a:solidFill>
              </a:rPr>
              <a:t>Quality loss</a:t>
            </a:r>
            <a:endParaRPr lang="en-US" sz="1100" dirty="0"/>
          </a:p>
        </p:txBody>
      </p:sp>
      <p:sp>
        <p:nvSpPr>
          <p:cNvPr id="24" name="OEE factor"/>
          <p:cNvSpPr/>
          <p:nvPr/>
        </p:nvSpPr>
        <p:spPr>
          <a:xfrm>
            <a:off x="7680960" y="1463040"/>
            <a:ext cx="3959352" cy="786384"/>
          </a:xfrm>
          <a:prstGeom prst="roundRect">
            <a:avLst>
              <a:gd name="adj" fmla="val 9302"/>
            </a:avLst>
          </a:prstGeom>
          <a:solidFill>
            <a:schemeClr val="bg2"/>
          </a:solidFill>
          <a:ln/>
        </p:spPr>
      </p:sp>
      <p:sp>
        <p:nvSpPr>
          <p:cNvPr id="25" name="Text 22"/>
          <p:cNvSpPr txBox="1"/>
          <p:nvPr/>
        </p:nvSpPr>
        <p:spPr>
          <a:xfrm>
            <a:off x="7845552" y="1517904"/>
            <a:ext cx="1828800" cy="310896"/>
          </a:xfrm>
          <a:prstGeom prst="rect">
            <a:avLst/>
          </a:prstGeom>
          <a:noFill/>
          <a:ln/>
        </p:spPr>
        <p:txBody>
          <a:bodyPr wrap="square" lIns="0" tIns="0" rIns="0" bIns="0" rtlCol="0" anchor="ctr"/>
          <a:lstStyle/>
          <a:p>
            <a:pPr indent="0" marL="0">
              <a:buNone/>
            </a:pPr>
            <a:r>
              <a:rPr lang="en-US" sz="1400" b="1" dirty="0">
                <a:solidFill>
                  <a:schemeClr val="tx2"/>
                </a:solidFill>
              </a:rPr>
              <a:t>Availability</a:t>
            </a:r>
            <a:endParaRPr lang="en-US" sz="1400" dirty="0"/>
          </a:p>
        </p:txBody>
      </p:sp>
      <p:sp>
        <p:nvSpPr>
          <p:cNvPr id="26" name="Text 23"/>
          <p:cNvSpPr txBox="1"/>
          <p:nvPr/>
        </p:nvSpPr>
        <p:spPr>
          <a:xfrm>
            <a:off x="7845552" y="1847088"/>
            <a:ext cx="2651760" cy="329184"/>
          </a:xfrm>
          <a:prstGeom prst="rect">
            <a:avLst/>
          </a:prstGeom>
          <a:noFill/>
          <a:ln/>
        </p:spPr>
        <p:txBody>
          <a:bodyPr wrap="square" lIns="0" tIns="0" rIns="0" bIns="0" rtlCol="0" anchor="ctr"/>
          <a:lstStyle/>
          <a:p>
            <a:pPr indent="0" marL="0">
              <a:buNone/>
            </a:pPr>
            <a:r>
              <a:rPr lang="en-US" sz="1100" dirty="0">
                <a:solidFill>
                  <a:schemeClr val="accent3"/>
                </a:solidFill>
              </a:rPr>
              <a:t>(420 − 45 − 25) ÷ 420</a:t>
            </a:r>
            <a:endParaRPr lang="en-US" sz="1100" dirty="0"/>
          </a:p>
        </p:txBody>
      </p:sp>
      <p:sp>
        <p:nvSpPr>
          <p:cNvPr id="27" name="Text 24"/>
          <p:cNvSpPr txBox="1"/>
          <p:nvPr/>
        </p:nvSpPr>
        <p:spPr>
          <a:xfrm>
            <a:off x="10241280" y="1554480"/>
            <a:ext cx="1280160" cy="603504"/>
          </a:xfrm>
          <a:prstGeom prst="rect">
            <a:avLst/>
          </a:prstGeom>
          <a:noFill/>
          <a:ln/>
        </p:spPr>
        <p:txBody>
          <a:bodyPr wrap="square" lIns="0" tIns="0" rIns="0" bIns="0" rtlCol="0" anchor="ctr"/>
          <a:lstStyle/>
          <a:p>
            <a:pPr algn="r" indent="0" marL="0">
              <a:buNone/>
            </a:pPr>
            <a:r>
              <a:rPr lang="en-US" sz="2400" b="1" dirty="0">
                <a:solidFill>
                  <a:schemeClr val="accent2"/>
                </a:solidFill>
                <a:latin typeface="Arial" pitchFamily="34" charset="0"/>
                <a:ea typeface="Arial" pitchFamily="34" charset="-122"/>
                <a:cs typeface="Arial" pitchFamily="34" charset="-120"/>
              </a:rPr>
              <a:t>83.3%</a:t>
            </a:r>
            <a:endParaRPr lang="en-US" sz="2400" dirty="0"/>
          </a:p>
        </p:txBody>
      </p:sp>
      <p:sp>
        <p:nvSpPr>
          <p:cNvPr id="28" name="OEE factor"/>
          <p:cNvSpPr/>
          <p:nvPr/>
        </p:nvSpPr>
        <p:spPr>
          <a:xfrm>
            <a:off x="7680960" y="2377440"/>
            <a:ext cx="3959352" cy="786384"/>
          </a:xfrm>
          <a:prstGeom prst="roundRect">
            <a:avLst>
              <a:gd name="adj" fmla="val 9302"/>
            </a:avLst>
          </a:prstGeom>
          <a:solidFill>
            <a:schemeClr val="bg2"/>
          </a:solidFill>
          <a:ln/>
        </p:spPr>
      </p:sp>
      <p:sp>
        <p:nvSpPr>
          <p:cNvPr id="29" name="Text 26"/>
          <p:cNvSpPr txBox="1"/>
          <p:nvPr/>
        </p:nvSpPr>
        <p:spPr>
          <a:xfrm>
            <a:off x="7845552" y="2432304"/>
            <a:ext cx="1828800" cy="310896"/>
          </a:xfrm>
          <a:prstGeom prst="rect">
            <a:avLst/>
          </a:prstGeom>
          <a:noFill/>
          <a:ln/>
        </p:spPr>
        <p:txBody>
          <a:bodyPr wrap="square" lIns="0" tIns="0" rIns="0" bIns="0" rtlCol="0" anchor="ctr"/>
          <a:lstStyle/>
          <a:p>
            <a:pPr indent="0" marL="0">
              <a:buNone/>
            </a:pPr>
            <a:r>
              <a:rPr lang="en-US" sz="1400" b="1" dirty="0">
                <a:solidFill>
                  <a:schemeClr val="tx2"/>
                </a:solidFill>
              </a:rPr>
              <a:t>Performance</a:t>
            </a:r>
            <a:endParaRPr lang="en-US" sz="1400" dirty="0"/>
          </a:p>
        </p:txBody>
      </p:sp>
      <p:sp>
        <p:nvSpPr>
          <p:cNvPr id="30" name="Text 27"/>
          <p:cNvSpPr txBox="1"/>
          <p:nvPr/>
        </p:nvSpPr>
        <p:spPr>
          <a:xfrm>
            <a:off x="7845552" y="2761488"/>
            <a:ext cx="2651760" cy="329184"/>
          </a:xfrm>
          <a:prstGeom prst="rect">
            <a:avLst/>
          </a:prstGeom>
          <a:noFill/>
          <a:ln/>
        </p:spPr>
        <p:txBody>
          <a:bodyPr wrap="square" lIns="0" tIns="0" rIns="0" bIns="0" rtlCol="0" anchor="ctr"/>
          <a:lstStyle/>
          <a:p>
            <a:pPr indent="0" marL="0">
              <a:buNone/>
            </a:pPr>
            <a:r>
              <a:rPr lang="en-US" sz="1100" dirty="0">
                <a:solidFill>
                  <a:schemeClr val="accent3"/>
                </a:solidFill>
              </a:rPr>
              <a:t>28-min ideal × 10.5 frames ÷ 350 min</a:t>
            </a:r>
            <a:endParaRPr lang="en-US" sz="1100" dirty="0"/>
          </a:p>
        </p:txBody>
      </p:sp>
      <p:sp>
        <p:nvSpPr>
          <p:cNvPr id="31" name="Text 28"/>
          <p:cNvSpPr txBox="1"/>
          <p:nvPr/>
        </p:nvSpPr>
        <p:spPr>
          <a:xfrm>
            <a:off x="10241280" y="2468880"/>
            <a:ext cx="1280160" cy="603504"/>
          </a:xfrm>
          <a:prstGeom prst="rect">
            <a:avLst/>
          </a:prstGeom>
          <a:noFill/>
          <a:ln/>
        </p:spPr>
        <p:txBody>
          <a:bodyPr wrap="square" lIns="0" tIns="0" rIns="0" bIns="0" rtlCol="0" anchor="ctr"/>
          <a:lstStyle/>
          <a:p>
            <a:pPr algn="r" indent="0" marL="0">
              <a:buNone/>
            </a:pPr>
            <a:r>
              <a:rPr lang="en-US" sz="2400" b="1" dirty="0">
                <a:solidFill>
                  <a:schemeClr val="accent2"/>
                </a:solidFill>
                <a:latin typeface="Arial" pitchFamily="34" charset="0"/>
                <a:ea typeface="Arial" pitchFamily="34" charset="-122"/>
                <a:cs typeface="Arial" pitchFamily="34" charset="-120"/>
              </a:rPr>
              <a:t>84.0%</a:t>
            </a:r>
            <a:endParaRPr lang="en-US" sz="2400" dirty="0"/>
          </a:p>
        </p:txBody>
      </p:sp>
      <p:sp>
        <p:nvSpPr>
          <p:cNvPr id="32" name="OEE factor"/>
          <p:cNvSpPr/>
          <p:nvPr/>
        </p:nvSpPr>
        <p:spPr>
          <a:xfrm>
            <a:off x="7680960" y="3291840"/>
            <a:ext cx="3959352" cy="786384"/>
          </a:xfrm>
          <a:prstGeom prst="roundRect">
            <a:avLst>
              <a:gd name="adj" fmla="val 9302"/>
            </a:avLst>
          </a:prstGeom>
          <a:solidFill>
            <a:schemeClr val="bg2"/>
          </a:solidFill>
          <a:ln/>
        </p:spPr>
      </p:sp>
      <p:sp>
        <p:nvSpPr>
          <p:cNvPr id="33" name="Text 30"/>
          <p:cNvSpPr txBox="1"/>
          <p:nvPr/>
        </p:nvSpPr>
        <p:spPr>
          <a:xfrm>
            <a:off x="7845552" y="3346704"/>
            <a:ext cx="1828800" cy="310896"/>
          </a:xfrm>
          <a:prstGeom prst="rect">
            <a:avLst/>
          </a:prstGeom>
          <a:noFill/>
          <a:ln/>
        </p:spPr>
        <p:txBody>
          <a:bodyPr wrap="square" lIns="0" tIns="0" rIns="0" bIns="0" rtlCol="0" anchor="ctr"/>
          <a:lstStyle/>
          <a:p>
            <a:pPr indent="0" marL="0">
              <a:buNone/>
            </a:pPr>
            <a:r>
              <a:rPr lang="en-US" sz="1400" b="1" dirty="0">
                <a:solidFill>
                  <a:schemeClr val="tx2"/>
                </a:solidFill>
              </a:rPr>
              <a:t>Quality</a:t>
            </a:r>
            <a:endParaRPr lang="en-US" sz="1400" dirty="0"/>
          </a:p>
        </p:txBody>
      </p:sp>
      <p:sp>
        <p:nvSpPr>
          <p:cNvPr id="34" name="Text 31"/>
          <p:cNvSpPr txBox="1"/>
          <p:nvPr/>
        </p:nvSpPr>
        <p:spPr>
          <a:xfrm>
            <a:off x="7845552" y="3675888"/>
            <a:ext cx="2651760" cy="329184"/>
          </a:xfrm>
          <a:prstGeom prst="rect">
            <a:avLst/>
          </a:prstGeom>
          <a:noFill/>
          <a:ln/>
        </p:spPr>
        <p:txBody>
          <a:bodyPr wrap="square" lIns="0" tIns="0" rIns="0" bIns="0" rtlCol="0" anchor="ctr"/>
          <a:lstStyle/>
          <a:p>
            <a:pPr indent="0" marL="0">
              <a:buNone/>
            </a:pPr>
            <a:r>
              <a:rPr lang="en-US" sz="1100" dirty="0">
                <a:solidFill>
                  <a:schemeClr val="accent3"/>
                </a:solidFill>
              </a:rPr>
              <a:t>10 good ÷ 10.5 frames machined</a:t>
            </a:r>
            <a:endParaRPr lang="en-US" sz="1100" dirty="0"/>
          </a:p>
        </p:txBody>
      </p:sp>
      <p:sp>
        <p:nvSpPr>
          <p:cNvPr id="35" name="Text 32"/>
          <p:cNvSpPr txBox="1"/>
          <p:nvPr/>
        </p:nvSpPr>
        <p:spPr>
          <a:xfrm>
            <a:off x="10241280" y="3383280"/>
            <a:ext cx="1280160" cy="603504"/>
          </a:xfrm>
          <a:prstGeom prst="rect">
            <a:avLst/>
          </a:prstGeom>
          <a:noFill/>
          <a:ln/>
        </p:spPr>
        <p:txBody>
          <a:bodyPr wrap="square" lIns="0" tIns="0" rIns="0" bIns="0" rtlCol="0" anchor="ctr"/>
          <a:lstStyle/>
          <a:p>
            <a:pPr algn="r" indent="0" marL="0">
              <a:buNone/>
            </a:pPr>
            <a:r>
              <a:rPr lang="en-US" sz="2400" b="1" dirty="0">
                <a:solidFill>
                  <a:schemeClr val="accent2"/>
                </a:solidFill>
                <a:latin typeface="Arial" pitchFamily="34" charset="0"/>
                <a:ea typeface="Arial" pitchFamily="34" charset="-122"/>
                <a:cs typeface="Arial" pitchFamily="34" charset="-120"/>
              </a:rPr>
              <a:t>95.2%</a:t>
            </a:r>
            <a:endParaRPr lang="en-US" sz="2400" dirty="0"/>
          </a:p>
        </p:txBody>
      </p:sp>
      <p:sp>
        <p:nvSpPr>
          <p:cNvPr id="36" name="OEE result"/>
          <p:cNvSpPr/>
          <p:nvPr/>
        </p:nvSpPr>
        <p:spPr>
          <a:xfrm>
            <a:off x="7680960" y="4206240"/>
            <a:ext cx="3959352" cy="841248"/>
          </a:xfrm>
          <a:prstGeom prst="roundRect">
            <a:avLst>
              <a:gd name="adj" fmla="val 8696"/>
            </a:avLst>
          </a:prstGeom>
          <a:solidFill>
            <a:schemeClr val="tx2"/>
          </a:solidFill>
          <a:ln/>
        </p:spPr>
      </p:sp>
      <p:sp>
        <p:nvSpPr>
          <p:cNvPr id="37" name="Text 34"/>
          <p:cNvSpPr txBox="1"/>
          <p:nvPr/>
        </p:nvSpPr>
        <p:spPr>
          <a:xfrm>
            <a:off x="7845552" y="4261104"/>
            <a:ext cx="2377440" cy="731520"/>
          </a:xfrm>
          <a:prstGeom prst="rect">
            <a:avLst/>
          </a:prstGeom>
          <a:noFill/>
          <a:ln/>
        </p:spPr>
        <p:txBody>
          <a:bodyPr wrap="square" lIns="0" tIns="0" rIns="0" bIns="0" rtlCol="0" anchor="ctr"/>
          <a:lstStyle/>
          <a:p>
            <a:pPr indent="0" marL="0">
              <a:buNone/>
            </a:pPr>
            <a:r>
              <a:rPr lang="en-US" sz="1400" b="1" dirty="0">
                <a:solidFill>
                  <a:schemeClr val="bg1"/>
                </a:solidFill>
              </a:rPr>
              <a:t>OEE = A × P × Q</a:t>
            </a:r>
            <a:endParaRPr lang="en-US" sz="1400" dirty="0"/>
          </a:p>
          <a:p>
            <a:pPr indent="0" marL="0">
              <a:buNone/>
            </a:pPr>
            <a:r>
              <a:rPr lang="en-US" sz="1100" dirty="0">
                <a:solidFill>
                  <a:schemeClr val="accent6"/>
                </a:solidFill>
              </a:rPr>
              <a:t>World-class benchmark ≈ 85%</a:t>
            </a:r>
            <a:endParaRPr lang="en-US" sz="1400" dirty="0"/>
          </a:p>
        </p:txBody>
      </p:sp>
      <p:sp>
        <p:nvSpPr>
          <p:cNvPr id="38" name="Text 35"/>
          <p:cNvSpPr txBox="1"/>
          <p:nvPr/>
        </p:nvSpPr>
        <p:spPr>
          <a:xfrm>
            <a:off x="10058400" y="4261104"/>
            <a:ext cx="1463040" cy="731520"/>
          </a:xfrm>
          <a:prstGeom prst="rect">
            <a:avLst/>
          </a:prstGeom>
          <a:noFill/>
          <a:ln/>
        </p:spPr>
        <p:txBody>
          <a:bodyPr wrap="square" lIns="0" tIns="0" rIns="0" bIns="0" rtlCol="0" anchor="ctr"/>
          <a:lstStyle/>
          <a:p>
            <a:pPr algn="r" indent="0" marL="0">
              <a:buNone/>
            </a:pPr>
            <a:r>
              <a:rPr lang="en-US" sz="2800" b="1" dirty="0">
                <a:solidFill>
                  <a:schemeClr val="accent1"/>
                </a:solidFill>
                <a:latin typeface="Arial" pitchFamily="34" charset="0"/>
                <a:ea typeface="Arial" pitchFamily="34" charset="-122"/>
                <a:cs typeface="Arial" pitchFamily="34" charset="-120"/>
              </a:rPr>
              <a:t>66.7%</a:t>
            </a:r>
            <a:endParaRPr lang="en-US" sz="2800" dirty="0"/>
          </a:p>
        </p:txBody>
      </p:sp>
      <p:sp>
        <p:nvSpPr>
          <p:cNvPr id="39" name="insight"/>
          <p:cNvSpPr/>
          <p:nvPr/>
        </p:nvSpPr>
        <p:spPr>
          <a:xfrm>
            <a:off x="548640" y="5303520"/>
            <a:ext cx="11091672" cy="868680"/>
          </a:xfrm>
          <a:prstGeom prst="roundRect">
            <a:avLst>
              <a:gd name="adj" fmla="val 8421"/>
            </a:avLst>
          </a:prstGeom>
          <a:solidFill>
            <a:schemeClr val="accent1">
              <a:alpha val="22000"/>
            </a:schemeClr>
          </a:solidFill>
          <a:ln/>
        </p:spPr>
      </p:sp>
      <p:sp>
        <p:nvSpPr>
          <p:cNvPr id="40" name="target circle"/>
          <p:cNvSpPr/>
          <p:nvPr/>
        </p:nvSpPr>
        <p:spPr>
          <a:xfrm>
            <a:off x="731520" y="5440680"/>
            <a:ext cx="566928" cy="566928"/>
          </a:xfrm>
          <a:prstGeom prst="ellipse">
            <a:avLst/>
          </a:prstGeom>
          <a:solidFill>
            <a:schemeClr val="tx2"/>
          </a:solidFill>
          <a:ln/>
        </p:spPr>
      </p:sp>
      <p:pic>
        <p:nvPicPr>
          <p:cNvPr id="41" name="target" descr="target">    </p:cNvPr>
          <p:cNvPicPr>
            <a:picLocks noChangeAspect="1"/>
          </p:cNvPicPr>
          <p:nvPr/>
        </p:nvPicPr>
        <p:blipFill>
          <a:blip r:embed="rId2"/>
          <a:stretch>
            <a:fillRect/>
          </a:stretch>
        </p:blipFill>
        <p:spPr>
          <a:xfrm>
            <a:off x="856244" y="5565404"/>
            <a:ext cx="317480" cy="317480"/>
          </a:xfrm>
          <a:prstGeom prst="rect">
            <a:avLst/>
          </a:prstGeom>
        </p:spPr>
      </p:pic>
      <p:sp>
        <p:nvSpPr>
          <p:cNvPr id="42" name="Text 38"/>
          <p:cNvSpPr txBox="1"/>
          <p:nvPr/>
        </p:nvSpPr>
        <p:spPr>
          <a:xfrm>
            <a:off x="1463040" y="5349240"/>
            <a:ext cx="10058400" cy="777240"/>
          </a:xfrm>
          <a:prstGeom prst="rect">
            <a:avLst/>
          </a:prstGeom>
          <a:noFill/>
          <a:ln/>
        </p:spPr>
        <p:txBody>
          <a:bodyPr wrap="square" lIns="0" tIns="0" rIns="0" bIns="0" rtlCol="0" anchor="ctr"/>
          <a:lstStyle/>
          <a:p>
            <a:pPr indent="0" marL="0">
              <a:buNone/>
            </a:pPr>
            <a:r>
              <a:rPr lang="en-US" sz="1500" b="1" dirty="0">
                <a:solidFill>
                  <a:schemeClr val="tx2"/>
                </a:solidFill>
              </a:rPr>
              <a:t>120 lost minutes a day = 4 excavators' worth of OP30 time. </a:t>
            </a:r>
            <a:pPr indent="0" marL="0">
              <a:buNone/>
            </a:pPr>
            <a:r>
              <a:rPr lang="en-US" sz="1500" dirty="0">
                <a:solidFill>
                  <a:schemeClr val="tx1"/>
                </a:solidFill>
              </a:rPr>
              <a:t>Win back about 60 of them and the shop makes 2 more machines with no new machine and no rushing.</a:t>
            </a:r>
            <a:endParaRPr lang="en-US" sz="15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5 · SOLUTION: PROCESS STABILITY AND JUST-IN-TIME</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tx2"/>
                </a:solidFill>
              </a:rPr>
              <a:t>Levers 1–3: stabilise and feed OP30</a:t>
            </a:r>
            <a:endParaRPr lang="en-US" sz="3600" dirty="0"/>
          </a:p>
        </p:txBody>
      </p:sp>
      <p:sp>
        <p:nvSpPr>
          <p:cNvPr id="4" name="Text 2"/>
          <p:cNvSpPr txBox="1"/>
          <p:nvPr/>
        </p:nvSpPr>
        <p:spPr>
          <a:xfrm>
            <a:off x="548640" y="1371600"/>
            <a:ext cx="11064240" cy="457200"/>
          </a:xfrm>
          <a:prstGeom prst="rect">
            <a:avLst/>
          </a:prstGeom>
          <a:noFill/>
          <a:ln/>
        </p:spPr>
        <p:txBody>
          <a:bodyPr wrap="square" lIns="0" tIns="0" rIns="0" bIns="0" rtlCol="0" anchor="ctr"/>
          <a:lstStyle/>
          <a:p>
            <a:pPr indent="0" marL="0">
              <a:buNone/>
            </a:pPr>
            <a:r>
              <a:rPr lang="en-US" sz="1400" i="1" dirty="0">
                <a:solidFill>
                  <a:schemeClr val="accent3"/>
                </a:solidFill>
              </a:rPr>
              <a:t>Theory of Constraints: fix the bottleneck (OP30) first, because a minute saved there is a minute of plant output; then roll out to OP10, OP20 and OP40.</a:t>
            </a:r>
            <a:endParaRPr lang="en-US" sz="1400" dirty="0"/>
          </a:p>
        </p:txBody>
      </p:sp>
      <p:sp>
        <p:nvSpPr>
          <p:cNvPr id="5" name="lever card"/>
          <p:cNvSpPr/>
          <p:nvPr/>
        </p:nvSpPr>
        <p:spPr>
          <a:xfrm>
            <a:off x="548640" y="1965960"/>
            <a:ext cx="3520440" cy="4206240"/>
          </a:xfrm>
          <a:prstGeom prst="roundRect">
            <a:avLst>
              <a:gd name="adj" fmla="val 2078"/>
            </a:avLst>
          </a:prstGeom>
          <a:solidFill>
            <a:schemeClr val="bg1"/>
          </a:solidFill>
          <a:ln w="12700">
            <a:solidFill>
              <a:srgbClr val="EEF2F6"/>
            </a:solidFill>
            <a:prstDash val="solid"/>
          </a:ln>
          <a:effectLst>
            <a:outerShdw sx="100000" sy="100000" kx="0" ky="0" algn="bl" rotWithShape="0" blurRad="101600" dist="25400" dir="5400000">
              <a:srgbClr val="12263F">
                <a:alpha val="14000"/>
              </a:srgbClr>
            </a:outerShdw>
          </a:effectLst>
        </p:spPr>
      </p:sp>
      <p:sp>
        <p:nvSpPr>
          <p:cNvPr id="6" name="1 · SMED quick changeover circle"/>
          <p:cNvSpPr/>
          <p:nvPr/>
        </p:nvSpPr>
        <p:spPr>
          <a:xfrm>
            <a:off x="749808" y="2167128"/>
            <a:ext cx="640080" cy="640080"/>
          </a:xfrm>
          <a:prstGeom prst="ellipse">
            <a:avLst/>
          </a:prstGeom>
          <a:solidFill>
            <a:schemeClr val="tx2"/>
          </a:solidFill>
          <a:ln/>
        </p:spPr>
      </p:sp>
      <p:pic>
        <p:nvPicPr>
          <p:cNvPr id="7" name="1 · SMED quick changeover" descr="1 · SMED quick changeover">    </p:cNvPr>
          <p:cNvPicPr>
            <a:picLocks noChangeAspect="1"/>
          </p:cNvPicPr>
          <p:nvPr/>
        </p:nvPicPr>
        <p:blipFill>
          <a:blip r:embed="rId1"/>
          <a:stretch>
            <a:fillRect/>
          </a:stretch>
        </p:blipFill>
        <p:spPr>
          <a:xfrm>
            <a:off x="890626" y="2307946"/>
            <a:ext cx="358445" cy="358445"/>
          </a:xfrm>
          <a:prstGeom prst="rect">
            <a:avLst/>
          </a:prstGeom>
        </p:spPr>
      </p:pic>
      <p:sp>
        <p:nvSpPr>
          <p:cNvPr id="8" name="chip"/>
          <p:cNvSpPr/>
          <p:nvPr/>
        </p:nvSpPr>
        <p:spPr>
          <a:xfrm>
            <a:off x="1536192" y="2340864"/>
            <a:ext cx="2331720" cy="292608"/>
          </a:xfrm>
          <a:prstGeom prst="roundRect">
            <a:avLst>
              <a:gd name="adj" fmla="val 50000"/>
            </a:avLst>
          </a:prstGeom>
          <a:solidFill>
            <a:schemeClr val="bg2"/>
          </a:solidFill>
          <a:ln/>
        </p:spPr>
      </p:sp>
      <p:sp>
        <p:nvSpPr>
          <p:cNvPr id="9" name="chip text"/>
          <p:cNvSpPr txBox="1"/>
          <p:nvPr/>
        </p:nvSpPr>
        <p:spPr>
          <a:xfrm>
            <a:off x="1536192" y="2340864"/>
            <a:ext cx="2331720" cy="292608"/>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VPS · PROCESS STABILITY</a:t>
            </a:r>
            <a:endParaRPr lang="en-US" sz="1100" dirty="0"/>
          </a:p>
        </p:txBody>
      </p:sp>
      <p:sp>
        <p:nvSpPr>
          <p:cNvPr id="10" name="Text 7"/>
          <p:cNvSpPr txBox="1"/>
          <p:nvPr/>
        </p:nvSpPr>
        <p:spPr>
          <a:xfrm>
            <a:off x="749808" y="2926080"/>
            <a:ext cx="3154680" cy="365760"/>
          </a:xfrm>
          <a:prstGeom prst="rect">
            <a:avLst/>
          </a:prstGeom>
          <a:noFill/>
          <a:ln/>
        </p:spPr>
        <p:txBody>
          <a:bodyPr wrap="square" lIns="0" tIns="0" rIns="0" bIns="0" rtlCol="0" anchor="ctr"/>
          <a:lstStyle/>
          <a:p>
            <a:pPr indent="0" marL="0">
              <a:buNone/>
            </a:pPr>
            <a:r>
              <a:rPr lang="en-US" sz="1700" b="1" dirty="0">
                <a:solidFill>
                  <a:schemeClr val="tx2"/>
                </a:solidFill>
              </a:rPr>
              <a:t>1 · SMED quick changeover</a:t>
            </a:r>
            <a:endParaRPr lang="en-US" sz="1700" dirty="0"/>
          </a:p>
        </p:txBody>
      </p:sp>
      <p:sp>
        <p:nvSpPr>
          <p:cNvPr id="11" name="Text 8"/>
          <p:cNvSpPr txBox="1"/>
          <p:nvPr/>
        </p:nvSpPr>
        <p:spPr>
          <a:xfrm>
            <a:off x="749808" y="3319272"/>
            <a:ext cx="3154680" cy="41148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45 → 15 min/day</a:t>
            </a:r>
            <a:endParaRPr lang="en-US" sz="2400" dirty="0"/>
          </a:p>
        </p:txBody>
      </p:sp>
      <p:sp>
        <p:nvSpPr>
          <p:cNvPr id="12" name="Text 9"/>
          <p:cNvSpPr txBox="1"/>
          <p:nvPr/>
        </p:nvSpPr>
        <p:spPr>
          <a:xfrm>
            <a:off x="749808" y="3730752"/>
            <a:ext cx="3154680" cy="274320"/>
          </a:xfrm>
          <a:prstGeom prst="rect">
            <a:avLst/>
          </a:prstGeom>
          <a:noFill/>
          <a:ln/>
        </p:spPr>
        <p:txBody>
          <a:bodyPr wrap="square" lIns="0" tIns="0" rIns="0" bIns="0" rtlCol="0" anchor="ctr"/>
          <a:lstStyle/>
          <a:p>
            <a:pPr indent="0" marL="0">
              <a:buNone/>
            </a:pPr>
            <a:r>
              <a:rPr lang="en-US" sz="1300" b="1" dirty="0">
                <a:solidFill>
                  <a:schemeClr val="accent5"/>
                </a:solidFill>
              </a:rPr>
              <a:t>+1.0 excavator of capacity</a:t>
            </a:r>
            <a:endParaRPr lang="en-US" sz="1300" dirty="0"/>
          </a:p>
        </p:txBody>
      </p:sp>
      <p:sp>
        <p:nvSpPr>
          <p:cNvPr id="13" name="Text 10"/>
          <p:cNvSpPr txBox="1"/>
          <p:nvPr/>
        </p:nvSpPr>
        <p:spPr>
          <a:xfrm>
            <a:off x="685800" y="4114800"/>
            <a:ext cx="3273552"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Preset the next frame's fixture and tools while the current frame is machined</a:t>
            </a:r>
            <a:endParaRPr lang="en-US" sz="1400" dirty="0"/>
          </a:p>
          <a:p>
            <a:pPr marL="177800" indent="-177800">
              <a:spcAft>
                <a:spcPts val="600"/>
              </a:spcAft>
              <a:buSzPct val="100000"/>
              <a:buChar char="•"/>
            </a:pPr>
            <a:r>
              <a:rPr lang="en-US" sz="1400" dirty="0">
                <a:solidFill>
                  <a:schemeClr val="tx1"/>
                </a:solidFill>
              </a:rPr>
              <a:t>Zero-point quick clamps and a tool presetter: 15 → 5 min per change</a:t>
            </a:r>
            <a:endParaRPr lang="en-US" sz="1400" dirty="0"/>
          </a:p>
          <a:p>
            <a:pPr marL="177800" indent="-177800">
              <a:spcAft>
                <a:spcPts val="600"/>
              </a:spcAft>
              <a:buSzPct val="100000"/>
              <a:buChar char="•"/>
            </a:pPr>
            <a:r>
              <a:rPr lang="en-US" sz="1400" dirty="0">
                <a:solidFill>
                  <a:schemeClr val="tx1"/>
                </a:solidFill>
              </a:rPr>
              <a:t>Sequence frames by family (EC210/215/220)</a:t>
            </a:r>
            <a:endParaRPr lang="en-US" sz="1400" dirty="0"/>
          </a:p>
        </p:txBody>
      </p:sp>
      <p:sp>
        <p:nvSpPr>
          <p:cNvPr id="14" name="divider"/>
          <p:cNvSpPr/>
          <p:nvPr/>
        </p:nvSpPr>
        <p:spPr>
          <a:xfrm>
            <a:off x="749808" y="5715000"/>
            <a:ext cx="3118104" cy="0"/>
          </a:xfrm>
          <a:prstGeom prst="line">
            <a:avLst/>
          </a:prstGeom>
          <a:noFill/>
          <a:ln w="9525">
            <a:solidFill>
              <a:schemeClr val="accent6"/>
            </a:solidFill>
            <a:prstDash val="solid"/>
          </a:ln>
        </p:spPr>
      </p:sp>
      <p:sp>
        <p:nvSpPr>
          <p:cNvPr id="15" name="Text 12"/>
          <p:cNvSpPr txBox="1"/>
          <p:nvPr/>
        </p:nvSpPr>
        <p:spPr>
          <a:xfrm>
            <a:off x="749808" y="5760720"/>
            <a:ext cx="3154680" cy="329184"/>
          </a:xfrm>
          <a:prstGeom prst="rect">
            <a:avLst/>
          </a:prstGeom>
          <a:noFill/>
          <a:ln/>
        </p:spPr>
        <p:txBody>
          <a:bodyPr wrap="square" lIns="0" tIns="0" rIns="0" bIns="0" rtlCol="0" anchor="ctr"/>
          <a:lstStyle/>
          <a:p>
            <a:pPr indent="0" marL="0">
              <a:buNone/>
            </a:pPr>
            <a:r>
              <a:rPr lang="en-US" sz="1200" b="1" dirty="0">
                <a:solidFill>
                  <a:schemeClr val="accent2"/>
                </a:solidFill>
              </a:rPr>
              <a:t>KPI  </a:t>
            </a:r>
            <a:pPr indent="0" marL="0">
              <a:buNone/>
            </a:pPr>
            <a:r>
              <a:rPr lang="en-US" sz="1200" dirty="0">
                <a:solidFill>
                  <a:schemeClr val="accent3"/>
                </a:solidFill>
              </a:rPr>
              <a:t>minutes per changeover (goal ≤ 5)</a:t>
            </a:r>
            <a:endParaRPr lang="en-US" sz="1200" dirty="0"/>
          </a:p>
        </p:txBody>
      </p:sp>
      <p:sp>
        <p:nvSpPr>
          <p:cNvPr id="16" name="lever card"/>
          <p:cNvSpPr/>
          <p:nvPr/>
        </p:nvSpPr>
        <p:spPr>
          <a:xfrm>
            <a:off x="4334256" y="1965960"/>
            <a:ext cx="3520440" cy="4206240"/>
          </a:xfrm>
          <a:prstGeom prst="roundRect">
            <a:avLst>
              <a:gd name="adj" fmla="val 2078"/>
            </a:avLst>
          </a:prstGeom>
          <a:solidFill>
            <a:schemeClr val="bg1"/>
          </a:solidFill>
          <a:ln w="12700">
            <a:solidFill>
              <a:srgbClr val="EEF2F6"/>
            </a:solidFill>
            <a:prstDash val="solid"/>
          </a:ln>
          <a:effectLst>
            <a:outerShdw sx="100000" sy="100000" kx="0" ky="0" algn="bl" rotWithShape="0" blurRad="101600" dist="25400" dir="5400000">
              <a:srgbClr val="12263F">
                <a:alpha val="14000"/>
              </a:srgbClr>
            </a:outerShdw>
          </a:effectLst>
        </p:spPr>
      </p:sp>
      <p:sp>
        <p:nvSpPr>
          <p:cNvPr id="17" name="2 · TPM for the machines circle"/>
          <p:cNvSpPr/>
          <p:nvPr/>
        </p:nvSpPr>
        <p:spPr>
          <a:xfrm>
            <a:off x="4535424" y="2167128"/>
            <a:ext cx="640080" cy="640080"/>
          </a:xfrm>
          <a:prstGeom prst="ellipse">
            <a:avLst/>
          </a:prstGeom>
          <a:solidFill>
            <a:schemeClr val="tx2"/>
          </a:solidFill>
          <a:ln/>
        </p:spPr>
      </p:sp>
      <p:pic>
        <p:nvPicPr>
          <p:cNvPr id="18" name="2 · TPM for the machines" descr="2 · TPM for the machines">    </p:cNvPr>
          <p:cNvPicPr>
            <a:picLocks noChangeAspect="1"/>
          </p:cNvPicPr>
          <p:nvPr/>
        </p:nvPicPr>
        <p:blipFill>
          <a:blip r:embed="rId2"/>
          <a:stretch>
            <a:fillRect/>
          </a:stretch>
        </p:blipFill>
        <p:spPr>
          <a:xfrm>
            <a:off x="4676242" y="2307946"/>
            <a:ext cx="358445" cy="358445"/>
          </a:xfrm>
          <a:prstGeom prst="rect">
            <a:avLst/>
          </a:prstGeom>
        </p:spPr>
      </p:pic>
      <p:sp>
        <p:nvSpPr>
          <p:cNvPr id="19" name="chip"/>
          <p:cNvSpPr/>
          <p:nvPr/>
        </p:nvSpPr>
        <p:spPr>
          <a:xfrm>
            <a:off x="5321808" y="2340864"/>
            <a:ext cx="2331720" cy="292608"/>
          </a:xfrm>
          <a:prstGeom prst="roundRect">
            <a:avLst>
              <a:gd name="adj" fmla="val 50000"/>
            </a:avLst>
          </a:prstGeom>
          <a:solidFill>
            <a:schemeClr val="bg2"/>
          </a:solidFill>
          <a:ln/>
        </p:spPr>
      </p:sp>
      <p:sp>
        <p:nvSpPr>
          <p:cNvPr id="20" name="chip text"/>
          <p:cNvSpPr txBox="1"/>
          <p:nvPr/>
        </p:nvSpPr>
        <p:spPr>
          <a:xfrm>
            <a:off x="5321808" y="2340864"/>
            <a:ext cx="2331720" cy="292608"/>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VPS · PROCESS STABILITY</a:t>
            </a:r>
            <a:endParaRPr lang="en-US" sz="1100" dirty="0"/>
          </a:p>
        </p:txBody>
      </p:sp>
      <p:sp>
        <p:nvSpPr>
          <p:cNvPr id="21" name="Text 17"/>
          <p:cNvSpPr txBox="1"/>
          <p:nvPr/>
        </p:nvSpPr>
        <p:spPr>
          <a:xfrm>
            <a:off x="4535424" y="2926080"/>
            <a:ext cx="3154680" cy="365760"/>
          </a:xfrm>
          <a:prstGeom prst="rect">
            <a:avLst/>
          </a:prstGeom>
          <a:noFill/>
          <a:ln/>
        </p:spPr>
        <p:txBody>
          <a:bodyPr wrap="square" lIns="0" tIns="0" rIns="0" bIns="0" rtlCol="0" anchor="ctr"/>
          <a:lstStyle/>
          <a:p>
            <a:pPr indent="0" marL="0">
              <a:buNone/>
            </a:pPr>
            <a:r>
              <a:rPr lang="en-US" sz="1700" b="1" dirty="0">
                <a:solidFill>
                  <a:schemeClr val="tx2"/>
                </a:solidFill>
              </a:rPr>
              <a:t>2 · TPM for the machines</a:t>
            </a:r>
            <a:endParaRPr lang="en-US" sz="1700" dirty="0"/>
          </a:p>
        </p:txBody>
      </p:sp>
      <p:sp>
        <p:nvSpPr>
          <p:cNvPr id="22" name="Text 18"/>
          <p:cNvSpPr txBox="1"/>
          <p:nvPr/>
        </p:nvSpPr>
        <p:spPr>
          <a:xfrm>
            <a:off x="4535424" y="3319272"/>
            <a:ext cx="3154680" cy="41148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25 → 12 min/day</a:t>
            </a:r>
            <a:endParaRPr lang="en-US" sz="2400" dirty="0"/>
          </a:p>
        </p:txBody>
      </p:sp>
      <p:sp>
        <p:nvSpPr>
          <p:cNvPr id="23" name="Text 19"/>
          <p:cNvSpPr txBox="1"/>
          <p:nvPr/>
        </p:nvSpPr>
        <p:spPr>
          <a:xfrm>
            <a:off x="4535424" y="3730752"/>
            <a:ext cx="3154680" cy="274320"/>
          </a:xfrm>
          <a:prstGeom prst="rect">
            <a:avLst/>
          </a:prstGeom>
          <a:noFill/>
          <a:ln/>
        </p:spPr>
        <p:txBody>
          <a:bodyPr wrap="square" lIns="0" tIns="0" rIns="0" bIns="0" rtlCol="0" anchor="ctr"/>
          <a:lstStyle/>
          <a:p>
            <a:pPr indent="0" marL="0">
              <a:buNone/>
            </a:pPr>
            <a:r>
              <a:rPr lang="en-US" sz="1300" b="1" dirty="0">
                <a:solidFill>
                  <a:schemeClr val="accent5"/>
                </a:solidFill>
              </a:rPr>
              <a:t>+0.4 excavator of capacity</a:t>
            </a:r>
            <a:endParaRPr lang="en-US" sz="1300" dirty="0"/>
          </a:p>
        </p:txBody>
      </p:sp>
      <p:sp>
        <p:nvSpPr>
          <p:cNvPr id="24" name="Text 20"/>
          <p:cNvSpPr txBox="1"/>
          <p:nvPr/>
        </p:nvSpPr>
        <p:spPr>
          <a:xfrm>
            <a:off x="4471416" y="4114800"/>
            <a:ext cx="3273552"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Operators do a 10-min daily clean-lubricate-inspect-tighten check</a:t>
            </a:r>
            <a:endParaRPr lang="en-US" sz="1400" dirty="0"/>
          </a:p>
          <a:p>
            <a:pPr marL="177800" indent="-177800">
              <a:spcAft>
                <a:spcPts val="600"/>
              </a:spcAft>
              <a:buSzPct val="100000"/>
              <a:buChar char="•"/>
            </a:pPr>
            <a:r>
              <a:rPr lang="en-US" sz="1400" dirty="0">
                <a:solidFill>
                  <a:schemeClr val="tx1"/>
                </a:solidFill>
              </a:rPr>
              <a:t>Planned maintenance calendar and spindle vibration monitoring</a:t>
            </a:r>
            <a:endParaRPr lang="en-US" sz="1400" dirty="0"/>
          </a:p>
          <a:p>
            <a:pPr marL="177800" indent="-177800">
              <a:spcAft>
                <a:spcPts val="600"/>
              </a:spcAft>
              <a:buSzPct val="100000"/>
              <a:buChar char="•"/>
            </a:pPr>
            <a:r>
              <a:rPr lang="en-US" sz="1400" dirty="0">
                <a:solidFill>
                  <a:schemeClr val="tx1"/>
                </a:solidFill>
              </a:rPr>
              <a:t>Critical spares kit at the machine to cut repair time</a:t>
            </a:r>
            <a:endParaRPr lang="en-US" sz="1400" dirty="0"/>
          </a:p>
        </p:txBody>
      </p:sp>
      <p:sp>
        <p:nvSpPr>
          <p:cNvPr id="25" name="divider"/>
          <p:cNvSpPr/>
          <p:nvPr/>
        </p:nvSpPr>
        <p:spPr>
          <a:xfrm>
            <a:off x="4535424" y="5715000"/>
            <a:ext cx="3118104" cy="0"/>
          </a:xfrm>
          <a:prstGeom prst="line">
            <a:avLst/>
          </a:prstGeom>
          <a:noFill/>
          <a:ln w="9525">
            <a:solidFill>
              <a:schemeClr val="accent6"/>
            </a:solidFill>
            <a:prstDash val="solid"/>
          </a:ln>
        </p:spPr>
      </p:sp>
      <p:sp>
        <p:nvSpPr>
          <p:cNvPr id="26" name="Text 22"/>
          <p:cNvSpPr txBox="1"/>
          <p:nvPr/>
        </p:nvSpPr>
        <p:spPr>
          <a:xfrm>
            <a:off x="4535424" y="5760720"/>
            <a:ext cx="3154680" cy="329184"/>
          </a:xfrm>
          <a:prstGeom prst="rect">
            <a:avLst/>
          </a:prstGeom>
          <a:noFill/>
          <a:ln/>
        </p:spPr>
        <p:txBody>
          <a:bodyPr wrap="square" lIns="0" tIns="0" rIns="0" bIns="0" rtlCol="0" anchor="ctr"/>
          <a:lstStyle/>
          <a:p>
            <a:pPr indent="0" marL="0">
              <a:buNone/>
            </a:pPr>
            <a:r>
              <a:rPr lang="en-US" sz="1200" b="1" dirty="0">
                <a:solidFill>
                  <a:schemeClr val="accent2"/>
                </a:solidFill>
              </a:rPr>
              <a:t>KPI  </a:t>
            </a:r>
            <a:pPr indent="0" marL="0">
              <a:buNone/>
            </a:pPr>
            <a:r>
              <a:rPr lang="en-US" sz="1200" dirty="0">
                <a:solidFill>
                  <a:schemeClr val="accent3"/>
                </a:solidFill>
              </a:rPr>
              <a:t>MTBF up, MTTR down, breakdown min/shift</a:t>
            </a:r>
            <a:endParaRPr lang="en-US" sz="1200" dirty="0"/>
          </a:p>
        </p:txBody>
      </p:sp>
      <p:sp>
        <p:nvSpPr>
          <p:cNvPr id="27" name="lever card"/>
          <p:cNvSpPr/>
          <p:nvPr/>
        </p:nvSpPr>
        <p:spPr>
          <a:xfrm>
            <a:off x="8119872" y="1965960"/>
            <a:ext cx="3520440" cy="4206240"/>
          </a:xfrm>
          <a:prstGeom prst="roundRect">
            <a:avLst>
              <a:gd name="adj" fmla="val 2078"/>
            </a:avLst>
          </a:prstGeom>
          <a:solidFill>
            <a:schemeClr val="bg1"/>
          </a:solidFill>
          <a:ln w="12700">
            <a:solidFill>
              <a:srgbClr val="EEF2F6"/>
            </a:solidFill>
            <a:prstDash val="solid"/>
          </a:ln>
          <a:effectLst>
            <a:outerShdw sx="100000" sy="100000" kx="0" ky="0" algn="bl" rotWithShape="0" blurRad="101600" dist="25400" dir="5400000">
              <a:srgbClr val="12263F">
                <a:alpha val="14000"/>
              </a:srgbClr>
            </a:outerShdw>
          </a:effectLst>
        </p:spPr>
      </p:sp>
      <p:sp>
        <p:nvSpPr>
          <p:cNvPr id="28" name="3 · JIT flow and kitting circle"/>
          <p:cNvSpPr/>
          <p:nvPr/>
        </p:nvSpPr>
        <p:spPr>
          <a:xfrm>
            <a:off x="8321040" y="2167128"/>
            <a:ext cx="640080" cy="640080"/>
          </a:xfrm>
          <a:prstGeom prst="ellipse">
            <a:avLst/>
          </a:prstGeom>
          <a:solidFill>
            <a:schemeClr val="tx2"/>
          </a:solidFill>
          <a:ln/>
        </p:spPr>
      </p:sp>
      <p:pic>
        <p:nvPicPr>
          <p:cNvPr id="29" name="3 · JIT flow and kitting" descr="3 · JIT flow and kitting">    </p:cNvPr>
          <p:cNvPicPr>
            <a:picLocks noChangeAspect="1"/>
          </p:cNvPicPr>
          <p:nvPr/>
        </p:nvPicPr>
        <p:blipFill>
          <a:blip r:embed="rId3"/>
          <a:stretch>
            <a:fillRect/>
          </a:stretch>
        </p:blipFill>
        <p:spPr>
          <a:xfrm>
            <a:off x="8461858" y="2307946"/>
            <a:ext cx="358445" cy="358445"/>
          </a:xfrm>
          <a:prstGeom prst="rect">
            <a:avLst/>
          </a:prstGeom>
        </p:spPr>
      </p:pic>
      <p:sp>
        <p:nvSpPr>
          <p:cNvPr id="30" name="chip"/>
          <p:cNvSpPr/>
          <p:nvPr/>
        </p:nvSpPr>
        <p:spPr>
          <a:xfrm>
            <a:off x="9107424" y="2340864"/>
            <a:ext cx="2331720" cy="292608"/>
          </a:xfrm>
          <a:prstGeom prst="roundRect">
            <a:avLst>
              <a:gd name="adj" fmla="val 50000"/>
            </a:avLst>
          </a:prstGeom>
          <a:solidFill>
            <a:schemeClr val="bg2"/>
          </a:solidFill>
          <a:ln/>
        </p:spPr>
      </p:sp>
      <p:sp>
        <p:nvSpPr>
          <p:cNvPr id="31" name="chip text"/>
          <p:cNvSpPr txBox="1"/>
          <p:nvPr/>
        </p:nvSpPr>
        <p:spPr>
          <a:xfrm>
            <a:off x="9107424" y="2340864"/>
            <a:ext cx="2331720" cy="292608"/>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VPS · JUST-IN-TIME</a:t>
            </a:r>
            <a:endParaRPr lang="en-US" sz="1100" dirty="0"/>
          </a:p>
        </p:txBody>
      </p:sp>
      <p:sp>
        <p:nvSpPr>
          <p:cNvPr id="32" name="Text 27"/>
          <p:cNvSpPr txBox="1"/>
          <p:nvPr/>
        </p:nvSpPr>
        <p:spPr>
          <a:xfrm>
            <a:off x="8321040" y="2926080"/>
            <a:ext cx="3154680" cy="365760"/>
          </a:xfrm>
          <a:prstGeom prst="rect">
            <a:avLst/>
          </a:prstGeom>
          <a:noFill/>
          <a:ln/>
        </p:spPr>
        <p:txBody>
          <a:bodyPr wrap="square" lIns="0" tIns="0" rIns="0" bIns="0" rtlCol="0" anchor="ctr"/>
          <a:lstStyle/>
          <a:p>
            <a:pPr indent="0" marL="0">
              <a:buNone/>
            </a:pPr>
            <a:r>
              <a:rPr lang="en-US" sz="1700" b="1" dirty="0">
                <a:solidFill>
                  <a:schemeClr val="tx2"/>
                </a:solidFill>
              </a:rPr>
              <a:t>3 · JIT flow and kitting</a:t>
            </a:r>
            <a:endParaRPr lang="en-US" sz="1700" dirty="0"/>
          </a:p>
        </p:txBody>
      </p:sp>
      <p:sp>
        <p:nvSpPr>
          <p:cNvPr id="33" name="Text 28"/>
          <p:cNvSpPr txBox="1"/>
          <p:nvPr/>
        </p:nvSpPr>
        <p:spPr>
          <a:xfrm>
            <a:off x="8321040" y="3319272"/>
            <a:ext cx="3154680" cy="41148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20 → 6 min/day</a:t>
            </a:r>
            <a:endParaRPr lang="en-US" sz="2400" dirty="0"/>
          </a:p>
        </p:txBody>
      </p:sp>
      <p:sp>
        <p:nvSpPr>
          <p:cNvPr id="34" name="Text 29"/>
          <p:cNvSpPr txBox="1"/>
          <p:nvPr/>
        </p:nvSpPr>
        <p:spPr>
          <a:xfrm>
            <a:off x="8321040" y="3730752"/>
            <a:ext cx="3154680" cy="274320"/>
          </a:xfrm>
          <a:prstGeom prst="rect">
            <a:avLst/>
          </a:prstGeom>
          <a:noFill/>
          <a:ln/>
        </p:spPr>
        <p:txBody>
          <a:bodyPr wrap="square" lIns="0" tIns="0" rIns="0" bIns="0" rtlCol="0" anchor="ctr"/>
          <a:lstStyle/>
          <a:p>
            <a:pPr indent="0" marL="0">
              <a:buNone/>
            </a:pPr>
            <a:r>
              <a:rPr lang="en-US" sz="1300" b="1" dirty="0">
                <a:solidFill>
                  <a:schemeClr val="accent5"/>
                </a:solidFill>
              </a:rPr>
              <a:t>+0.5 excavator of capacity</a:t>
            </a:r>
            <a:endParaRPr lang="en-US" sz="1300" dirty="0"/>
          </a:p>
        </p:txBody>
      </p:sp>
      <p:sp>
        <p:nvSpPr>
          <p:cNvPr id="35" name="Text 30"/>
          <p:cNvSpPr txBox="1"/>
          <p:nvPr/>
        </p:nvSpPr>
        <p:spPr>
          <a:xfrm>
            <a:off x="8257032" y="4114800"/>
            <a:ext cx="3273552"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FIFO lane with a 2-frame buffer so OP30 is never starved</a:t>
            </a:r>
            <a:endParaRPr lang="en-US" sz="1400" dirty="0"/>
          </a:p>
          <a:p>
            <a:pPr marL="177800" indent="-177800">
              <a:spcAft>
                <a:spcPts val="600"/>
              </a:spcAft>
              <a:buSzPct val="100000"/>
              <a:buChar char="•"/>
            </a:pPr>
            <a:r>
              <a:rPr lang="en-US" sz="1400" dirty="0">
                <a:solidFill>
                  <a:schemeClr val="tx1"/>
                </a:solidFill>
              </a:rPr>
              <a:t>Kanban pull of weldments from fabrication; tool kits per model</a:t>
            </a:r>
            <a:endParaRPr lang="en-US" sz="1400" dirty="0"/>
          </a:p>
          <a:p>
            <a:pPr marL="177800" indent="-177800">
              <a:spcAft>
                <a:spcPts val="600"/>
              </a:spcAft>
              <a:buSzPct val="100000"/>
              <a:buChar char="•"/>
            </a:pPr>
            <a:r>
              <a:rPr lang="en-US" sz="1400" dirty="0">
                <a:solidFill>
                  <a:schemeClr val="tx1"/>
                </a:solidFill>
              </a:rPr>
              <a:t>Dedicated jib crane at OP30: no waiting for the shared crane</a:t>
            </a:r>
            <a:endParaRPr lang="en-US" sz="1400" dirty="0"/>
          </a:p>
        </p:txBody>
      </p:sp>
      <p:sp>
        <p:nvSpPr>
          <p:cNvPr id="36" name="divider"/>
          <p:cNvSpPr/>
          <p:nvPr/>
        </p:nvSpPr>
        <p:spPr>
          <a:xfrm>
            <a:off x="8321040" y="5715000"/>
            <a:ext cx="3118104" cy="0"/>
          </a:xfrm>
          <a:prstGeom prst="line">
            <a:avLst/>
          </a:prstGeom>
          <a:noFill/>
          <a:ln w="9525">
            <a:solidFill>
              <a:schemeClr val="accent6"/>
            </a:solidFill>
            <a:prstDash val="solid"/>
          </a:ln>
        </p:spPr>
      </p:sp>
      <p:sp>
        <p:nvSpPr>
          <p:cNvPr id="37" name="Text 32"/>
          <p:cNvSpPr txBox="1"/>
          <p:nvPr/>
        </p:nvSpPr>
        <p:spPr>
          <a:xfrm>
            <a:off x="8321040" y="5760720"/>
            <a:ext cx="3154680" cy="329184"/>
          </a:xfrm>
          <a:prstGeom prst="rect">
            <a:avLst/>
          </a:prstGeom>
          <a:noFill/>
          <a:ln/>
        </p:spPr>
        <p:txBody>
          <a:bodyPr wrap="square" lIns="0" tIns="0" rIns="0" bIns="0" rtlCol="0" anchor="ctr"/>
          <a:lstStyle/>
          <a:p>
            <a:pPr indent="0" marL="0">
              <a:buNone/>
            </a:pPr>
            <a:r>
              <a:rPr lang="en-US" sz="1200" b="1" dirty="0">
                <a:solidFill>
                  <a:schemeClr val="accent2"/>
                </a:solidFill>
              </a:rPr>
              <a:t>KPI  </a:t>
            </a:r>
            <a:pPr indent="0" marL="0">
              <a:buNone/>
            </a:pPr>
            <a:r>
              <a:rPr lang="en-US" sz="1200" dirty="0">
                <a:solidFill>
                  <a:schemeClr val="accent3"/>
                </a:solidFill>
              </a:rPr>
              <a:t>minutes OP30 waits for a frame (goal ≤ 6)</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5 · SOLUTION: STANDARD WORK, BUILT-IN QUALITY, KAIZEN</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tx2"/>
                </a:solidFill>
              </a:rPr>
              <a:t>Levers 4–6: standardise, protect quality</a:t>
            </a:r>
            <a:endParaRPr lang="en-US" sz="3600" dirty="0"/>
          </a:p>
        </p:txBody>
      </p:sp>
      <p:graphicFrame>
        <p:nvGraphicFramePr>
          <p:cNvPr id="4" name="Chart 0" descr=""/>
          <p:cNvGraphicFramePr/>
          <p:nvPr/>
        </p:nvGraphicFramePr>
        <p:xfrm>
          <a:off x="457200" y="1371600"/>
          <a:ext cx="5212080" cy="4846320"/>
        </p:xfrm>
        <a:graphic xmlns:a="http://schemas.openxmlformats.org/drawingml/2006/main">
          <a:graphicData uri="http://schemas.openxmlformats.org/drawingml/2006/chart">
            <c:chart xmlns:c="http://schemas.openxmlformats.org/drawingml/2006/chart" r:id="rId1"/>
          </a:graphicData>
        </a:graphic>
      </p:graphicFrame>
      <p:sp>
        <p:nvSpPr>
          <p:cNvPr id="5" name="lever row"/>
          <p:cNvSpPr/>
          <p:nvPr/>
        </p:nvSpPr>
        <p:spPr>
          <a:xfrm>
            <a:off x="5897880" y="1463040"/>
            <a:ext cx="5742432" cy="1463040"/>
          </a:xfrm>
          <a:prstGeom prst="roundRect">
            <a:avLst>
              <a:gd name="adj" fmla="val 5000"/>
            </a:avLst>
          </a:prstGeom>
          <a:solidFill>
            <a:schemeClr val="bg2"/>
          </a:solidFill>
          <a:ln/>
        </p:spPr>
      </p:sp>
      <p:sp>
        <p:nvSpPr>
          <p:cNvPr id="6" name="4 · Standard work &amp; line balancing circle"/>
          <p:cNvSpPr/>
          <p:nvPr/>
        </p:nvSpPr>
        <p:spPr>
          <a:xfrm>
            <a:off x="6035040" y="1627632"/>
            <a:ext cx="566928" cy="566928"/>
          </a:xfrm>
          <a:prstGeom prst="ellipse">
            <a:avLst/>
          </a:prstGeom>
          <a:solidFill>
            <a:schemeClr val="tx2"/>
          </a:solidFill>
          <a:ln/>
        </p:spPr>
      </p:sp>
      <p:pic>
        <p:nvPicPr>
          <p:cNvPr id="7" name="4 · Standard work &amp; line balancing" descr="4 · Standard work &amp; line balancing">    </p:cNvPr>
          <p:cNvPicPr>
            <a:picLocks noChangeAspect="1"/>
          </p:cNvPicPr>
          <p:nvPr/>
        </p:nvPicPr>
        <p:blipFill>
          <a:blip r:embed="rId2"/>
          <a:stretch>
            <a:fillRect/>
          </a:stretch>
        </p:blipFill>
        <p:spPr>
          <a:xfrm>
            <a:off x="6159764" y="1752356"/>
            <a:ext cx="317480" cy="317480"/>
          </a:xfrm>
          <a:prstGeom prst="rect">
            <a:avLst/>
          </a:prstGeom>
        </p:spPr>
      </p:pic>
      <p:sp>
        <p:nvSpPr>
          <p:cNvPr id="8" name="Text 4"/>
          <p:cNvSpPr txBox="1"/>
          <p:nvPr/>
        </p:nvSpPr>
        <p:spPr>
          <a:xfrm>
            <a:off x="6766560" y="1554480"/>
            <a:ext cx="4800600" cy="310896"/>
          </a:xfrm>
          <a:prstGeom prst="rect">
            <a:avLst/>
          </a:prstGeom>
          <a:noFill/>
          <a:ln/>
        </p:spPr>
        <p:txBody>
          <a:bodyPr wrap="square" lIns="0" tIns="0" rIns="0" bIns="0" rtlCol="0" anchor="ctr"/>
          <a:lstStyle/>
          <a:p>
            <a:pPr indent="0" marL="0">
              <a:buNone/>
            </a:pPr>
            <a:r>
              <a:rPr lang="en-US" sz="1600" b="1" dirty="0">
                <a:solidFill>
                  <a:schemeClr val="tx2"/>
                </a:solidFill>
              </a:rPr>
              <a:t>4 · Standard work &amp; line balancing</a:t>
            </a:r>
            <a:endParaRPr lang="en-US" sz="1600" dirty="0"/>
          </a:p>
        </p:txBody>
      </p:sp>
      <p:sp>
        <p:nvSpPr>
          <p:cNvPr id="9" name="Text 5"/>
          <p:cNvSpPr txBox="1"/>
          <p:nvPr/>
        </p:nvSpPr>
        <p:spPr>
          <a:xfrm>
            <a:off x="6766560" y="1865376"/>
            <a:ext cx="4800600" cy="274320"/>
          </a:xfrm>
          <a:prstGeom prst="rect">
            <a:avLst/>
          </a:prstGeom>
          <a:noFill/>
          <a:ln/>
        </p:spPr>
        <p:txBody>
          <a:bodyPr wrap="square" lIns="0" tIns="0" rIns="0" bIns="0" rtlCol="0" anchor="ctr"/>
          <a:lstStyle/>
          <a:p>
            <a:pPr indent="0" marL="0">
              <a:buNone/>
            </a:pPr>
            <a:r>
              <a:rPr lang="en-US" sz="1300" b="1" dirty="0">
                <a:solidFill>
                  <a:schemeClr val="accent5"/>
                </a:solidFill>
              </a:rPr>
              <a:t>Slow set-up 15 → 6 min; cycle 30 → 29 min  ·  +0.7 excavator</a:t>
            </a:r>
            <a:endParaRPr lang="en-US" sz="1300" dirty="0"/>
          </a:p>
        </p:txBody>
      </p:sp>
      <p:sp>
        <p:nvSpPr>
          <p:cNvPr id="10" name="Text 6"/>
          <p:cNvSpPr txBox="1"/>
          <p:nvPr/>
        </p:nvSpPr>
        <p:spPr>
          <a:xfrm>
            <a:off x="6675120" y="2194560"/>
            <a:ext cx="4919472" cy="685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Time-study standard work; drilling moved from OP10/40 to OP50</a:t>
            </a:r>
            <a:endParaRPr lang="en-US" sz="1400" dirty="0"/>
          </a:p>
          <a:p>
            <a:pPr marL="177800" indent="-177800">
              <a:spcAft>
                <a:spcPts val="600"/>
              </a:spcAft>
              <a:buSzPct val="100000"/>
              <a:buChar char="•"/>
            </a:pPr>
            <a:r>
              <a:rPr lang="en-US" sz="1400" dirty="0">
                <a:solidFill>
                  <a:schemeClr val="tx1"/>
                </a:solidFill>
              </a:rPr>
              <a:t>Probing replaces dial-gauge set-up; CNC paths optimised</a:t>
            </a:r>
            <a:endParaRPr lang="en-US" sz="1400" dirty="0"/>
          </a:p>
        </p:txBody>
      </p:sp>
      <p:sp>
        <p:nvSpPr>
          <p:cNvPr id="11" name="lever row"/>
          <p:cNvSpPr/>
          <p:nvPr/>
        </p:nvSpPr>
        <p:spPr>
          <a:xfrm>
            <a:off x="5897880" y="3063240"/>
            <a:ext cx="5742432" cy="1463040"/>
          </a:xfrm>
          <a:prstGeom prst="roundRect">
            <a:avLst>
              <a:gd name="adj" fmla="val 5000"/>
            </a:avLst>
          </a:prstGeom>
          <a:solidFill>
            <a:schemeClr val="bg2"/>
          </a:solidFill>
          <a:ln/>
        </p:spPr>
      </p:sp>
      <p:sp>
        <p:nvSpPr>
          <p:cNvPr id="12" name="5 · Built-in quality: poka-yoke, SPC, jidoka circle"/>
          <p:cNvSpPr/>
          <p:nvPr/>
        </p:nvSpPr>
        <p:spPr>
          <a:xfrm>
            <a:off x="6035040" y="3227832"/>
            <a:ext cx="566928" cy="566928"/>
          </a:xfrm>
          <a:prstGeom prst="ellipse">
            <a:avLst/>
          </a:prstGeom>
          <a:solidFill>
            <a:schemeClr val="tx2"/>
          </a:solidFill>
          <a:ln/>
        </p:spPr>
      </p:sp>
      <p:pic>
        <p:nvPicPr>
          <p:cNvPr id="13" name="5 · Built-in quality: poka-yoke, SPC, jidoka" descr="5 · Built-in quality: poka-yoke, SPC, jidoka">    </p:cNvPr>
          <p:cNvPicPr>
            <a:picLocks noChangeAspect="1"/>
          </p:cNvPicPr>
          <p:nvPr/>
        </p:nvPicPr>
        <p:blipFill>
          <a:blip r:embed="rId3"/>
          <a:stretch>
            <a:fillRect/>
          </a:stretch>
        </p:blipFill>
        <p:spPr>
          <a:xfrm>
            <a:off x="6159764" y="3352556"/>
            <a:ext cx="317480" cy="317480"/>
          </a:xfrm>
          <a:prstGeom prst="rect">
            <a:avLst/>
          </a:prstGeom>
        </p:spPr>
      </p:pic>
      <p:sp>
        <p:nvSpPr>
          <p:cNvPr id="14" name="Text 9"/>
          <p:cNvSpPr txBox="1"/>
          <p:nvPr/>
        </p:nvSpPr>
        <p:spPr>
          <a:xfrm>
            <a:off x="6766560" y="3154680"/>
            <a:ext cx="4800600" cy="310896"/>
          </a:xfrm>
          <a:prstGeom prst="rect">
            <a:avLst/>
          </a:prstGeom>
          <a:noFill/>
          <a:ln/>
        </p:spPr>
        <p:txBody>
          <a:bodyPr wrap="square" lIns="0" tIns="0" rIns="0" bIns="0" rtlCol="0" anchor="ctr"/>
          <a:lstStyle/>
          <a:p>
            <a:pPr indent="0" marL="0">
              <a:buNone/>
            </a:pPr>
            <a:r>
              <a:rPr lang="en-US" sz="1600" b="1" dirty="0">
                <a:solidFill>
                  <a:schemeClr val="tx2"/>
                </a:solidFill>
              </a:rPr>
              <a:t>5 · Built-in quality: poka-yoke, SPC, jidoka</a:t>
            </a:r>
            <a:endParaRPr lang="en-US" sz="1600" dirty="0"/>
          </a:p>
        </p:txBody>
      </p:sp>
      <p:sp>
        <p:nvSpPr>
          <p:cNvPr id="15" name="Text 10"/>
          <p:cNvSpPr txBox="1"/>
          <p:nvPr/>
        </p:nvSpPr>
        <p:spPr>
          <a:xfrm>
            <a:off x="6766560" y="3465576"/>
            <a:ext cx="4800600" cy="274320"/>
          </a:xfrm>
          <a:prstGeom prst="rect">
            <a:avLst/>
          </a:prstGeom>
          <a:noFill/>
          <a:ln/>
        </p:spPr>
        <p:txBody>
          <a:bodyPr wrap="square" lIns="0" tIns="0" rIns="0" bIns="0" rtlCol="0" anchor="ctr"/>
          <a:lstStyle/>
          <a:p>
            <a:pPr indent="0" marL="0">
              <a:buNone/>
            </a:pPr>
            <a:r>
              <a:rPr lang="en-US" sz="1300" b="1" dirty="0">
                <a:solidFill>
                  <a:schemeClr val="accent5"/>
                </a:solidFill>
              </a:rPr>
              <a:t>Rework 15 → 6 min  ·  +0.3 excavator</a:t>
            </a:r>
            <a:endParaRPr lang="en-US" sz="1300" dirty="0"/>
          </a:p>
        </p:txBody>
      </p:sp>
      <p:sp>
        <p:nvSpPr>
          <p:cNvPr id="16" name="Text 11"/>
          <p:cNvSpPr txBox="1"/>
          <p:nvPr/>
        </p:nvSpPr>
        <p:spPr>
          <a:xfrm>
            <a:off x="6675120" y="3794760"/>
            <a:ext cx="4919472" cy="685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Poka-yoke locators: a frame cannot be clamped the wrong way</a:t>
            </a:r>
            <a:endParaRPr lang="en-US" sz="1400" dirty="0"/>
          </a:p>
          <a:p>
            <a:pPr marL="177800" indent="-177800">
              <a:spcAft>
                <a:spcPts val="600"/>
              </a:spcAft>
              <a:buSzPct val="100000"/>
              <a:buChar char="•"/>
            </a:pPr>
            <a:r>
              <a:rPr lang="en-US" sz="1400" dirty="0">
                <a:solidFill>
                  <a:schemeClr val="tx1"/>
                </a:solidFill>
              </a:rPr>
              <a:t>SPC on pin bores (Cpk ≥ 1.33); machine stops on tool wear</a:t>
            </a:r>
            <a:endParaRPr lang="en-US" sz="1400" dirty="0"/>
          </a:p>
        </p:txBody>
      </p:sp>
      <p:sp>
        <p:nvSpPr>
          <p:cNvPr id="17" name="lever row"/>
          <p:cNvSpPr/>
          <p:nvPr/>
        </p:nvSpPr>
        <p:spPr>
          <a:xfrm>
            <a:off x="5897880" y="4663440"/>
            <a:ext cx="5742432" cy="1463040"/>
          </a:xfrm>
          <a:prstGeom prst="roundRect">
            <a:avLst>
              <a:gd name="adj" fmla="val 5000"/>
            </a:avLst>
          </a:prstGeom>
          <a:solidFill>
            <a:schemeClr val="bg2"/>
          </a:solidFill>
          <a:ln/>
        </p:spPr>
      </p:sp>
      <p:sp>
        <p:nvSpPr>
          <p:cNvPr id="18" name="6 · 5S, visual management &amp; kaizen circle"/>
          <p:cNvSpPr/>
          <p:nvPr/>
        </p:nvSpPr>
        <p:spPr>
          <a:xfrm>
            <a:off x="6035040" y="4828032"/>
            <a:ext cx="566928" cy="566928"/>
          </a:xfrm>
          <a:prstGeom prst="ellipse">
            <a:avLst/>
          </a:prstGeom>
          <a:solidFill>
            <a:schemeClr val="tx2"/>
          </a:solidFill>
          <a:ln/>
        </p:spPr>
      </p:sp>
      <p:pic>
        <p:nvPicPr>
          <p:cNvPr id="19" name="6 · 5S, visual management &amp; kaizen" descr="6 · 5S, visual management &amp; kaizen">    </p:cNvPr>
          <p:cNvPicPr>
            <a:picLocks noChangeAspect="1"/>
          </p:cNvPicPr>
          <p:nvPr/>
        </p:nvPicPr>
        <p:blipFill>
          <a:blip r:embed="rId4"/>
          <a:stretch>
            <a:fillRect/>
          </a:stretch>
        </p:blipFill>
        <p:spPr>
          <a:xfrm>
            <a:off x="6159764" y="4952756"/>
            <a:ext cx="317480" cy="317480"/>
          </a:xfrm>
          <a:prstGeom prst="rect">
            <a:avLst/>
          </a:prstGeom>
        </p:spPr>
      </p:pic>
      <p:sp>
        <p:nvSpPr>
          <p:cNvPr id="20" name="Text 14"/>
          <p:cNvSpPr txBox="1"/>
          <p:nvPr/>
        </p:nvSpPr>
        <p:spPr>
          <a:xfrm>
            <a:off x="6766560" y="4754880"/>
            <a:ext cx="4800600" cy="310896"/>
          </a:xfrm>
          <a:prstGeom prst="rect">
            <a:avLst/>
          </a:prstGeom>
          <a:noFill/>
          <a:ln/>
        </p:spPr>
        <p:txBody>
          <a:bodyPr wrap="square" lIns="0" tIns="0" rIns="0" bIns="0" rtlCol="0" anchor="ctr"/>
          <a:lstStyle/>
          <a:p>
            <a:pPr indent="0" marL="0">
              <a:buNone/>
            </a:pPr>
            <a:r>
              <a:rPr lang="en-US" sz="1600" b="1" dirty="0">
                <a:solidFill>
                  <a:schemeClr val="tx2"/>
                </a:solidFill>
              </a:rPr>
              <a:t>6 · 5S, visual management &amp; kaizen</a:t>
            </a:r>
            <a:endParaRPr lang="en-US" sz="1600" dirty="0"/>
          </a:p>
        </p:txBody>
      </p:sp>
      <p:sp>
        <p:nvSpPr>
          <p:cNvPr id="21" name="Text 15"/>
          <p:cNvSpPr txBox="1"/>
          <p:nvPr/>
        </p:nvSpPr>
        <p:spPr>
          <a:xfrm>
            <a:off x="6766560" y="5065776"/>
            <a:ext cx="4800600" cy="274320"/>
          </a:xfrm>
          <a:prstGeom prst="rect">
            <a:avLst/>
          </a:prstGeom>
          <a:noFill/>
          <a:ln/>
        </p:spPr>
        <p:txBody>
          <a:bodyPr wrap="square" lIns="0" tIns="0" rIns="0" bIns="0" rtlCol="0" anchor="ctr"/>
          <a:lstStyle/>
          <a:p>
            <a:pPr indent="0" marL="0">
              <a:buNone/>
            </a:pPr>
            <a:r>
              <a:rPr lang="en-US" sz="1300" b="1" dirty="0">
                <a:solidFill>
                  <a:schemeClr val="accent5"/>
                </a:solidFill>
              </a:rPr>
              <a:t>Sustains the gains shift after shift</a:t>
            </a:r>
            <a:endParaRPr lang="en-US" sz="1300" dirty="0"/>
          </a:p>
        </p:txBody>
      </p:sp>
      <p:sp>
        <p:nvSpPr>
          <p:cNvPr id="22" name="Text 16"/>
          <p:cNvSpPr txBox="1"/>
          <p:nvPr/>
        </p:nvSpPr>
        <p:spPr>
          <a:xfrm>
            <a:off x="6675120" y="5394960"/>
            <a:ext cx="4919472" cy="685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5S, shadow boards; hourly output and OEE on the digital board</a:t>
            </a:r>
            <a:endParaRPr lang="en-US" sz="1400" dirty="0"/>
          </a:p>
          <a:p>
            <a:pPr marL="177800" indent="-177800">
              <a:spcAft>
                <a:spcPts val="600"/>
              </a:spcAft>
              <a:buSzPct val="100000"/>
              <a:buChar char="•"/>
            </a:pPr>
            <a:r>
              <a:rPr lang="en-US" sz="1400" dirty="0">
                <a:solidFill>
                  <a:schemeClr val="tx1"/>
                </a:solidFill>
              </a:rPr>
              <a:t>Daily tier meetings, PDCA kaizen, operator skill matrix</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6 · IMPACT</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tx2"/>
                </a:solidFill>
              </a:rPr>
              <a:t>Result: capacity for 12.9, plan for 12</a:t>
            </a:r>
            <a:endParaRPr lang="en-US" sz="3600" dirty="0"/>
          </a:p>
        </p:txBody>
      </p:sp>
      <p:sp>
        <p:nvSpPr>
          <p:cNvPr id="4" name="Text 2"/>
          <p:cNvSpPr txBox="1"/>
          <p:nvPr/>
        </p:nvSpPr>
        <p:spPr>
          <a:xfrm>
            <a:off x="548640" y="1371600"/>
            <a:ext cx="6309360" cy="292608"/>
          </a:xfrm>
          <a:prstGeom prst="rect">
            <a:avLst/>
          </a:prstGeom>
          <a:noFill/>
          <a:ln/>
        </p:spPr>
        <p:txBody>
          <a:bodyPr wrap="square" lIns="0" tIns="0" rIns="0" bIns="0" rtlCol="0" anchor="ctr"/>
          <a:lstStyle/>
          <a:p>
            <a:pPr indent="0" marL="0">
              <a:buNone/>
            </a:pPr>
            <a:r>
              <a:rPr lang="en-US" sz="1400" b="1" dirty="0">
                <a:solidFill>
                  <a:schemeClr val="tx2"/>
                </a:solidFill>
              </a:rPr>
              <a:t>OP30 capacity bridge, excavators per shift</a:t>
            </a:r>
            <a:endParaRPr lang="en-US" sz="1400" dirty="0"/>
          </a:p>
        </p:txBody>
      </p:sp>
      <p:sp>
        <p:nvSpPr>
          <p:cNvPr id="5" name="grid"/>
          <p:cNvSpPr/>
          <p:nvPr/>
        </p:nvSpPr>
        <p:spPr>
          <a:xfrm>
            <a:off x="1051560" y="5349240"/>
            <a:ext cx="5715000" cy="0"/>
          </a:xfrm>
          <a:prstGeom prst="line">
            <a:avLst/>
          </a:prstGeom>
          <a:noFill/>
          <a:ln w="9525">
            <a:solidFill>
              <a:srgbClr val="DDE3EA"/>
            </a:solidFill>
            <a:prstDash val="solid"/>
          </a:ln>
        </p:spPr>
      </p:sp>
      <p:sp>
        <p:nvSpPr>
          <p:cNvPr id="6" name="Text 4"/>
          <p:cNvSpPr txBox="1"/>
          <p:nvPr/>
        </p:nvSpPr>
        <p:spPr>
          <a:xfrm>
            <a:off x="548640" y="5221224"/>
            <a:ext cx="411480" cy="256032"/>
          </a:xfrm>
          <a:prstGeom prst="rect">
            <a:avLst/>
          </a:prstGeom>
          <a:noFill/>
          <a:ln/>
        </p:spPr>
        <p:txBody>
          <a:bodyPr wrap="square" lIns="0" tIns="0" rIns="0" bIns="0" rtlCol="0" anchor="ctr"/>
          <a:lstStyle/>
          <a:p>
            <a:pPr algn="r" indent="0" marL="0">
              <a:buNone/>
            </a:pPr>
            <a:r>
              <a:rPr lang="en-US" sz="1100" dirty="0">
                <a:solidFill>
                  <a:schemeClr val="accent3"/>
                </a:solidFill>
              </a:rPr>
              <a:t>8</a:t>
            </a:r>
            <a:endParaRPr lang="en-US" sz="1100" dirty="0"/>
          </a:p>
        </p:txBody>
      </p:sp>
      <p:sp>
        <p:nvSpPr>
          <p:cNvPr id="7" name="grid"/>
          <p:cNvSpPr/>
          <p:nvPr/>
        </p:nvSpPr>
        <p:spPr>
          <a:xfrm>
            <a:off x="1051560" y="4717473"/>
            <a:ext cx="5715000" cy="0"/>
          </a:xfrm>
          <a:prstGeom prst="line">
            <a:avLst/>
          </a:prstGeom>
          <a:noFill/>
          <a:ln w="9525">
            <a:solidFill>
              <a:srgbClr val="DDE3EA"/>
            </a:solidFill>
            <a:prstDash val="solid"/>
          </a:ln>
        </p:spPr>
      </p:sp>
      <p:sp>
        <p:nvSpPr>
          <p:cNvPr id="8" name="Text 6"/>
          <p:cNvSpPr txBox="1"/>
          <p:nvPr/>
        </p:nvSpPr>
        <p:spPr>
          <a:xfrm>
            <a:off x="548640" y="4589457"/>
            <a:ext cx="411480" cy="256032"/>
          </a:xfrm>
          <a:prstGeom prst="rect">
            <a:avLst/>
          </a:prstGeom>
          <a:noFill/>
          <a:ln/>
        </p:spPr>
        <p:txBody>
          <a:bodyPr wrap="square" lIns="0" tIns="0" rIns="0" bIns="0" rtlCol="0" anchor="ctr"/>
          <a:lstStyle/>
          <a:p>
            <a:pPr algn="r" indent="0" marL="0">
              <a:buNone/>
            </a:pPr>
            <a:r>
              <a:rPr lang="en-US" sz="1100" dirty="0">
                <a:solidFill>
                  <a:schemeClr val="accent3"/>
                </a:solidFill>
              </a:rPr>
              <a:t>9</a:t>
            </a:r>
            <a:endParaRPr lang="en-US" sz="1100" dirty="0"/>
          </a:p>
        </p:txBody>
      </p:sp>
      <p:sp>
        <p:nvSpPr>
          <p:cNvPr id="9" name="grid"/>
          <p:cNvSpPr/>
          <p:nvPr/>
        </p:nvSpPr>
        <p:spPr>
          <a:xfrm>
            <a:off x="1051560" y="4085705"/>
            <a:ext cx="5715000" cy="0"/>
          </a:xfrm>
          <a:prstGeom prst="line">
            <a:avLst/>
          </a:prstGeom>
          <a:noFill/>
          <a:ln w="9525">
            <a:solidFill>
              <a:srgbClr val="DDE3EA"/>
            </a:solidFill>
            <a:prstDash val="solid"/>
          </a:ln>
        </p:spPr>
      </p:sp>
      <p:sp>
        <p:nvSpPr>
          <p:cNvPr id="10" name="Text 8"/>
          <p:cNvSpPr txBox="1"/>
          <p:nvPr/>
        </p:nvSpPr>
        <p:spPr>
          <a:xfrm>
            <a:off x="548640" y="3957689"/>
            <a:ext cx="411480" cy="256032"/>
          </a:xfrm>
          <a:prstGeom prst="rect">
            <a:avLst/>
          </a:prstGeom>
          <a:noFill/>
          <a:ln/>
        </p:spPr>
        <p:txBody>
          <a:bodyPr wrap="square" lIns="0" tIns="0" rIns="0" bIns="0" rtlCol="0" anchor="ctr"/>
          <a:lstStyle/>
          <a:p>
            <a:pPr algn="r" indent="0" marL="0">
              <a:buNone/>
            </a:pPr>
            <a:r>
              <a:rPr lang="en-US" sz="1100" dirty="0">
                <a:solidFill>
                  <a:schemeClr val="accent3"/>
                </a:solidFill>
              </a:rPr>
              <a:t>10</a:t>
            </a:r>
            <a:endParaRPr lang="en-US" sz="1100" dirty="0"/>
          </a:p>
        </p:txBody>
      </p:sp>
      <p:sp>
        <p:nvSpPr>
          <p:cNvPr id="11" name="grid"/>
          <p:cNvSpPr/>
          <p:nvPr/>
        </p:nvSpPr>
        <p:spPr>
          <a:xfrm>
            <a:off x="1051560" y="3453938"/>
            <a:ext cx="5715000" cy="0"/>
          </a:xfrm>
          <a:prstGeom prst="line">
            <a:avLst/>
          </a:prstGeom>
          <a:noFill/>
          <a:ln w="9525">
            <a:solidFill>
              <a:srgbClr val="DDE3EA"/>
            </a:solidFill>
            <a:prstDash val="solid"/>
          </a:ln>
        </p:spPr>
      </p:sp>
      <p:sp>
        <p:nvSpPr>
          <p:cNvPr id="12" name="Text 10"/>
          <p:cNvSpPr txBox="1"/>
          <p:nvPr/>
        </p:nvSpPr>
        <p:spPr>
          <a:xfrm>
            <a:off x="548640" y="3325922"/>
            <a:ext cx="411480" cy="256032"/>
          </a:xfrm>
          <a:prstGeom prst="rect">
            <a:avLst/>
          </a:prstGeom>
          <a:noFill/>
          <a:ln/>
        </p:spPr>
        <p:txBody>
          <a:bodyPr wrap="square" lIns="0" tIns="0" rIns="0" bIns="0" rtlCol="0" anchor="ctr"/>
          <a:lstStyle/>
          <a:p>
            <a:pPr algn="r" indent="0" marL="0">
              <a:buNone/>
            </a:pPr>
            <a:r>
              <a:rPr lang="en-US" sz="1100" dirty="0">
                <a:solidFill>
                  <a:schemeClr val="accent3"/>
                </a:solidFill>
              </a:rPr>
              <a:t>11</a:t>
            </a:r>
            <a:endParaRPr lang="en-US" sz="1100" dirty="0"/>
          </a:p>
        </p:txBody>
      </p:sp>
      <p:sp>
        <p:nvSpPr>
          <p:cNvPr id="13" name="grid"/>
          <p:cNvSpPr/>
          <p:nvPr/>
        </p:nvSpPr>
        <p:spPr>
          <a:xfrm>
            <a:off x="1051560" y="2822171"/>
            <a:ext cx="5715000" cy="0"/>
          </a:xfrm>
          <a:prstGeom prst="line">
            <a:avLst/>
          </a:prstGeom>
          <a:noFill/>
          <a:ln w="9525">
            <a:solidFill>
              <a:srgbClr val="DDE3EA"/>
            </a:solidFill>
            <a:prstDash val="solid"/>
          </a:ln>
        </p:spPr>
      </p:sp>
      <p:sp>
        <p:nvSpPr>
          <p:cNvPr id="14" name="Text 12"/>
          <p:cNvSpPr txBox="1"/>
          <p:nvPr/>
        </p:nvSpPr>
        <p:spPr>
          <a:xfrm>
            <a:off x="548640" y="2694155"/>
            <a:ext cx="411480" cy="256032"/>
          </a:xfrm>
          <a:prstGeom prst="rect">
            <a:avLst/>
          </a:prstGeom>
          <a:noFill/>
          <a:ln/>
        </p:spPr>
        <p:txBody>
          <a:bodyPr wrap="square" lIns="0" tIns="0" rIns="0" bIns="0" rtlCol="0" anchor="ctr"/>
          <a:lstStyle/>
          <a:p>
            <a:pPr algn="r" indent="0" marL="0">
              <a:buNone/>
            </a:pPr>
            <a:r>
              <a:rPr lang="en-US" sz="1100" dirty="0">
                <a:solidFill>
                  <a:schemeClr val="accent3"/>
                </a:solidFill>
              </a:rPr>
              <a:t>12</a:t>
            </a:r>
            <a:endParaRPr lang="en-US" sz="1100" dirty="0"/>
          </a:p>
        </p:txBody>
      </p:sp>
      <p:sp>
        <p:nvSpPr>
          <p:cNvPr id="15" name="grid"/>
          <p:cNvSpPr/>
          <p:nvPr/>
        </p:nvSpPr>
        <p:spPr>
          <a:xfrm>
            <a:off x="1051560" y="2190404"/>
            <a:ext cx="5715000" cy="0"/>
          </a:xfrm>
          <a:prstGeom prst="line">
            <a:avLst/>
          </a:prstGeom>
          <a:noFill/>
          <a:ln w="9525">
            <a:solidFill>
              <a:srgbClr val="DDE3EA"/>
            </a:solidFill>
            <a:prstDash val="solid"/>
          </a:ln>
        </p:spPr>
      </p:sp>
      <p:sp>
        <p:nvSpPr>
          <p:cNvPr id="16" name="Text 14"/>
          <p:cNvSpPr txBox="1"/>
          <p:nvPr/>
        </p:nvSpPr>
        <p:spPr>
          <a:xfrm>
            <a:off x="548640" y="2062388"/>
            <a:ext cx="411480" cy="256032"/>
          </a:xfrm>
          <a:prstGeom prst="rect">
            <a:avLst/>
          </a:prstGeom>
          <a:noFill/>
          <a:ln/>
        </p:spPr>
        <p:txBody>
          <a:bodyPr wrap="square" lIns="0" tIns="0" rIns="0" bIns="0" rtlCol="0" anchor="ctr"/>
          <a:lstStyle/>
          <a:p>
            <a:pPr algn="r" indent="0" marL="0">
              <a:buNone/>
            </a:pPr>
            <a:r>
              <a:rPr lang="en-US" sz="1100" dirty="0">
                <a:solidFill>
                  <a:schemeClr val="accent3"/>
                </a:solidFill>
              </a:rPr>
              <a:t>13</a:t>
            </a:r>
            <a:endParaRPr lang="en-US" sz="1100" dirty="0"/>
          </a:p>
        </p:txBody>
      </p:sp>
      <p:sp>
        <p:nvSpPr>
          <p:cNvPr id="17" name="waterfall Today"/>
          <p:cNvSpPr/>
          <p:nvPr/>
        </p:nvSpPr>
        <p:spPr>
          <a:xfrm>
            <a:off x="1176310" y="4085705"/>
            <a:ext cx="566928" cy="1263535"/>
          </a:xfrm>
          <a:prstGeom prst="rect">
            <a:avLst/>
          </a:prstGeom>
          <a:solidFill>
            <a:schemeClr val="accent3"/>
          </a:solidFill>
          <a:ln/>
        </p:spPr>
      </p:sp>
      <p:sp>
        <p:nvSpPr>
          <p:cNvPr id="18" name="Text 16"/>
          <p:cNvSpPr txBox="1"/>
          <p:nvPr/>
        </p:nvSpPr>
        <p:spPr>
          <a:xfrm>
            <a:off x="993430" y="3774809"/>
            <a:ext cx="932688" cy="274320"/>
          </a:xfrm>
          <a:prstGeom prst="rect">
            <a:avLst/>
          </a:prstGeom>
          <a:noFill/>
          <a:ln/>
        </p:spPr>
        <p:txBody>
          <a:bodyPr wrap="square" lIns="0" tIns="0" rIns="0" bIns="0" rtlCol="0" anchor="ctr"/>
          <a:lstStyle/>
          <a:p>
            <a:pPr algn="ctr" indent="0" marL="0">
              <a:buNone/>
            </a:pPr>
            <a:r>
              <a:rPr lang="en-US" sz="1300" b="1" dirty="0">
                <a:solidFill>
                  <a:schemeClr val="tx1"/>
                </a:solidFill>
              </a:rPr>
              <a:t>10.0</a:t>
            </a:r>
            <a:endParaRPr lang="en-US" sz="1300" dirty="0"/>
          </a:p>
        </p:txBody>
      </p:sp>
      <p:sp>
        <p:nvSpPr>
          <p:cNvPr id="19" name="Text 17"/>
          <p:cNvSpPr txBox="1"/>
          <p:nvPr/>
        </p:nvSpPr>
        <p:spPr>
          <a:xfrm>
            <a:off x="1069848" y="5404104"/>
            <a:ext cx="779853" cy="457200"/>
          </a:xfrm>
          <a:prstGeom prst="rect">
            <a:avLst/>
          </a:prstGeom>
          <a:noFill/>
          <a:ln/>
        </p:spPr>
        <p:txBody>
          <a:bodyPr wrap="square" lIns="0" tIns="0" rIns="0" bIns="0" rtlCol="0" anchor="t"/>
          <a:lstStyle/>
          <a:p>
            <a:pPr algn="ctr" indent="0" marL="0">
              <a:buNone/>
            </a:pPr>
            <a:r>
              <a:rPr lang="en-US" sz="1100" dirty="0">
                <a:solidFill>
                  <a:schemeClr val="tx1"/>
                </a:solidFill>
              </a:rPr>
              <a:t>Today</a:t>
            </a:r>
            <a:endParaRPr lang="en-US" sz="1100" dirty="0"/>
          </a:p>
        </p:txBody>
      </p:sp>
      <p:sp>
        <p:nvSpPr>
          <p:cNvPr id="20" name="connector"/>
          <p:cNvSpPr/>
          <p:nvPr/>
        </p:nvSpPr>
        <p:spPr>
          <a:xfrm>
            <a:off x="1743238" y="4085705"/>
            <a:ext cx="249501" cy="0"/>
          </a:xfrm>
          <a:prstGeom prst="line">
            <a:avLst/>
          </a:prstGeom>
          <a:noFill/>
          <a:ln w="9525">
            <a:solidFill>
              <a:schemeClr val="accent3"/>
            </a:solidFill>
            <a:prstDash val="dash"/>
          </a:ln>
        </p:spPr>
      </p:sp>
      <p:sp>
        <p:nvSpPr>
          <p:cNvPr id="21" name="waterfall SMED"/>
          <p:cNvSpPr/>
          <p:nvPr/>
        </p:nvSpPr>
        <p:spPr>
          <a:xfrm>
            <a:off x="1992739" y="3434985"/>
            <a:ext cx="566928" cy="650720"/>
          </a:xfrm>
          <a:prstGeom prst="rect">
            <a:avLst/>
          </a:prstGeom>
          <a:solidFill>
            <a:schemeClr val="accent2"/>
          </a:solidFill>
          <a:ln/>
        </p:spPr>
      </p:sp>
      <p:sp>
        <p:nvSpPr>
          <p:cNvPr id="22" name="Text 20"/>
          <p:cNvSpPr txBox="1"/>
          <p:nvPr/>
        </p:nvSpPr>
        <p:spPr>
          <a:xfrm>
            <a:off x="1809859" y="3124089"/>
            <a:ext cx="932688" cy="274320"/>
          </a:xfrm>
          <a:prstGeom prst="rect">
            <a:avLst/>
          </a:prstGeom>
          <a:noFill/>
          <a:ln/>
        </p:spPr>
        <p:txBody>
          <a:bodyPr wrap="square" lIns="0" tIns="0" rIns="0" bIns="0" rtlCol="0" anchor="ctr"/>
          <a:lstStyle/>
          <a:p>
            <a:pPr algn="ctr" indent="0" marL="0">
              <a:buNone/>
            </a:pPr>
            <a:r>
              <a:rPr lang="en-US" sz="1300" b="1" dirty="0">
                <a:solidFill>
                  <a:schemeClr val="tx1"/>
                </a:solidFill>
              </a:rPr>
              <a:t>+1.0</a:t>
            </a:r>
            <a:endParaRPr lang="en-US" sz="1300" dirty="0"/>
          </a:p>
        </p:txBody>
      </p:sp>
      <p:sp>
        <p:nvSpPr>
          <p:cNvPr id="23" name="Text 21"/>
          <p:cNvSpPr txBox="1"/>
          <p:nvPr/>
        </p:nvSpPr>
        <p:spPr>
          <a:xfrm>
            <a:off x="1886277" y="5404104"/>
            <a:ext cx="779853" cy="457200"/>
          </a:xfrm>
          <a:prstGeom prst="rect">
            <a:avLst/>
          </a:prstGeom>
          <a:noFill/>
          <a:ln/>
        </p:spPr>
        <p:txBody>
          <a:bodyPr wrap="square" lIns="0" tIns="0" rIns="0" bIns="0" rtlCol="0" anchor="t"/>
          <a:lstStyle/>
          <a:p>
            <a:pPr algn="ctr" indent="0" marL="0">
              <a:buNone/>
            </a:pPr>
            <a:r>
              <a:rPr lang="en-US" sz="1100" dirty="0">
                <a:solidFill>
                  <a:schemeClr val="tx1"/>
                </a:solidFill>
              </a:rPr>
              <a:t>SMED</a:t>
            </a:r>
            <a:endParaRPr lang="en-US" sz="1100" dirty="0"/>
          </a:p>
        </p:txBody>
      </p:sp>
      <p:sp>
        <p:nvSpPr>
          <p:cNvPr id="24" name="connector"/>
          <p:cNvSpPr/>
          <p:nvPr/>
        </p:nvSpPr>
        <p:spPr>
          <a:xfrm>
            <a:off x="2559667" y="3434985"/>
            <a:ext cx="249501" cy="0"/>
          </a:xfrm>
          <a:prstGeom prst="line">
            <a:avLst/>
          </a:prstGeom>
          <a:noFill/>
          <a:ln w="9525">
            <a:solidFill>
              <a:schemeClr val="accent3"/>
            </a:solidFill>
            <a:prstDash val="dash"/>
          </a:ln>
        </p:spPr>
      </p:sp>
      <p:sp>
        <p:nvSpPr>
          <p:cNvPr id="25" name="waterfall TPM"/>
          <p:cNvSpPr/>
          <p:nvPr/>
        </p:nvSpPr>
        <p:spPr>
          <a:xfrm>
            <a:off x="2809167" y="3150690"/>
            <a:ext cx="566928" cy="284295"/>
          </a:xfrm>
          <a:prstGeom prst="rect">
            <a:avLst/>
          </a:prstGeom>
          <a:solidFill>
            <a:schemeClr val="accent2"/>
          </a:solidFill>
          <a:ln/>
        </p:spPr>
      </p:sp>
      <p:sp>
        <p:nvSpPr>
          <p:cNvPr id="26" name="Text 24"/>
          <p:cNvSpPr txBox="1"/>
          <p:nvPr/>
        </p:nvSpPr>
        <p:spPr>
          <a:xfrm>
            <a:off x="2626287" y="2839794"/>
            <a:ext cx="932688" cy="274320"/>
          </a:xfrm>
          <a:prstGeom prst="rect">
            <a:avLst/>
          </a:prstGeom>
          <a:noFill/>
          <a:ln/>
        </p:spPr>
        <p:txBody>
          <a:bodyPr wrap="square" lIns="0" tIns="0" rIns="0" bIns="0" rtlCol="0" anchor="ctr"/>
          <a:lstStyle/>
          <a:p>
            <a:pPr algn="ctr" indent="0" marL="0">
              <a:buNone/>
            </a:pPr>
            <a:r>
              <a:rPr lang="en-US" sz="1300" b="1" dirty="0">
                <a:solidFill>
                  <a:schemeClr val="tx1"/>
                </a:solidFill>
              </a:rPr>
              <a:t>+0.4</a:t>
            </a:r>
            <a:endParaRPr lang="en-US" sz="1300" dirty="0"/>
          </a:p>
        </p:txBody>
      </p:sp>
      <p:sp>
        <p:nvSpPr>
          <p:cNvPr id="27" name="Text 25"/>
          <p:cNvSpPr txBox="1"/>
          <p:nvPr/>
        </p:nvSpPr>
        <p:spPr>
          <a:xfrm>
            <a:off x="2702705" y="5404104"/>
            <a:ext cx="779853" cy="457200"/>
          </a:xfrm>
          <a:prstGeom prst="rect">
            <a:avLst/>
          </a:prstGeom>
          <a:noFill/>
          <a:ln/>
        </p:spPr>
        <p:txBody>
          <a:bodyPr wrap="square" lIns="0" tIns="0" rIns="0" bIns="0" rtlCol="0" anchor="t"/>
          <a:lstStyle/>
          <a:p>
            <a:pPr algn="ctr" indent="0" marL="0">
              <a:buNone/>
            </a:pPr>
            <a:r>
              <a:rPr lang="en-US" sz="1100" dirty="0">
                <a:solidFill>
                  <a:schemeClr val="tx1"/>
                </a:solidFill>
              </a:rPr>
              <a:t>TPM</a:t>
            </a:r>
            <a:endParaRPr lang="en-US" sz="1100" dirty="0"/>
          </a:p>
        </p:txBody>
      </p:sp>
      <p:sp>
        <p:nvSpPr>
          <p:cNvPr id="28" name="connector"/>
          <p:cNvSpPr/>
          <p:nvPr/>
        </p:nvSpPr>
        <p:spPr>
          <a:xfrm>
            <a:off x="3376095" y="3150690"/>
            <a:ext cx="249501" cy="0"/>
          </a:xfrm>
          <a:prstGeom prst="line">
            <a:avLst/>
          </a:prstGeom>
          <a:noFill/>
          <a:ln w="9525">
            <a:solidFill>
              <a:schemeClr val="accent3"/>
            </a:solidFill>
            <a:prstDash val="dash"/>
          </a:ln>
        </p:spPr>
      </p:sp>
      <p:sp>
        <p:nvSpPr>
          <p:cNvPr id="29" name="waterfall JIT flow"/>
          <p:cNvSpPr/>
          <p:nvPr/>
        </p:nvSpPr>
        <p:spPr>
          <a:xfrm>
            <a:off x="3625596" y="2841124"/>
            <a:ext cx="566928" cy="309566"/>
          </a:xfrm>
          <a:prstGeom prst="rect">
            <a:avLst/>
          </a:prstGeom>
          <a:solidFill>
            <a:schemeClr val="accent2"/>
          </a:solidFill>
          <a:ln/>
        </p:spPr>
      </p:sp>
      <p:sp>
        <p:nvSpPr>
          <p:cNvPr id="30" name="Text 28"/>
          <p:cNvSpPr txBox="1"/>
          <p:nvPr/>
        </p:nvSpPr>
        <p:spPr>
          <a:xfrm>
            <a:off x="3442716" y="2530228"/>
            <a:ext cx="932688" cy="274320"/>
          </a:xfrm>
          <a:prstGeom prst="rect">
            <a:avLst/>
          </a:prstGeom>
          <a:noFill/>
          <a:ln/>
        </p:spPr>
        <p:txBody>
          <a:bodyPr wrap="square" lIns="0" tIns="0" rIns="0" bIns="0" rtlCol="0" anchor="ctr"/>
          <a:lstStyle/>
          <a:p>
            <a:pPr algn="ctr" indent="0" marL="0">
              <a:buNone/>
            </a:pPr>
            <a:r>
              <a:rPr lang="en-US" sz="1300" b="1" dirty="0">
                <a:solidFill>
                  <a:schemeClr val="tx1"/>
                </a:solidFill>
              </a:rPr>
              <a:t>+0.5</a:t>
            </a:r>
            <a:endParaRPr lang="en-US" sz="1300" dirty="0"/>
          </a:p>
        </p:txBody>
      </p:sp>
      <p:sp>
        <p:nvSpPr>
          <p:cNvPr id="31" name="Text 29"/>
          <p:cNvSpPr txBox="1"/>
          <p:nvPr/>
        </p:nvSpPr>
        <p:spPr>
          <a:xfrm>
            <a:off x="3519134" y="5404104"/>
            <a:ext cx="779853" cy="457200"/>
          </a:xfrm>
          <a:prstGeom prst="rect">
            <a:avLst/>
          </a:prstGeom>
          <a:noFill/>
          <a:ln/>
        </p:spPr>
        <p:txBody>
          <a:bodyPr wrap="square" lIns="0" tIns="0" rIns="0" bIns="0" rtlCol="0" anchor="t"/>
          <a:lstStyle/>
          <a:p>
            <a:pPr algn="ctr" indent="0" marL="0">
              <a:buNone/>
            </a:pPr>
            <a:r>
              <a:rPr lang="en-US" sz="1100" dirty="0">
                <a:solidFill>
                  <a:schemeClr val="tx1"/>
                </a:solidFill>
              </a:rPr>
              <a:t>JIT flow</a:t>
            </a:r>
            <a:endParaRPr lang="en-US" sz="1100" dirty="0"/>
          </a:p>
        </p:txBody>
      </p:sp>
      <p:sp>
        <p:nvSpPr>
          <p:cNvPr id="32" name="connector"/>
          <p:cNvSpPr/>
          <p:nvPr/>
        </p:nvSpPr>
        <p:spPr>
          <a:xfrm>
            <a:off x="4192524" y="2841124"/>
            <a:ext cx="249501" cy="0"/>
          </a:xfrm>
          <a:prstGeom prst="line">
            <a:avLst/>
          </a:prstGeom>
          <a:noFill/>
          <a:ln w="9525">
            <a:solidFill>
              <a:schemeClr val="accent3"/>
            </a:solidFill>
            <a:prstDash val="dash"/>
          </a:ln>
        </p:spPr>
      </p:sp>
      <p:sp>
        <p:nvSpPr>
          <p:cNvPr id="33" name="waterfall Standard work"/>
          <p:cNvSpPr/>
          <p:nvPr/>
        </p:nvSpPr>
        <p:spPr>
          <a:xfrm>
            <a:off x="4442025" y="2424158"/>
            <a:ext cx="566928" cy="416966"/>
          </a:xfrm>
          <a:prstGeom prst="rect">
            <a:avLst/>
          </a:prstGeom>
          <a:solidFill>
            <a:schemeClr val="accent2"/>
          </a:solidFill>
          <a:ln/>
        </p:spPr>
      </p:sp>
      <p:sp>
        <p:nvSpPr>
          <p:cNvPr id="34" name="Text 32"/>
          <p:cNvSpPr txBox="1"/>
          <p:nvPr/>
        </p:nvSpPr>
        <p:spPr>
          <a:xfrm>
            <a:off x="4259145" y="2113262"/>
            <a:ext cx="932688" cy="274320"/>
          </a:xfrm>
          <a:prstGeom prst="rect">
            <a:avLst/>
          </a:prstGeom>
          <a:noFill/>
          <a:ln/>
        </p:spPr>
        <p:txBody>
          <a:bodyPr wrap="square" lIns="0" tIns="0" rIns="0" bIns="0" rtlCol="0" anchor="ctr"/>
          <a:lstStyle/>
          <a:p>
            <a:pPr algn="ctr" indent="0" marL="0">
              <a:buNone/>
            </a:pPr>
            <a:r>
              <a:rPr lang="en-US" sz="1300" b="1" dirty="0">
                <a:solidFill>
                  <a:schemeClr val="tx1"/>
                </a:solidFill>
              </a:rPr>
              <a:t>+0.7</a:t>
            </a:r>
            <a:endParaRPr lang="en-US" sz="1300" dirty="0"/>
          </a:p>
        </p:txBody>
      </p:sp>
      <p:sp>
        <p:nvSpPr>
          <p:cNvPr id="35" name="Text 33"/>
          <p:cNvSpPr txBox="1"/>
          <p:nvPr/>
        </p:nvSpPr>
        <p:spPr>
          <a:xfrm>
            <a:off x="4335562" y="5404104"/>
            <a:ext cx="779853" cy="457200"/>
          </a:xfrm>
          <a:prstGeom prst="rect">
            <a:avLst/>
          </a:prstGeom>
          <a:noFill/>
          <a:ln/>
        </p:spPr>
        <p:txBody>
          <a:bodyPr wrap="square" lIns="0" tIns="0" rIns="0" bIns="0" rtlCol="0" anchor="t"/>
          <a:lstStyle/>
          <a:p>
            <a:pPr algn="ctr" indent="0" marL="0">
              <a:buNone/>
            </a:pPr>
            <a:r>
              <a:rPr lang="en-US" sz="1100" dirty="0">
                <a:solidFill>
                  <a:schemeClr val="tx1"/>
                </a:solidFill>
              </a:rPr>
              <a:t>Standard</a:t>
            </a:r>
            <a:endParaRPr lang="en-US" sz="1100" dirty="0"/>
          </a:p>
          <a:p>
            <a:pPr algn="ctr" indent="0" marL="0">
              <a:buNone/>
            </a:pPr>
            <a:r>
              <a:rPr lang="en-US" sz="1100" dirty="0">
                <a:solidFill>
                  <a:schemeClr val="tx1"/>
                </a:solidFill>
              </a:rPr>
              <a:t>work</a:t>
            </a:r>
            <a:endParaRPr lang="en-US" sz="1100" dirty="0"/>
          </a:p>
        </p:txBody>
      </p:sp>
      <p:sp>
        <p:nvSpPr>
          <p:cNvPr id="36" name="connector"/>
          <p:cNvSpPr/>
          <p:nvPr/>
        </p:nvSpPr>
        <p:spPr>
          <a:xfrm>
            <a:off x="5008953" y="2424158"/>
            <a:ext cx="249501" cy="0"/>
          </a:xfrm>
          <a:prstGeom prst="line">
            <a:avLst/>
          </a:prstGeom>
          <a:noFill/>
          <a:ln w="9525">
            <a:solidFill>
              <a:schemeClr val="accent3"/>
            </a:solidFill>
            <a:prstDash val="dash"/>
          </a:ln>
        </p:spPr>
      </p:sp>
      <p:sp>
        <p:nvSpPr>
          <p:cNvPr id="37" name="waterfall Built-in quality"/>
          <p:cNvSpPr/>
          <p:nvPr/>
        </p:nvSpPr>
        <p:spPr>
          <a:xfrm>
            <a:off x="5258453" y="2234627"/>
            <a:ext cx="566928" cy="189530"/>
          </a:xfrm>
          <a:prstGeom prst="rect">
            <a:avLst/>
          </a:prstGeom>
          <a:solidFill>
            <a:schemeClr val="accent2"/>
          </a:solidFill>
          <a:ln/>
        </p:spPr>
      </p:sp>
      <p:sp>
        <p:nvSpPr>
          <p:cNvPr id="38" name="Text 36"/>
          <p:cNvSpPr txBox="1"/>
          <p:nvPr/>
        </p:nvSpPr>
        <p:spPr>
          <a:xfrm>
            <a:off x="5075573" y="1923731"/>
            <a:ext cx="932688" cy="274320"/>
          </a:xfrm>
          <a:prstGeom prst="rect">
            <a:avLst/>
          </a:prstGeom>
          <a:noFill/>
          <a:ln/>
        </p:spPr>
        <p:txBody>
          <a:bodyPr wrap="square" lIns="0" tIns="0" rIns="0" bIns="0" rtlCol="0" anchor="ctr"/>
          <a:lstStyle/>
          <a:p>
            <a:pPr algn="ctr" indent="0" marL="0">
              <a:buNone/>
            </a:pPr>
            <a:r>
              <a:rPr lang="en-US" sz="1300" b="1" dirty="0">
                <a:solidFill>
                  <a:schemeClr val="tx1"/>
                </a:solidFill>
              </a:rPr>
              <a:t>+0.3</a:t>
            </a:r>
            <a:endParaRPr lang="en-US" sz="1300" dirty="0"/>
          </a:p>
        </p:txBody>
      </p:sp>
      <p:sp>
        <p:nvSpPr>
          <p:cNvPr id="39" name="Text 37"/>
          <p:cNvSpPr txBox="1"/>
          <p:nvPr/>
        </p:nvSpPr>
        <p:spPr>
          <a:xfrm>
            <a:off x="5151991" y="5404104"/>
            <a:ext cx="779853" cy="457200"/>
          </a:xfrm>
          <a:prstGeom prst="rect">
            <a:avLst/>
          </a:prstGeom>
          <a:noFill/>
          <a:ln/>
        </p:spPr>
        <p:txBody>
          <a:bodyPr wrap="square" lIns="0" tIns="0" rIns="0" bIns="0" rtlCol="0" anchor="t"/>
          <a:lstStyle/>
          <a:p>
            <a:pPr algn="ctr" indent="0" marL="0">
              <a:buNone/>
            </a:pPr>
            <a:r>
              <a:rPr lang="en-US" sz="1100" dirty="0">
                <a:solidFill>
                  <a:schemeClr val="tx1"/>
                </a:solidFill>
              </a:rPr>
              <a:t>Built-in</a:t>
            </a:r>
            <a:endParaRPr lang="en-US" sz="1100" dirty="0"/>
          </a:p>
          <a:p>
            <a:pPr algn="ctr" indent="0" marL="0">
              <a:buNone/>
            </a:pPr>
            <a:r>
              <a:rPr lang="en-US" sz="1100" dirty="0">
                <a:solidFill>
                  <a:schemeClr val="tx1"/>
                </a:solidFill>
              </a:rPr>
              <a:t>quality</a:t>
            </a:r>
            <a:endParaRPr lang="en-US" sz="1100" dirty="0"/>
          </a:p>
        </p:txBody>
      </p:sp>
      <p:sp>
        <p:nvSpPr>
          <p:cNvPr id="40" name="connector"/>
          <p:cNvSpPr/>
          <p:nvPr/>
        </p:nvSpPr>
        <p:spPr>
          <a:xfrm>
            <a:off x="5825381" y="2234627"/>
            <a:ext cx="249501" cy="0"/>
          </a:xfrm>
          <a:prstGeom prst="line">
            <a:avLst/>
          </a:prstGeom>
          <a:noFill/>
          <a:ln w="9525">
            <a:solidFill>
              <a:schemeClr val="accent3"/>
            </a:solidFill>
            <a:prstDash val="dash"/>
          </a:ln>
        </p:spPr>
      </p:sp>
      <p:sp>
        <p:nvSpPr>
          <p:cNvPr id="41" name="waterfall After"/>
          <p:cNvSpPr/>
          <p:nvPr/>
        </p:nvSpPr>
        <p:spPr>
          <a:xfrm>
            <a:off x="6074882" y="2234627"/>
            <a:ext cx="566928" cy="3114613"/>
          </a:xfrm>
          <a:prstGeom prst="rect">
            <a:avLst/>
          </a:prstGeom>
          <a:solidFill>
            <a:schemeClr val="accent5"/>
          </a:solidFill>
          <a:ln/>
        </p:spPr>
      </p:sp>
      <p:sp>
        <p:nvSpPr>
          <p:cNvPr id="42" name="Text 40"/>
          <p:cNvSpPr txBox="1"/>
          <p:nvPr/>
        </p:nvSpPr>
        <p:spPr>
          <a:xfrm>
            <a:off x="5892002" y="1923731"/>
            <a:ext cx="932688" cy="274320"/>
          </a:xfrm>
          <a:prstGeom prst="rect">
            <a:avLst/>
          </a:prstGeom>
          <a:noFill/>
          <a:ln/>
        </p:spPr>
        <p:txBody>
          <a:bodyPr wrap="square" lIns="0" tIns="0" rIns="0" bIns="0" rtlCol="0" anchor="ctr"/>
          <a:lstStyle/>
          <a:p>
            <a:pPr algn="ctr" indent="0" marL="0">
              <a:buNone/>
            </a:pPr>
            <a:r>
              <a:rPr lang="en-US" sz="1300" b="1" dirty="0">
                <a:solidFill>
                  <a:schemeClr val="accent5"/>
                </a:solidFill>
              </a:rPr>
              <a:t>12.9</a:t>
            </a:r>
            <a:endParaRPr lang="en-US" sz="1300" dirty="0"/>
          </a:p>
        </p:txBody>
      </p:sp>
      <p:sp>
        <p:nvSpPr>
          <p:cNvPr id="43" name="Text 41"/>
          <p:cNvSpPr txBox="1"/>
          <p:nvPr/>
        </p:nvSpPr>
        <p:spPr>
          <a:xfrm>
            <a:off x="5968419" y="5404104"/>
            <a:ext cx="779853" cy="457200"/>
          </a:xfrm>
          <a:prstGeom prst="rect">
            <a:avLst/>
          </a:prstGeom>
          <a:noFill/>
          <a:ln/>
        </p:spPr>
        <p:txBody>
          <a:bodyPr wrap="square" lIns="0" tIns="0" rIns="0" bIns="0" rtlCol="0" anchor="t"/>
          <a:lstStyle/>
          <a:p>
            <a:pPr algn="ctr" indent="0" marL="0">
              <a:buNone/>
            </a:pPr>
            <a:r>
              <a:rPr lang="en-US" sz="1100" dirty="0">
                <a:solidFill>
                  <a:schemeClr val="tx1"/>
                </a:solidFill>
              </a:rPr>
              <a:t>After</a:t>
            </a:r>
            <a:endParaRPr lang="en-US" sz="1100" dirty="0"/>
          </a:p>
        </p:txBody>
      </p:sp>
      <p:sp>
        <p:nvSpPr>
          <p:cNvPr id="44" name="target line"/>
          <p:cNvSpPr/>
          <p:nvPr/>
        </p:nvSpPr>
        <p:spPr>
          <a:xfrm>
            <a:off x="1051560" y="2822171"/>
            <a:ext cx="5715000" cy="0"/>
          </a:xfrm>
          <a:prstGeom prst="line">
            <a:avLst/>
          </a:prstGeom>
          <a:noFill/>
          <a:ln w="25400">
            <a:solidFill>
              <a:schemeClr val="accent4"/>
            </a:solidFill>
            <a:prstDash val="dash"/>
          </a:ln>
        </p:spPr>
      </p:sp>
      <p:sp>
        <p:nvSpPr>
          <p:cNvPr id="45" name="Text 43"/>
          <p:cNvSpPr txBox="1"/>
          <p:nvPr/>
        </p:nvSpPr>
        <p:spPr>
          <a:xfrm>
            <a:off x="1097280" y="2529563"/>
            <a:ext cx="1097280" cy="256032"/>
          </a:xfrm>
          <a:prstGeom prst="rect">
            <a:avLst/>
          </a:prstGeom>
          <a:noFill/>
          <a:ln/>
        </p:spPr>
        <p:txBody>
          <a:bodyPr wrap="square" lIns="0" tIns="0" rIns="0" bIns="0" rtlCol="0" anchor="ctr"/>
          <a:lstStyle/>
          <a:p>
            <a:pPr indent="0" marL="0">
              <a:buNone/>
            </a:pPr>
            <a:r>
              <a:rPr lang="en-US" sz="1200" b="1" dirty="0">
                <a:solidFill>
                  <a:schemeClr val="accent4"/>
                </a:solidFill>
              </a:rPr>
              <a:t>Target 12</a:t>
            </a:r>
            <a:endParaRPr lang="en-US" sz="1200" dirty="0"/>
          </a:p>
        </p:txBody>
      </p:sp>
      <p:sp>
        <p:nvSpPr>
          <p:cNvPr id="46" name="Text 44"/>
          <p:cNvSpPr txBox="1"/>
          <p:nvPr/>
        </p:nvSpPr>
        <p:spPr>
          <a:xfrm>
            <a:off x="548640" y="5943600"/>
            <a:ext cx="6309360" cy="256032"/>
          </a:xfrm>
          <a:prstGeom prst="rect">
            <a:avLst/>
          </a:prstGeom>
          <a:noFill/>
          <a:ln/>
        </p:spPr>
        <p:txBody>
          <a:bodyPr wrap="square" lIns="0" tIns="0" rIns="0" bIns="0" rtlCol="0" anchor="ctr"/>
          <a:lstStyle/>
          <a:p>
            <a:pPr indent="0" marL="0">
              <a:buNone/>
            </a:pPr>
            <a:r>
              <a:rPr lang="en-US" sz="1100" i="1" dirty="0">
                <a:solidFill>
                  <a:schemeClr val="accent3"/>
                </a:solidFill>
              </a:rPr>
              <a:t>Axis starts at 8 so the increments are visible. Values use the assumed data model.</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178040" y="1417320"/>
          <a:ext cx="4462272" cy="914400"/>
        </p:xfrm>
        <a:graphic>
          <a:graphicData uri="http://schemas.openxmlformats.org/drawingml/2006/table">
            <a:tbl>
              <a:tblPr/>
              <a:tblGrid>
                <a:gridCol w="2176272"/>
                <a:gridCol w="868680"/>
                <a:gridCol w="1417320"/>
              </a:tblGrid>
              <a:tr h="384048">
                <a:tc>
                  <a:txBody>
                    <a:bodyPr/>
                    <a:lstStyle/>
                    <a:p>
                      <a:pPr indent="0" marL="0">
                        <a:buNone/>
                      </a:pPr>
                      <a:r>
                        <a:rPr lang="en-US" sz="1200" b="1" dirty="0">
                          <a:solidFill>
                            <a:schemeClr val="bg1"/>
                          </a:solidFill>
                        </a:rPr>
                        <a:t>KPI</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Today</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After 12 weeks</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Output, excavators per shift</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10</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5"/>
                          </a:solidFill>
                        </a:rPr>
                        <a:t>12 (capacity 12.9)</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chemeClr val="tx1"/>
                          </a:solidFill>
                        </a:rPr>
                        <a:t>OEE at OP30</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66.7%</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5"/>
                          </a:solidFill>
                        </a:rPr>
                        <a:t>86% capability</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chemeClr val="tx1"/>
                          </a:solidFill>
                        </a:rPr>
                        <a:t>Effective cycle time at OP30</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42 min</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5"/>
                          </a:solidFill>
                        </a:rPr>
                        <a:t>32.5 min</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chemeClr val="tx1"/>
                          </a:solidFill>
                        </a:rPr>
                        <a:t>Changeover per model</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15 min</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5"/>
                          </a:solidFill>
                        </a:rPr>
                        <a:t>5 min</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chemeClr val="tx1"/>
                          </a:solidFill>
                        </a:rPr>
                        <a:t>Breakdown loss per shift</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25 min</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5"/>
                          </a:solidFill>
                        </a:rPr>
                        <a:t>12 min</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chemeClr val="tx1"/>
                          </a:solidFill>
                        </a:rPr>
                        <a:t>First-pass yield at OP30</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95.2%</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5"/>
                          </a:solidFill>
                        </a:rPr>
                        <a:t>98.4%</a:t>
                      </a:r>
                      <a:endParaRPr lang="en-US" sz="1200" dirty="0"/>
                    </a:p>
                  </a:txBody>
                  <a:tcPr marL="73152" marR="73152" marT="27432" marB="27432" anchor="ctr">
                    <a:lnL w="9525" cap="flat" cmpd="sng" algn="ctr">
                      <a:solidFill>
                        <a:srgbClr val="A9B7C6"/>
                      </a:solidFill>
                      <a:prstDash val="solid"/>
                      <a:round/>
                      <a:headEnd type="none" w="med" len="med"/>
                      <a:tailEnd type="none" w="med" len="med"/>
                    </a:lnL>
                    <a:lnR w="9525" cap="flat" cmpd="sng" algn="ctr">
                      <a:solidFill>
                        <a:srgbClr val="A9B7C6"/>
                      </a:solidFill>
                      <a:prstDash val="solid"/>
                      <a:round/>
                      <a:headEnd type="none" w="med" len="med"/>
                      <a:tailEnd type="none" w="med" len="med"/>
                    </a:lnR>
                    <a:lnT w="9525" cap="flat" cmpd="sng" algn="ctr">
                      <a:solidFill>
                        <a:srgbClr val="A9B7C6"/>
                      </a:solidFill>
                      <a:prstDash val="solid"/>
                      <a:round/>
                      <a:headEnd type="none" w="med" len="med"/>
                      <a:tailEnd type="none" w="med" len="med"/>
                    </a:lnT>
                    <a:lnB w="9525" cap="flat" cmpd="sng" algn="ctr">
                      <a:solidFill>
                        <a:srgbClr val="A9B7C6"/>
                      </a:solidFill>
                      <a:prstDash val="solid"/>
                      <a:round/>
                      <a:headEnd type="none" w="med" len="med"/>
                      <a:tailEnd type="none" w="med" len="med"/>
                    </a:lnB>
                    <a:solidFill>
                      <a:srgbClr val="FFFFFF"/>
                    </a:solidFill>
                  </a:tcPr>
                </a:tc>
              </a:tr>
            </a:tbl>
          </a:graphicData>
        </a:graphic>
      </p:graphicFrame>
      <p:sp>
        <p:nvSpPr>
          <p:cNvPr id="48" name="robust callout"/>
          <p:cNvSpPr/>
          <p:nvPr/>
        </p:nvSpPr>
        <p:spPr>
          <a:xfrm>
            <a:off x="7178040" y="4297680"/>
            <a:ext cx="4462272" cy="868680"/>
          </a:xfrm>
          <a:prstGeom prst="roundRect">
            <a:avLst>
              <a:gd name="adj" fmla="val 8421"/>
            </a:avLst>
          </a:prstGeom>
          <a:solidFill>
            <a:schemeClr val="accent5">
              <a:alpha val="15000"/>
            </a:schemeClr>
          </a:solidFill>
          <a:ln/>
        </p:spPr>
      </p:sp>
      <p:sp>
        <p:nvSpPr>
          <p:cNvPr id="49" name="Text 46"/>
          <p:cNvSpPr txBox="1"/>
          <p:nvPr/>
        </p:nvSpPr>
        <p:spPr>
          <a:xfrm>
            <a:off x="7315200" y="4343400"/>
            <a:ext cx="4206240" cy="777240"/>
          </a:xfrm>
          <a:prstGeom prst="rect">
            <a:avLst/>
          </a:prstGeom>
          <a:noFill/>
          <a:ln/>
        </p:spPr>
        <p:txBody>
          <a:bodyPr wrap="square" lIns="0" tIns="0" rIns="0" bIns="0" rtlCol="0" anchor="ctr"/>
          <a:lstStyle/>
          <a:p>
            <a:pPr indent="0" marL="0">
              <a:buNone/>
            </a:pPr>
            <a:r>
              <a:rPr lang="en-US" sz="1300" b="1" dirty="0">
                <a:solidFill>
                  <a:schemeClr val="accent5"/>
                </a:solidFill>
              </a:rPr>
              <a:t>Robust: </a:t>
            </a:r>
            <a:pPr indent="0" marL="0">
              <a:buNone/>
            </a:pPr>
            <a:r>
              <a:rPr lang="en-US" sz="1300" dirty="0">
                <a:solidFill>
                  <a:schemeClr val="tx1"/>
                </a:solidFill>
              </a:rPr>
              <a:t>even if only 70% of the gains hold, capacity is 12.05, still above target.</a:t>
            </a:r>
            <a:endParaRPr lang="en-US" sz="1300" dirty="0"/>
          </a:p>
        </p:txBody>
      </p:sp>
      <p:sp>
        <p:nvSpPr>
          <p:cNvPr id="50" name="upside callout"/>
          <p:cNvSpPr/>
          <p:nvPr/>
        </p:nvSpPr>
        <p:spPr>
          <a:xfrm>
            <a:off x="7178040" y="5303520"/>
            <a:ext cx="4462272" cy="868680"/>
          </a:xfrm>
          <a:prstGeom prst="roundRect">
            <a:avLst>
              <a:gd name="adj" fmla="val 8421"/>
            </a:avLst>
          </a:prstGeom>
          <a:solidFill>
            <a:schemeClr val="accent1">
              <a:alpha val="22000"/>
            </a:schemeClr>
          </a:solidFill>
          <a:ln/>
        </p:spPr>
      </p:sp>
      <p:sp>
        <p:nvSpPr>
          <p:cNvPr id="51" name="Text 48"/>
          <p:cNvSpPr txBox="1"/>
          <p:nvPr/>
        </p:nvSpPr>
        <p:spPr>
          <a:xfrm>
            <a:off x="7315200" y="5349240"/>
            <a:ext cx="4206240" cy="777240"/>
          </a:xfrm>
          <a:prstGeom prst="rect">
            <a:avLst/>
          </a:prstGeom>
          <a:noFill/>
          <a:ln/>
        </p:spPr>
        <p:txBody>
          <a:bodyPr wrap="square" lIns="0" tIns="0" rIns="0" bIns="0" rtlCol="0" anchor="ctr"/>
          <a:lstStyle/>
          <a:p>
            <a:pPr indent="0" marL="0">
              <a:buNone/>
            </a:pPr>
            <a:r>
              <a:rPr lang="en-US" sz="1300" b="1" dirty="0">
                <a:solidFill>
                  <a:schemeClr val="tx2"/>
                </a:solidFill>
              </a:rPr>
              <a:t>Upside not counted: </a:t>
            </a:r>
            <a:pPr indent="0" marL="0">
              <a:buNone/>
            </a:pPr>
            <a:r>
              <a:rPr lang="en-US" sz="1300" dirty="0">
                <a:solidFill>
                  <a:schemeClr val="tx1"/>
                </a:solidFill>
              </a:rPr>
              <a:t>relief operator runs OP30 through tea breaks (+20 min ≈ +0.7 unit).</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7 · IMPLEMENTATION AND TAKEAWAYS</a:t>
            </a:r>
            <a:endParaRPr lang="en-US" sz="1200" dirty="0"/>
          </a:p>
        </p:txBody>
      </p:sp>
      <p:sp>
        <p:nvSpPr>
          <p:cNvPr id="3" name="Text 0"/>
          <p:cNvSpPr/>
          <p:nvPr>
            <p:ph idx="101"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en-US" sz="3600" b="1" dirty="0">
                <a:solidFill>
                  <a:schemeClr val="bg1"/>
                </a:solidFill>
              </a:rPr>
              <a:t>12-week roadmap to 12 a day</a:t>
            </a:r>
            <a:endParaRPr lang="en-US" sz="3600" dirty="0"/>
          </a:p>
        </p:txBody>
      </p:sp>
      <p:sp>
        <p:nvSpPr>
          <p:cNvPr id="4" name="phase card"/>
          <p:cNvSpPr/>
          <p:nvPr/>
        </p:nvSpPr>
        <p:spPr>
          <a:xfrm>
            <a:off x="548640" y="1481328"/>
            <a:ext cx="2569464" cy="2697480"/>
          </a:xfrm>
          <a:prstGeom prst="roundRect">
            <a:avLst>
              <a:gd name="adj" fmla="val 2847"/>
            </a:avLst>
          </a:prstGeom>
          <a:solidFill>
            <a:srgbClr val="1C3557"/>
          </a:solidFill>
          <a:ln/>
        </p:spPr>
      </p:sp>
      <p:sp>
        <p:nvSpPr>
          <p:cNvPr id="5" name="Text 3"/>
          <p:cNvSpPr txBox="1"/>
          <p:nvPr/>
        </p:nvSpPr>
        <p:spPr>
          <a:xfrm>
            <a:off x="713232" y="1609344"/>
            <a:ext cx="2286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WEEKS 1–2 · PLAN</a:t>
            </a:r>
            <a:endParaRPr lang="en-US" sz="1100" dirty="0"/>
          </a:p>
        </p:txBody>
      </p:sp>
      <p:sp>
        <p:nvSpPr>
          <p:cNvPr id="6" name="Text 4"/>
          <p:cNvSpPr txBox="1"/>
          <p:nvPr/>
        </p:nvSpPr>
        <p:spPr>
          <a:xfrm>
            <a:off x="713232" y="1892808"/>
            <a:ext cx="2286000" cy="365760"/>
          </a:xfrm>
          <a:prstGeom prst="rect">
            <a:avLst/>
          </a:prstGeom>
          <a:noFill/>
          <a:ln/>
        </p:spPr>
        <p:txBody>
          <a:bodyPr wrap="square" lIns="0" tIns="0" rIns="0" bIns="0" rtlCol="0" anchor="ctr"/>
          <a:lstStyle/>
          <a:p>
            <a:pPr indent="0" marL="0">
              <a:buNone/>
            </a:pPr>
            <a:r>
              <a:rPr lang="en-US" sz="1800" b="1" dirty="0">
                <a:solidFill>
                  <a:schemeClr val="bg1"/>
                </a:solidFill>
              </a:rPr>
              <a:t>Diagnose</a:t>
            </a:r>
            <a:endParaRPr lang="en-US" sz="1800" dirty="0"/>
          </a:p>
        </p:txBody>
      </p:sp>
      <p:sp>
        <p:nvSpPr>
          <p:cNvPr id="7" name="Text 5"/>
          <p:cNvSpPr txBox="1"/>
          <p:nvPr/>
        </p:nvSpPr>
        <p:spPr>
          <a:xfrm>
            <a:off x="640080" y="2322576"/>
            <a:ext cx="2395728"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Gemba walks, time study</a:t>
            </a:r>
            <a:endParaRPr lang="en-US" sz="1400" dirty="0"/>
          </a:p>
          <a:p>
            <a:pPr marL="177800" indent="-177800">
              <a:spcAft>
                <a:spcPts val="600"/>
              </a:spcAft>
              <a:buSzPct val="100000"/>
              <a:buChar char="•"/>
            </a:pPr>
            <a:r>
              <a:rPr lang="en-US" sz="1400" dirty="0">
                <a:solidFill>
                  <a:schemeClr val="bg2"/>
                </a:solidFill>
              </a:rPr>
              <a:t>OEE baseline at OP30</a:t>
            </a:r>
            <a:endParaRPr lang="en-US" sz="1400" dirty="0"/>
          </a:p>
          <a:p>
            <a:pPr marL="177800" indent="-177800">
              <a:spcAft>
                <a:spcPts val="600"/>
              </a:spcAft>
              <a:buSzPct val="100000"/>
              <a:buChar char="•"/>
            </a:pPr>
            <a:r>
              <a:rPr lang="en-US" sz="1400" dirty="0">
                <a:solidFill>
                  <a:schemeClr val="bg2"/>
                </a:solidFill>
              </a:rPr>
              <a:t>Kaizen team formed</a:t>
            </a:r>
            <a:endParaRPr lang="en-US" sz="1400" dirty="0"/>
          </a:p>
        </p:txBody>
      </p:sp>
      <p:sp>
        <p:nvSpPr>
          <p:cNvPr id="8" name="divider"/>
          <p:cNvSpPr/>
          <p:nvPr/>
        </p:nvSpPr>
        <p:spPr>
          <a:xfrm>
            <a:off x="713232" y="3584448"/>
            <a:ext cx="2240280" cy="0"/>
          </a:xfrm>
          <a:prstGeom prst="line">
            <a:avLst/>
          </a:prstGeom>
          <a:noFill/>
          <a:ln w="9525">
            <a:solidFill>
              <a:schemeClr val="accent3"/>
            </a:solidFill>
            <a:prstDash val="solid"/>
          </a:ln>
        </p:spPr>
      </p:sp>
      <p:sp>
        <p:nvSpPr>
          <p:cNvPr id="9" name="Text 7"/>
          <p:cNvSpPr txBox="1"/>
          <p:nvPr/>
        </p:nvSpPr>
        <p:spPr>
          <a:xfrm>
            <a:off x="713232" y="3657600"/>
            <a:ext cx="2286000" cy="411480"/>
          </a:xfrm>
          <a:prstGeom prst="rect">
            <a:avLst/>
          </a:prstGeom>
          <a:noFill/>
          <a:ln/>
        </p:spPr>
        <p:txBody>
          <a:bodyPr wrap="square" lIns="0" tIns="0" rIns="0" bIns="0" rtlCol="0" anchor="ctr"/>
          <a:lstStyle/>
          <a:p>
            <a:pPr indent="0" marL="0">
              <a:buNone/>
            </a:pPr>
            <a:r>
              <a:rPr lang="en-US" sz="1200" dirty="0">
                <a:solidFill>
                  <a:schemeClr val="accent6"/>
                </a:solidFill>
              </a:rPr>
              <a:t>Output  </a:t>
            </a:r>
            <a:pPr indent="0" marL="0">
              <a:buNone/>
            </a:pPr>
            <a:r>
              <a:rPr lang="en-US" sz="1600" b="1" dirty="0">
                <a:solidFill>
                  <a:schemeClr val="accent1"/>
                </a:solidFill>
              </a:rPr>
              <a:t>10.0 / shift</a:t>
            </a:r>
            <a:endParaRPr lang="en-US" sz="1200" dirty="0"/>
          </a:p>
        </p:txBody>
      </p:sp>
      <p:sp>
        <p:nvSpPr>
          <p:cNvPr id="10" name="Text 8"/>
          <p:cNvSpPr txBox="1"/>
          <p:nvPr/>
        </p:nvSpPr>
        <p:spPr>
          <a:xfrm>
            <a:off x="3118104" y="2578608"/>
            <a:ext cx="274320" cy="45720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1" name="phase card"/>
          <p:cNvSpPr/>
          <p:nvPr/>
        </p:nvSpPr>
        <p:spPr>
          <a:xfrm>
            <a:off x="3392424" y="1481328"/>
            <a:ext cx="2569464" cy="2697480"/>
          </a:xfrm>
          <a:prstGeom prst="roundRect">
            <a:avLst>
              <a:gd name="adj" fmla="val 2847"/>
            </a:avLst>
          </a:prstGeom>
          <a:solidFill>
            <a:srgbClr val="1C3557"/>
          </a:solidFill>
          <a:ln/>
        </p:spPr>
      </p:sp>
      <p:sp>
        <p:nvSpPr>
          <p:cNvPr id="12" name="Text 10"/>
          <p:cNvSpPr txBox="1"/>
          <p:nvPr/>
        </p:nvSpPr>
        <p:spPr>
          <a:xfrm>
            <a:off x="3557016" y="1609344"/>
            <a:ext cx="2286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WEEKS 3–6 · DO</a:t>
            </a:r>
            <a:endParaRPr lang="en-US" sz="1100" dirty="0"/>
          </a:p>
        </p:txBody>
      </p:sp>
      <p:sp>
        <p:nvSpPr>
          <p:cNvPr id="13" name="Text 11"/>
          <p:cNvSpPr txBox="1"/>
          <p:nvPr/>
        </p:nvSpPr>
        <p:spPr>
          <a:xfrm>
            <a:off x="3557016" y="1892808"/>
            <a:ext cx="2286000" cy="365760"/>
          </a:xfrm>
          <a:prstGeom prst="rect">
            <a:avLst/>
          </a:prstGeom>
          <a:noFill/>
          <a:ln/>
        </p:spPr>
        <p:txBody>
          <a:bodyPr wrap="square" lIns="0" tIns="0" rIns="0" bIns="0" rtlCol="0" anchor="ctr"/>
          <a:lstStyle/>
          <a:p>
            <a:pPr indent="0" marL="0">
              <a:buNone/>
            </a:pPr>
            <a:r>
              <a:rPr lang="en-US" sz="1800" b="1" dirty="0">
                <a:solidFill>
                  <a:schemeClr val="bg1"/>
                </a:solidFill>
              </a:rPr>
              <a:t>Quick wins</a:t>
            </a:r>
            <a:endParaRPr lang="en-US" sz="1800" dirty="0"/>
          </a:p>
        </p:txBody>
      </p:sp>
      <p:sp>
        <p:nvSpPr>
          <p:cNvPr id="14" name="Text 12"/>
          <p:cNvSpPr txBox="1"/>
          <p:nvPr/>
        </p:nvSpPr>
        <p:spPr>
          <a:xfrm>
            <a:off x="3483864" y="2322576"/>
            <a:ext cx="2395728"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5S and visual boards</a:t>
            </a:r>
            <a:endParaRPr lang="en-US" sz="1400" dirty="0"/>
          </a:p>
          <a:p>
            <a:pPr marL="177800" indent="-177800">
              <a:spcAft>
                <a:spcPts val="600"/>
              </a:spcAft>
              <a:buSzPct val="100000"/>
              <a:buChar char="•"/>
            </a:pPr>
            <a:r>
              <a:rPr lang="en-US" sz="1400" dirty="0">
                <a:solidFill>
                  <a:schemeClr val="bg2"/>
                </a:solidFill>
              </a:rPr>
              <a:t>SMED workshop at OP30</a:t>
            </a:r>
            <a:endParaRPr lang="en-US" sz="1400" dirty="0"/>
          </a:p>
          <a:p>
            <a:pPr marL="177800" indent="-177800">
              <a:spcAft>
                <a:spcPts val="600"/>
              </a:spcAft>
              <a:buSzPct val="100000"/>
              <a:buChar char="•"/>
            </a:pPr>
            <a:r>
              <a:rPr lang="en-US" sz="1400" dirty="0">
                <a:solidFill>
                  <a:schemeClr val="bg2"/>
                </a:solidFill>
              </a:rPr>
              <a:t>FIFO lane, kits, jib crane</a:t>
            </a:r>
            <a:endParaRPr lang="en-US" sz="1400" dirty="0"/>
          </a:p>
        </p:txBody>
      </p:sp>
      <p:sp>
        <p:nvSpPr>
          <p:cNvPr id="15" name="divider"/>
          <p:cNvSpPr/>
          <p:nvPr/>
        </p:nvSpPr>
        <p:spPr>
          <a:xfrm>
            <a:off x="3557016" y="3584448"/>
            <a:ext cx="2240280" cy="0"/>
          </a:xfrm>
          <a:prstGeom prst="line">
            <a:avLst/>
          </a:prstGeom>
          <a:noFill/>
          <a:ln w="9525">
            <a:solidFill>
              <a:schemeClr val="accent3"/>
            </a:solidFill>
            <a:prstDash val="solid"/>
          </a:ln>
        </p:spPr>
      </p:sp>
      <p:sp>
        <p:nvSpPr>
          <p:cNvPr id="16" name="Text 14"/>
          <p:cNvSpPr txBox="1"/>
          <p:nvPr/>
        </p:nvSpPr>
        <p:spPr>
          <a:xfrm>
            <a:off x="3557016" y="3657600"/>
            <a:ext cx="2286000" cy="411480"/>
          </a:xfrm>
          <a:prstGeom prst="rect">
            <a:avLst/>
          </a:prstGeom>
          <a:noFill/>
          <a:ln/>
        </p:spPr>
        <p:txBody>
          <a:bodyPr wrap="square" lIns="0" tIns="0" rIns="0" bIns="0" rtlCol="0" anchor="ctr"/>
          <a:lstStyle/>
          <a:p>
            <a:pPr indent="0" marL="0">
              <a:buNone/>
            </a:pPr>
            <a:r>
              <a:rPr lang="en-US" sz="1200" dirty="0">
                <a:solidFill>
                  <a:schemeClr val="accent6"/>
                </a:solidFill>
              </a:rPr>
              <a:t>Output  </a:t>
            </a:r>
            <a:pPr indent="0" marL="0">
              <a:buNone/>
            </a:pPr>
            <a:r>
              <a:rPr lang="en-US" sz="1600" b="1" dirty="0">
                <a:solidFill>
                  <a:schemeClr val="accent1"/>
                </a:solidFill>
              </a:rPr>
              <a:t>11.0 / shift</a:t>
            </a:r>
            <a:endParaRPr lang="en-US" sz="1200" dirty="0"/>
          </a:p>
        </p:txBody>
      </p:sp>
      <p:sp>
        <p:nvSpPr>
          <p:cNvPr id="17" name="Text 15"/>
          <p:cNvSpPr txBox="1"/>
          <p:nvPr/>
        </p:nvSpPr>
        <p:spPr>
          <a:xfrm>
            <a:off x="5961888" y="2578608"/>
            <a:ext cx="274320" cy="45720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8" name="phase card"/>
          <p:cNvSpPr/>
          <p:nvPr/>
        </p:nvSpPr>
        <p:spPr>
          <a:xfrm>
            <a:off x="6236208" y="1481328"/>
            <a:ext cx="2569464" cy="2697480"/>
          </a:xfrm>
          <a:prstGeom prst="roundRect">
            <a:avLst>
              <a:gd name="adj" fmla="val 2847"/>
            </a:avLst>
          </a:prstGeom>
          <a:solidFill>
            <a:srgbClr val="1C3557"/>
          </a:solidFill>
          <a:ln/>
        </p:spPr>
      </p:sp>
      <p:sp>
        <p:nvSpPr>
          <p:cNvPr id="19" name="Text 17"/>
          <p:cNvSpPr txBox="1"/>
          <p:nvPr/>
        </p:nvSpPr>
        <p:spPr>
          <a:xfrm>
            <a:off x="6400800" y="1609344"/>
            <a:ext cx="2286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WEEKS 7–10 · DO</a:t>
            </a:r>
            <a:endParaRPr lang="en-US" sz="1100" dirty="0"/>
          </a:p>
        </p:txBody>
      </p:sp>
      <p:sp>
        <p:nvSpPr>
          <p:cNvPr id="20" name="Text 18"/>
          <p:cNvSpPr txBox="1"/>
          <p:nvPr/>
        </p:nvSpPr>
        <p:spPr>
          <a:xfrm>
            <a:off x="6400800" y="1892808"/>
            <a:ext cx="2286000" cy="365760"/>
          </a:xfrm>
          <a:prstGeom prst="rect">
            <a:avLst/>
          </a:prstGeom>
          <a:noFill/>
          <a:ln/>
        </p:spPr>
        <p:txBody>
          <a:bodyPr wrap="square" lIns="0" tIns="0" rIns="0" bIns="0" rtlCol="0" anchor="ctr"/>
          <a:lstStyle/>
          <a:p>
            <a:pPr indent="0" marL="0">
              <a:buNone/>
            </a:pPr>
            <a:r>
              <a:rPr lang="en-US" sz="1800" b="1" dirty="0">
                <a:solidFill>
                  <a:schemeClr val="bg1"/>
                </a:solidFill>
              </a:rPr>
              <a:t>Structural fixes</a:t>
            </a:r>
            <a:endParaRPr lang="en-US" sz="1800" dirty="0"/>
          </a:p>
        </p:txBody>
      </p:sp>
      <p:sp>
        <p:nvSpPr>
          <p:cNvPr id="21" name="Text 19"/>
          <p:cNvSpPr txBox="1"/>
          <p:nvPr/>
        </p:nvSpPr>
        <p:spPr>
          <a:xfrm>
            <a:off x="6327648" y="2322576"/>
            <a:ext cx="2395728"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TPM steps 1–3</a:t>
            </a:r>
            <a:endParaRPr lang="en-US" sz="1400" dirty="0"/>
          </a:p>
          <a:p>
            <a:pPr marL="177800" indent="-177800">
              <a:spcAft>
                <a:spcPts val="600"/>
              </a:spcAft>
              <a:buSzPct val="100000"/>
              <a:buChar char="•"/>
            </a:pPr>
            <a:r>
              <a:rPr lang="en-US" sz="1400" dirty="0">
                <a:solidFill>
                  <a:schemeClr val="bg2"/>
                </a:solidFill>
              </a:rPr>
              <a:t>Probing, quick clamps, CNC</a:t>
            </a:r>
            <a:endParaRPr lang="en-US" sz="1400" dirty="0"/>
          </a:p>
          <a:p>
            <a:pPr marL="177800" indent="-177800">
              <a:spcAft>
                <a:spcPts val="600"/>
              </a:spcAft>
              <a:buSzPct val="100000"/>
              <a:buChar char="•"/>
            </a:pPr>
            <a:r>
              <a:rPr lang="en-US" sz="1400" dirty="0">
                <a:solidFill>
                  <a:schemeClr val="bg2"/>
                </a:solidFill>
              </a:rPr>
              <a:t>Poka-yoke; move drilling</a:t>
            </a:r>
            <a:endParaRPr lang="en-US" sz="1400" dirty="0"/>
          </a:p>
        </p:txBody>
      </p:sp>
      <p:sp>
        <p:nvSpPr>
          <p:cNvPr id="22" name="divider"/>
          <p:cNvSpPr/>
          <p:nvPr/>
        </p:nvSpPr>
        <p:spPr>
          <a:xfrm>
            <a:off x="6400800" y="3584448"/>
            <a:ext cx="2240280" cy="0"/>
          </a:xfrm>
          <a:prstGeom prst="line">
            <a:avLst/>
          </a:prstGeom>
          <a:noFill/>
          <a:ln w="9525">
            <a:solidFill>
              <a:schemeClr val="accent3"/>
            </a:solidFill>
            <a:prstDash val="solid"/>
          </a:ln>
        </p:spPr>
      </p:sp>
      <p:sp>
        <p:nvSpPr>
          <p:cNvPr id="23" name="Text 21"/>
          <p:cNvSpPr txBox="1"/>
          <p:nvPr/>
        </p:nvSpPr>
        <p:spPr>
          <a:xfrm>
            <a:off x="6400800" y="3657600"/>
            <a:ext cx="2286000" cy="411480"/>
          </a:xfrm>
          <a:prstGeom prst="rect">
            <a:avLst/>
          </a:prstGeom>
          <a:noFill/>
          <a:ln/>
        </p:spPr>
        <p:txBody>
          <a:bodyPr wrap="square" lIns="0" tIns="0" rIns="0" bIns="0" rtlCol="0" anchor="ctr"/>
          <a:lstStyle/>
          <a:p>
            <a:pPr indent="0" marL="0">
              <a:buNone/>
            </a:pPr>
            <a:r>
              <a:rPr lang="en-US" sz="1200" dirty="0">
                <a:solidFill>
                  <a:schemeClr val="accent6"/>
                </a:solidFill>
              </a:rPr>
              <a:t>Output  </a:t>
            </a:r>
            <a:pPr indent="0" marL="0">
              <a:buNone/>
            </a:pPr>
            <a:r>
              <a:rPr lang="en-US" sz="1600" b="1" dirty="0">
                <a:solidFill>
                  <a:schemeClr val="accent1"/>
                </a:solidFill>
              </a:rPr>
              <a:t>11.6 / shift</a:t>
            </a:r>
            <a:endParaRPr lang="en-US" sz="1200" dirty="0"/>
          </a:p>
        </p:txBody>
      </p:sp>
      <p:sp>
        <p:nvSpPr>
          <p:cNvPr id="24" name="Text 22"/>
          <p:cNvSpPr txBox="1"/>
          <p:nvPr/>
        </p:nvSpPr>
        <p:spPr>
          <a:xfrm>
            <a:off x="8805672" y="2578608"/>
            <a:ext cx="274320" cy="45720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25" name="phase card"/>
          <p:cNvSpPr/>
          <p:nvPr/>
        </p:nvSpPr>
        <p:spPr>
          <a:xfrm>
            <a:off x="9079992" y="1481328"/>
            <a:ext cx="2569464" cy="2697480"/>
          </a:xfrm>
          <a:prstGeom prst="roundRect">
            <a:avLst>
              <a:gd name="adj" fmla="val 2847"/>
            </a:avLst>
          </a:prstGeom>
          <a:solidFill>
            <a:srgbClr val="1C3557"/>
          </a:solidFill>
          <a:ln/>
        </p:spPr>
      </p:sp>
      <p:sp>
        <p:nvSpPr>
          <p:cNvPr id="26" name="Text 24"/>
          <p:cNvSpPr txBox="1"/>
          <p:nvPr/>
        </p:nvSpPr>
        <p:spPr>
          <a:xfrm>
            <a:off x="9244584" y="1609344"/>
            <a:ext cx="2286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WEEKS 11–12 · CHECK–ACT</a:t>
            </a:r>
            <a:endParaRPr lang="en-US" sz="1100" dirty="0"/>
          </a:p>
        </p:txBody>
      </p:sp>
      <p:sp>
        <p:nvSpPr>
          <p:cNvPr id="27" name="Text 25"/>
          <p:cNvSpPr txBox="1"/>
          <p:nvPr/>
        </p:nvSpPr>
        <p:spPr>
          <a:xfrm>
            <a:off x="9244584" y="1892808"/>
            <a:ext cx="2286000" cy="365760"/>
          </a:xfrm>
          <a:prstGeom prst="rect">
            <a:avLst/>
          </a:prstGeom>
          <a:noFill/>
          <a:ln/>
        </p:spPr>
        <p:txBody>
          <a:bodyPr wrap="square" lIns="0" tIns="0" rIns="0" bIns="0" rtlCol="0" anchor="ctr"/>
          <a:lstStyle/>
          <a:p>
            <a:pPr indent="0" marL="0">
              <a:buNone/>
            </a:pPr>
            <a:r>
              <a:rPr lang="en-US" sz="1800" b="1" dirty="0">
                <a:solidFill>
                  <a:schemeClr val="bg1"/>
                </a:solidFill>
              </a:rPr>
              <a:t>Lock in</a:t>
            </a:r>
            <a:endParaRPr lang="en-US" sz="1800" dirty="0"/>
          </a:p>
        </p:txBody>
      </p:sp>
      <p:sp>
        <p:nvSpPr>
          <p:cNvPr id="28" name="Text 26"/>
          <p:cNvSpPr txBox="1"/>
          <p:nvPr/>
        </p:nvSpPr>
        <p:spPr>
          <a:xfrm>
            <a:off x="9171432" y="2322576"/>
            <a:ext cx="2395728"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2"/>
                </a:solidFill>
              </a:rPr>
              <a:t>Verify FPY and Cpk</a:t>
            </a:r>
            <a:endParaRPr lang="en-US" sz="1400" dirty="0"/>
          </a:p>
          <a:p>
            <a:pPr marL="177800" indent="-177800">
              <a:spcAft>
                <a:spcPts val="600"/>
              </a:spcAft>
              <a:buSzPct val="100000"/>
              <a:buChar char="•"/>
            </a:pPr>
            <a:r>
              <a:rPr lang="en-US" sz="1400" dirty="0">
                <a:solidFill>
                  <a:schemeClr val="bg2"/>
                </a:solidFill>
              </a:rPr>
              <a:t>Freeze standard work</a:t>
            </a:r>
            <a:endParaRPr lang="en-US" sz="1400" dirty="0"/>
          </a:p>
          <a:p>
            <a:pPr marL="177800" indent="-177800">
              <a:spcAft>
                <a:spcPts val="600"/>
              </a:spcAft>
              <a:buSzPct val="100000"/>
              <a:buChar char="•"/>
            </a:pPr>
            <a:r>
              <a:rPr lang="en-US" sz="1400" dirty="0">
                <a:solidFill>
                  <a:schemeClr val="bg2"/>
                </a:solidFill>
              </a:rPr>
              <a:t>Roll out to OP10/20/40</a:t>
            </a:r>
            <a:endParaRPr lang="en-US" sz="1400" dirty="0"/>
          </a:p>
        </p:txBody>
      </p:sp>
      <p:sp>
        <p:nvSpPr>
          <p:cNvPr id="29" name="divider"/>
          <p:cNvSpPr/>
          <p:nvPr/>
        </p:nvSpPr>
        <p:spPr>
          <a:xfrm>
            <a:off x="9244584" y="3584448"/>
            <a:ext cx="2240280" cy="0"/>
          </a:xfrm>
          <a:prstGeom prst="line">
            <a:avLst/>
          </a:prstGeom>
          <a:noFill/>
          <a:ln w="9525">
            <a:solidFill>
              <a:schemeClr val="accent3"/>
            </a:solidFill>
            <a:prstDash val="solid"/>
          </a:ln>
        </p:spPr>
      </p:sp>
      <p:sp>
        <p:nvSpPr>
          <p:cNvPr id="30" name="Text 28"/>
          <p:cNvSpPr txBox="1"/>
          <p:nvPr/>
        </p:nvSpPr>
        <p:spPr>
          <a:xfrm>
            <a:off x="9244584" y="3657600"/>
            <a:ext cx="2286000" cy="411480"/>
          </a:xfrm>
          <a:prstGeom prst="rect">
            <a:avLst/>
          </a:prstGeom>
          <a:noFill/>
          <a:ln/>
        </p:spPr>
        <p:txBody>
          <a:bodyPr wrap="square" lIns="0" tIns="0" rIns="0" bIns="0" rtlCol="0" anchor="ctr"/>
          <a:lstStyle/>
          <a:p>
            <a:pPr indent="0" marL="0">
              <a:buNone/>
            </a:pPr>
            <a:r>
              <a:rPr lang="en-US" sz="1200" dirty="0">
                <a:solidFill>
                  <a:schemeClr val="accent6"/>
                </a:solidFill>
              </a:rPr>
              <a:t>Output  </a:t>
            </a:r>
            <a:pPr indent="0" marL="0">
              <a:buNone/>
            </a:pPr>
            <a:r>
              <a:rPr lang="en-US" sz="1600" b="1" dirty="0">
                <a:solidFill>
                  <a:schemeClr val="accent1"/>
                </a:solidFill>
              </a:rPr>
              <a:t>12.0 / shift</a:t>
            </a:r>
            <a:endParaRPr lang="en-US" sz="1200" dirty="0"/>
          </a:p>
        </p:txBody>
      </p:sp>
      <p:sp>
        <p:nvSpPr>
          <p:cNvPr id="31" name="Waste, not speed circle"/>
          <p:cNvSpPr/>
          <p:nvPr/>
        </p:nvSpPr>
        <p:spPr>
          <a:xfrm>
            <a:off x="548640" y="4453128"/>
            <a:ext cx="548640" cy="548640"/>
          </a:xfrm>
          <a:prstGeom prst="ellipse">
            <a:avLst/>
          </a:prstGeom>
          <a:solidFill>
            <a:srgbClr val="1C3557"/>
          </a:solidFill>
          <a:ln/>
        </p:spPr>
      </p:sp>
      <p:pic>
        <p:nvPicPr>
          <p:cNvPr id="32" name="Waste, not speed" descr="Waste, not speed">    </p:cNvPr>
          <p:cNvPicPr>
            <a:picLocks noChangeAspect="1"/>
          </p:cNvPicPr>
          <p:nvPr/>
        </p:nvPicPr>
        <p:blipFill>
          <a:blip r:embed="rId1"/>
          <a:stretch>
            <a:fillRect/>
          </a:stretch>
        </p:blipFill>
        <p:spPr>
          <a:xfrm>
            <a:off x="669341" y="4573829"/>
            <a:ext cx="307238" cy="307238"/>
          </a:xfrm>
          <a:prstGeom prst="rect">
            <a:avLst/>
          </a:prstGeom>
        </p:spPr>
      </p:pic>
      <p:sp>
        <p:nvSpPr>
          <p:cNvPr id="33" name="Text 30"/>
          <p:cNvSpPr txBox="1"/>
          <p:nvPr/>
        </p:nvSpPr>
        <p:spPr>
          <a:xfrm>
            <a:off x="1234440" y="4434840"/>
            <a:ext cx="2834640" cy="310896"/>
          </a:xfrm>
          <a:prstGeom prst="rect">
            <a:avLst/>
          </a:prstGeom>
          <a:noFill/>
          <a:ln/>
        </p:spPr>
        <p:txBody>
          <a:bodyPr wrap="square" lIns="0" tIns="0" rIns="0" bIns="0" rtlCol="0" anchor="ctr"/>
          <a:lstStyle/>
          <a:p>
            <a:pPr indent="0" marL="0">
              <a:buNone/>
            </a:pPr>
            <a:r>
              <a:rPr lang="en-US" sz="1600" b="1" dirty="0">
                <a:solidFill>
                  <a:schemeClr val="accent1"/>
                </a:solidFill>
              </a:rPr>
              <a:t>Waste, not speed</a:t>
            </a:r>
            <a:endParaRPr lang="en-US" sz="1600" dirty="0"/>
          </a:p>
        </p:txBody>
      </p:sp>
      <p:sp>
        <p:nvSpPr>
          <p:cNvPr id="34" name="Text 31"/>
          <p:cNvSpPr txBox="1"/>
          <p:nvPr/>
        </p:nvSpPr>
        <p:spPr>
          <a:xfrm>
            <a:off x="1234440" y="4764024"/>
            <a:ext cx="2834640" cy="914400"/>
          </a:xfrm>
          <a:prstGeom prst="rect">
            <a:avLst/>
          </a:prstGeom>
          <a:noFill/>
          <a:ln/>
        </p:spPr>
        <p:txBody>
          <a:bodyPr wrap="square" lIns="0" tIns="0" rIns="0" bIns="0" rtlCol="0" anchor="t"/>
          <a:lstStyle/>
          <a:p>
            <a:pPr indent="0" marL="0">
              <a:buNone/>
            </a:pPr>
            <a:r>
              <a:rPr lang="en-US" sz="1400" dirty="0">
                <a:solidFill>
                  <a:schemeClr val="bg1"/>
                </a:solidFill>
              </a:rPr>
              <a:t>Most of the 2 extra machines come from winning back 75 of OP30's 120 lost minutes</a:t>
            </a:r>
            <a:endParaRPr lang="en-US" sz="1400" dirty="0"/>
          </a:p>
        </p:txBody>
      </p:sp>
      <p:sp>
        <p:nvSpPr>
          <p:cNvPr id="35" name="Quality by design circle"/>
          <p:cNvSpPr/>
          <p:nvPr/>
        </p:nvSpPr>
        <p:spPr>
          <a:xfrm>
            <a:off x="4334256" y="4453128"/>
            <a:ext cx="548640" cy="548640"/>
          </a:xfrm>
          <a:prstGeom prst="ellipse">
            <a:avLst/>
          </a:prstGeom>
          <a:solidFill>
            <a:srgbClr val="1C3557"/>
          </a:solidFill>
          <a:ln/>
        </p:spPr>
      </p:sp>
      <p:pic>
        <p:nvPicPr>
          <p:cNvPr id="36" name="Quality by design" descr="Quality by design">    </p:cNvPr>
          <p:cNvPicPr>
            <a:picLocks noChangeAspect="1"/>
          </p:cNvPicPr>
          <p:nvPr/>
        </p:nvPicPr>
        <p:blipFill>
          <a:blip r:embed="rId2"/>
          <a:stretch>
            <a:fillRect/>
          </a:stretch>
        </p:blipFill>
        <p:spPr>
          <a:xfrm>
            <a:off x="4454957" y="4573829"/>
            <a:ext cx="307238" cy="307238"/>
          </a:xfrm>
          <a:prstGeom prst="rect">
            <a:avLst/>
          </a:prstGeom>
        </p:spPr>
      </p:pic>
      <p:sp>
        <p:nvSpPr>
          <p:cNvPr id="37" name="Text 33"/>
          <p:cNvSpPr txBox="1"/>
          <p:nvPr/>
        </p:nvSpPr>
        <p:spPr>
          <a:xfrm>
            <a:off x="5020056" y="4434840"/>
            <a:ext cx="2834640" cy="310896"/>
          </a:xfrm>
          <a:prstGeom prst="rect">
            <a:avLst/>
          </a:prstGeom>
          <a:noFill/>
          <a:ln/>
        </p:spPr>
        <p:txBody>
          <a:bodyPr wrap="square" lIns="0" tIns="0" rIns="0" bIns="0" rtlCol="0" anchor="ctr"/>
          <a:lstStyle/>
          <a:p>
            <a:pPr indent="0" marL="0">
              <a:buNone/>
            </a:pPr>
            <a:r>
              <a:rPr lang="en-US" sz="1600" b="1" dirty="0">
                <a:solidFill>
                  <a:schemeClr val="accent1"/>
                </a:solidFill>
              </a:rPr>
              <a:t>Quality by design</a:t>
            </a:r>
            <a:endParaRPr lang="en-US" sz="1600" dirty="0"/>
          </a:p>
        </p:txBody>
      </p:sp>
      <p:sp>
        <p:nvSpPr>
          <p:cNvPr id="38" name="Text 34"/>
          <p:cNvSpPr txBox="1"/>
          <p:nvPr/>
        </p:nvSpPr>
        <p:spPr>
          <a:xfrm>
            <a:off x="5020056" y="4764024"/>
            <a:ext cx="2834640" cy="914400"/>
          </a:xfrm>
          <a:prstGeom prst="rect">
            <a:avLst/>
          </a:prstGeom>
          <a:noFill/>
          <a:ln/>
        </p:spPr>
        <p:txBody>
          <a:bodyPr wrap="square" lIns="0" tIns="0" rIns="0" bIns="0" rtlCol="0" anchor="t"/>
          <a:lstStyle/>
          <a:p>
            <a:pPr indent="0" marL="0">
              <a:buNone/>
            </a:pPr>
            <a:r>
              <a:rPr lang="en-US" sz="1400" dirty="0">
                <a:solidFill>
                  <a:schemeClr val="bg1"/>
                </a:solidFill>
              </a:rPr>
              <a:t>No inspection step removed; validated feeds; FPY &lt; 98% or Cpk &lt; 1.33 means stop and fix</a:t>
            </a:r>
            <a:endParaRPr lang="en-US" sz="1400" dirty="0"/>
          </a:p>
        </p:txBody>
      </p:sp>
      <p:sp>
        <p:nvSpPr>
          <p:cNvPr id="39" name="VPS sustains it circle"/>
          <p:cNvSpPr/>
          <p:nvPr/>
        </p:nvSpPr>
        <p:spPr>
          <a:xfrm>
            <a:off x="8119872" y="4453128"/>
            <a:ext cx="548640" cy="548640"/>
          </a:xfrm>
          <a:prstGeom prst="ellipse">
            <a:avLst/>
          </a:prstGeom>
          <a:solidFill>
            <a:srgbClr val="1C3557"/>
          </a:solidFill>
          <a:ln/>
        </p:spPr>
      </p:sp>
      <p:pic>
        <p:nvPicPr>
          <p:cNvPr id="40" name="VPS sustains it" descr="VPS sustains it">    </p:cNvPr>
          <p:cNvPicPr>
            <a:picLocks noChangeAspect="1"/>
          </p:cNvPicPr>
          <p:nvPr/>
        </p:nvPicPr>
        <p:blipFill>
          <a:blip r:embed="rId3"/>
          <a:stretch>
            <a:fillRect/>
          </a:stretch>
        </p:blipFill>
        <p:spPr>
          <a:xfrm>
            <a:off x="8240573" y="4573829"/>
            <a:ext cx="307238" cy="307238"/>
          </a:xfrm>
          <a:prstGeom prst="rect">
            <a:avLst/>
          </a:prstGeom>
        </p:spPr>
      </p:pic>
      <p:sp>
        <p:nvSpPr>
          <p:cNvPr id="41" name="Text 36"/>
          <p:cNvSpPr txBox="1"/>
          <p:nvPr/>
        </p:nvSpPr>
        <p:spPr>
          <a:xfrm>
            <a:off x="8805672" y="4434840"/>
            <a:ext cx="2834640" cy="310896"/>
          </a:xfrm>
          <a:prstGeom prst="rect">
            <a:avLst/>
          </a:prstGeom>
          <a:noFill/>
          <a:ln/>
        </p:spPr>
        <p:txBody>
          <a:bodyPr wrap="square" lIns="0" tIns="0" rIns="0" bIns="0" rtlCol="0" anchor="ctr"/>
          <a:lstStyle/>
          <a:p>
            <a:pPr indent="0" marL="0">
              <a:buNone/>
            </a:pPr>
            <a:r>
              <a:rPr lang="en-US" sz="1600" b="1" dirty="0">
                <a:solidFill>
                  <a:schemeClr val="accent1"/>
                </a:solidFill>
              </a:rPr>
              <a:t>VPS sustains it</a:t>
            </a:r>
            <a:endParaRPr lang="en-US" sz="1600" dirty="0"/>
          </a:p>
        </p:txBody>
      </p:sp>
      <p:sp>
        <p:nvSpPr>
          <p:cNvPr id="42" name="Text 37"/>
          <p:cNvSpPr txBox="1"/>
          <p:nvPr/>
        </p:nvSpPr>
        <p:spPr>
          <a:xfrm>
            <a:off x="8805672" y="4764024"/>
            <a:ext cx="2834640" cy="914400"/>
          </a:xfrm>
          <a:prstGeom prst="rect">
            <a:avLst/>
          </a:prstGeom>
          <a:noFill/>
          <a:ln/>
        </p:spPr>
        <p:txBody>
          <a:bodyPr wrap="square" lIns="0" tIns="0" rIns="0" bIns="0" rtlCol="0" anchor="t"/>
          <a:lstStyle/>
          <a:p>
            <a:pPr indent="0" marL="0">
              <a:buNone/>
            </a:pPr>
            <a:r>
              <a:rPr lang="en-US" sz="1400" dirty="0">
                <a:solidFill>
                  <a:schemeClr val="bg1"/>
                </a:solidFill>
              </a:rPr>
              <a:t>Standard work, daily tier meetings and kaizen keep OP30 under the 35-min takt</a:t>
            </a:r>
            <a:endParaRPr lang="en-US" sz="1400" dirty="0"/>
          </a:p>
        </p:txBody>
      </p:sp>
      <p:sp>
        <p:nvSpPr>
          <p:cNvPr id="43" name="Text 38"/>
          <p:cNvSpPr txBox="1"/>
          <p:nvPr/>
        </p:nvSpPr>
        <p:spPr>
          <a:xfrm>
            <a:off x="6949440" y="5870448"/>
            <a:ext cx="4690872" cy="384048"/>
          </a:xfrm>
          <a:prstGeom prst="rect">
            <a:avLst/>
          </a:prstGeom>
          <a:noFill/>
          <a:ln/>
        </p:spPr>
        <p:txBody>
          <a:bodyPr wrap="square" lIns="0" tIns="0" rIns="0" bIns="0" rtlCol="0" anchor="ctr"/>
          <a:lstStyle/>
          <a:p>
            <a:pPr algn="r" indent="0" marL="0">
              <a:buNone/>
            </a:pPr>
            <a:r>
              <a:rPr lang="en-US" sz="1800" b="1" dirty="0">
                <a:solidFill>
                  <a:schemeClr val="accent1"/>
                </a:solidFill>
              </a:rPr>
              <a:t>Thank you. Questions welcome.</a:t>
            </a:r>
            <a:endParaRPr lang="en-US" sz="18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Volvo CE Peenya">
  <a:themeElements>
    <a:clrScheme name="Volvo CE Peenya">
      <a:dk1>
        <a:srgbClr val="1B1F24"/>
      </a:dk1>
      <a:lt1>
        <a:srgbClr val="FFFFFF"/>
      </a:lt1>
      <a:dk2>
        <a:srgbClr val="12263F"/>
      </a:dk2>
      <a:lt2>
        <a:srgbClr val="EEF2F6"/>
      </a:lt2>
      <a:accent1>
        <a:srgbClr val="F2A900"/>
      </a:accent1>
      <a:accent2>
        <a:srgbClr val="1F5A8A"/>
      </a:accent2>
      <a:accent3>
        <a:srgbClr val="6B7A8F"/>
      </a:accent3>
      <a:accent4>
        <a:srgbClr val="D1495B"/>
      </a:accent4>
      <a:accent5>
        <a:srgbClr val="2F8F5B"/>
      </a:accent5>
      <a:accent6>
        <a:srgbClr val="A9B7C6"/>
      </a:accent6>
      <a:hlink>
        <a:srgbClr val="1F5A8A"/>
      </a:hlink>
      <a:folHlink>
        <a:srgbClr val="6B7A8F"/>
      </a:folHlink>
    </a:clrScheme>
    <a:fontScheme name="Volvo CE Peeny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BBA — Business Operations Excellence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Volvo CE India — Operations Excellence in the Machine Shop (Group 3)</dc:title>
  <dc:subject>Business Operations Excellence — Industrial visit to Volvo CE India, Peenya, Bengaluru</dc:subject>
  <dc:creator>Group 3</dc:creator>
  <cp:lastModifiedBy>Group 3</cp:lastModifiedBy>
  <cp:revision>1</cp:revision>
  <dcterms:created xsi:type="dcterms:W3CDTF">2026-10-26T07:28:34Z</dcterms:created>
  <dcterms:modified xsi:type="dcterms:W3CDTF">2026-10-26T07:28:34Z</dcterms:modified>
</cp:coreProperties>
</file>