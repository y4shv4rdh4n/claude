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7d367cf6-a7c4-bd6a-2de6-24b57fea6189}">
          <p14:sldIdLst>
            <p14:sldId id="256"/>
          </p14:sldIdLst>
        </p14:section>
        <p14:section name="Diagnose" id="{d2c5312c-92ca-d5a5-3b2e-c23dd4048f25}">
          <p14:sldIdLst>
            <p14:sldId id="257"/>
            <p14:sldId id="258"/>
            <p14:sldId id="259"/>
            <p14:sldId id="260"/>
            <p14:sldId id="261"/>
            <p14:sldId id="262"/>
          </p14:sldIdLst>
        </p14:section>
        <p14:section name="Solution Design" id="{bc7c3795-ea27-4071-f435-faf673ac4678}">
          <p14:sldIdLst>
            <p14:sldId id="263"/>
            <p14:sldId id="264"/>
            <p14:sldId id="265"/>
            <p14:sldId id="266"/>
            <p14:sldId id="267"/>
            <p14:sldId id="268"/>
          </p14:sldIdLst>
        </p14:section>
        <p14:section name="Results &amp; Roadmap" id="{7555c82a-6d97-8792-b8cc-f1a0bd22bfef}">
          <p14:sldIdLst>
            <p14:sldId id="269"/>
            <p14:sldId id="270"/>
            <p14:sldId id="271"/>
          </p14:sldIdLst>
        </p14:section>
        <p14:section name="Discussion &amp; Learning" id="{323cf65f-e97e-5330-dc53-e9912a0baa6a}">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(WG-3, Section O1) and the case: Thrustmaster's Lean transformation, themed Lean Manufacturing + Flow + Standard Work. Management's question: how do we turn a complex job shop into a visible, stable, efficient flow system without losing product flexibility?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Thrustmaster of Texas, a family-owned Houston manufacturer founded by Joe Bekker. What: engineered marine propulsion (tunnel, azimuth and retractable thrusters, portable/outboard units, HPUs). Each unit is built to customer spec, so job routers can run past 100 pages. Why it matters: thrusters are on the shipyard's critical path, so lateness costs the customer a vessel schedule. Rapid growth (revenue +1,021%, staff +700% in ~10 years) is what stretched the job-shop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lenses. The headline numbers come from LEI's Thrustmaster material: on-time delivery around 20% and first-pass yield around 50% in Q1 2014, project costs above target, schedule attainment around 30%, and a spaghetti chart showing roughly 7 miles of walking and nearly 10 hours of non-value-added time per unit. Point out that software and machines were tried first and did not work. The problem was the system, not the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'Before' picture. Production control runs MRP/ERP plus an APS tool and pushes schedules to every functional department. Each product takes its own path through stores, machining, fabrication, assembly bays and test, and WIP piles up between them. Technicians build units in place and walk to fetch parts and tools: about 7 miles and 10 hours of waste per unit. Managers could not see WIP, finished goods, work status, labour needs or the process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of the eight wastes to what we saw at Thrustmaster, and give the Lean fix that answers it. The biggest are motion (about 7 miles of walking per unit), inventory (WIP nobody could count), waiting, and defects (about 50% first-pass yield). Unused talent matters too: expert knowledge was never written down, which is what standard work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Fishbone across the 6Ms. The effect is late delivery and poor first-pass yield. Method: no standard work, MRP push. People: knowledge was tacit, and the culture ran on firefighting. Machine: shared resources created queues, and buying machines didn't change the flow. Material: no kitting, so shortages showed up at assembly. Measurement: nothing visible (WIP, status, takt), and defects were found late. Layout: a functional job shop with undefined work areas. Most causes are system-design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whys from the delivery problem. Late orders come from queues; queues come from MRP push without regard to capacity; capacity can't be matched because every job follows a different path with no cadence or visibility; that's because work areas and methods were never standardized; and that's because the shop ran on tacit knowledge, organized around departments rather than product flow. Root cause: there was no flow system. So the countermeasure has to redesign the system, not add more software or overtime.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moves Thrustmaster made, each tied to a Lean principle: see the whole, product families, flow, standardization, visual workplace, pull, rhythm, and built-in quality. The management shift underneath is to stop managing departments and schedules and manage the flow of each product family instead. Leaders have to go to the gemba, follow their own standard work, and protect flexibility by standardizing the steps rather than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layout. P-Q analysis splits the drives by size into two families, and each gets its own cell: Cell A for small and medium-frame drives at benches, Cell B for large-frame drives in a crane bay. A kitting supermarket between machining/fabrication and the cells hands each cell one complete kit per drive per pitch, so technicians stop walking to stores. Flow runs one way to paint, pack and ship. This mirrors Thrustmaster's two size-based cell configurations; which products go to which cell is our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Takt is available time divided by demand; for engineered drives it comes out in days, not seconds. Thrustmaster used a 3-day pitch: every three days a drive is completed and material moves to the next station. The board shows drive D1 stepping through S1 to S4 one pitch at a time; from pitch 4 on, one drive finishes every 3 days. WIP is fixed at four drives per cell, and any miss is visible within 3 days. The 63-day / 21-drive numbers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work has three elements: the pace (the pitch), the sequence, and standard WIP. Thrustmaster's insight was that the assembly steps are roughly the same for every unit; only the customer details in the router change. So standard work fixes the steps and key points, and the router supplies the specs. The sheet on the right is an illustrative example: total work content of 21 hours fits inside the 24 hours available in a 3-day pitch on one shift. That is how standard work also makes the labour requirement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system. Instead of MRP pushing work to every department, only the cell entry is scheduled, on a visual FIFO board by due date, and one kit is released per pitch. Downstream, FIFO lanes are capped at one drive, so nothing starts until the next station is ready. Upstream, the cell pulls kits from the supermarket, the supermarket triggers machining and fabrication by kanban, and common purchased parts use two-bin kanban. LEI reports Thrustmaster moved from MRP scheduling to visual FIFO scheduling, with finished product pulled by the next operation and WIP easy to see and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improvement, after, row by row. The starred results are what Thrustmaster actually achieved according to LEI: schedule attainment up from about 30% to about 80%, and 100% on-time delivery within about 18 months. The other 'after' entries are our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track eight KPIs, more than the five required. Baselines come from the case; targets are ours. The three headline KPIs are on-time delivery, first-pass yield and schedule attainment. For reference, Thrustmaster reached 100% on-time delivery and around 80% schedule attainment. Lead time, WIP and walking turn the flow design into numbers: 4 pitches per drive, WIP capped per station, and under a mile of walking per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90-day plan. Days 0–30: see and stabilize. Form the team, map the value stream, run P-Q analysis, 5S the pilot zone and set baselines. Days 30–60: build flow. Launch Cell A with standard work, kitting and the 3-day pitch board, and start daily huddles. Days 60–90: pull and sustain. Launch Cell B, connect upstream with FIFO and kanban, retire MRP dispatching for assembly, add quality gates, and lock in leader standard work and monthly PDCA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benefits on the five dimensions. On the right is the evidence that this is realistic: LEI reports that within about 18 months Thrustmaster reached 100% on-time delivery, improved schedule attainment from about 30% to about 80%, and achieved significant cost reductions and wider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Our position: yes, Lean works in high-variety, low-volume settings, provided you adapt the tools. Take the five common objections in turn and show how Thrustmaster answered each: product families by size, a pitch instead of a seconds-level takt, FIFO and kits instead of pure kanban, standard steps with variable specs, and visual flow instead of more software. Invite the class to challenge where the limits are, for example one-off prototypes or very long engineering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key learnings. First, make the work visible: the spaghetti chart showed waste no report captured. Second, flow beats software: the IT fixes failed and the physical and managerial redesign worked. Third, Lean fits high-mix, low-volume work when you standardize the process rather than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Transferable lessons for any organization: start with a pilot at the gemba; segment work by product characteristics; capture tacit knowledge as standard work; create a heartbeat with pitch when takt is long; prefer simple visual pull to complex scheduling; and make leaders own the system so the gains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used for case facts and figures. Anything marked as a target or illustrative is our own assumption. Thank the audience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BOE_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OE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0" y="566928"/>
            <a:ext cx="5193792" cy="658368"/>
          </a:xfrm>
          <a:prstGeom prst="rect">
            <a:avLst/>
          </a:prstGeom>
          <a:noFill/>
          <a:ln/>
        </p:spPr>
        <p:txBody>
          <a:bodyPr wrap="square" rtlCol="0"/>
          <a:lstStyle>
            <a:lvl1pPr algn="ctr" indent="0" marL="0">
              <a:buNone/>
              <a:defRPr lang="en-US" sz="3600" b="1" dirty="0">
                <a:solidFill>
                  <a:schemeClr val="bg1"/>
                </a:solidFill>
              </a:defRPr>
            </a:lvl1pPr>
          </a:lstStyle>
          <a:p>
            <a:pPr algn="ctr"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OE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01168"/>
            <a:ext cx="4114800" cy="18288"/>
          </a:xfrm>
          <a:prstGeom prst="rect">
            <a:avLst/>
          </a:prstGeom>
          <a:solidFill>
            <a:srgbClr val="1582C5"/>
          </a:solidFill>
          <a:ln/>
        </p:spPr>
      </p:sp>
      <p:sp>
        <p:nvSpPr>
          <p:cNvPr id="3" name="Shape 1"/>
          <p:cNvSpPr/>
          <p:nvPr/>
        </p:nvSpPr>
        <p:spPr>
          <a:xfrm>
            <a:off x="4114800" y="201168"/>
            <a:ext cx="749808" cy="18288"/>
          </a:xfrm>
          <a:prstGeom prst="rect">
            <a:avLst/>
          </a:prstGeom>
          <a:solidFill>
            <a:srgbClr val="9FD3E1"/>
          </a:solidFill>
          <a:ln/>
        </p:spPr>
      </p:sp>
      <p:sp>
        <p:nvSpPr>
          <p:cNvPr id="4" name="Shape 2"/>
          <p:cNvSpPr/>
          <p:nvPr/>
        </p:nvSpPr>
        <p:spPr>
          <a:xfrm>
            <a:off x="4864608" y="201168"/>
            <a:ext cx="1865376" cy="18288"/>
          </a:xfrm>
          <a:prstGeom prst="rect">
            <a:avLst/>
          </a:prstGeom>
          <a:solidFill>
            <a:srgbClr val="00B0F0"/>
          </a:solidFill>
          <a:ln/>
        </p:spPr>
      </p:sp>
      <p:sp>
        <p:nvSpPr>
          <p:cNvPr id="5" name="Shape 3"/>
          <p:cNvSpPr/>
          <p:nvPr/>
        </p:nvSpPr>
        <p:spPr>
          <a:xfrm>
            <a:off x="6729984" y="201168"/>
            <a:ext cx="4315968" cy="18288"/>
          </a:xfrm>
          <a:prstGeom prst="rect">
            <a:avLst/>
          </a:prstGeom>
          <a:solidFill>
            <a:srgbClr val="1582C5"/>
          </a:solidFill>
          <a:ln/>
        </p:spPr>
      </p:sp>
      <p:sp>
        <p:nvSpPr>
          <p:cNvPr id="6" name="Shape 4"/>
          <p:cNvSpPr/>
          <p:nvPr/>
        </p:nvSpPr>
        <p:spPr>
          <a:xfrm>
            <a:off x="11045952" y="201168"/>
            <a:ext cx="1145743" cy="18288"/>
          </a:xfrm>
          <a:prstGeom prst="rect">
            <a:avLst/>
          </a:prstGeom>
          <a:solidFill>
            <a:srgbClr val="BCD9EE"/>
          </a:solidFill>
          <a:ln/>
        </p:spPr>
      </p:sp>
      <p:pic>
        <p:nvPicPr>
          <p:cNvPr id="7" name="Image 0" descr="preencoded.png">    </p:cNvPr>
          <p:cNvPicPr>
            <a:picLocks noChangeAspect="1"/>
          </p:cNvPicPr>
          <p:nvPr/>
        </p:nvPicPr>
        <p:blipFill>
          <a:blip r:embed="rId1"/>
          <a:stretch>
            <a:fillRect/>
          </a:stretch>
        </p:blipFill>
        <p:spPr>
          <a:xfrm>
            <a:off x="0" y="6638544"/>
            <a:ext cx="12191695" cy="219456"/>
          </a:xfrm>
          <a:prstGeom prst="rect">
            <a:avLst/>
          </a:prstGeom>
        </p:spPr>
      </p:pic>
      <p:sp>
        <p:nvSpPr>
          <p:cNvPr id="8" name="Text 5"/>
          <p:cNvSpPr/>
          <p:nvPr>
            <p:ph idx="106" type="title" hasCustomPrompt="1"/>
          </p:nvPr>
        </p:nvSpPr>
        <p:spPr>
          <a:xfrm>
            <a:off x="182880" y="237744"/>
            <a:ext cx="11795760" cy="384048"/>
          </a:xfrm>
          <a:prstGeom prst="rect">
            <a:avLst/>
          </a:prstGeom>
          <a:noFill/>
          <a:ln/>
        </p:spPr>
        <p:txBody>
          <a:bodyPr wrap="square" rtlCol="0"/>
          <a:lstStyle>
            <a:lvl1pPr algn="l" indent="0" marL="0">
              <a:buNone/>
              <a:defRPr lang="en-US" sz="1800" b="1" dirty="0">
                <a:solidFill>
                  <a:schemeClr val="accent2"/>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393192" y="1938528"/>
            <a:ext cx="5029200" cy="320040"/>
          </a:xfrm>
          <a:prstGeom prst="rect">
            <a:avLst/>
          </a:prstGeom>
          <a:noFill/>
          <a:ln/>
        </p:spPr>
        <p:txBody>
          <a:bodyPr wrap="square" lIns="0" tIns="0" rIns="0" bIns="0" rtlCol="0" anchor="t"/>
          <a:lstStyle/>
          <a:p>
            <a:pPr indent="0" marL="0">
              <a:buNone/>
            </a:pPr>
            <a:r>
              <a:rPr lang="en-US" sz="1400" b="1" dirty="0">
                <a:solidFill>
                  <a:srgbClr val="112E6A"/>
                </a:solidFill>
              </a:rPr>
              <a:t>CASE STUDY PRESENTATIONS</a:t>
            </a:r>
            <a:endParaRPr lang="en-US" sz="1400" dirty="0"/>
          </a:p>
        </p:txBody>
      </p:sp>
      <p:sp>
        <p:nvSpPr>
          <p:cNvPr id="3" name="Title panel"/>
          <p:cNvSpPr/>
          <p:nvPr/>
        </p:nvSpPr>
        <p:spPr>
          <a:xfrm>
            <a:off x="6400800" y="0"/>
            <a:ext cx="5193792" cy="6108192"/>
          </a:xfrm>
          <a:prstGeom prst="rect">
            <a:avLst/>
          </a:prstGeom>
          <a:solidFill>
            <a:schemeClr val="accent3"/>
          </a:solidFill>
          <a:ln/>
          <a:effectLst>
            <a:outerShdw sx="100000" sy="100000" kx="0" ky="0" algn="bl" rotWithShape="0" blurRad="127000" dist="50800" dir="2700000">
              <a:srgbClr val="000000">
                <a:alpha val="40000"/>
              </a:srgbClr>
            </a:outerShdw>
          </a:effectLst>
        </p:spPr>
      </p:sp>
      <p:sp>
        <p:nvSpPr>
          <p:cNvPr id="4" name="Text 2"/>
          <p:cNvSpPr txBox="1"/>
          <p:nvPr/>
        </p:nvSpPr>
        <p:spPr>
          <a:xfrm>
            <a:off x="6400800" y="274320"/>
            <a:ext cx="5193792" cy="274320"/>
          </a:xfrm>
          <a:prstGeom prst="rect">
            <a:avLst/>
          </a:prstGeom>
          <a:noFill/>
          <a:ln/>
        </p:spPr>
        <p:txBody>
          <a:bodyPr wrap="square" lIns="0" tIns="0" rIns="0" bIns="0" rtlCol="0" anchor="t"/>
          <a:lstStyle/>
          <a:p>
            <a:pPr algn="ctr" indent="0" marL="0">
              <a:buNone/>
            </a:pPr>
            <a:r>
              <a:rPr lang="en-US" sz="1200" b="1" spc="100" kern="0" dirty="0">
                <a:solidFill>
                  <a:srgbClr val="BDDBF0"/>
                </a:solidFill>
              </a:rPr>
              <a:t>CASE STUDY 3  |  WORKING GROUP-3</a:t>
            </a:r>
            <a:endParaRPr lang="en-US" sz="1200" dirty="0"/>
          </a:p>
        </p:txBody>
      </p:sp>
      <p:sp>
        <p:nvSpPr>
          <p:cNvPr id="5" name="Text 0"/>
          <p:cNvSpPr/>
          <p:nvPr>
            <p:ph idx="100" type="title" hasCustomPrompt="1"/>
          </p:nvPr>
        </p:nvSpPr>
        <p:spPr>
          <a:xfrm>
            <a:off x="6400800" y="566928"/>
            <a:ext cx="5193792" cy="658368"/>
          </a:xfrm>
          <a:prstGeom prst="rect">
            <a:avLst/>
          </a:prstGeom>
          <a:noFill/>
          <a:ln/>
        </p:spPr>
        <p:txBody>
          <a:bodyPr wrap="square" lIns="0" tIns="0" rIns="0" bIns="0" rtlCol="0" anchor="ctr"/>
          <a:lstStyle/>
          <a:p>
            <a:pPr algn="ctr" indent="0" marL="0">
              <a:buNone/>
            </a:pPr>
            <a:r>
              <a:rPr lang="en-US" sz="3600" b="1" dirty="0">
                <a:solidFill>
                  <a:schemeClr val="bg1"/>
                </a:solidFill>
              </a:rPr>
              <a:t>Thrustmaster</a:t>
            </a:r>
            <a:endParaRPr lang="en-US" sz="3600" dirty="0"/>
          </a:p>
        </p:txBody>
      </p:sp>
      <p:sp>
        <p:nvSpPr>
          <p:cNvPr id="6" name="Text 4"/>
          <p:cNvSpPr txBox="1"/>
          <p:nvPr/>
        </p:nvSpPr>
        <p:spPr>
          <a:xfrm>
            <a:off x="6400800" y="1243584"/>
            <a:ext cx="5193792" cy="365760"/>
          </a:xfrm>
          <a:prstGeom prst="rect">
            <a:avLst/>
          </a:prstGeom>
          <a:noFill/>
          <a:ln/>
        </p:spPr>
        <p:txBody>
          <a:bodyPr wrap="square" lIns="0" tIns="0" rIns="0" bIns="0" rtlCol="0" anchor="t"/>
          <a:lstStyle/>
          <a:p>
            <a:pPr algn="ctr" indent="0" marL="0">
              <a:buNone/>
            </a:pPr>
            <a:r>
              <a:rPr lang="en-US" sz="1700" dirty="0">
                <a:solidFill>
                  <a:schemeClr val="bg1"/>
                </a:solidFill>
              </a:rPr>
              <a:t>Lean Transformation: From Job Shop to Flow</a:t>
            </a:r>
            <a:endParaRPr lang="en-US" sz="1700" dirty="0"/>
          </a:p>
        </p:txBody>
      </p:sp>
      <p:sp>
        <p:nvSpPr>
          <p:cNvPr id="7" name="Text 5"/>
          <p:cNvSpPr txBox="1"/>
          <p:nvPr/>
        </p:nvSpPr>
        <p:spPr>
          <a:xfrm>
            <a:off x="6400800" y="1627632"/>
            <a:ext cx="5193792" cy="274320"/>
          </a:xfrm>
          <a:prstGeom prst="rect">
            <a:avLst/>
          </a:prstGeom>
          <a:noFill/>
          <a:ln/>
        </p:spPr>
        <p:txBody>
          <a:bodyPr wrap="square" lIns="0" tIns="0" rIns="0" bIns="0" rtlCol="0" anchor="t"/>
          <a:lstStyle/>
          <a:p>
            <a:pPr algn="ctr" indent="0" marL="0">
              <a:buNone/>
            </a:pPr>
            <a:r>
              <a:rPr lang="en-US" sz="1200" i="1" dirty="0">
                <a:solidFill>
                  <a:srgbClr val="BDDBF0"/>
                </a:solidFill>
              </a:rPr>
              <a:t>Lean Manufacturing + Flow + Standard Work</a:t>
            </a:r>
            <a:endParaRPr lang="en-US" sz="1200" dirty="0"/>
          </a:p>
        </p:txBody>
      </p:sp>
      <p:sp>
        <p:nvSpPr>
          <p:cNvPr id="8" name="Text 6"/>
          <p:cNvSpPr txBox="1"/>
          <p:nvPr/>
        </p:nvSpPr>
        <p:spPr>
          <a:xfrm>
            <a:off x="6400800" y="2212848"/>
            <a:ext cx="5193792" cy="274320"/>
          </a:xfrm>
          <a:prstGeom prst="rect">
            <a:avLst/>
          </a:prstGeom>
          <a:noFill/>
          <a:ln/>
        </p:spPr>
        <p:txBody>
          <a:bodyPr wrap="square" lIns="0" tIns="0" rIns="0" bIns="0" rtlCol="0" anchor="t"/>
          <a:lstStyle/>
          <a:p>
            <a:pPr algn="ctr" indent="0" marL="0">
              <a:buNone/>
            </a:pPr>
            <a:r>
              <a:rPr lang="en-US" sz="1400" i="1" dirty="0">
                <a:solidFill>
                  <a:schemeClr val="bg1"/>
                </a:solidFill>
              </a:rPr>
              <a:t>Presented to:</a:t>
            </a:r>
            <a:endParaRPr lang="en-US" sz="1400" dirty="0"/>
          </a:p>
        </p:txBody>
      </p:sp>
      <p:sp>
        <p:nvSpPr>
          <p:cNvPr id="9" name="Text 7"/>
          <p:cNvSpPr txBox="1"/>
          <p:nvPr/>
        </p:nvSpPr>
        <p:spPr>
          <a:xfrm>
            <a:off x="6400800" y="2505456"/>
            <a:ext cx="5193792" cy="274320"/>
          </a:xfrm>
          <a:prstGeom prst="rect">
            <a:avLst/>
          </a:prstGeom>
          <a:noFill/>
          <a:ln/>
        </p:spPr>
        <p:txBody>
          <a:bodyPr wrap="square" lIns="0" tIns="0" rIns="0" bIns="0" rtlCol="0" anchor="t"/>
          <a:lstStyle/>
          <a:p>
            <a:pPr algn="ctr" indent="0" marL="0">
              <a:buNone/>
            </a:pPr>
            <a:r>
              <a:rPr lang="en-US" sz="1300" dirty="0">
                <a:solidFill>
                  <a:schemeClr val="bg1"/>
                </a:solidFill>
              </a:rPr>
              <a:t>Course Faculty</a:t>
            </a:r>
            <a:endParaRPr lang="en-US" sz="1300" dirty="0"/>
          </a:p>
        </p:txBody>
      </p:sp>
      <p:sp>
        <p:nvSpPr>
          <p:cNvPr id="10" name="Text 8"/>
          <p:cNvSpPr txBox="1"/>
          <p:nvPr/>
        </p:nvSpPr>
        <p:spPr>
          <a:xfrm>
            <a:off x="6400800" y="3017520"/>
            <a:ext cx="5193792" cy="274320"/>
          </a:xfrm>
          <a:prstGeom prst="rect">
            <a:avLst/>
          </a:prstGeom>
          <a:noFill/>
          <a:ln/>
        </p:spPr>
        <p:txBody>
          <a:bodyPr wrap="square" lIns="0" tIns="0" rIns="0" bIns="0" rtlCol="0" anchor="t"/>
          <a:lstStyle/>
          <a:p>
            <a:pPr algn="ctr" indent="0" marL="0">
              <a:buNone/>
            </a:pPr>
            <a:r>
              <a:rPr lang="en-US" sz="1400" i="1" dirty="0">
                <a:solidFill>
                  <a:schemeClr val="bg1"/>
                </a:solidFill>
              </a:rPr>
              <a:t>Presented by:</a:t>
            </a:r>
            <a:endParaRPr lang="en-US" sz="1400" dirty="0"/>
          </a:p>
        </p:txBody>
      </p:sp>
      <p:sp>
        <p:nvSpPr>
          <p:cNvPr id="11" name="Text 9"/>
          <p:cNvSpPr txBox="1"/>
          <p:nvPr/>
        </p:nvSpPr>
        <p:spPr>
          <a:xfrm>
            <a:off x="6400800" y="3291840"/>
            <a:ext cx="5193792" cy="329184"/>
          </a:xfrm>
          <a:prstGeom prst="rect">
            <a:avLst/>
          </a:prstGeom>
          <a:noFill/>
          <a:ln/>
        </p:spPr>
        <p:txBody>
          <a:bodyPr wrap="square" lIns="0" tIns="0" rIns="0" bIns="0" rtlCol="0" anchor="t"/>
          <a:lstStyle/>
          <a:p>
            <a:pPr algn="ctr" indent="0" marL="0">
              <a:buNone/>
            </a:pPr>
            <a:r>
              <a:rPr lang="en-US" sz="1600" b="1" dirty="0">
                <a:solidFill>
                  <a:schemeClr val="bg1"/>
                </a:solidFill>
              </a:rPr>
              <a:t>Group No. WG-3  |  Section O1</a:t>
            </a:r>
            <a:endParaRPr lang="en-US" sz="16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7077456" y="3703320"/>
          <a:ext cx="3840480" cy="914400"/>
        </p:xfrm>
        <a:graphic>
          <a:graphicData uri="http://schemas.openxmlformats.org/drawingml/2006/table">
            <a:tbl>
              <a:tblPr/>
              <a:tblGrid>
                <a:gridCol w="2651760"/>
                <a:gridCol w="1188720"/>
              </a:tblGrid>
              <a:tr h="237744">
                <a:tc>
                  <a:txBody>
                    <a:bodyPr/>
                    <a:lstStyle/>
                    <a:p>
                      <a:pPr algn="l" indent="0" marL="0">
                        <a:buNone/>
                      </a:pPr>
                      <a:r>
                        <a:rPr lang="en-US" sz="1200" dirty="0">
                          <a:solidFill>
                            <a:srgbClr val="FFFFFF"/>
                          </a:solidFill>
                        </a:rPr>
                        <a:t>1.  Arpit Shukla</a:t>
                      </a:r>
                      <a:endParaRPr lang="en-US" sz="1200" dirty="0"/>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FFFFFF"/>
                          </a:solidFill>
                        </a:rPr>
                        <a:t>246213322</a:t>
                      </a:r>
                      <a:endParaRPr lang="en-US" sz="1200" dirty="0"/>
                    </a:p>
                  </a:txBody>
                  <a:tcPr marL="0" marR="0" marT="0" marB="0" anchor="ctr">
                    <a:lnL w="0" cap="flat" cmpd="sng" algn="ctr">
                      <a:noFill/>
                    </a:lnL>
                    <a:lnR w="0" cap="flat" cmpd="sng" algn="ctr">
                      <a:noFill/>
                    </a:lnR>
                    <a:lnT w="0" cap="flat" cmpd="sng" algn="ctr">
                      <a:noFill/>
                    </a:lnT>
                    <a:lnB w="0" cap="flat" cmpd="sng" algn="ctr">
                      <a:noFill/>
                    </a:lnB>
                  </a:tcPr>
                </a:tc>
              </a:tr>
              <a:tr h="237744">
                <a:tc>
                  <a:txBody>
                    <a:bodyPr/>
                    <a:lstStyle/>
                    <a:p>
                      <a:pPr algn="l" indent="0" marL="0">
                        <a:buNone/>
                      </a:pPr>
                      <a:r>
                        <a:rPr lang="en-US" sz="1200" dirty="0">
                          <a:solidFill>
                            <a:srgbClr val="FFFFFF"/>
                          </a:solidFill>
                        </a:rPr>
                        <a:t>2.  Yash Vardhan Chauhan</a:t>
                      </a:r>
                      <a:endParaRPr lang="en-US" sz="1200" dirty="0"/>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FFFFFF"/>
                          </a:solidFill>
                        </a:rPr>
                        <a:t>246213008</a:t>
                      </a:r>
                      <a:endParaRPr lang="en-US" sz="1200" dirty="0"/>
                    </a:p>
                  </a:txBody>
                  <a:tcPr marL="0" marR="0" marT="0" marB="0" anchor="ctr">
                    <a:lnL w="0" cap="flat" cmpd="sng" algn="ctr">
                      <a:noFill/>
                    </a:lnL>
                    <a:lnR w="0" cap="flat" cmpd="sng" algn="ctr">
                      <a:noFill/>
                    </a:lnR>
                    <a:lnT w="0" cap="flat" cmpd="sng" algn="ctr">
                      <a:noFill/>
                    </a:lnT>
                    <a:lnB w="0" cap="flat" cmpd="sng" algn="ctr">
                      <a:noFill/>
                    </a:lnB>
                  </a:tcPr>
                </a:tc>
              </a:tr>
              <a:tr h="237744">
                <a:tc>
                  <a:txBody>
                    <a:bodyPr/>
                    <a:lstStyle/>
                    <a:p>
                      <a:pPr algn="l" indent="0" marL="0">
                        <a:buNone/>
                      </a:pPr>
                      <a:r>
                        <a:rPr lang="en-US" sz="1200" dirty="0">
                          <a:solidFill>
                            <a:srgbClr val="FFFFFF"/>
                          </a:solidFill>
                        </a:rPr>
                        <a:t>3.  Tasleen Kaur</a:t>
                      </a:r>
                      <a:endParaRPr lang="en-US" sz="1200" dirty="0"/>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FFFFFF"/>
                          </a:solidFill>
                        </a:rPr>
                        <a:t>246213168</a:t>
                      </a:r>
                      <a:endParaRPr lang="en-US" sz="1200" dirty="0"/>
                    </a:p>
                  </a:txBody>
                  <a:tcPr marL="0" marR="0" marT="0" marB="0" anchor="ctr">
                    <a:lnL w="0" cap="flat" cmpd="sng" algn="ctr">
                      <a:noFill/>
                    </a:lnL>
                    <a:lnR w="0" cap="flat" cmpd="sng" algn="ctr">
                      <a:noFill/>
                    </a:lnR>
                    <a:lnT w="0" cap="flat" cmpd="sng" algn="ctr">
                      <a:noFill/>
                    </a:lnT>
                    <a:lnB w="0" cap="flat" cmpd="sng" algn="ctr">
                      <a:noFill/>
                    </a:lnB>
                  </a:tcPr>
                </a:tc>
              </a:tr>
              <a:tr h="237744">
                <a:tc>
                  <a:txBody>
                    <a:bodyPr/>
                    <a:lstStyle/>
                    <a:p>
                      <a:pPr algn="l" indent="0" marL="0">
                        <a:buNone/>
                      </a:pPr>
                      <a:r>
                        <a:rPr lang="en-US" sz="1200" dirty="0">
                          <a:solidFill>
                            <a:srgbClr val="FFFFFF"/>
                          </a:solidFill>
                        </a:rPr>
                        <a:t>4.  Naman Khatri</a:t>
                      </a:r>
                      <a:endParaRPr lang="en-US" sz="1200" dirty="0"/>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FFFFFF"/>
                          </a:solidFill>
                        </a:rPr>
                        <a:t>246213334</a:t>
                      </a:r>
                      <a:endParaRPr lang="en-US" sz="1200" dirty="0"/>
                    </a:p>
                  </a:txBody>
                  <a:tcPr marL="0" marR="0" marT="0" marB="0" anchor="ctr">
                    <a:lnL w="0" cap="flat" cmpd="sng" algn="ctr">
                      <a:noFill/>
                    </a:lnL>
                    <a:lnR w="0" cap="flat" cmpd="sng" algn="ctr">
                      <a:noFill/>
                    </a:lnR>
                    <a:lnT w="0" cap="flat" cmpd="sng" algn="ctr">
                      <a:noFill/>
                    </a:lnT>
                    <a:lnB w="0" cap="flat" cmpd="sng" algn="ctr">
                      <a:noFill/>
                    </a:lnB>
                  </a:tcPr>
                </a:tc>
              </a:tr>
              <a:tr h="237744">
                <a:tc>
                  <a:txBody>
                    <a:bodyPr/>
                    <a:lstStyle/>
                    <a:p>
                      <a:pPr algn="l" indent="0" marL="0">
                        <a:buNone/>
                      </a:pPr>
                      <a:r>
                        <a:rPr lang="en-US" sz="1200" dirty="0">
                          <a:solidFill>
                            <a:srgbClr val="FFFFFF"/>
                          </a:solidFill>
                        </a:rPr>
                        <a:t>5.  Manu R</a:t>
                      </a:r>
                      <a:endParaRPr lang="en-US" sz="1200" dirty="0"/>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FFFFFF"/>
                          </a:solidFill>
                        </a:rPr>
                        <a:t>246213066</a:t>
                      </a:r>
                      <a:endParaRPr lang="en-US" sz="1200" dirty="0"/>
                    </a:p>
                  </a:txBody>
                  <a:tcPr marL="0" marR="0" marT="0" marB="0" anchor="ctr">
                    <a:lnL w="0" cap="flat" cmpd="sng" algn="ctr">
                      <a:noFill/>
                    </a:lnL>
                    <a:lnR w="0" cap="flat" cmpd="sng" algn="ctr">
                      <a:noFill/>
                    </a:lnR>
                    <a:lnT w="0" cap="flat" cmpd="sng" algn="ctr">
                      <a:noFill/>
                    </a:lnT>
                    <a:lnB w="0" cap="flat" cmpd="sng" algn="ctr">
                      <a:noFill/>
                    </a:lnB>
                  </a:tcPr>
                </a:tc>
              </a:tr>
              <a:tr h="237744">
                <a:tc>
                  <a:txBody>
                    <a:bodyPr/>
                    <a:lstStyle/>
                    <a:p>
                      <a:pPr algn="l" indent="0" marL="0">
                        <a:buNone/>
                      </a:pPr>
                      <a:r>
                        <a:rPr lang="en-US" sz="1200" dirty="0">
                          <a:solidFill>
                            <a:srgbClr val="FFFFFF"/>
                          </a:solidFill>
                        </a:rPr>
                        <a:t>6.  Abhinav Dongre</a:t>
                      </a:r>
                      <a:endParaRPr lang="en-US" sz="1200" dirty="0"/>
                    </a:p>
                  </a:txBody>
                  <a:tcPr marL="0" marR="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dirty="0">
                          <a:solidFill>
                            <a:srgbClr val="FFFFFF"/>
                          </a:solidFill>
                        </a:rPr>
                        <a:t>246213406</a:t>
                      </a:r>
                      <a:endParaRPr lang="en-US" sz="1200" dirty="0"/>
                    </a:p>
                  </a:txBody>
                  <a:tcPr marL="0" marR="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3" name="Text 10"/>
          <p:cNvSpPr txBox="1"/>
          <p:nvPr/>
        </p:nvSpPr>
        <p:spPr>
          <a:xfrm>
            <a:off x="6400800" y="5349240"/>
            <a:ext cx="5193792" cy="411480"/>
          </a:xfrm>
          <a:prstGeom prst="rect">
            <a:avLst/>
          </a:prstGeom>
          <a:noFill/>
          <a:ln/>
        </p:spPr>
        <p:txBody>
          <a:bodyPr wrap="square" lIns="0" tIns="0" rIns="0" bIns="0" rtlCol="0" anchor="t"/>
          <a:lstStyle/>
          <a:p>
            <a:pPr algn="ctr" indent="0" marL="0">
              <a:buNone/>
            </a:pPr>
            <a:r>
              <a:rPr lang="en-US" sz="2000" dirty="0">
                <a:solidFill>
                  <a:schemeClr val="bg1"/>
                </a:solidFill>
              </a:rPr>
              <a:t>Business Operations Excellence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COMPANY BACKGROUND</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A Houston-based, engineer-to-order maker of marine propulsion, where one late thruster can hold up a whole ship.</a:t>
            </a:r>
            <a:endParaRPr lang="en-US" sz="1400" dirty="0"/>
          </a:p>
        </p:txBody>
      </p:sp>
      <p:sp>
        <p:nvSpPr>
          <p:cNvPr id="4" name="Background card 1"/>
          <p:cNvSpPr/>
          <p:nvPr/>
        </p:nvSpPr>
        <p:spPr>
          <a:xfrm>
            <a:off x="411480" y="1188720"/>
            <a:ext cx="3605784" cy="3154680"/>
          </a:xfrm>
          <a:prstGeom prst="roundRect">
            <a:avLst>
              <a:gd name="adj" fmla="val 2319"/>
            </a:avLst>
          </a:prstGeom>
          <a:solidFill>
            <a:schemeClr val="bg2"/>
          </a:solidFill>
          <a:ln/>
        </p:spPr>
      </p:sp>
      <p:sp>
        <p:nvSpPr>
          <p:cNvPr id="5" name="Shape 3"/>
          <p:cNvSpPr/>
          <p:nvPr/>
        </p:nvSpPr>
        <p:spPr>
          <a:xfrm>
            <a:off x="640080" y="1417320"/>
            <a:ext cx="566928" cy="566928"/>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76143" y="1553383"/>
            <a:ext cx="294803" cy="294803"/>
          </a:xfrm>
          <a:prstGeom prst="rect">
            <a:avLst/>
          </a:prstGeom>
        </p:spPr>
      </p:pic>
      <p:sp>
        <p:nvSpPr>
          <p:cNvPr id="7" name="Text 4"/>
          <p:cNvSpPr txBox="1"/>
          <p:nvPr/>
        </p:nvSpPr>
        <p:spPr>
          <a:xfrm>
            <a:off x="1344168" y="1417320"/>
            <a:ext cx="2508504" cy="566928"/>
          </a:xfrm>
          <a:prstGeom prst="rect">
            <a:avLst/>
          </a:prstGeom>
          <a:noFill/>
          <a:ln/>
        </p:spPr>
        <p:txBody>
          <a:bodyPr wrap="square" lIns="0" tIns="0" rIns="0" bIns="0" rtlCol="0" anchor="ctr"/>
          <a:lstStyle/>
          <a:p>
            <a:pPr indent="0" marL="0">
              <a:buNone/>
            </a:pPr>
            <a:r>
              <a:rPr lang="en-US" sz="1600" b="1" dirty="0">
                <a:solidFill>
                  <a:schemeClr val="tx2"/>
                </a:solidFill>
              </a:rPr>
              <a:t>Who are they?</a:t>
            </a:r>
            <a:endParaRPr lang="en-US" sz="1600" dirty="0"/>
          </a:p>
        </p:txBody>
      </p:sp>
      <p:sp>
        <p:nvSpPr>
          <p:cNvPr id="8" name="Text 5"/>
          <p:cNvSpPr txBox="1"/>
          <p:nvPr/>
        </p:nvSpPr>
        <p:spPr>
          <a:xfrm>
            <a:off x="640080" y="2167128"/>
            <a:ext cx="3148584" cy="2103120"/>
          </a:xfrm>
          <a:prstGeom prst="rect">
            <a:avLst/>
          </a:prstGeom>
          <a:noFill/>
          <a:ln/>
        </p:spPr>
        <p:txBody>
          <a:bodyPr wrap="square" lIns="0" tIns="0" rIns="0" bIns="0" rtlCol="0" anchor="t"/>
          <a:lstStyle/>
          <a:p>
            <a:pPr marL="152400" indent="-152400">
              <a:spcAft>
                <a:spcPts val="600"/>
              </a:spcAft>
              <a:buSzPct val="100000"/>
              <a:buChar char="•"/>
            </a:pPr>
            <a:r>
              <a:rPr lang="en-US" sz="1350" dirty="0">
                <a:solidFill>
                  <a:schemeClr val="tx1"/>
                </a:solidFill>
              </a:rPr>
              <a:t>Thrustmaster of Texas: family-owned manufacturer founded by Joe Bekker in Houston, Texas</a:t>
            </a:r>
            <a:endParaRPr lang="en-US" sz="1350" dirty="0"/>
          </a:p>
          <a:p>
            <a:pPr marL="152400" indent="-152400">
              <a:spcAft>
                <a:spcPts val="600"/>
              </a:spcAft>
              <a:buSzPct val="100000"/>
              <a:buChar char="•"/>
            </a:pPr>
            <a:r>
              <a:rPr lang="en-US" sz="1350" dirty="0">
                <a:solidFill>
                  <a:schemeClr val="tx1"/>
                </a:solidFill>
              </a:rPr>
              <a:t>Fast growth: revenue up &gt;1,000% and staff up ~700% in about a decade</a:t>
            </a:r>
            <a:endParaRPr lang="en-US" sz="1350" dirty="0"/>
          </a:p>
          <a:p>
            <a:pPr marL="152400" indent="-152400">
              <a:spcAft>
                <a:spcPts val="600"/>
              </a:spcAft>
              <a:buSzPct val="100000"/>
              <a:buChar char="•"/>
            </a:pPr>
            <a:r>
              <a:rPr lang="en-US" sz="1350" dirty="0">
                <a:solidFill>
                  <a:schemeClr val="tx1"/>
                </a:solidFill>
              </a:rPr>
              <a:t>One large plant with fabrication, machining, assembly and testing</a:t>
            </a:r>
            <a:endParaRPr lang="en-US" sz="1350" dirty="0"/>
          </a:p>
        </p:txBody>
      </p:sp>
      <p:sp>
        <p:nvSpPr>
          <p:cNvPr id="9" name="Background card 2"/>
          <p:cNvSpPr/>
          <p:nvPr/>
        </p:nvSpPr>
        <p:spPr>
          <a:xfrm>
            <a:off x="4291584" y="1188720"/>
            <a:ext cx="3605784" cy="3154680"/>
          </a:xfrm>
          <a:prstGeom prst="roundRect">
            <a:avLst>
              <a:gd name="adj" fmla="val 2319"/>
            </a:avLst>
          </a:prstGeom>
          <a:solidFill>
            <a:schemeClr val="bg2"/>
          </a:solidFill>
          <a:ln/>
        </p:spPr>
      </p:sp>
      <p:sp>
        <p:nvSpPr>
          <p:cNvPr id="10" name="Shape 7"/>
          <p:cNvSpPr/>
          <p:nvPr/>
        </p:nvSpPr>
        <p:spPr>
          <a:xfrm>
            <a:off x="4520184" y="1417320"/>
            <a:ext cx="566928" cy="566928"/>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4656247" y="1553383"/>
            <a:ext cx="294803" cy="294803"/>
          </a:xfrm>
          <a:prstGeom prst="rect">
            <a:avLst/>
          </a:prstGeom>
        </p:spPr>
      </p:pic>
      <p:sp>
        <p:nvSpPr>
          <p:cNvPr id="12" name="Text 8"/>
          <p:cNvSpPr txBox="1"/>
          <p:nvPr/>
        </p:nvSpPr>
        <p:spPr>
          <a:xfrm>
            <a:off x="5224272" y="1417320"/>
            <a:ext cx="2508504" cy="566928"/>
          </a:xfrm>
          <a:prstGeom prst="rect">
            <a:avLst/>
          </a:prstGeom>
          <a:noFill/>
          <a:ln/>
        </p:spPr>
        <p:txBody>
          <a:bodyPr wrap="square" lIns="0" tIns="0" rIns="0" bIns="0" rtlCol="0" anchor="ctr"/>
          <a:lstStyle/>
          <a:p>
            <a:pPr indent="0" marL="0">
              <a:buNone/>
            </a:pPr>
            <a:r>
              <a:rPr lang="en-US" sz="1600" b="1" dirty="0">
                <a:solidFill>
                  <a:schemeClr val="tx2"/>
                </a:solidFill>
              </a:rPr>
              <a:t>What do they do?</a:t>
            </a:r>
            <a:endParaRPr lang="en-US" sz="1600" dirty="0"/>
          </a:p>
        </p:txBody>
      </p:sp>
      <p:sp>
        <p:nvSpPr>
          <p:cNvPr id="13" name="Text 9"/>
          <p:cNvSpPr txBox="1"/>
          <p:nvPr/>
        </p:nvSpPr>
        <p:spPr>
          <a:xfrm>
            <a:off x="4520184" y="2167128"/>
            <a:ext cx="3148584" cy="2103120"/>
          </a:xfrm>
          <a:prstGeom prst="rect">
            <a:avLst/>
          </a:prstGeom>
          <a:noFill/>
          <a:ln/>
        </p:spPr>
        <p:txBody>
          <a:bodyPr wrap="square" lIns="0" tIns="0" rIns="0" bIns="0" rtlCol="0" anchor="t"/>
          <a:lstStyle/>
          <a:p>
            <a:pPr marL="152400" indent="-152400">
              <a:spcAft>
                <a:spcPts val="600"/>
              </a:spcAft>
              <a:buSzPct val="100000"/>
              <a:buChar char="•"/>
            </a:pPr>
            <a:r>
              <a:rPr lang="en-US" sz="1350" dirty="0">
                <a:solidFill>
                  <a:schemeClr val="tx1"/>
                </a:solidFill>
              </a:rPr>
              <a:t>Design and build marine propulsion: tunnel, azimuth and retractable thrusters, portable and outboard units, hydraulic power units</a:t>
            </a:r>
            <a:endParaRPr lang="en-US" sz="1350" dirty="0"/>
          </a:p>
          <a:p>
            <a:pPr marL="152400" indent="-152400">
              <a:spcAft>
                <a:spcPts val="600"/>
              </a:spcAft>
              <a:buSzPct val="100000"/>
              <a:buChar char="•"/>
            </a:pPr>
            <a:r>
              <a:rPr lang="en-US" sz="1350" dirty="0">
                <a:solidFill>
                  <a:schemeClr val="tx1"/>
                </a:solidFill>
              </a:rPr>
              <a:t>Engineer-to-order: similar build steps, but every job router (100+ pages) changes with the customer's spec</a:t>
            </a:r>
            <a:endParaRPr lang="en-US" sz="1350" dirty="0"/>
          </a:p>
        </p:txBody>
      </p:sp>
      <p:sp>
        <p:nvSpPr>
          <p:cNvPr id="14" name="Background card 3"/>
          <p:cNvSpPr/>
          <p:nvPr/>
        </p:nvSpPr>
        <p:spPr>
          <a:xfrm>
            <a:off x="8171688" y="1188720"/>
            <a:ext cx="3605784" cy="3154680"/>
          </a:xfrm>
          <a:prstGeom prst="roundRect">
            <a:avLst>
              <a:gd name="adj" fmla="val 2319"/>
            </a:avLst>
          </a:prstGeom>
          <a:solidFill>
            <a:schemeClr val="bg2"/>
          </a:solidFill>
          <a:ln/>
        </p:spPr>
      </p:sp>
      <p:sp>
        <p:nvSpPr>
          <p:cNvPr id="15" name="Shape 11"/>
          <p:cNvSpPr/>
          <p:nvPr/>
        </p:nvSpPr>
        <p:spPr>
          <a:xfrm>
            <a:off x="8400288" y="1417320"/>
            <a:ext cx="566928" cy="566928"/>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8536351" y="1553383"/>
            <a:ext cx="294803" cy="294803"/>
          </a:xfrm>
          <a:prstGeom prst="rect">
            <a:avLst/>
          </a:prstGeom>
        </p:spPr>
      </p:pic>
      <p:sp>
        <p:nvSpPr>
          <p:cNvPr id="17" name="Text 12"/>
          <p:cNvSpPr txBox="1"/>
          <p:nvPr/>
        </p:nvSpPr>
        <p:spPr>
          <a:xfrm>
            <a:off x="9104376" y="1417320"/>
            <a:ext cx="2508504" cy="566928"/>
          </a:xfrm>
          <a:prstGeom prst="rect">
            <a:avLst/>
          </a:prstGeom>
          <a:noFill/>
          <a:ln/>
        </p:spPr>
        <p:txBody>
          <a:bodyPr wrap="square" lIns="0" tIns="0" rIns="0" bIns="0" rtlCol="0" anchor="ctr"/>
          <a:lstStyle/>
          <a:p>
            <a:pPr indent="0" marL="0">
              <a:buNone/>
            </a:pPr>
            <a:r>
              <a:rPr lang="en-US" sz="1600" b="1" dirty="0">
                <a:solidFill>
                  <a:schemeClr val="tx2"/>
                </a:solidFill>
              </a:rPr>
              <a:t>Why is the operation important?</a:t>
            </a:r>
            <a:endParaRPr lang="en-US" sz="1600" dirty="0"/>
          </a:p>
        </p:txBody>
      </p:sp>
      <p:sp>
        <p:nvSpPr>
          <p:cNvPr id="18" name="Text 13"/>
          <p:cNvSpPr txBox="1"/>
          <p:nvPr/>
        </p:nvSpPr>
        <p:spPr>
          <a:xfrm>
            <a:off x="8400288" y="2167128"/>
            <a:ext cx="3148584" cy="2103120"/>
          </a:xfrm>
          <a:prstGeom prst="rect">
            <a:avLst/>
          </a:prstGeom>
          <a:noFill/>
          <a:ln/>
        </p:spPr>
        <p:txBody>
          <a:bodyPr wrap="square" lIns="0" tIns="0" rIns="0" bIns="0" rtlCol="0" anchor="t"/>
          <a:lstStyle/>
          <a:p>
            <a:pPr marL="152400" indent="-152400">
              <a:spcAft>
                <a:spcPts val="600"/>
              </a:spcAft>
              <a:buSzPct val="100000"/>
              <a:buChar char="•"/>
            </a:pPr>
            <a:r>
              <a:rPr lang="en-US" sz="1350" dirty="0">
                <a:solidFill>
                  <a:schemeClr val="tx1"/>
                </a:solidFill>
              </a:rPr>
              <a:t>Propulsion is mission-critical: a vessel can't sail or hold position without it</a:t>
            </a:r>
            <a:endParaRPr lang="en-US" sz="1350" dirty="0"/>
          </a:p>
          <a:p>
            <a:pPr marL="152400" indent="-152400">
              <a:spcAft>
                <a:spcPts val="600"/>
              </a:spcAft>
              <a:buSzPct val="100000"/>
              <a:buChar char="•"/>
            </a:pPr>
            <a:r>
              <a:rPr lang="en-US" sz="1350" dirty="0">
                <a:solidFill>
                  <a:schemeClr val="tx1"/>
                </a:solidFill>
              </a:rPr>
              <a:t>Thrusters sit on the shipyard's critical path, so a late unit delays the vessel</a:t>
            </a:r>
            <a:endParaRPr lang="en-US" sz="1350" dirty="0"/>
          </a:p>
          <a:p>
            <a:pPr marL="152400" indent="-152400">
              <a:spcAft>
                <a:spcPts val="600"/>
              </a:spcAft>
              <a:buSzPct val="100000"/>
              <a:buChar char="•"/>
            </a:pPr>
            <a:r>
              <a:rPr lang="en-US" sz="1350" dirty="0">
                <a:solidFill>
                  <a:schemeClr val="tx1"/>
                </a:solidFill>
              </a:rPr>
              <a:t>High value, low volume: delivery, quality and cost drive margins</a:t>
            </a:r>
            <a:endParaRPr lang="en-US" sz="1350" dirty="0"/>
          </a:p>
        </p:txBody>
      </p:sp>
      <p:sp>
        <p:nvSpPr>
          <p:cNvPr id="19" name="Fact tile 1"/>
          <p:cNvSpPr/>
          <p:nvPr/>
        </p:nvSpPr>
        <p:spPr>
          <a:xfrm>
            <a:off x="411480" y="4572000"/>
            <a:ext cx="2635758" cy="1143000"/>
          </a:xfrm>
          <a:prstGeom prst="roundRect">
            <a:avLst>
              <a:gd name="adj" fmla="val 6400"/>
            </a:avLst>
          </a:prstGeom>
          <a:solidFill>
            <a:schemeClr val="accent3"/>
          </a:solidFill>
          <a:ln/>
        </p:spPr>
      </p:sp>
      <p:sp>
        <p:nvSpPr>
          <p:cNvPr id="20" name="Text 15"/>
          <p:cNvSpPr txBox="1"/>
          <p:nvPr/>
        </p:nvSpPr>
        <p:spPr>
          <a:xfrm>
            <a:off x="594360" y="4700016"/>
            <a:ext cx="2269998" cy="502920"/>
          </a:xfrm>
          <a:prstGeom prst="rect">
            <a:avLst/>
          </a:prstGeom>
          <a:noFill/>
          <a:ln/>
        </p:spPr>
        <p:txBody>
          <a:bodyPr wrap="square" lIns="0" tIns="0" rIns="0" bIns="0" rtlCol="0" anchor="t"/>
          <a:lstStyle/>
          <a:p>
            <a:pPr indent="0" marL="0">
              <a:buNone/>
            </a:pPr>
            <a:r>
              <a:rPr lang="en-US" sz="2600" b="1" dirty="0">
                <a:solidFill>
                  <a:schemeClr val="bg1"/>
                </a:solidFill>
              </a:rPr>
              <a:t>+1,021%</a:t>
            </a:r>
            <a:endParaRPr lang="en-US" sz="2600" dirty="0"/>
          </a:p>
        </p:txBody>
      </p:sp>
      <p:sp>
        <p:nvSpPr>
          <p:cNvPr id="21" name="Text 16"/>
          <p:cNvSpPr txBox="1"/>
          <p:nvPr/>
        </p:nvSpPr>
        <p:spPr>
          <a:xfrm>
            <a:off x="594360" y="5248656"/>
            <a:ext cx="2269998" cy="365760"/>
          </a:xfrm>
          <a:prstGeom prst="rect">
            <a:avLst/>
          </a:prstGeom>
          <a:noFill/>
          <a:ln/>
        </p:spPr>
        <p:txBody>
          <a:bodyPr wrap="square" lIns="0" tIns="0" rIns="0" bIns="0" rtlCol="0" anchor="t"/>
          <a:lstStyle/>
          <a:p>
            <a:pPr indent="0" marL="0">
              <a:buNone/>
            </a:pPr>
            <a:r>
              <a:rPr lang="en-US" sz="1200" dirty="0">
                <a:solidFill>
                  <a:schemeClr val="bg1"/>
                </a:solidFill>
              </a:rPr>
              <a:t>revenue growth over 10 years</a:t>
            </a:r>
            <a:endParaRPr lang="en-US" sz="1200" dirty="0"/>
          </a:p>
        </p:txBody>
      </p:sp>
      <p:sp>
        <p:nvSpPr>
          <p:cNvPr id="22" name="Fact tile 2"/>
          <p:cNvSpPr/>
          <p:nvPr/>
        </p:nvSpPr>
        <p:spPr>
          <a:xfrm>
            <a:off x="3321558" y="4572000"/>
            <a:ext cx="2635758" cy="1143000"/>
          </a:xfrm>
          <a:prstGeom prst="roundRect">
            <a:avLst>
              <a:gd name="adj" fmla="val 6400"/>
            </a:avLst>
          </a:prstGeom>
          <a:solidFill>
            <a:schemeClr val="accent3"/>
          </a:solidFill>
          <a:ln/>
        </p:spPr>
      </p:sp>
      <p:sp>
        <p:nvSpPr>
          <p:cNvPr id="23" name="Text 18"/>
          <p:cNvSpPr txBox="1"/>
          <p:nvPr/>
        </p:nvSpPr>
        <p:spPr>
          <a:xfrm>
            <a:off x="3504438" y="4700016"/>
            <a:ext cx="2269998" cy="502920"/>
          </a:xfrm>
          <a:prstGeom prst="rect">
            <a:avLst/>
          </a:prstGeom>
          <a:noFill/>
          <a:ln/>
        </p:spPr>
        <p:txBody>
          <a:bodyPr wrap="square" lIns="0" tIns="0" rIns="0" bIns="0" rtlCol="0" anchor="t"/>
          <a:lstStyle/>
          <a:p>
            <a:pPr indent="0" marL="0">
              <a:buNone/>
            </a:pPr>
            <a:r>
              <a:rPr lang="en-US" sz="2600" b="1" dirty="0">
                <a:solidFill>
                  <a:schemeClr val="bg1"/>
                </a:solidFill>
              </a:rPr>
              <a:t>+700%</a:t>
            </a:r>
            <a:endParaRPr lang="en-US" sz="2600" dirty="0"/>
          </a:p>
        </p:txBody>
      </p:sp>
      <p:sp>
        <p:nvSpPr>
          <p:cNvPr id="24" name="Text 19"/>
          <p:cNvSpPr txBox="1"/>
          <p:nvPr/>
        </p:nvSpPr>
        <p:spPr>
          <a:xfrm>
            <a:off x="3504438" y="5248656"/>
            <a:ext cx="2269998" cy="365760"/>
          </a:xfrm>
          <a:prstGeom prst="rect">
            <a:avLst/>
          </a:prstGeom>
          <a:noFill/>
          <a:ln/>
        </p:spPr>
        <p:txBody>
          <a:bodyPr wrap="square" lIns="0" tIns="0" rIns="0" bIns="0" rtlCol="0" anchor="t"/>
          <a:lstStyle/>
          <a:p>
            <a:pPr indent="0" marL="0">
              <a:buNone/>
            </a:pPr>
            <a:r>
              <a:rPr lang="en-US" sz="1200" dirty="0">
                <a:solidFill>
                  <a:schemeClr val="bg1"/>
                </a:solidFill>
              </a:rPr>
              <a:t>growth in staff over 10 years</a:t>
            </a:r>
            <a:endParaRPr lang="en-US" sz="1200" dirty="0"/>
          </a:p>
        </p:txBody>
      </p:sp>
      <p:sp>
        <p:nvSpPr>
          <p:cNvPr id="25" name="Fact tile 3"/>
          <p:cNvSpPr/>
          <p:nvPr/>
        </p:nvSpPr>
        <p:spPr>
          <a:xfrm>
            <a:off x="6231636" y="4572000"/>
            <a:ext cx="2635758" cy="1143000"/>
          </a:xfrm>
          <a:prstGeom prst="roundRect">
            <a:avLst>
              <a:gd name="adj" fmla="val 6400"/>
            </a:avLst>
          </a:prstGeom>
          <a:solidFill>
            <a:schemeClr val="accent3"/>
          </a:solidFill>
          <a:ln/>
        </p:spPr>
      </p:sp>
      <p:sp>
        <p:nvSpPr>
          <p:cNvPr id="26" name="Text 21"/>
          <p:cNvSpPr txBox="1"/>
          <p:nvPr/>
        </p:nvSpPr>
        <p:spPr>
          <a:xfrm>
            <a:off x="6414516" y="4700016"/>
            <a:ext cx="2269998" cy="502920"/>
          </a:xfrm>
          <a:prstGeom prst="rect">
            <a:avLst/>
          </a:prstGeom>
          <a:noFill/>
          <a:ln/>
        </p:spPr>
        <p:txBody>
          <a:bodyPr wrap="square" lIns="0" tIns="0" rIns="0" bIns="0" rtlCol="0" anchor="t"/>
          <a:lstStyle/>
          <a:p>
            <a:pPr indent="0" marL="0">
              <a:buNone/>
            </a:pPr>
            <a:r>
              <a:rPr lang="en-US" sz="2600" b="1" dirty="0">
                <a:solidFill>
                  <a:schemeClr val="bg1"/>
                </a:solidFill>
              </a:rPr>
              <a:t>~200k sq ft</a:t>
            </a:r>
            <a:endParaRPr lang="en-US" sz="2600" dirty="0"/>
          </a:p>
        </p:txBody>
      </p:sp>
      <p:sp>
        <p:nvSpPr>
          <p:cNvPr id="27" name="Text 22"/>
          <p:cNvSpPr txBox="1"/>
          <p:nvPr/>
        </p:nvSpPr>
        <p:spPr>
          <a:xfrm>
            <a:off x="6414516" y="5248656"/>
            <a:ext cx="2269998" cy="365760"/>
          </a:xfrm>
          <a:prstGeom prst="rect">
            <a:avLst/>
          </a:prstGeom>
          <a:noFill/>
          <a:ln/>
        </p:spPr>
        <p:txBody>
          <a:bodyPr wrap="square" lIns="0" tIns="0" rIns="0" bIns="0" rtlCol="0" anchor="t"/>
          <a:lstStyle/>
          <a:p>
            <a:pPr indent="0" marL="0">
              <a:buNone/>
            </a:pPr>
            <a:r>
              <a:rPr lang="en-US" sz="1200" dirty="0">
                <a:solidFill>
                  <a:schemeClr val="bg1"/>
                </a:solidFill>
              </a:rPr>
              <a:t>factory floor</a:t>
            </a:r>
            <a:endParaRPr lang="en-US" sz="1200" dirty="0"/>
          </a:p>
        </p:txBody>
      </p:sp>
      <p:sp>
        <p:nvSpPr>
          <p:cNvPr id="28" name="Fact tile 4"/>
          <p:cNvSpPr/>
          <p:nvPr/>
        </p:nvSpPr>
        <p:spPr>
          <a:xfrm>
            <a:off x="9141714" y="4572000"/>
            <a:ext cx="2635758" cy="1143000"/>
          </a:xfrm>
          <a:prstGeom prst="roundRect">
            <a:avLst>
              <a:gd name="adj" fmla="val 6400"/>
            </a:avLst>
          </a:prstGeom>
          <a:solidFill>
            <a:schemeClr val="accent3"/>
          </a:solidFill>
          <a:ln/>
        </p:spPr>
      </p:sp>
      <p:sp>
        <p:nvSpPr>
          <p:cNvPr id="29" name="Text 24"/>
          <p:cNvSpPr txBox="1"/>
          <p:nvPr/>
        </p:nvSpPr>
        <p:spPr>
          <a:xfrm>
            <a:off x="9324594" y="4700016"/>
            <a:ext cx="2269998" cy="502920"/>
          </a:xfrm>
          <a:prstGeom prst="rect">
            <a:avLst/>
          </a:prstGeom>
          <a:noFill/>
          <a:ln/>
        </p:spPr>
        <p:txBody>
          <a:bodyPr wrap="square" lIns="0" tIns="0" rIns="0" bIns="0" rtlCol="0" anchor="t"/>
          <a:lstStyle/>
          <a:p>
            <a:pPr indent="0" marL="0">
              <a:buNone/>
            </a:pPr>
            <a:r>
              <a:rPr lang="en-US" sz="2600" b="1" dirty="0">
                <a:solidFill>
                  <a:schemeClr val="bg1"/>
                </a:solidFill>
              </a:rPr>
              <a:t>100+ pages</a:t>
            </a:r>
            <a:endParaRPr lang="en-US" sz="2600" dirty="0"/>
          </a:p>
        </p:txBody>
      </p:sp>
      <p:sp>
        <p:nvSpPr>
          <p:cNvPr id="30" name="Text 25"/>
          <p:cNvSpPr txBox="1"/>
          <p:nvPr/>
        </p:nvSpPr>
        <p:spPr>
          <a:xfrm>
            <a:off x="9324594" y="5248656"/>
            <a:ext cx="2269998" cy="365760"/>
          </a:xfrm>
          <a:prstGeom prst="rect">
            <a:avLst/>
          </a:prstGeom>
          <a:noFill/>
          <a:ln/>
        </p:spPr>
        <p:txBody>
          <a:bodyPr wrap="square" lIns="0" tIns="0" rIns="0" bIns="0" rtlCol="0" anchor="t"/>
          <a:lstStyle/>
          <a:p>
            <a:pPr indent="0" marL="0">
              <a:buNone/>
            </a:pPr>
            <a:r>
              <a:rPr lang="en-US" sz="1200" dirty="0">
                <a:solidFill>
                  <a:schemeClr val="bg1"/>
                </a:solidFill>
              </a:rPr>
              <a:t>in a single job router</a:t>
            </a:r>
            <a:endParaRPr lang="en-US" sz="1200" dirty="0"/>
          </a:p>
        </p:txBody>
      </p:sp>
      <p:sp>
        <p:nvSpPr>
          <p:cNvPr id="31" name="Text 26"/>
          <p:cNvSpPr txBox="1"/>
          <p:nvPr/>
        </p:nvSpPr>
        <p:spPr>
          <a:xfrm>
            <a:off x="411480" y="5897880"/>
            <a:ext cx="11365992" cy="228600"/>
          </a:xfrm>
          <a:prstGeom prst="rect">
            <a:avLst/>
          </a:prstGeom>
          <a:noFill/>
          <a:ln/>
        </p:spPr>
        <p:txBody>
          <a:bodyPr wrap="square" lIns="0" tIns="0" rIns="0" bIns="0" rtlCol="0" anchor="t"/>
          <a:lstStyle/>
          <a:p>
            <a:pPr indent="0" marL="0">
              <a:buNone/>
            </a:pPr>
            <a:r>
              <a:rPr lang="en-US" sz="900" i="1" dirty="0">
                <a:solidFill>
                  <a:srgbClr val="5B6675"/>
                </a:solidFill>
              </a:rPr>
              <a:t>Sources: LEI Lean Transformation Summit 2016, "Propelling Ahead: Thrustmaster of Texas' Lean Journey"; LEI, "Thrustmaster Comes Around" (2016); trade press on company history.</a:t>
            </a:r>
            <a:endParaRPr lang="en-US" sz="90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BUSINESS PROBLEM</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What was going wrong? A fast-growing job shop that couldn't see its own work, so it couldn't control it.</a:t>
            </a:r>
            <a:endParaRPr lang="en-US" sz="1400" dirty="0"/>
          </a:p>
        </p:txBody>
      </p:sp>
      <p:sp>
        <p:nvSpPr>
          <p:cNvPr id="4" name="Problem card COST"/>
          <p:cNvSpPr/>
          <p:nvPr/>
        </p:nvSpPr>
        <p:spPr>
          <a:xfrm>
            <a:off x="411480" y="1188720"/>
            <a:ext cx="3605784" cy="2377440"/>
          </a:xfrm>
          <a:prstGeom prst="roundRect">
            <a:avLst>
              <a:gd name="adj" fmla="val 3077"/>
            </a:avLst>
          </a:prstGeom>
          <a:solidFill>
            <a:schemeClr val="bg2"/>
          </a:solidFill>
          <a:ln/>
        </p:spPr>
      </p:sp>
      <p:sp>
        <p:nvSpPr>
          <p:cNvPr id="5" name="Shape 3"/>
          <p:cNvSpPr/>
          <p:nvPr/>
        </p:nvSpPr>
        <p:spPr>
          <a:xfrm>
            <a:off x="612648" y="1389888"/>
            <a:ext cx="502920" cy="50292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33349" y="1510589"/>
            <a:ext cx="261518" cy="261518"/>
          </a:xfrm>
          <a:prstGeom prst="rect">
            <a:avLst/>
          </a:prstGeom>
        </p:spPr>
      </p:pic>
      <p:sp>
        <p:nvSpPr>
          <p:cNvPr id="7" name="Text 4"/>
          <p:cNvSpPr txBox="1"/>
          <p:nvPr/>
        </p:nvSpPr>
        <p:spPr>
          <a:xfrm>
            <a:off x="1252728" y="1389888"/>
            <a:ext cx="2599944" cy="502920"/>
          </a:xfrm>
          <a:prstGeom prst="rect">
            <a:avLst/>
          </a:prstGeom>
          <a:noFill/>
          <a:ln/>
        </p:spPr>
        <p:txBody>
          <a:bodyPr wrap="square" lIns="0" tIns="0" rIns="0" bIns="0" rtlCol="0" anchor="ctr"/>
          <a:lstStyle/>
          <a:p>
            <a:pPr indent="0" marL="0">
              <a:buNone/>
            </a:pPr>
            <a:r>
              <a:rPr lang="en-US" sz="1500" b="1" dirty="0">
                <a:solidFill>
                  <a:schemeClr val="tx2"/>
                </a:solidFill>
              </a:rPr>
              <a:t>COST</a:t>
            </a:r>
            <a:endParaRPr lang="en-US" sz="1500" dirty="0"/>
          </a:p>
        </p:txBody>
      </p:sp>
      <p:sp>
        <p:nvSpPr>
          <p:cNvPr id="8" name="Text 5"/>
          <p:cNvSpPr txBox="1"/>
          <p:nvPr/>
        </p:nvSpPr>
        <p:spPr>
          <a:xfrm>
            <a:off x="612648" y="2011680"/>
            <a:ext cx="3203448" cy="347472"/>
          </a:xfrm>
          <a:prstGeom prst="rect">
            <a:avLst/>
          </a:prstGeom>
          <a:noFill/>
          <a:ln/>
        </p:spPr>
        <p:txBody>
          <a:bodyPr wrap="square" lIns="0" tIns="0" rIns="0" bIns="0" rtlCol="0" anchor="t"/>
          <a:lstStyle/>
          <a:p>
            <a:pPr indent="0" marL="0">
              <a:buNone/>
            </a:pPr>
            <a:r>
              <a:rPr lang="en-US" sz="1350" b="1" dirty="0">
                <a:solidFill>
                  <a:schemeClr val="accent5"/>
                </a:solidFill>
              </a:rPr>
              <a:t>Project costs above target (&gt;100%)</a:t>
            </a:r>
            <a:endParaRPr lang="en-US" sz="1350" dirty="0"/>
          </a:p>
        </p:txBody>
      </p:sp>
      <p:sp>
        <p:nvSpPr>
          <p:cNvPr id="9" name="Text 6"/>
          <p:cNvSpPr txBox="1"/>
          <p:nvPr/>
        </p:nvSpPr>
        <p:spPr>
          <a:xfrm>
            <a:off x="612648" y="2450592"/>
            <a:ext cx="3203448" cy="100584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Overtime and extra labour added just to ship</a:t>
            </a:r>
            <a:endParaRPr lang="en-US" sz="1200" dirty="0"/>
          </a:p>
          <a:p>
            <a:pPr marL="152400" indent="-152400">
              <a:spcAft>
                <a:spcPts val="500"/>
              </a:spcAft>
              <a:buSzPct val="100000"/>
              <a:buChar char="•"/>
            </a:pPr>
            <a:r>
              <a:rPr lang="en-US" sz="1200" dirty="0">
                <a:solidFill>
                  <a:schemeClr val="tx1"/>
                </a:solidFill>
              </a:rPr>
              <a:t>WIP and rework tie up cash and margin</a:t>
            </a:r>
            <a:endParaRPr lang="en-US" sz="1200" dirty="0"/>
          </a:p>
        </p:txBody>
      </p:sp>
      <p:sp>
        <p:nvSpPr>
          <p:cNvPr id="10" name="Problem card QUALITY"/>
          <p:cNvSpPr/>
          <p:nvPr/>
        </p:nvSpPr>
        <p:spPr>
          <a:xfrm>
            <a:off x="4291584" y="1188720"/>
            <a:ext cx="3605784" cy="2377440"/>
          </a:xfrm>
          <a:prstGeom prst="roundRect">
            <a:avLst>
              <a:gd name="adj" fmla="val 3077"/>
            </a:avLst>
          </a:prstGeom>
          <a:solidFill>
            <a:schemeClr val="bg2"/>
          </a:solidFill>
          <a:ln/>
        </p:spPr>
      </p:sp>
      <p:sp>
        <p:nvSpPr>
          <p:cNvPr id="11" name="Shape 8"/>
          <p:cNvSpPr/>
          <p:nvPr/>
        </p:nvSpPr>
        <p:spPr>
          <a:xfrm>
            <a:off x="4492752" y="1389888"/>
            <a:ext cx="502920" cy="50292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613453" y="1510589"/>
            <a:ext cx="261518" cy="261518"/>
          </a:xfrm>
          <a:prstGeom prst="rect">
            <a:avLst/>
          </a:prstGeom>
        </p:spPr>
      </p:pic>
      <p:sp>
        <p:nvSpPr>
          <p:cNvPr id="13" name="Text 9"/>
          <p:cNvSpPr txBox="1"/>
          <p:nvPr/>
        </p:nvSpPr>
        <p:spPr>
          <a:xfrm>
            <a:off x="5132832" y="1389888"/>
            <a:ext cx="2599944" cy="502920"/>
          </a:xfrm>
          <a:prstGeom prst="rect">
            <a:avLst/>
          </a:prstGeom>
          <a:noFill/>
          <a:ln/>
        </p:spPr>
        <p:txBody>
          <a:bodyPr wrap="square" lIns="0" tIns="0" rIns="0" bIns="0" rtlCol="0" anchor="ctr"/>
          <a:lstStyle/>
          <a:p>
            <a:pPr indent="0" marL="0">
              <a:buNone/>
            </a:pPr>
            <a:r>
              <a:rPr lang="en-US" sz="1500" b="1" dirty="0">
                <a:solidFill>
                  <a:schemeClr val="tx2"/>
                </a:solidFill>
              </a:rPr>
              <a:t>QUALITY</a:t>
            </a:r>
            <a:endParaRPr lang="en-US" sz="1500" dirty="0"/>
          </a:p>
        </p:txBody>
      </p:sp>
      <p:sp>
        <p:nvSpPr>
          <p:cNvPr id="14" name="Text 10"/>
          <p:cNvSpPr txBox="1"/>
          <p:nvPr/>
        </p:nvSpPr>
        <p:spPr>
          <a:xfrm>
            <a:off x="4492752" y="2011680"/>
            <a:ext cx="3203448" cy="347472"/>
          </a:xfrm>
          <a:prstGeom prst="rect">
            <a:avLst/>
          </a:prstGeom>
          <a:noFill/>
          <a:ln/>
        </p:spPr>
        <p:txBody>
          <a:bodyPr wrap="square" lIns="0" tIns="0" rIns="0" bIns="0" rtlCol="0" anchor="t"/>
          <a:lstStyle/>
          <a:p>
            <a:pPr indent="0" marL="0">
              <a:buNone/>
            </a:pPr>
            <a:r>
              <a:rPr lang="en-US" sz="1350" b="1" dirty="0">
                <a:solidFill>
                  <a:schemeClr val="accent5"/>
                </a:solidFill>
              </a:rPr>
              <a:t>~50% first-pass yield (est., Q1 2014)</a:t>
            </a:r>
            <a:endParaRPr lang="en-US" sz="1350" dirty="0"/>
          </a:p>
        </p:txBody>
      </p:sp>
      <p:sp>
        <p:nvSpPr>
          <p:cNvPr id="15" name="Text 11"/>
          <p:cNvSpPr txBox="1"/>
          <p:nvPr/>
        </p:nvSpPr>
        <p:spPr>
          <a:xfrm>
            <a:off x="4492752" y="2450592"/>
            <a:ext cx="3203448" cy="100584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Defects found late, at test, then reworked</a:t>
            </a:r>
            <a:endParaRPr lang="en-US" sz="1200" dirty="0"/>
          </a:p>
          <a:p>
            <a:pPr marL="152400" indent="-152400">
              <a:spcAft>
                <a:spcPts val="500"/>
              </a:spcAft>
              <a:buSzPct val="100000"/>
              <a:buChar char="•"/>
            </a:pPr>
            <a:r>
              <a:rPr lang="en-US" sz="1200" dirty="0">
                <a:solidFill>
                  <a:schemeClr val="tx1"/>
                </a:solidFill>
              </a:rPr>
              <a:t>Quality inspected in, not built in</a:t>
            </a:r>
            <a:endParaRPr lang="en-US" sz="1200" dirty="0"/>
          </a:p>
        </p:txBody>
      </p:sp>
      <p:sp>
        <p:nvSpPr>
          <p:cNvPr id="16" name="Problem card DELIVERY"/>
          <p:cNvSpPr/>
          <p:nvPr/>
        </p:nvSpPr>
        <p:spPr>
          <a:xfrm>
            <a:off x="8171688" y="1188720"/>
            <a:ext cx="3605784" cy="2377440"/>
          </a:xfrm>
          <a:prstGeom prst="roundRect">
            <a:avLst>
              <a:gd name="adj" fmla="val 3077"/>
            </a:avLst>
          </a:prstGeom>
          <a:solidFill>
            <a:schemeClr val="bg2"/>
          </a:solidFill>
          <a:ln/>
        </p:spPr>
      </p:sp>
      <p:sp>
        <p:nvSpPr>
          <p:cNvPr id="17" name="Shape 13"/>
          <p:cNvSpPr/>
          <p:nvPr/>
        </p:nvSpPr>
        <p:spPr>
          <a:xfrm>
            <a:off x="8372856" y="1389888"/>
            <a:ext cx="502920" cy="502920"/>
          </a:xfrm>
          <a:prstGeom prst="ellipse">
            <a:avLst/>
          </a:prstGeom>
          <a:solidFill>
            <a:schemeClr val="accent1"/>
          </a:solidFill>
          <a:ln/>
        </p:spPr>
      </p:sp>
      <p:pic>
        <p:nvPicPr>
          <p:cNvPr id="18" name="Image 2" descr="preencoded.png">    </p:cNvPr>
          <p:cNvPicPr>
            <a:picLocks noChangeAspect="1"/>
          </p:cNvPicPr>
          <p:nvPr/>
        </p:nvPicPr>
        <p:blipFill>
          <a:blip r:embed="rId3"/>
          <a:stretch>
            <a:fillRect/>
          </a:stretch>
        </p:blipFill>
        <p:spPr>
          <a:xfrm>
            <a:off x="8493557" y="1510589"/>
            <a:ext cx="261518" cy="261518"/>
          </a:xfrm>
          <a:prstGeom prst="rect">
            <a:avLst/>
          </a:prstGeom>
        </p:spPr>
      </p:pic>
      <p:sp>
        <p:nvSpPr>
          <p:cNvPr id="19" name="Text 14"/>
          <p:cNvSpPr txBox="1"/>
          <p:nvPr/>
        </p:nvSpPr>
        <p:spPr>
          <a:xfrm>
            <a:off x="9012936" y="1389888"/>
            <a:ext cx="2599944" cy="502920"/>
          </a:xfrm>
          <a:prstGeom prst="rect">
            <a:avLst/>
          </a:prstGeom>
          <a:noFill/>
          <a:ln/>
        </p:spPr>
        <p:txBody>
          <a:bodyPr wrap="square" lIns="0" tIns="0" rIns="0" bIns="0" rtlCol="0" anchor="ctr"/>
          <a:lstStyle/>
          <a:p>
            <a:pPr indent="0" marL="0">
              <a:buNone/>
            </a:pPr>
            <a:r>
              <a:rPr lang="en-US" sz="1500" b="1" dirty="0">
                <a:solidFill>
                  <a:schemeClr val="tx2"/>
                </a:solidFill>
              </a:rPr>
              <a:t>DELIVERY</a:t>
            </a:r>
            <a:endParaRPr lang="en-US" sz="1500" dirty="0"/>
          </a:p>
        </p:txBody>
      </p:sp>
      <p:sp>
        <p:nvSpPr>
          <p:cNvPr id="20" name="Text 15"/>
          <p:cNvSpPr txBox="1"/>
          <p:nvPr/>
        </p:nvSpPr>
        <p:spPr>
          <a:xfrm>
            <a:off x="8372856" y="2011680"/>
            <a:ext cx="3203448" cy="347472"/>
          </a:xfrm>
          <a:prstGeom prst="rect">
            <a:avLst/>
          </a:prstGeom>
          <a:noFill/>
          <a:ln/>
        </p:spPr>
        <p:txBody>
          <a:bodyPr wrap="square" lIns="0" tIns="0" rIns="0" bIns="0" rtlCol="0" anchor="t"/>
          <a:lstStyle/>
          <a:p>
            <a:pPr indent="0" marL="0">
              <a:buNone/>
            </a:pPr>
            <a:r>
              <a:rPr lang="en-US" sz="1350" b="1" dirty="0">
                <a:solidFill>
                  <a:schemeClr val="accent5"/>
                </a:solidFill>
              </a:rPr>
              <a:t>~20% on-time delivery (Q1 2014)</a:t>
            </a:r>
            <a:endParaRPr lang="en-US" sz="1350" dirty="0"/>
          </a:p>
        </p:txBody>
      </p:sp>
      <p:sp>
        <p:nvSpPr>
          <p:cNvPr id="21" name="Text 16"/>
          <p:cNvSpPr txBox="1"/>
          <p:nvPr/>
        </p:nvSpPr>
        <p:spPr>
          <a:xfrm>
            <a:off x="8372856" y="2450592"/>
            <a:ext cx="3203448" cy="100584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ERP scheduling, an APS system and new machines didn't fix it</a:t>
            </a:r>
            <a:endParaRPr lang="en-US" sz="1200" dirty="0"/>
          </a:p>
          <a:p>
            <a:pPr marL="152400" indent="-152400">
              <a:spcAft>
                <a:spcPts val="500"/>
              </a:spcAft>
              <a:buSzPct val="100000"/>
              <a:buChar char="•"/>
            </a:pPr>
            <a:r>
              <a:rPr lang="en-US" sz="1200" dirty="0">
                <a:solidFill>
                  <a:schemeClr val="tx1"/>
                </a:solidFill>
              </a:rPr>
              <a:t>No visible work status, so expediting = firefighting</a:t>
            </a:r>
            <a:endParaRPr lang="en-US" sz="1200" dirty="0"/>
          </a:p>
        </p:txBody>
      </p:sp>
      <p:sp>
        <p:nvSpPr>
          <p:cNvPr id="22" name="Problem card PRODUCTIVITY"/>
          <p:cNvSpPr/>
          <p:nvPr/>
        </p:nvSpPr>
        <p:spPr>
          <a:xfrm>
            <a:off x="411480" y="3794760"/>
            <a:ext cx="3605784" cy="2377440"/>
          </a:xfrm>
          <a:prstGeom prst="roundRect">
            <a:avLst>
              <a:gd name="adj" fmla="val 3077"/>
            </a:avLst>
          </a:prstGeom>
          <a:solidFill>
            <a:schemeClr val="bg2"/>
          </a:solidFill>
          <a:ln/>
        </p:spPr>
      </p:sp>
      <p:sp>
        <p:nvSpPr>
          <p:cNvPr id="23" name="Shape 18"/>
          <p:cNvSpPr/>
          <p:nvPr/>
        </p:nvSpPr>
        <p:spPr>
          <a:xfrm>
            <a:off x="612648" y="3995928"/>
            <a:ext cx="502920" cy="502920"/>
          </a:xfrm>
          <a:prstGeom prst="ellipse">
            <a:avLst/>
          </a:prstGeom>
          <a:solidFill>
            <a:schemeClr val="accent1"/>
          </a:solidFill>
          <a:ln/>
        </p:spPr>
      </p:sp>
      <p:pic>
        <p:nvPicPr>
          <p:cNvPr id="24" name="Image 3" descr="preencoded.png">    </p:cNvPr>
          <p:cNvPicPr>
            <a:picLocks noChangeAspect="1"/>
          </p:cNvPicPr>
          <p:nvPr/>
        </p:nvPicPr>
        <p:blipFill>
          <a:blip r:embed="rId4"/>
          <a:stretch>
            <a:fillRect/>
          </a:stretch>
        </p:blipFill>
        <p:spPr>
          <a:xfrm>
            <a:off x="733349" y="4116629"/>
            <a:ext cx="261518" cy="261518"/>
          </a:xfrm>
          <a:prstGeom prst="rect">
            <a:avLst/>
          </a:prstGeom>
        </p:spPr>
      </p:pic>
      <p:sp>
        <p:nvSpPr>
          <p:cNvPr id="25" name="Text 19"/>
          <p:cNvSpPr txBox="1"/>
          <p:nvPr/>
        </p:nvSpPr>
        <p:spPr>
          <a:xfrm>
            <a:off x="1252728" y="3995928"/>
            <a:ext cx="2599944" cy="502920"/>
          </a:xfrm>
          <a:prstGeom prst="rect">
            <a:avLst/>
          </a:prstGeom>
          <a:noFill/>
          <a:ln/>
        </p:spPr>
        <p:txBody>
          <a:bodyPr wrap="square" lIns="0" tIns="0" rIns="0" bIns="0" rtlCol="0" anchor="ctr"/>
          <a:lstStyle/>
          <a:p>
            <a:pPr indent="0" marL="0">
              <a:buNone/>
            </a:pPr>
            <a:r>
              <a:rPr lang="en-US" sz="1500" b="1" dirty="0">
                <a:solidFill>
                  <a:schemeClr val="tx2"/>
                </a:solidFill>
              </a:rPr>
              <a:t>PRODUCTIVITY</a:t>
            </a:r>
            <a:endParaRPr lang="en-US" sz="1500" dirty="0"/>
          </a:p>
        </p:txBody>
      </p:sp>
      <p:sp>
        <p:nvSpPr>
          <p:cNvPr id="26" name="Text 20"/>
          <p:cNvSpPr txBox="1"/>
          <p:nvPr/>
        </p:nvSpPr>
        <p:spPr>
          <a:xfrm>
            <a:off x="612648" y="4617720"/>
            <a:ext cx="3203448" cy="347472"/>
          </a:xfrm>
          <a:prstGeom prst="rect">
            <a:avLst/>
          </a:prstGeom>
          <a:noFill/>
          <a:ln/>
        </p:spPr>
        <p:txBody>
          <a:bodyPr wrap="square" lIns="0" tIns="0" rIns="0" bIns="0" rtlCol="0" anchor="t"/>
          <a:lstStyle/>
          <a:p>
            <a:pPr indent="0" marL="0">
              <a:buNone/>
            </a:pPr>
            <a:r>
              <a:rPr lang="en-US" sz="1350" b="1" dirty="0">
                <a:solidFill>
                  <a:schemeClr val="accent5"/>
                </a:solidFill>
              </a:rPr>
              <a:t>~7 miles and ~10 h of waste per unit</a:t>
            </a:r>
            <a:endParaRPr lang="en-US" sz="1350" dirty="0"/>
          </a:p>
        </p:txBody>
      </p:sp>
      <p:sp>
        <p:nvSpPr>
          <p:cNvPr id="27" name="Text 21"/>
          <p:cNvSpPr txBox="1"/>
          <p:nvPr/>
        </p:nvSpPr>
        <p:spPr>
          <a:xfrm>
            <a:off x="612648" y="5056632"/>
            <a:ext cx="3203448" cy="100584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Technicians walk to find parts, tools and information</a:t>
            </a:r>
            <a:endParaRPr lang="en-US" sz="1200" dirty="0"/>
          </a:p>
          <a:p>
            <a:pPr marL="152400" indent="-152400">
              <a:spcAft>
                <a:spcPts val="500"/>
              </a:spcAft>
              <a:buSzPct val="100000"/>
              <a:buChar char="•"/>
            </a:pPr>
            <a:r>
              <a:rPr lang="en-US" sz="1200" dirty="0">
                <a:solidFill>
                  <a:schemeClr val="tx1"/>
                </a:solidFill>
              </a:rPr>
              <a:t>Schedule attainment only ~30%</a:t>
            </a:r>
            <a:endParaRPr lang="en-US" sz="1200" dirty="0"/>
          </a:p>
        </p:txBody>
      </p:sp>
      <p:sp>
        <p:nvSpPr>
          <p:cNvPr id="28" name="Problem card CUSTOMER"/>
          <p:cNvSpPr/>
          <p:nvPr/>
        </p:nvSpPr>
        <p:spPr>
          <a:xfrm>
            <a:off x="4291584" y="3794760"/>
            <a:ext cx="3605784" cy="2377440"/>
          </a:xfrm>
          <a:prstGeom prst="roundRect">
            <a:avLst>
              <a:gd name="adj" fmla="val 3077"/>
            </a:avLst>
          </a:prstGeom>
          <a:solidFill>
            <a:schemeClr val="bg2"/>
          </a:solidFill>
          <a:ln/>
        </p:spPr>
      </p:sp>
      <p:sp>
        <p:nvSpPr>
          <p:cNvPr id="29" name="Shape 23"/>
          <p:cNvSpPr/>
          <p:nvPr/>
        </p:nvSpPr>
        <p:spPr>
          <a:xfrm>
            <a:off x="4492752" y="3995928"/>
            <a:ext cx="502920" cy="502920"/>
          </a:xfrm>
          <a:prstGeom prst="ellipse">
            <a:avLst/>
          </a:prstGeom>
          <a:solidFill>
            <a:schemeClr val="accent1"/>
          </a:solidFill>
          <a:ln/>
        </p:spPr>
      </p:sp>
      <p:pic>
        <p:nvPicPr>
          <p:cNvPr id="30" name="Image 4" descr="preencoded.png">    </p:cNvPr>
          <p:cNvPicPr>
            <a:picLocks noChangeAspect="1"/>
          </p:cNvPicPr>
          <p:nvPr/>
        </p:nvPicPr>
        <p:blipFill>
          <a:blip r:embed="rId5"/>
          <a:stretch>
            <a:fillRect/>
          </a:stretch>
        </p:blipFill>
        <p:spPr>
          <a:xfrm>
            <a:off x="4613453" y="4116629"/>
            <a:ext cx="261518" cy="261518"/>
          </a:xfrm>
          <a:prstGeom prst="rect">
            <a:avLst/>
          </a:prstGeom>
        </p:spPr>
      </p:pic>
      <p:sp>
        <p:nvSpPr>
          <p:cNvPr id="31" name="Text 24"/>
          <p:cNvSpPr txBox="1"/>
          <p:nvPr/>
        </p:nvSpPr>
        <p:spPr>
          <a:xfrm>
            <a:off x="5132832" y="3995928"/>
            <a:ext cx="2599944" cy="502920"/>
          </a:xfrm>
          <a:prstGeom prst="rect">
            <a:avLst/>
          </a:prstGeom>
          <a:noFill/>
          <a:ln/>
        </p:spPr>
        <p:txBody>
          <a:bodyPr wrap="square" lIns="0" tIns="0" rIns="0" bIns="0" rtlCol="0" anchor="ctr"/>
          <a:lstStyle/>
          <a:p>
            <a:pPr indent="0" marL="0">
              <a:buNone/>
            </a:pPr>
            <a:r>
              <a:rPr lang="en-US" sz="1500" b="1" dirty="0">
                <a:solidFill>
                  <a:schemeClr val="tx2"/>
                </a:solidFill>
              </a:rPr>
              <a:t>CUSTOMER</a:t>
            </a:r>
            <a:endParaRPr lang="en-US" sz="1500" dirty="0"/>
          </a:p>
        </p:txBody>
      </p:sp>
      <p:sp>
        <p:nvSpPr>
          <p:cNvPr id="32" name="Text 25"/>
          <p:cNvSpPr txBox="1"/>
          <p:nvPr/>
        </p:nvSpPr>
        <p:spPr>
          <a:xfrm>
            <a:off x="4492752" y="4617720"/>
            <a:ext cx="3203448" cy="347472"/>
          </a:xfrm>
          <a:prstGeom prst="rect">
            <a:avLst/>
          </a:prstGeom>
          <a:noFill/>
          <a:ln/>
        </p:spPr>
        <p:txBody>
          <a:bodyPr wrap="square" lIns="0" tIns="0" rIns="0" bIns="0" rtlCol="0" anchor="t"/>
          <a:lstStyle/>
          <a:p>
            <a:pPr indent="0" marL="0">
              <a:buNone/>
            </a:pPr>
            <a:r>
              <a:rPr lang="en-US" sz="1350" b="1" dirty="0">
                <a:solidFill>
                  <a:schemeClr val="accent5"/>
                </a:solidFill>
              </a:rPr>
              <a:t>Unreliable promise dates</a:t>
            </a:r>
            <a:endParaRPr lang="en-US" sz="1350" dirty="0"/>
          </a:p>
        </p:txBody>
      </p:sp>
      <p:sp>
        <p:nvSpPr>
          <p:cNvPr id="33" name="Text 26"/>
          <p:cNvSpPr txBox="1"/>
          <p:nvPr/>
        </p:nvSpPr>
        <p:spPr>
          <a:xfrm>
            <a:off x="4492752" y="5056632"/>
            <a:ext cx="3203448" cy="100584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Late thrusters disrupt shipyard build schedules</a:t>
            </a:r>
            <a:endParaRPr lang="en-US" sz="1200" dirty="0"/>
          </a:p>
          <a:p>
            <a:pPr marL="152400" indent="-152400">
              <a:spcAft>
                <a:spcPts val="500"/>
              </a:spcAft>
              <a:buSzPct val="100000"/>
              <a:buChar char="•"/>
            </a:pPr>
            <a:r>
              <a:rPr lang="en-US" sz="1200" dirty="0">
                <a:solidFill>
                  <a:schemeClr val="tx1"/>
                </a:solidFill>
              </a:rPr>
              <a:t>Trust and repeat business at risk in a niche market</a:t>
            </a:r>
            <a:endParaRPr lang="en-US" sz="1200" dirty="0"/>
          </a:p>
        </p:txBody>
      </p:sp>
      <p:sp>
        <p:nvSpPr>
          <p:cNvPr id="34" name="Problem card EMPLOYEE"/>
          <p:cNvSpPr/>
          <p:nvPr/>
        </p:nvSpPr>
        <p:spPr>
          <a:xfrm>
            <a:off x="8171688" y="3794760"/>
            <a:ext cx="3605784" cy="2377440"/>
          </a:xfrm>
          <a:prstGeom prst="roundRect">
            <a:avLst>
              <a:gd name="adj" fmla="val 3077"/>
            </a:avLst>
          </a:prstGeom>
          <a:solidFill>
            <a:schemeClr val="bg2"/>
          </a:solidFill>
          <a:ln/>
        </p:spPr>
      </p:sp>
      <p:sp>
        <p:nvSpPr>
          <p:cNvPr id="35" name="Shape 28"/>
          <p:cNvSpPr/>
          <p:nvPr/>
        </p:nvSpPr>
        <p:spPr>
          <a:xfrm>
            <a:off x="8372856" y="3995928"/>
            <a:ext cx="502920" cy="502920"/>
          </a:xfrm>
          <a:prstGeom prst="ellipse">
            <a:avLst/>
          </a:prstGeom>
          <a:solidFill>
            <a:schemeClr val="accent1"/>
          </a:solidFill>
          <a:ln/>
        </p:spPr>
      </p:sp>
      <p:pic>
        <p:nvPicPr>
          <p:cNvPr id="36" name="Image 5" descr="preencoded.png">    </p:cNvPr>
          <p:cNvPicPr>
            <a:picLocks noChangeAspect="1"/>
          </p:cNvPicPr>
          <p:nvPr/>
        </p:nvPicPr>
        <p:blipFill>
          <a:blip r:embed="rId6"/>
          <a:stretch>
            <a:fillRect/>
          </a:stretch>
        </p:blipFill>
        <p:spPr>
          <a:xfrm>
            <a:off x="8493557" y="4116629"/>
            <a:ext cx="261518" cy="261518"/>
          </a:xfrm>
          <a:prstGeom prst="rect">
            <a:avLst/>
          </a:prstGeom>
        </p:spPr>
      </p:pic>
      <p:sp>
        <p:nvSpPr>
          <p:cNvPr id="37" name="Text 29"/>
          <p:cNvSpPr txBox="1"/>
          <p:nvPr/>
        </p:nvSpPr>
        <p:spPr>
          <a:xfrm>
            <a:off x="9012936" y="3995928"/>
            <a:ext cx="2599944" cy="502920"/>
          </a:xfrm>
          <a:prstGeom prst="rect">
            <a:avLst/>
          </a:prstGeom>
          <a:noFill/>
          <a:ln/>
        </p:spPr>
        <p:txBody>
          <a:bodyPr wrap="square" lIns="0" tIns="0" rIns="0" bIns="0" rtlCol="0" anchor="ctr"/>
          <a:lstStyle/>
          <a:p>
            <a:pPr indent="0" marL="0">
              <a:buNone/>
            </a:pPr>
            <a:r>
              <a:rPr lang="en-US" sz="1500" b="1" dirty="0">
                <a:solidFill>
                  <a:schemeClr val="tx2"/>
                </a:solidFill>
              </a:rPr>
              <a:t>EMPLOYEE</a:t>
            </a:r>
            <a:endParaRPr lang="en-US" sz="1500" dirty="0"/>
          </a:p>
        </p:txBody>
      </p:sp>
      <p:sp>
        <p:nvSpPr>
          <p:cNvPr id="38" name="Text 30"/>
          <p:cNvSpPr txBox="1"/>
          <p:nvPr/>
        </p:nvSpPr>
        <p:spPr>
          <a:xfrm>
            <a:off x="8372856" y="4617720"/>
            <a:ext cx="3203448" cy="347472"/>
          </a:xfrm>
          <a:prstGeom prst="rect">
            <a:avLst/>
          </a:prstGeom>
          <a:noFill/>
          <a:ln/>
        </p:spPr>
        <p:txBody>
          <a:bodyPr wrap="square" lIns="0" tIns="0" rIns="0" bIns="0" rtlCol="0" anchor="t"/>
          <a:lstStyle/>
          <a:p>
            <a:pPr indent="0" marL="0">
              <a:buNone/>
            </a:pPr>
            <a:r>
              <a:rPr lang="en-US" sz="1350" b="1" dirty="0">
                <a:solidFill>
                  <a:schemeClr val="accent5"/>
                </a:solidFill>
              </a:rPr>
              <a:t>Know-how locked in a few heads</a:t>
            </a:r>
            <a:endParaRPr lang="en-US" sz="1350" dirty="0"/>
          </a:p>
        </p:txBody>
      </p:sp>
      <p:sp>
        <p:nvSpPr>
          <p:cNvPr id="39" name="Text 31"/>
          <p:cNvSpPr txBox="1"/>
          <p:nvPr/>
        </p:nvSpPr>
        <p:spPr>
          <a:xfrm>
            <a:off x="8372856" y="5056632"/>
            <a:ext cx="3203448" cy="100584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Undefined work areas, little standard work</a:t>
            </a:r>
            <a:endParaRPr lang="en-US" sz="1200" dirty="0"/>
          </a:p>
          <a:p>
            <a:pPr marL="152400" indent="-152400">
              <a:spcAft>
                <a:spcPts val="500"/>
              </a:spcAft>
              <a:buSzPct val="100000"/>
              <a:buChar char="•"/>
            </a:pPr>
            <a:r>
              <a:rPr lang="en-US" sz="1200" dirty="0">
                <a:solidFill>
                  <a:schemeClr val="tx1"/>
                </a:solidFill>
              </a:rPr>
              <a:t>Hard to train new hires while headcount grew ~700%</a:t>
            </a:r>
            <a:endParaRPr lang="en-US" sz="1200" dirty="0"/>
          </a:p>
        </p:txBody>
      </p:sp>
      <p:sp>
        <p:nvSpPr>
          <p:cNvPr id="40" name="Text 32"/>
          <p:cNvSpPr txBox="1"/>
          <p:nvPr/>
        </p:nvSpPr>
        <p:spPr>
          <a:xfrm>
            <a:off x="411480" y="6309360"/>
            <a:ext cx="11365992" cy="228600"/>
          </a:xfrm>
          <a:prstGeom prst="rect">
            <a:avLst/>
          </a:prstGeom>
          <a:noFill/>
          <a:ln/>
        </p:spPr>
        <p:txBody>
          <a:bodyPr wrap="square" lIns="0" tIns="0" rIns="0" bIns="0" rtlCol="0" anchor="t"/>
          <a:lstStyle/>
          <a:p>
            <a:pPr indent="0" marL="0">
              <a:buNone/>
            </a:pPr>
            <a:r>
              <a:rPr lang="en-US" sz="900" i="1" dirty="0">
                <a:solidFill>
                  <a:srgbClr val="5B6675"/>
                </a:solidFill>
              </a:rPr>
              <a:t>Metrics: LEI Summit 2016 deck (Q1 2014 baseline) and LEI spaghetti-chart study. Customer and employee impacts: WG-3 analysis.</a:t>
            </a:r>
            <a:endParaRPr lang="en-US" sz="90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CURRENT STATE PROCESS</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Before: MRP pushes every order through shared functional departments, and work queues everywhere.</a:t>
            </a:r>
            <a:endParaRPr lang="en-US" sz="1400" dirty="0"/>
          </a:p>
        </p:txBody>
      </p:sp>
      <p:sp>
        <p:nvSpPr>
          <p:cNvPr id="4" name="Shape 2"/>
          <p:cNvSpPr/>
          <p:nvPr/>
        </p:nvSpPr>
        <p:spPr>
          <a:xfrm>
            <a:off x="411480" y="1161288"/>
            <a:ext cx="219456" cy="182880"/>
          </a:xfrm>
          <a:prstGeom prst="triangle">
            <a:avLst/>
          </a:prstGeom>
          <a:solidFill>
            <a:schemeClr val="accent5"/>
          </a:solidFill>
          <a:ln/>
        </p:spPr>
      </p:sp>
      <p:sp>
        <p:nvSpPr>
          <p:cNvPr id="5" name="Text 3"/>
          <p:cNvSpPr txBox="1"/>
          <p:nvPr/>
        </p:nvSpPr>
        <p:spPr>
          <a:xfrm>
            <a:off x="704088" y="1115568"/>
            <a:ext cx="1097280" cy="274320"/>
          </a:xfrm>
          <a:prstGeom prst="rect">
            <a:avLst/>
          </a:prstGeom>
          <a:noFill/>
          <a:ln/>
        </p:spPr>
        <p:txBody>
          <a:bodyPr wrap="square" lIns="0" tIns="0" rIns="0" bIns="0" rtlCol="0" anchor="ctr"/>
          <a:lstStyle/>
          <a:p>
            <a:pPr indent="0" marL="0">
              <a:buNone/>
            </a:pPr>
            <a:r>
              <a:rPr lang="en-US" sz="1100" dirty="0">
                <a:solidFill>
                  <a:srgbClr val="5B6675"/>
                </a:solidFill>
              </a:rPr>
              <a:t>WIP / queue</a:t>
            </a:r>
            <a:endParaRPr lang="en-US" sz="1100" dirty="0"/>
          </a:p>
        </p:txBody>
      </p:sp>
      <p:sp>
        <p:nvSpPr>
          <p:cNvPr id="6" name="Shape 4"/>
          <p:cNvSpPr/>
          <p:nvPr/>
        </p:nvSpPr>
        <p:spPr>
          <a:xfrm>
            <a:off x="1691640" y="1252728"/>
            <a:ext cx="457200" cy="0"/>
          </a:xfrm>
          <a:prstGeom prst="line">
            <a:avLst/>
          </a:prstGeom>
          <a:noFill/>
          <a:ln w="25400">
            <a:solidFill>
              <a:schemeClr val="tx2"/>
            </a:solidFill>
            <a:prstDash val="solid"/>
            <a:tailEnd type="triangle"/>
          </a:ln>
        </p:spPr>
      </p:sp>
      <p:sp>
        <p:nvSpPr>
          <p:cNvPr id="7" name="Text 5"/>
          <p:cNvSpPr txBox="1"/>
          <p:nvPr/>
        </p:nvSpPr>
        <p:spPr>
          <a:xfrm>
            <a:off x="2240280" y="1115568"/>
            <a:ext cx="1371600" cy="274320"/>
          </a:xfrm>
          <a:prstGeom prst="rect">
            <a:avLst/>
          </a:prstGeom>
          <a:noFill/>
          <a:ln/>
        </p:spPr>
        <p:txBody>
          <a:bodyPr wrap="square" lIns="0" tIns="0" rIns="0" bIns="0" rtlCol="0" anchor="ctr"/>
          <a:lstStyle/>
          <a:p>
            <a:pPr indent="0" marL="0">
              <a:buNone/>
            </a:pPr>
            <a:r>
              <a:rPr lang="en-US" sz="1100" dirty="0">
                <a:solidFill>
                  <a:srgbClr val="5B6675"/>
                </a:solidFill>
              </a:rPr>
              <a:t>Push movement</a:t>
            </a:r>
            <a:endParaRPr lang="en-US" sz="1100" dirty="0"/>
          </a:p>
        </p:txBody>
      </p:sp>
      <p:sp>
        <p:nvSpPr>
          <p:cNvPr id="8" name="Production control"/>
          <p:cNvSpPr/>
          <p:nvPr/>
        </p:nvSpPr>
        <p:spPr>
          <a:xfrm>
            <a:off x="4480560" y="1024128"/>
            <a:ext cx="3291840" cy="566928"/>
          </a:xfrm>
          <a:prstGeom prst="roundRect">
            <a:avLst>
              <a:gd name="adj" fmla="val 12903"/>
            </a:avLst>
          </a:prstGeom>
          <a:solidFill>
            <a:schemeClr val="tx2"/>
          </a:solidFill>
          <a:ln/>
        </p:spPr>
      </p:sp>
      <p:sp>
        <p:nvSpPr>
          <p:cNvPr id="9" name="Text 7"/>
          <p:cNvSpPr txBox="1"/>
          <p:nvPr/>
        </p:nvSpPr>
        <p:spPr>
          <a:xfrm>
            <a:off x="4480560" y="1024128"/>
            <a:ext cx="3291840" cy="566928"/>
          </a:xfrm>
          <a:prstGeom prst="rect">
            <a:avLst/>
          </a:prstGeom>
          <a:noFill/>
          <a:ln/>
        </p:spPr>
        <p:txBody>
          <a:bodyPr wrap="square" lIns="0" tIns="0" rIns="0" bIns="0" rtlCol="0" anchor="ctr"/>
          <a:lstStyle/>
          <a:p>
            <a:pPr algn="ctr" indent="0" marL="0">
              <a:buNone/>
            </a:pPr>
            <a:r>
              <a:rPr lang="en-US" sz="1250" b="1" dirty="0">
                <a:solidFill>
                  <a:schemeClr val="bg1"/>
                </a:solidFill>
              </a:rPr>
              <a:t>Production Control: MRP / ERP + APS</a:t>
            </a:r>
            <a:endParaRPr lang="en-US" sz="1250" dirty="0"/>
          </a:p>
          <a:p>
            <a:pPr algn="ctr" indent="0" marL="0">
              <a:buNone/>
            </a:pPr>
            <a:r>
              <a:rPr lang="en-US" sz="1100" dirty="0">
                <a:solidFill>
                  <a:schemeClr val="bg1"/>
                </a:solidFill>
              </a:rPr>
              <a:t>push schedules to every department</a:t>
            </a:r>
            <a:endParaRPr lang="en-US" sz="1250" dirty="0"/>
          </a:p>
        </p:txBody>
      </p:sp>
      <p:sp>
        <p:nvSpPr>
          <p:cNvPr id="10" name="Shape 8"/>
          <p:cNvSpPr/>
          <p:nvPr/>
        </p:nvSpPr>
        <p:spPr>
          <a:xfrm>
            <a:off x="6126480" y="1591056"/>
            <a:ext cx="0" cy="256032"/>
          </a:xfrm>
          <a:prstGeom prst="line">
            <a:avLst/>
          </a:prstGeom>
          <a:noFill/>
          <a:ln w="15875">
            <a:solidFill>
              <a:schemeClr val="tx2"/>
            </a:solidFill>
            <a:prstDash val="dash"/>
          </a:ln>
        </p:spPr>
      </p:sp>
      <p:sp>
        <p:nvSpPr>
          <p:cNvPr id="11" name="Shape 9"/>
          <p:cNvSpPr/>
          <p:nvPr/>
        </p:nvSpPr>
        <p:spPr>
          <a:xfrm>
            <a:off x="2458212" y="1847088"/>
            <a:ext cx="7272528" cy="0"/>
          </a:xfrm>
          <a:prstGeom prst="line">
            <a:avLst/>
          </a:prstGeom>
          <a:noFill/>
          <a:ln w="15875">
            <a:solidFill>
              <a:schemeClr val="tx2"/>
            </a:solidFill>
            <a:prstDash val="dash"/>
          </a:ln>
        </p:spPr>
      </p:sp>
      <p:sp>
        <p:nvSpPr>
          <p:cNvPr id="12" name="Shape 10"/>
          <p:cNvSpPr/>
          <p:nvPr/>
        </p:nvSpPr>
        <p:spPr>
          <a:xfrm>
            <a:off x="2458212" y="1847088"/>
            <a:ext cx="0" cy="329184"/>
          </a:xfrm>
          <a:prstGeom prst="line">
            <a:avLst/>
          </a:prstGeom>
          <a:noFill/>
          <a:ln w="15875">
            <a:solidFill>
              <a:schemeClr val="tx2"/>
            </a:solidFill>
            <a:prstDash val="dash"/>
            <a:tailEnd type="triangle"/>
          </a:ln>
        </p:spPr>
      </p:sp>
      <p:sp>
        <p:nvSpPr>
          <p:cNvPr id="13" name="Shape 11"/>
          <p:cNvSpPr/>
          <p:nvPr/>
        </p:nvSpPr>
        <p:spPr>
          <a:xfrm>
            <a:off x="4276344" y="1847088"/>
            <a:ext cx="0" cy="329184"/>
          </a:xfrm>
          <a:prstGeom prst="line">
            <a:avLst/>
          </a:prstGeom>
          <a:noFill/>
          <a:ln w="15875">
            <a:solidFill>
              <a:schemeClr val="tx2"/>
            </a:solidFill>
            <a:prstDash val="dash"/>
            <a:tailEnd type="triangle"/>
          </a:ln>
        </p:spPr>
      </p:sp>
      <p:sp>
        <p:nvSpPr>
          <p:cNvPr id="14" name="Shape 12"/>
          <p:cNvSpPr/>
          <p:nvPr/>
        </p:nvSpPr>
        <p:spPr>
          <a:xfrm>
            <a:off x="6094476" y="1847088"/>
            <a:ext cx="0" cy="329184"/>
          </a:xfrm>
          <a:prstGeom prst="line">
            <a:avLst/>
          </a:prstGeom>
          <a:noFill/>
          <a:ln w="15875">
            <a:solidFill>
              <a:schemeClr val="tx2"/>
            </a:solidFill>
            <a:prstDash val="dash"/>
            <a:tailEnd type="triangle"/>
          </a:ln>
        </p:spPr>
      </p:sp>
      <p:sp>
        <p:nvSpPr>
          <p:cNvPr id="15" name="Shape 13"/>
          <p:cNvSpPr/>
          <p:nvPr/>
        </p:nvSpPr>
        <p:spPr>
          <a:xfrm>
            <a:off x="7912608" y="1847088"/>
            <a:ext cx="0" cy="329184"/>
          </a:xfrm>
          <a:prstGeom prst="line">
            <a:avLst/>
          </a:prstGeom>
          <a:noFill/>
          <a:ln w="15875">
            <a:solidFill>
              <a:schemeClr val="tx2"/>
            </a:solidFill>
            <a:prstDash val="dash"/>
            <a:tailEnd type="triangle"/>
          </a:ln>
        </p:spPr>
      </p:sp>
      <p:sp>
        <p:nvSpPr>
          <p:cNvPr id="16" name="Shape 14"/>
          <p:cNvSpPr/>
          <p:nvPr/>
        </p:nvSpPr>
        <p:spPr>
          <a:xfrm>
            <a:off x="9730740" y="1847088"/>
            <a:ext cx="0" cy="329184"/>
          </a:xfrm>
          <a:prstGeom prst="line">
            <a:avLst/>
          </a:prstGeom>
          <a:noFill/>
          <a:ln w="15875">
            <a:solidFill>
              <a:schemeClr val="tx2"/>
            </a:solidFill>
            <a:prstDash val="dash"/>
            <a:tailEnd type="triangle"/>
          </a:ln>
        </p:spPr>
      </p:sp>
      <p:sp>
        <p:nvSpPr>
          <p:cNvPr id="17" name="Shape 15"/>
          <p:cNvSpPr/>
          <p:nvPr/>
        </p:nvSpPr>
        <p:spPr>
          <a:xfrm>
            <a:off x="411480" y="2194560"/>
            <a:ext cx="914400" cy="868680"/>
          </a:xfrm>
          <a:prstGeom prst="roundRect">
            <a:avLst>
              <a:gd name="adj" fmla="val 8421"/>
            </a:avLst>
          </a:prstGeom>
          <a:solidFill>
            <a:schemeClr val="bg2"/>
          </a:solidFill>
          <a:ln/>
        </p:spPr>
      </p:sp>
      <p:pic>
        <p:nvPicPr>
          <p:cNvPr id="18" name="Image 0" descr="preencoded.png">    </p:cNvPr>
          <p:cNvPicPr>
            <a:picLocks noChangeAspect="1"/>
          </p:cNvPicPr>
          <p:nvPr/>
        </p:nvPicPr>
        <p:blipFill>
          <a:blip r:embed="rId1"/>
          <a:stretch>
            <a:fillRect/>
          </a:stretch>
        </p:blipFill>
        <p:spPr>
          <a:xfrm>
            <a:off x="694944" y="2286000"/>
            <a:ext cx="347472" cy="347472"/>
          </a:xfrm>
          <a:prstGeom prst="rect">
            <a:avLst/>
          </a:prstGeom>
        </p:spPr>
      </p:pic>
      <p:sp>
        <p:nvSpPr>
          <p:cNvPr id="19" name="Text 16"/>
          <p:cNvSpPr txBox="1"/>
          <p:nvPr/>
        </p:nvSpPr>
        <p:spPr>
          <a:xfrm>
            <a:off x="411480" y="2679192"/>
            <a:ext cx="914400" cy="274320"/>
          </a:xfrm>
          <a:prstGeom prst="rect">
            <a:avLst/>
          </a:prstGeom>
          <a:noFill/>
          <a:ln/>
        </p:spPr>
        <p:txBody>
          <a:bodyPr wrap="square" lIns="0" tIns="0" rIns="0" bIns="0" rtlCol="0" anchor="t"/>
          <a:lstStyle/>
          <a:p>
            <a:pPr algn="ctr" indent="0" marL="0">
              <a:buNone/>
            </a:pPr>
            <a:r>
              <a:rPr lang="en-US" sz="1100" b="1" dirty="0">
                <a:solidFill>
                  <a:schemeClr val="tx2"/>
                </a:solidFill>
              </a:rPr>
              <a:t>Suppliers</a:t>
            </a:r>
            <a:endParaRPr lang="en-US" sz="1100" dirty="0"/>
          </a:p>
        </p:txBody>
      </p:sp>
      <p:sp>
        <p:nvSpPr>
          <p:cNvPr id="20" name="Shape 17"/>
          <p:cNvSpPr/>
          <p:nvPr/>
        </p:nvSpPr>
        <p:spPr>
          <a:xfrm>
            <a:off x="10863072" y="2194560"/>
            <a:ext cx="914400" cy="868680"/>
          </a:xfrm>
          <a:prstGeom prst="roundRect">
            <a:avLst>
              <a:gd name="adj" fmla="val 8421"/>
            </a:avLst>
          </a:prstGeom>
          <a:solidFill>
            <a:schemeClr val="bg2"/>
          </a:solidFill>
          <a:ln/>
        </p:spPr>
      </p:sp>
      <p:pic>
        <p:nvPicPr>
          <p:cNvPr id="21" name="Image 1" descr="preencoded.png">    </p:cNvPr>
          <p:cNvPicPr>
            <a:picLocks noChangeAspect="1"/>
          </p:cNvPicPr>
          <p:nvPr/>
        </p:nvPicPr>
        <p:blipFill>
          <a:blip r:embed="rId2"/>
          <a:stretch>
            <a:fillRect/>
          </a:stretch>
        </p:blipFill>
        <p:spPr>
          <a:xfrm>
            <a:off x="11146536" y="2286000"/>
            <a:ext cx="347472" cy="347472"/>
          </a:xfrm>
          <a:prstGeom prst="rect">
            <a:avLst/>
          </a:prstGeom>
        </p:spPr>
      </p:pic>
      <p:sp>
        <p:nvSpPr>
          <p:cNvPr id="22" name="Text 18"/>
          <p:cNvSpPr txBox="1"/>
          <p:nvPr/>
        </p:nvSpPr>
        <p:spPr>
          <a:xfrm>
            <a:off x="10863072" y="2679192"/>
            <a:ext cx="914400" cy="274320"/>
          </a:xfrm>
          <a:prstGeom prst="rect">
            <a:avLst/>
          </a:prstGeom>
          <a:noFill/>
          <a:ln/>
        </p:spPr>
        <p:txBody>
          <a:bodyPr wrap="square" lIns="0" tIns="0" rIns="0" bIns="0" rtlCol="0" anchor="t"/>
          <a:lstStyle/>
          <a:p>
            <a:pPr algn="ctr" indent="0" marL="0">
              <a:buNone/>
            </a:pPr>
            <a:r>
              <a:rPr lang="en-US" sz="1100" b="1" dirty="0">
                <a:solidFill>
                  <a:schemeClr val="tx2"/>
                </a:solidFill>
              </a:rPr>
              <a:t>Customers</a:t>
            </a:r>
            <a:endParaRPr lang="en-US" sz="1100" dirty="0"/>
          </a:p>
        </p:txBody>
      </p:sp>
      <p:sp>
        <p:nvSpPr>
          <p:cNvPr id="23" name="Process Receiving &amp; Stores"/>
          <p:cNvSpPr/>
          <p:nvPr/>
        </p:nvSpPr>
        <p:spPr>
          <a:xfrm>
            <a:off x="1772412" y="2194560"/>
            <a:ext cx="1371600" cy="868680"/>
          </a:xfrm>
          <a:prstGeom prst="roundRect">
            <a:avLst>
              <a:gd name="adj" fmla="val 8421"/>
            </a:avLst>
          </a:prstGeom>
          <a:solidFill>
            <a:schemeClr val="accent1"/>
          </a:solidFill>
          <a:ln/>
        </p:spPr>
      </p:sp>
      <p:sp>
        <p:nvSpPr>
          <p:cNvPr id="24" name="Text 20"/>
          <p:cNvSpPr txBox="1"/>
          <p:nvPr/>
        </p:nvSpPr>
        <p:spPr>
          <a:xfrm>
            <a:off x="1845564" y="2194560"/>
            <a:ext cx="1225296" cy="868680"/>
          </a:xfrm>
          <a:prstGeom prst="rect">
            <a:avLst/>
          </a:prstGeom>
          <a:noFill/>
          <a:ln/>
        </p:spPr>
        <p:txBody>
          <a:bodyPr wrap="square" lIns="0" tIns="0" rIns="0" bIns="0" rtlCol="0" anchor="ctr"/>
          <a:lstStyle/>
          <a:p>
            <a:pPr algn="ctr" indent="0" marL="0">
              <a:buNone/>
            </a:pPr>
            <a:r>
              <a:rPr lang="en-US" sz="1200" b="1" dirty="0">
                <a:solidFill>
                  <a:schemeClr val="bg1"/>
                </a:solidFill>
              </a:rPr>
              <a:t>Receiving &amp; Stores</a:t>
            </a:r>
            <a:endParaRPr lang="en-US" sz="1200" dirty="0"/>
          </a:p>
        </p:txBody>
      </p:sp>
      <p:sp>
        <p:nvSpPr>
          <p:cNvPr id="25" name="Process Machining"/>
          <p:cNvSpPr/>
          <p:nvPr/>
        </p:nvSpPr>
        <p:spPr>
          <a:xfrm>
            <a:off x="3590544" y="2194560"/>
            <a:ext cx="1371600" cy="868680"/>
          </a:xfrm>
          <a:prstGeom prst="roundRect">
            <a:avLst>
              <a:gd name="adj" fmla="val 8421"/>
            </a:avLst>
          </a:prstGeom>
          <a:solidFill>
            <a:schemeClr val="accent1"/>
          </a:solidFill>
          <a:ln/>
        </p:spPr>
      </p:sp>
      <p:sp>
        <p:nvSpPr>
          <p:cNvPr id="26" name="Text 22"/>
          <p:cNvSpPr txBox="1"/>
          <p:nvPr/>
        </p:nvSpPr>
        <p:spPr>
          <a:xfrm>
            <a:off x="3663696" y="2194560"/>
            <a:ext cx="1225296" cy="868680"/>
          </a:xfrm>
          <a:prstGeom prst="rect">
            <a:avLst/>
          </a:prstGeom>
          <a:noFill/>
          <a:ln/>
        </p:spPr>
        <p:txBody>
          <a:bodyPr wrap="square" lIns="0" tIns="0" rIns="0" bIns="0" rtlCol="0" anchor="ctr"/>
          <a:lstStyle/>
          <a:p>
            <a:pPr algn="ctr" indent="0" marL="0">
              <a:buNone/>
            </a:pPr>
            <a:r>
              <a:rPr lang="en-US" sz="1200" b="1" dirty="0">
                <a:solidFill>
                  <a:schemeClr val="bg1"/>
                </a:solidFill>
              </a:rPr>
              <a:t>Machining</a:t>
            </a:r>
            <a:endParaRPr lang="en-US" sz="1200" dirty="0"/>
          </a:p>
        </p:txBody>
      </p:sp>
      <p:sp>
        <p:nvSpPr>
          <p:cNvPr id="27" name="Process Fabrication &amp; Weld"/>
          <p:cNvSpPr/>
          <p:nvPr/>
        </p:nvSpPr>
        <p:spPr>
          <a:xfrm>
            <a:off x="5408676" y="2194560"/>
            <a:ext cx="1371600" cy="868680"/>
          </a:xfrm>
          <a:prstGeom prst="roundRect">
            <a:avLst>
              <a:gd name="adj" fmla="val 8421"/>
            </a:avLst>
          </a:prstGeom>
          <a:solidFill>
            <a:schemeClr val="accent1"/>
          </a:solidFill>
          <a:ln/>
        </p:spPr>
      </p:sp>
      <p:sp>
        <p:nvSpPr>
          <p:cNvPr id="28" name="Text 24"/>
          <p:cNvSpPr txBox="1"/>
          <p:nvPr/>
        </p:nvSpPr>
        <p:spPr>
          <a:xfrm>
            <a:off x="5481828" y="2194560"/>
            <a:ext cx="1225296" cy="868680"/>
          </a:xfrm>
          <a:prstGeom prst="rect">
            <a:avLst/>
          </a:prstGeom>
          <a:noFill/>
          <a:ln/>
        </p:spPr>
        <p:txBody>
          <a:bodyPr wrap="square" lIns="0" tIns="0" rIns="0" bIns="0" rtlCol="0" anchor="ctr"/>
          <a:lstStyle/>
          <a:p>
            <a:pPr algn="ctr" indent="0" marL="0">
              <a:buNone/>
            </a:pPr>
            <a:r>
              <a:rPr lang="en-US" sz="1200" b="1" dirty="0">
                <a:solidFill>
                  <a:schemeClr val="bg1"/>
                </a:solidFill>
              </a:rPr>
              <a:t>Fabrication &amp; Weld</a:t>
            </a:r>
            <a:endParaRPr lang="en-US" sz="1200" dirty="0"/>
          </a:p>
        </p:txBody>
      </p:sp>
      <p:sp>
        <p:nvSpPr>
          <p:cNvPr id="29" name="Process Assembly Bays"/>
          <p:cNvSpPr/>
          <p:nvPr/>
        </p:nvSpPr>
        <p:spPr>
          <a:xfrm>
            <a:off x="7226808" y="2194560"/>
            <a:ext cx="1371600" cy="868680"/>
          </a:xfrm>
          <a:prstGeom prst="roundRect">
            <a:avLst>
              <a:gd name="adj" fmla="val 8421"/>
            </a:avLst>
          </a:prstGeom>
          <a:solidFill>
            <a:schemeClr val="accent1"/>
          </a:solidFill>
          <a:ln/>
        </p:spPr>
      </p:sp>
      <p:sp>
        <p:nvSpPr>
          <p:cNvPr id="30" name="Text 26"/>
          <p:cNvSpPr txBox="1"/>
          <p:nvPr/>
        </p:nvSpPr>
        <p:spPr>
          <a:xfrm>
            <a:off x="7299960" y="2194560"/>
            <a:ext cx="1225296" cy="868680"/>
          </a:xfrm>
          <a:prstGeom prst="rect">
            <a:avLst/>
          </a:prstGeom>
          <a:noFill/>
          <a:ln/>
        </p:spPr>
        <p:txBody>
          <a:bodyPr wrap="square" lIns="0" tIns="0" rIns="0" bIns="0" rtlCol="0" anchor="ctr"/>
          <a:lstStyle/>
          <a:p>
            <a:pPr algn="ctr" indent="0" marL="0">
              <a:buNone/>
            </a:pPr>
            <a:r>
              <a:rPr lang="en-US" sz="1200" b="1" dirty="0">
                <a:solidFill>
                  <a:schemeClr val="bg1"/>
                </a:solidFill>
              </a:rPr>
              <a:t>Assembly Bays</a:t>
            </a:r>
            <a:endParaRPr lang="en-US" sz="1200" dirty="0"/>
          </a:p>
        </p:txBody>
      </p:sp>
      <p:sp>
        <p:nvSpPr>
          <p:cNvPr id="31" name="Process Test, Paint &amp; Ship"/>
          <p:cNvSpPr/>
          <p:nvPr/>
        </p:nvSpPr>
        <p:spPr>
          <a:xfrm>
            <a:off x="9044940" y="2194560"/>
            <a:ext cx="1371600" cy="868680"/>
          </a:xfrm>
          <a:prstGeom prst="roundRect">
            <a:avLst>
              <a:gd name="adj" fmla="val 8421"/>
            </a:avLst>
          </a:prstGeom>
          <a:solidFill>
            <a:schemeClr val="accent1"/>
          </a:solidFill>
          <a:ln/>
        </p:spPr>
      </p:sp>
      <p:sp>
        <p:nvSpPr>
          <p:cNvPr id="32" name="Text 28"/>
          <p:cNvSpPr txBox="1"/>
          <p:nvPr/>
        </p:nvSpPr>
        <p:spPr>
          <a:xfrm>
            <a:off x="9118092" y="2194560"/>
            <a:ext cx="1225296" cy="868680"/>
          </a:xfrm>
          <a:prstGeom prst="rect">
            <a:avLst/>
          </a:prstGeom>
          <a:noFill/>
          <a:ln/>
        </p:spPr>
        <p:txBody>
          <a:bodyPr wrap="square" lIns="0" tIns="0" rIns="0" bIns="0" rtlCol="0" anchor="ctr"/>
          <a:lstStyle/>
          <a:p>
            <a:pPr algn="ctr" indent="0" marL="0">
              <a:buNone/>
            </a:pPr>
            <a:r>
              <a:rPr lang="en-US" sz="1200" b="1" dirty="0">
                <a:solidFill>
                  <a:schemeClr val="bg1"/>
                </a:solidFill>
              </a:rPr>
              <a:t>Test, Paint &amp; Ship</a:t>
            </a:r>
            <a:endParaRPr lang="en-US" sz="1200" dirty="0"/>
          </a:p>
        </p:txBody>
      </p:sp>
      <p:sp>
        <p:nvSpPr>
          <p:cNvPr id="33" name="Shape 29"/>
          <p:cNvSpPr/>
          <p:nvPr/>
        </p:nvSpPr>
        <p:spPr>
          <a:xfrm>
            <a:off x="1402842" y="2249424"/>
            <a:ext cx="292608" cy="256032"/>
          </a:xfrm>
          <a:prstGeom prst="triangle">
            <a:avLst/>
          </a:prstGeom>
          <a:solidFill>
            <a:schemeClr val="accent5"/>
          </a:solidFill>
          <a:ln/>
        </p:spPr>
      </p:sp>
      <p:sp>
        <p:nvSpPr>
          <p:cNvPr id="34" name="Text 30"/>
          <p:cNvSpPr txBox="1"/>
          <p:nvPr/>
        </p:nvSpPr>
        <p:spPr>
          <a:xfrm>
            <a:off x="1402842" y="2304288"/>
            <a:ext cx="292608" cy="201168"/>
          </a:xfrm>
          <a:prstGeom prst="rect">
            <a:avLst/>
          </a:prstGeom>
          <a:noFill/>
          <a:ln/>
        </p:spPr>
        <p:txBody>
          <a:bodyPr wrap="square" lIns="0" tIns="0" rIns="0" bIns="0" rtlCol="0" anchor="t"/>
          <a:lstStyle/>
          <a:p>
            <a:pPr algn="ctr" indent="0" marL="0">
              <a:buNone/>
            </a:pPr>
            <a:r>
              <a:rPr lang="en-US" sz="900" b="1" dirty="0">
                <a:solidFill>
                  <a:schemeClr val="bg1"/>
                </a:solidFill>
              </a:rPr>
              <a:t>I</a:t>
            </a:r>
            <a:endParaRPr lang="en-US" sz="900" dirty="0"/>
          </a:p>
        </p:txBody>
      </p:sp>
      <p:sp>
        <p:nvSpPr>
          <p:cNvPr id="35" name="Shape 31"/>
          <p:cNvSpPr/>
          <p:nvPr/>
        </p:nvSpPr>
        <p:spPr>
          <a:xfrm>
            <a:off x="1362456" y="2761488"/>
            <a:ext cx="373380" cy="0"/>
          </a:xfrm>
          <a:prstGeom prst="line">
            <a:avLst/>
          </a:prstGeom>
          <a:noFill/>
          <a:ln w="25400">
            <a:solidFill>
              <a:schemeClr val="tx2"/>
            </a:solidFill>
            <a:prstDash val="solid"/>
            <a:tailEnd type="triangle"/>
          </a:ln>
        </p:spPr>
      </p:sp>
      <p:sp>
        <p:nvSpPr>
          <p:cNvPr id="36" name="Shape 32"/>
          <p:cNvSpPr/>
          <p:nvPr/>
        </p:nvSpPr>
        <p:spPr>
          <a:xfrm>
            <a:off x="3220974" y="2249424"/>
            <a:ext cx="292608" cy="256032"/>
          </a:xfrm>
          <a:prstGeom prst="triangle">
            <a:avLst/>
          </a:prstGeom>
          <a:solidFill>
            <a:schemeClr val="accent5"/>
          </a:solidFill>
          <a:ln/>
        </p:spPr>
      </p:sp>
      <p:sp>
        <p:nvSpPr>
          <p:cNvPr id="37" name="Text 33"/>
          <p:cNvSpPr txBox="1"/>
          <p:nvPr/>
        </p:nvSpPr>
        <p:spPr>
          <a:xfrm>
            <a:off x="3220974" y="2304288"/>
            <a:ext cx="292608" cy="201168"/>
          </a:xfrm>
          <a:prstGeom prst="rect">
            <a:avLst/>
          </a:prstGeom>
          <a:noFill/>
          <a:ln/>
        </p:spPr>
        <p:txBody>
          <a:bodyPr wrap="square" lIns="0" tIns="0" rIns="0" bIns="0" rtlCol="0" anchor="t"/>
          <a:lstStyle/>
          <a:p>
            <a:pPr algn="ctr" indent="0" marL="0">
              <a:buNone/>
            </a:pPr>
            <a:r>
              <a:rPr lang="en-US" sz="900" b="1" dirty="0">
                <a:solidFill>
                  <a:schemeClr val="bg1"/>
                </a:solidFill>
              </a:rPr>
              <a:t>I</a:t>
            </a:r>
            <a:endParaRPr lang="en-US" sz="900" dirty="0"/>
          </a:p>
        </p:txBody>
      </p:sp>
      <p:sp>
        <p:nvSpPr>
          <p:cNvPr id="38" name="Shape 34"/>
          <p:cNvSpPr/>
          <p:nvPr/>
        </p:nvSpPr>
        <p:spPr>
          <a:xfrm>
            <a:off x="3180588" y="2761488"/>
            <a:ext cx="373380" cy="0"/>
          </a:xfrm>
          <a:prstGeom prst="line">
            <a:avLst/>
          </a:prstGeom>
          <a:noFill/>
          <a:ln w="25400">
            <a:solidFill>
              <a:schemeClr val="tx2"/>
            </a:solidFill>
            <a:prstDash val="solid"/>
            <a:tailEnd type="triangle"/>
          </a:ln>
        </p:spPr>
      </p:sp>
      <p:sp>
        <p:nvSpPr>
          <p:cNvPr id="39" name="Shape 35"/>
          <p:cNvSpPr/>
          <p:nvPr/>
        </p:nvSpPr>
        <p:spPr>
          <a:xfrm>
            <a:off x="5039106" y="2249424"/>
            <a:ext cx="292608" cy="256032"/>
          </a:xfrm>
          <a:prstGeom prst="triangle">
            <a:avLst/>
          </a:prstGeom>
          <a:solidFill>
            <a:schemeClr val="accent5"/>
          </a:solidFill>
          <a:ln/>
        </p:spPr>
      </p:sp>
      <p:sp>
        <p:nvSpPr>
          <p:cNvPr id="40" name="Text 36"/>
          <p:cNvSpPr txBox="1"/>
          <p:nvPr/>
        </p:nvSpPr>
        <p:spPr>
          <a:xfrm>
            <a:off x="5039106" y="2304288"/>
            <a:ext cx="292608" cy="201168"/>
          </a:xfrm>
          <a:prstGeom prst="rect">
            <a:avLst/>
          </a:prstGeom>
          <a:noFill/>
          <a:ln/>
        </p:spPr>
        <p:txBody>
          <a:bodyPr wrap="square" lIns="0" tIns="0" rIns="0" bIns="0" rtlCol="0" anchor="t"/>
          <a:lstStyle/>
          <a:p>
            <a:pPr algn="ctr" indent="0" marL="0">
              <a:buNone/>
            </a:pPr>
            <a:r>
              <a:rPr lang="en-US" sz="900" b="1" dirty="0">
                <a:solidFill>
                  <a:schemeClr val="bg1"/>
                </a:solidFill>
              </a:rPr>
              <a:t>I</a:t>
            </a:r>
            <a:endParaRPr lang="en-US" sz="900" dirty="0"/>
          </a:p>
        </p:txBody>
      </p:sp>
      <p:sp>
        <p:nvSpPr>
          <p:cNvPr id="41" name="Shape 37"/>
          <p:cNvSpPr/>
          <p:nvPr/>
        </p:nvSpPr>
        <p:spPr>
          <a:xfrm>
            <a:off x="4998720" y="2761488"/>
            <a:ext cx="373380" cy="0"/>
          </a:xfrm>
          <a:prstGeom prst="line">
            <a:avLst/>
          </a:prstGeom>
          <a:noFill/>
          <a:ln w="25400">
            <a:solidFill>
              <a:schemeClr val="tx2"/>
            </a:solidFill>
            <a:prstDash val="solid"/>
            <a:tailEnd type="triangle"/>
          </a:ln>
        </p:spPr>
      </p:sp>
      <p:sp>
        <p:nvSpPr>
          <p:cNvPr id="42" name="Shape 38"/>
          <p:cNvSpPr/>
          <p:nvPr/>
        </p:nvSpPr>
        <p:spPr>
          <a:xfrm>
            <a:off x="6857238" y="2249424"/>
            <a:ext cx="292608" cy="256032"/>
          </a:xfrm>
          <a:prstGeom prst="triangle">
            <a:avLst/>
          </a:prstGeom>
          <a:solidFill>
            <a:schemeClr val="accent5"/>
          </a:solidFill>
          <a:ln/>
        </p:spPr>
      </p:sp>
      <p:sp>
        <p:nvSpPr>
          <p:cNvPr id="43" name="Text 39"/>
          <p:cNvSpPr txBox="1"/>
          <p:nvPr/>
        </p:nvSpPr>
        <p:spPr>
          <a:xfrm>
            <a:off x="6857238" y="2304288"/>
            <a:ext cx="292608" cy="201168"/>
          </a:xfrm>
          <a:prstGeom prst="rect">
            <a:avLst/>
          </a:prstGeom>
          <a:noFill/>
          <a:ln/>
        </p:spPr>
        <p:txBody>
          <a:bodyPr wrap="square" lIns="0" tIns="0" rIns="0" bIns="0" rtlCol="0" anchor="t"/>
          <a:lstStyle/>
          <a:p>
            <a:pPr algn="ctr" indent="0" marL="0">
              <a:buNone/>
            </a:pPr>
            <a:r>
              <a:rPr lang="en-US" sz="900" b="1" dirty="0">
                <a:solidFill>
                  <a:schemeClr val="bg1"/>
                </a:solidFill>
              </a:rPr>
              <a:t>I</a:t>
            </a:r>
            <a:endParaRPr lang="en-US" sz="900" dirty="0"/>
          </a:p>
        </p:txBody>
      </p:sp>
      <p:sp>
        <p:nvSpPr>
          <p:cNvPr id="44" name="Shape 40"/>
          <p:cNvSpPr/>
          <p:nvPr/>
        </p:nvSpPr>
        <p:spPr>
          <a:xfrm>
            <a:off x="6816852" y="2761488"/>
            <a:ext cx="373380" cy="0"/>
          </a:xfrm>
          <a:prstGeom prst="line">
            <a:avLst/>
          </a:prstGeom>
          <a:noFill/>
          <a:ln w="25400">
            <a:solidFill>
              <a:schemeClr val="tx2"/>
            </a:solidFill>
            <a:prstDash val="solid"/>
            <a:tailEnd type="triangle"/>
          </a:ln>
        </p:spPr>
      </p:sp>
      <p:sp>
        <p:nvSpPr>
          <p:cNvPr id="45" name="Shape 41"/>
          <p:cNvSpPr/>
          <p:nvPr/>
        </p:nvSpPr>
        <p:spPr>
          <a:xfrm>
            <a:off x="8675370" y="2249424"/>
            <a:ext cx="292608" cy="256032"/>
          </a:xfrm>
          <a:prstGeom prst="triangle">
            <a:avLst/>
          </a:prstGeom>
          <a:solidFill>
            <a:schemeClr val="accent5"/>
          </a:solidFill>
          <a:ln/>
        </p:spPr>
      </p:sp>
      <p:sp>
        <p:nvSpPr>
          <p:cNvPr id="46" name="Text 42"/>
          <p:cNvSpPr txBox="1"/>
          <p:nvPr/>
        </p:nvSpPr>
        <p:spPr>
          <a:xfrm>
            <a:off x="8675370" y="2304288"/>
            <a:ext cx="292608" cy="201168"/>
          </a:xfrm>
          <a:prstGeom prst="rect">
            <a:avLst/>
          </a:prstGeom>
          <a:noFill/>
          <a:ln/>
        </p:spPr>
        <p:txBody>
          <a:bodyPr wrap="square" lIns="0" tIns="0" rIns="0" bIns="0" rtlCol="0" anchor="t"/>
          <a:lstStyle/>
          <a:p>
            <a:pPr algn="ctr" indent="0" marL="0">
              <a:buNone/>
            </a:pPr>
            <a:r>
              <a:rPr lang="en-US" sz="900" b="1" dirty="0">
                <a:solidFill>
                  <a:schemeClr val="bg1"/>
                </a:solidFill>
              </a:rPr>
              <a:t>I</a:t>
            </a:r>
            <a:endParaRPr lang="en-US" sz="900" dirty="0"/>
          </a:p>
        </p:txBody>
      </p:sp>
      <p:sp>
        <p:nvSpPr>
          <p:cNvPr id="47" name="Shape 43"/>
          <p:cNvSpPr/>
          <p:nvPr/>
        </p:nvSpPr>
        <p:spPr>
          <a:xfrm>
            <a:off x="8634984" y="2761488"/>
            <a:ext cx="373380" cy="0"/>
          </a:xfrm>
          <a:prstGeom prst="line">
            <a:avLst/>
          </a:prstGeom>
          <a:noFill/>
          <a:ln w="25400">
            <a:solidFill>
              <a:schemeClr val="tx2"/>
            </a:solidFill>
            <a:prstDash val="solid"/>
            <a:tailEnd type="triangle"/>
          </a:ln>
        </p:spPr>
      </p:sp>
      <p:sp>
        <p:nvSpPr>
          <p:cNvPr id="48" name="Shape 44"/>
          <p:cNvSpPr/>
          <p:nvPr/>
        </p:nvSpPr>
        <p:spPr>
          <a:xfrm>
            <a:off x="10493502" y="2249424"/>
            <a:ext cx="292608" cy="256032"/>
          </a:xfrm>
          <a:prstGeom prst="triangle">
            <a:avLst/>
          </a:prstGeom>
          <a:solidFill>
            <a:schemeClr val="accent5"/>
          </a:solidFill>
          <a:ln/>
        </p:spPr>
      </p:sp>
      <p:sp>
        <p:nvSpPr>
          <p:cNvPr id="49" name="Text 45"/>
          <p:cNvSpPr txBox="1"/>
          <p:nvPr/>
        </p:nvSpPr>
        <p:spPr>
          <a:xfrm>
            <a:off x="10493502" y="2304288"/>
            <a:ext cx="292608" cy="201168"/>
          </a:xfrm>
          <a:prstGeom prst="rect">
            <a:avLst/>
          </a:prstGeom>
          <a:noFill/>
          <a:ln/>
        </p:spPr>
        <p:txBody>
          <a:bodyPr wrap="square" lIns="0" tIns="0" rIns="0" bIns="0" rtlCol="0" anchor="t"/>
          <a:lstStyle/>
          <a:p>
            <a:pPr algn="ctr" indent="0" marL="0">
              <a:buNone/>
            </a:pPr>
            <a:r>
              <a:rPr lang="en-US" sz="900" b="1" dirty="0">
                <a:solidFill>
                  <a:schemeClr val="bg1"/>
                </a:solidFill>
              </a:rPr>
              <a:t>I</a:t>
            </a:r>
            <a:endParaRPr lang="en-US" sz="900" dirty="0"/>
          </a:p>
        </p:txBody>
      </p:sp>
      <p:sp>
        <p:nvSpPr>
          <p:cNvPr id="50" name="Shape 46"/>
          <p:cNvSpPr/>
          <p:nvPr/>
        </p:nvSpPr>
        <p:spPr>
          <a:xfrm>
            <a:off x="10453116" y="2761488"/>
            <a:ext cx="373380" cy="0"/>
          </a:xfrm>
          <a:prstGeom prst="line">
            <a:avLst/>
          </a:prstGeom>
          <a:noFill/>
          <a:ln w="25400">
            <a:solidFill>
              <a:schemeClr val="tx2"/>
            </a:solidFill>
            <a:prstDash val="solid"/>
            <a:tailEnd type="triangle"/>
          </a:ln>
        </p:spPr>
      </p:sp>
      <p:sp>
        <p:nvSpPr>
          <p:cNvPr id="51" name="Shape 47"/>
          <p:cNvSpPr/>
          <p:nvPr/>
        </p:nvSpPr>
        <p:spPr>
          <a:xfrm>
            <a:off x="411480" y="3200400"/>
            <a:ext cx="914400" cy="960120"/>
          </a:xfrm>
          <a:prstGeom prst="roundRect">
            <a:avLst>
              <a:gd name="adj" fmla="val 6000"/>
            </a:avLst>
          </a:prstGeom>
          <a:solidFill>
            <a:schemeClr val="accent5">
              <a:alpha val="12000"/>
            </a:schemeClr>
          </a:solidFill>
          <a:ln/>
        </p:spPr>
      </p:sp>
      <p:sp>
        <p:nvSpPr>
          <p:cNvPr id="52" name="Text 48"/>
          <p:cNvSpPr txBox="1"/>
          <p:nvPr/>
        </p:nvSpPr>
        <p:spPr>
          <a:xfrm>
            <a:off x="475488" y="3246120"/>
            <a:ext cx="786384" cy="868680"/>
          </a:xfrm>
          <a:prstGeom prst="rect">
            <a:avLst/>
          </a:prstGeom>
          <a:noFill/>
          <a:ln/>
        </p:spPr>
        <p:txBody>
          <a:bodyPr wrap="square" lIns="0" tIns="0" rIns="0" bIns="0" rtlCol="0" anchor="ctr"/>
          <a:lstStyle/>
          <a:p>
            <a:pPr algn="ctr" indent="0" marL="0">
              <a:buNone/>
            </a:pPr>
            <a:r>
              <a:rPr lang="en-US" sz="1100" dirty="0">
                <a:solidFill>
                  <a:schemeClr val="tx1"/>
                </a:solidFill>
              </a:rPr>
              <a:t>Material arrives in MRP batches</a:t>
            </a:r>
            <a:endParaRPr lang="en-US" sz="1100" dirty="0"/>
          </a:p>
        </p:txBody>
      </p:sp>
      <p:sp>
        <p:nvSpPr>
          <p:cNvPr id="53" name="Shape 49"/>
          <p:cNvSpPr/>
          <p:nvPr/>
        </p:nvSpPr>
        <p:spPr>
          <a:xfrm>
            <a:off x="1772412" y="3200400"/>
            <a:ext cx="1371600" cy="960120"/>
          </a:xfrm>
          <a:prstGeom prst="roundRect">
            <a:avLst>
              <a:gd name="adj" fmla="val 5714"/>
            </a:avLst>
          </a:prstGeom>
          <a:solidFill>
            <a:schemeClr val="accent5">
              <a:alpha val="12000"/>
            </a:schemeClr>
          </a:solidFill>
          <a:ln/>
        </p:spPr>
      </p:sp>
      <p:sp>
        <p:nvSpPr>
          <p:cNvPr id="54" name="Text 50"/>
          <p:cNvSpPr txBox="1"/>
          <p:nvPr/>
        </p:nvSpPr>
        <p:spPr>
          <a:xfrm>
            <a:off x="1836420" y="3246120"/>
            <a:ext cx="1243584" cy="868680"/>
          </a:xfrm>
          <a:prstGeom prst="rect">
            <a:avLst/>
          </a:prstGeom>
          <a:noFill/>
          <a:ln/>
        </p:spPr>
        <p:txBody>
          <a:bodyPr wrap="square" lIns="0" tIns="0" rIns="0" bIns="0" rtlCol="0" anchor="ctr"/>
          <a:lstStyle/>
          <a:p>
            <a:pPr algn="ctr" indent="0" marL="0">
              <a:buNone/>
            </a:pPr>
            <a:r>
              <a:rPr lang="en-US" sz="1100" dirty="0">
                <a:solidFill>
                  <a:schemeClr val="tx1"/>
                </a:solidFill>
              </a:rPr>
              <a:t>Parts not kitted; techs search for material</a:t>
            </a:r>
            <a:endParaRPr lang="en-US" sz="1100" dirty="0"/>
          </a:p>
        </p:txBody>
      </p:sp>
      <p:sp>
        <p:nvSpPr>
          <p:cNvPr id="55" name="Shape 51"/>
          <p:cNvSpPr/>
          <p:nvPr/>
        </p:nvSpPr>
        <p:spPr>
          <a:xfrm>
            <a:off x="3590544" y="3200400"/>
            <a:ext cx="1371600" cy="960120"/>
          </a:xfrm>
          <a:prstGeom prst="roundRect">
            <a:avLst>
              <a:gd name="adj" fmla="val 5714"/>
            </a:avLst>
          </a:prstGeom>
          <a:solidFill>
            <a:schemeClr val="accent5">
              <a:alpha val="12000"/>
            </a:schemeClr>
          </a:solidFill>
          <a:ln/>
        </p:spPr>
      </p:sp>
      <p:sp>
        <p:nvSpPr>
          <p:cNvPr id="56" name="Text 52"/>
          <p:cNvSpPr txBox="1"/>
          <p:nvPr/>
        </p:nvSpPr>
        <p:spPr>
          <a:xfrm>
            <a:off x="3654552" y="3246120"/>
            <a:ext cx="1243584" cy="868680"/>
          </a:xfrm>
          <a:prstGeom prst="rect">
            <a:avLst/>
          </a:prstGeom>
          <a:noFill/>
          <a:ln/>
        </p:spPr>
        <p:txBody>
          <a:bodyPr wrap="square" lIns="0" tIns="0" rIns="0" bIns="0" rtlCol="0" anchor="ctr"/>
          <a:lstStyle/>
          <a:p>
            <a:pPr algn="ctr" indent="0" marL="0">
              <a:buNone/>
            </a:pPr>
            <a:r>
              <a:rPr lang="en-US" sz="1100" dirty="0">
                <a:solidFill>
                  <a:schemeClr val="tx1"/>
                </a:solidFill>
              </a:rPr>
              <a:t>MRP batches queue for every product</a:t>
            </a:r>
            <a:endParaRPr lang="en-US" sz="1100" dirty="0"/>
          </a:p>
        </p:txBody>
      </p:sp>
      <p:sp>
        <p:nvSpPr>
          <p:cNvPr id="57" name="Shape 53"/>
          <p:cNvSpPr/>
          <p:nvPr/>
        </p:nvSpPr>
        <p:spPr>
          <a:xfrm>
            <a:off x="5408676" y="3200400"/>
            <a:ext cx="1371600" cy="960120"/>
          </a:xfrm>
          <a:prstGeom prst="roundRect">
            <a:avLst>
              <a:gd name="adj" fmla="val 5714"/>
            </a:avLst>
          </a:prstGeom>
          <a:solidFill>
            <a:schemeClr val="accent5">
              <a:alpha val="12000"/>
            </a:schemeClr>
          </a:solidFill>
          <a:ln/>
        </p:spPr>
      </p:sp>
      <p:sp>
        <p:nvSpPr>
          <p:cNvPr id="58" name="Text 54"/>
          <p:cNvSpPr txBox="1"/>
          <p:nvPr/>
        </p:nvSpPr>
        <p:spPr>
          <a:xfrm>
            <a:off x="5472684" y="3246120"/>
            <a:ext cx="1243584" cy="868680"/>
          </a:xfrm>
          <a:prstGeom prst="rect">
            <a:avLst/>
          </a:prstGeom>
          <a:noFill/>
          <a:ln/>
        </p:spPr>
        <p:txBody>
          <a:bodyPr wrap="square" lIns="0" tIns="0" rIns="0" bIns="0" rtlCol="0" anchor="ctr"/>
          <a:lstStyle/>
          <a:p>
            <a:pPr algn="ctr" indent="0" marL="0">
              <a:buNone/>
            </a:pPr>
            <a:r>
              <a:rPr lang="en-US" sz="1100" dirty="0">
                <a:solidFill>
                  <a:schemeClr val="tx1"/>
                </a:solidFill>
              </a:rPr>
              <a:t>Shared by all products; long waits</a:t>
            </a:r>
            <a:endParaRPr lang="en-US" sz="1100" dirty="0"/>
          </a:p>
        </p:txBody>
      </p:sp>
      <p:sp>
        <p:nvSpPr>
          <p:cNvPr id="59" name="Shape 55"/>
          <p:cNvSpPr/>
          <p:nvPr/>
        </p:nvSpPr>
        <p:spPr>
          <a:xfrm>
            <a:off x="7226808" y="3200400"/>
            <a:ext cx="1371600" cy="960120"/>
          </a:xfrm>
          <a:prstGeom prst="roundRect">
            <a:avLst>
              <a:gd name="adj" fmla="val 5714"/>
            </a:avLst>
          </a:prstGeom>
          <a:solidFill>
            <a:schemeClr val="accent5">
              <a:alpha val="12000"/>
            </a:schemeClr>
          </a:solidFill>
          <a:ln/>
        </p:spPr>
      </p:sp>
      <p:sp>
        <p:nvSpPr>
          <p:cNvPr id="60" name="Text 56"/>
          <p:cNvSpPr txBox="1"/>
          <p:nvPr/>
        </p:nvSpPr>
        <p:spPr>
          <a:xfrm>
            <a:off x="7290816" y="3246120"/>
            <a:ext cx="1243584" cy="868680"/>
          </a:xfrm>
          <a:prstGeom prst="rect">
            <a:avLst/>
          </a:prstGeom>
          <a:noFill/>
          <a:ln/>
        </p:spPr>
        <p:txBody>
          <a:bodyPr wrap="square" lIns="0" tIns="0" rIns="0" bIns="0" rtlCol="0" anchor="ctr"/>
          <a:lstStyle/>
          <a:p>
            <a:pPr algn="ctr" indent="0" marL="0">
              <a:buNone/>
            </a:pPr>
            <a:r>
              <a:rPr lang="en-US" sz="1100" dirty="0">
                <a:solidFill>
                  <a:schemeClr val="tx1"/>
                </a:solidFill>
              </a:rPr>
              <a:t>Units built in place; techs walk for parts &amp; tools</a:t>
            </a:r>
            <a:endParaRPr lang="en-US" sz="1100" dirty="0"/>
          </a:p>
        </p:txBody>
      </p:sp>
      <p:sp>
        <p:nvSpPr>
          <p:cNvPr id="61" name="Shape 57"/>
          <p:cNvSpPr/>
          <p:nvPr/>
        </p:nvSpPr>
        <p:spPr>
          <a:xfrm>
            <a:off x="9044940" y="3200400"/>
            <a:ext cx="1371600" cy="960120"/>
          </a:xfrm>
          <a:prstGeom prst="roundRect">
            <a:avLst>
              <a:gd name="adj" fmla="val 5714"/>
            </a:avLst>
          </a:prstGeom>
          <a:solidFill>
            <a:schemeClr val="accent5">
              <a:alpha val="12000"/>
            </a:schemeClr>
          </a:solidFill>
          <a:ln/>
        </p:spPr>
      </p:sp>
      <p:sp>
        <p:nvSpPr>
          <p:cNvPr id="62" name="Text 58"/>
          <p:cNvSpPr txBox="1"/>
          <p:nvPr/>
        </p:nvSpPr>
        <p:spPr>
          <a:xfrm>
            <a:off x="9108948" y="3246120"/>
            <a:ext cx="1243584" cy="868680"/>
          </a:xfrm>
          <a:prstGeom prst="rect">
            <a:avLst/>
          </a:prstGeom>
          <a:noFill/>
          <a:ln/>
        </p:spPr>
        <p:txBody>
          <a:bodyPr wrap="square" lIns="0" tIns="0" rIns="0" bIns="0" rtlCol="0" anchor="ctr"/>
          <a:lstStyle/>
          <a:p>
            <a:pPr algn="ctr" indent="0" marL="0">
              <a:buNone/>
            </a:pPr>
            <a:r>
              <a:rPr lang="en-US" sz="1100" dirty="0">
                <a:solidFill>
                  <a:schemeClr val="tx1"/>
                </a:solidFill>
              </a:rPr>
              <a:t>Defects found late, then reworked upstream</a:t>
            </a:r>
            <a:endParaRPr lang="en-US" sz="1100" dirty="0"/>
          </a:p>
        </p:txBody>
      </p:sp>
      <p:sp>
        <p:nvSpPr>
          <p:cNvPr id="63" name="Shape 59"/>
          <p:cNvSpPr/>
          <p:nvPr/>
        </p:nvSpPr>
        <p:spPr>
          <a:xfrm>
            <a:off x="10863072" y="3200400"/>
            <a:ext cx="914400" cy="960120"/>
          </a:xfrm>
          <a:prstGeom prst="roundRect">
            <a:avLst>
              <a:gd name="adj" fmla="val 6000"/>
            </a:avLst>
          </a:prstGeom>
          <a:solidFill>
            <a:schemeClr val="accent5">
              <a:alpha val="12000"/>
            </a:schemeClr>
          </a:solidFill>
          <a:ln/>
        </p:spPr>
      </p:sp>
      <p:sp>
        <p:nvSpPr>
          <p:cNvPr id="64" name="Text 60"/>
          <p:cNvSpPr txBox="1"/>
          <p:nvPr/>
        </p:nvSpPr>
        <p:spPr>
          <a:xfrm>
            <a:off x="10927080" y="3246120"/>
            <a:ext cx="786384" cy="868680"/>
          </a:xfrm>
          <a:prstGeom prst="rect">
            <a:avLst/>
          </a:prstGeom>
          <a:noFill/>
          <a:ln/>
        </p:spPr>
        <p:txBody>
          <a:bodyPr wrap="square" lIns="0" tIns="0" rIns="0" bIns="0" rtlCol="0" anchor="ctr"/>
          <a:lstStyle/>
          <a:p>
            <a:pPr algn="ctr" indent="0" marL="0">
              <a:buNone/>
            </a:pPr>
            <a:r>
              <a:rPr lang="en-US" sz="1100" dirty="0">
                <a:solidFill>
                  <a:schemeClr val="tx1"/>
                </a:solidFill>
              </a:rPr>
              <a:t>Only ~20% of orders on time</a:t>
            </a:r>
            <a:endParaRPr lang="en-US" sz="1100" dirty="0"/>
          </a:p>
        </p:txBody>
      </p:sp>
      <p:sp>
        <p:nvSpPr>
          <p:cNvPr id="65" name="Current stat 1"/>
          <p:cNvSpPr/>
          <p:nvPr/>
        </p:nvSpPr>
        <p:spPr>
          <a:xfrm>
            <a:off x="411480" y="4434840"/>
            <a:ext cx="1737360" cy="1417320"/>
          </a:xfrm>
          <a:prstGeom prst="roundRect">
            <a:avLst>
              <a:gd name="adj" fmla="val 5161"/>
            </a:avLst>
          </a:prstGeom>
          <a:solidFill>
            <a:schemeClr val="bg2"/>
          </a:solidFill>
          <a:ln/>
        </p:spPr>
      </p:sp>
      <p:sp>
        <p:nvSpPr>
          <p:cNvPr id="66" name="Text 62"/>
          <p:cNvSpPr txBox="1"/>
          <p:nvPr/>
        </p:nvSpPr>
        <p:spPr>
          <a:xfrm>
            <a:off x="576072" y="4544568"/>
            <a:ext cx="1463040" cy="548640"/>
          </a:xfrm>
          <a:prstGeom prst="rect">
            <a:avLst/>
          </a:prstGeom>
          <a:noFill/>
          <a:ln/>
        </p:spPr>
        <p:txBody>
          <a:bodyPr wrap="square" lIns="0" tIns="0" rIns="0" bIns="0" rtlCol="0" anchor="t"/>
          <a:lstStyle/>
          <a:p>
            <a:pPr indent="0" marL="0">
              <a:buNone/>
            </a:pPr>
            <a:r>
              <a:rPr lang="en-US" sz="2800" b="1" dirty="0">
                <a:solidFill>
                  <a:schemeClr val="tx2"/>
                </a:solidFill>
              </a:rPr>
              <a:t>~7 mi</a:t>
            </a:r>
            <a:endParaRPr lang="en-US" sz="2800" dirty="0"/>
          </a:p>
        </p:txBody>
      </p:sp>
      <p:sp>
        <p:nvSpPr>
          <p:cNvPr id="67" name="Text 63"/>
          <p:cNvSpPr txBox="1"/>
          <p:nvPr/>
        </p:nvSpPr>
        <p:spPr>
          <a:xfrm>
            <a:off x="576072" y="5138928"/>
            <a:ext cx="1463040" cy="621792"/>
          </a:xfrm>
          <a:prstGeom prst="rect">
            <a:avLst/>
          </a:prstGeom>
          <a:noFill/>
          <a:ln/>
        </p:spPr>
        <p:txBody>
          <a:bodyPr wrap="square" lIns="0" tIns="0" rIns="0" bIns="0" rtlCol="0" anchor="t"/>
          <a:lstStyle/>
          <a:p>
            <a:pPr indent="0" marL="0">
              <a:buNone/>
            </a:pPr>
            <a:r>
              <a:rPr lang="en-US" sz="1150" dirty="0">
                <a:solidFill>
                  <a:schemeClr val="tx1"/>
                </a:solidFill>
              </a:rPr>
              <a:t>walked per unit (spaghetti chart)</a:t>
            </a:r>
            <a:endParaRPr lang="en-US" sz="1150" dirty="0"/>
          </a:p>
        </p:txBody>
      </p:sp>
      <p:sp>
        <p:nvSpPr>
          <p:cNvPr id="68" name="Current stat 2"/>
          <p:cNvSpPr/>
          <p:nvPr/>
        </p:nvSpPr>
        <p:spPr>
          <a:xfrm>
            <a:off x="2331720" y="4434840"/>
            <a:ext cx="1737360" cy="1417320"/>
          </a:xfrm>
          <a:prstGeom prst="roundRect">
            <a:avLst>
              <a:gd name="adj" fmla="val 5161"/>
            </a:avLst>
          </a:prstGeom>
          <a:solidFill>
            <a:schemeClr val="bg2"/>
          </a:solidFill>
          <a:ln/>
        </p:spPr>
      </p:sp>
      <p:sp>
        <p:nvSpPr>
          <p:cNvPr id="69" name="Text 65"/>
          <p:cNvSpPr txBox="1"/>
          <p:nvPr/>
        </p:nvSpPr>
        <p:spPr>
          <a:xfrm>
            <a:off x="2496312" y="4544568"/>
            <a:ext cx="1463040" cy="548640"/>
          </a:xfrm>
          <a:prstGeom prst="rect">
            <a:avLst/>
          </a:prstGeom>
          <a:noFill/>
          <a:ln/>
        </p:spPr>
        <p:txBody>
          <a:bodyPr wrap="square" lIns="0" tIns="0" rIns="0" bIns="0" rtlCol="0" anchor="t"/>
          <a:lstStyle/>
          <a:p>
            <a:pPr indent="0" marL="0">
              <a:buNone/>
            </a:pPr>
            <a:r>
              <a:rPr lang="en-US" sz="2800" b="1" dirty="0">
                <a:solidFill>
                  <a:schemeClr val="tx2"/>
                </a:solidFill>
              </a:rPr>
              <a:t>~10 h</a:t>
            </a:r>
            <a:endParaRPr lang="en-US" sz="2800" dirty="0"/>
          </a:p>
        </p:txBody>
      </p:sp>
      <p:sp>
        <p:nvSpPr>
          <p:cNvPr id="70" name="Text 66"/>
          <p:cNvSpPr txBox="1"/>
          <p:nvPr/>
        </p:nvSpPr>
        <p:spPr>
          <a:xfrm>
            <a:off x="2496312" y="5138928"/>
            <a:ext cx="1463040" cy="621792"/>
          </a:xfrm>
          <a:prstGeom prst="rect">
            <a:avLst/>
          </a:prstGeom>
          <a:noFill/>
          <a:ln/>
        </p:spPr>
        <p:txBody>
          <a:bodyPr wrap="square" lIns="0" tIns="0" rIns="0" bIns="0" rtlCol="0" anchor="t"/>
          <a:lstStyle/>
          <a:p>
            <a:pPr indent="0" marL="0">
              <a:buNone/>
            </a:pPr>
            <a:r>
              <a:rPr lang="en-US" sz="1150" dirty="0">
                <a:solidFill>
                  <a:schemeClr val="tx1"/>
                </a:solidFill>
              </a:rPr>
              <a:t>non-value-added time per unit</a:t>
            </a:r>
            <a:endParaRPr lang="en-US" sz="1150" dirty="0"/>
          </a:p>
        </p:txBody>
      </p:sp>
      <p:sp>
        <p:nvSpPr>
          <p:cNvPr id="71" name="Current stat 3"/>
          <p:cNvSpPr/>
          <p:nvPr/>
        </p:nvSpPr>
        <p:spPr>
          <a:xfrm>
            <a:off x="4251960" y="4434840"/>
            <a:ext cx="1737360" cy="1417320"/>
          </a:xfrm>
          <a:prstGeom prst="roundRect">
            <a:avLst>
              <a:gd name="adj" fmla="val 5161"/>
            </a:avLst>
          </a:prstGeom>
          <a:solidFill>
            <a:schemeClr val="bg2"/>
          </a:solidFill>
          <a:ln/>
        </p:spPr>
      </p:sp>
      <p:sp>
        <p:nvSpPr>
          <p:cNvPr id="72" name="Text 68"/>
          <p:cNvSpPr txBox="1"/>
          <p:nvPr/>
        </p:nvSpPr>
        <p:spPr>
          <a:xfrm>
            <a:off x="4416552" y="4544568"/>
            <a:ext cx="1463040" cy="548640"/>
          </a:xfrm>
          <a:prstGeom prst="rect">
            <a:avLst/>
          </a:prstGeom>
          <a:noFill/>
          <a:ln/>
        </p:spPr>
        <p:txBody>
          <a:bodyPr wrap="square" lIns="0" tIns="0" rIns="0" bIns="0" rtlCol="0" anchor="t"/>
          <a:lstStyle/>
          <a:p>
            <a:pPr indent="0" marL="0">
              <a:buNone/>
            </a:pPr>
            <a:r>
              <a:rPr lang="en-US" sz="2800" b="1" dirty="0">
                <a:solidFill>
                  <a:schemeClr val="tx2"/>
                </a:solidFill>
              </a:rPr>
              <a:t>~20%</a:t>
            </a:r>
            <a:endParaRPr lang="en-US" sz="2800" dirty="0"/>
          </a:p>
        </p:txBody>
      </p:sp>
      <p:sp>
        <p:nvSpPr>
          <p:cNvPr id="73" name="Text 69"/>
          <p:cNvSpPr txBox="1"/>
          <p:nvPr/>
        </p:nvSpPr>
        <p:spPr>
          <a:xfrm>
            <a:off x="4416552" y="5138928"/>
            <a:ext cx="1463040" cy="621792"/>
          </a:xfrm>
          <a:prstGeom prst="rect">
            <a:avLst/>
          </a:prstGeom>
          <a:noFill/>
          <a:ln/>
        </p:spPr>
        <p:txBody>
          <a:bodyPr wrap="square" lIns="0" tIns="0" rIns="0" bIns="0" rtlCol="0" anchor="t"/>
          <a:lstStyle/>
          <a:p>
            <a:pPr indent="0" marL="0">
              <a:buNone/>
            </a:pPr>
            <a:r>
              <a:rPr lang="en-US" sz="1150" dirty="0">
                <a:solidFill>
                  <a:schemeClr val="tx1"/>
                </a:solidFill>
              </a:rPr>
              <a:t>on-time delivery</a:t>
            </a:r>
            <a:endParaRPr lang="en-US" sz="1150" dirty="0"/>
          </a:p>
          <a:p>
            <a:pPr indent="0" marL="0">
              <a:buNone/>
            </a:pPr>
            <a:r>
              <a:rPr lang="en-US" sz="1150" dirty="0">
                <a:solidFill>
                  <a:schemeClr val="tx1"/>
                </a:solidFill>
              </a:rPr>
              <a:t>(Q1 2014)</a:t>
            </a:r>
            <a:endParaRPr lang="en-US" sz="1150" dirty="0"/>
          </a:p>
        </p:txBody>
      </p:sp>
      <p:sp>
        <p:nvSpPr>
          <p:cNvPr id="74" name="Current stat 4"/>
          <p:cNvSpPr/>
          <p:nvPr/>
        </p:nvSpPr>
        <p:spPr>
          <a:xfrm>
            <a:off x="6172200" y="4434840"/>
            <a:ext cx="1737360" cy="1417320"/>
          </a:xfrm>
          <a:prstGeom prst="roundRect">
            <a:avLst>
              <a:gd name="adj" fmla="val 5161"/>
            </a:avLst>
          </a:prstGeom>
          <a:solidFill>
            <a:schemeClr val="bg2"/>
          </a:solidFill>
          <a:ln/>
        </p:spPr>
      </p:sp>
      <p:sp>
        <p:nvSpPr>
          <p:cNvPr id="75" name="Text 71"/>
          <p:cNvSpPr txBox="1"/>
          <p:nvPr/>
        </p:nvSpPr>
        <p:spPr>
          <a:xfrm>
            <a:off x="6336792" y="4544568"/>
            <a:ext cx="1463040" cy="548640"/>
          </a:xfrm>
          <a:prstGeom prst="rect">
            <a:avLst/>
          </a:prstGeom>
          <a:noFill/>
          <a:ln/>
        </p:spPr>
        <p:txBody>
          <a:bodyPr wrap="square" lIns="0" tIns="0" rIns="0" bIns="0" rtlCol="0" anchor="t"/>
          <a:lstStyle/>
          <a:p>
            <a:pPr indent="0" marL="0">
              <a:buNone/>
            </a:pPr>
            <a:r>
              <a:rPr lang="en-US" sz="2800" b="1" dirty="0">
                <a:solidFill>
                  <a:schemeClr val="tx2"/>
                </a:solidFill>
              </a:rPr>
              <a:t>~50%</a:t>
            </a:r>
            <a:endParaRPr lang="en-US" sz="2800" dirty="0"/>
          </a:p>
        </p:txBody>
      </p:sp>
      <p:sp>
        <p:nvSpPr>
          <p:cNvPr id="76" name="Text 72"/>
          <p:cNvSpPr txBox="1"/>
          <p:nvPr/>
        </p:nvSpPr>
        <p:spPr>
          <a:xfrm>
            <a:off x="6336792" y="5138928"/>
            <a:ext cx="1463040" cy="621792"/>
          </a:xfrm>
          <a:prstGeom prst="rect">
            <a:avLst/>
          </a:prstGeom>
          <a:noFill/>
          <a:ln/>
        </p:spPr>
        <p:txBody>
          <a:bodyPr wrap="square" lIns="0" tIns="0" rIns="0" bIns="0" rtlCol="0" anchor="t"/>
          <a:lstStyle/>
          <a:p>
            <a:pPr indent="0" marL="0">
              <a:buNone/>
            </a:pPr>
            <a:r>
              <a:rPr lang="en-US" sz="1150" dirty="0">
                <a:solidFill>
                  <a:schemeClr val="tx1"/>
                </a:solidFill>
              </a:rPr>
              <a:t>first-pass yield</a:t>
            </a:r>
            <a:endParaRPr lang="en-US" sz="1150" dirty="0"/>
          </a:p>
          <a:p>
            <a:pPr indent="0" marL="0">
              <a:buNone/>
            </a:pPr>
            <a:r>
              <a:rPr lang="en-US" sz="1150" dirty="0">
                <a:solidFill>
                  <a:schemeClr val="tx1"/>
                </a:solidFill>
              </a:rPr>
              <a:t>(Q1 2014)</a:t>
            </a:r>
            <a:endParaRPr lang="en-US" sz="1150" dirty="0"/>
          </a:p>
        </p:txBody>
      </p:sp>
      <p:sp>
        <p:nvSpPr>
          <p:cNvPr id="77" name="Blind spots"/>
          <p:cNvSpPr/>
          <p:nvPr/>
        </p:nvSpPr>
        <p:spPr>
          <a:xfrm>
            <a:off x="8183880" y="4434840"/>
            <a:ext cx="3593592" cy="1417320"/>
          </a:xfrm>
          <a:prstGeom prst="roundRect">
            <a:avLst>
              <a:gd name="adj" fmla="val 5161"/>
            </a:avLst>
          </a:prstGeom>
          <a:solidFill>
            <a:schemeClr val="tx2"/>
          </a:solidFill>
          <a:ln/>
        </p:spPr>
      </p:sp>
      <p:pic>
        <p:nvPicPr>
          <p:cNvPr id="78" name="Image 2" descr="preencoded.png">    </p:cNvPr>
          <p:cNvPicPr>
            <a:picLocks noChangeAspect="1"/>
          </p:cNvPicPr>
          <p:nvPr/>
        </p:nvPicPr>
        <p:blipFill>
          <a:blip r:embed="rId3"/>
          <a:stretch>
            <a:fillRect/>
          </a:stretch>
        </p:blipFill>
        <p:spPr>
          <a:xfrm>
            <a:off x="8366760" y="4572000"/>
            <a:ext cx="310896" cy="274320"/>
          </a:xfrm>
          <a:prstGeom prst="rect">
            <a:avLst/>
          </a:prstGeom>
        </p:spPr>
      </p:pic>
      <p:sp>
        <p:nvSpPr>
          <p:cNvPr id="79" name="Text 74"/>
          <p:cNvSpPr txBox="1"/>
          <p:nvPr/>
        </p:nvSpPr>
        <p:spPr>
          <a:xfrm>
            <a:off x="8778240" y="4535424"/>
            <a:ext cx="2834640" cy="347472"/>
          </a:xfrm>
          <a:prstGeom prst="rect">
            <a:avLst/>
          </a:prstGeom>
          <a:noFill/>
          <a:ln/>
        </p:spPr>
        <p:txBody>
          <a:bodyPr wrap="square" lIns="0" tIns="0" rIns="0" bIns="0" rtlCol="0" anchor="ctr"/>
          <a:lstStyle/>
          <a:p>
            <a:pPr indent="0" marL="0">
              <a:buNone/>
            </a:pPr>
            <a:r>
              <a:rPr lang="en-US" sz="1300" b="1" dirty="0">
                <a:solidFill>
                  <a:schemeClr val="bg1"/>
                </a:solidFill>
              </a:rPr>
              <a:t>Managers couldn't see:</a:t>
            </a:r>
            <a:endParaRPr lang="en-US" sz="1300" dirty="0"/>
          </a:p>
        </p:txBody>
      </p:sp>
      <p:sp>
        <p:nvSpPr>
          <p:cNvPr id="80" name="Shape 75"/>
          <p:cNvSpPr/>
          <p:nvPr/>
        </p:nvSpPr>
        <p:spPr>
          <a:xfrm>
            <a:off x="8366760" y="4992624"/>
            <a:ext cx="502006" cy="310896"/>
          </a:xfrm>
          <a:prstGeom prst="roundRect">
            <a:avLst>
              <a:gd name="adj" fmla="val 23529"/>
            </a:avLst>
          </a:prstGeom>
          <a:solidFill>
            <a:schemeClr val="bg1">
              <a:alpha val="18000"/>
            </a:schemeClr>
          </a:solidFill>
          <a:ln/>
        </p:spPr>
      </p:sp>
      <p:sp>
        <p:nvSpPr>
          <p:cNvPr id="81" name="Text 76"/>
          <p:cNvSpPr txBox="1"/>
          <p:nvPr/>
        </p:nvSpPr>
        <p:spPr>
          <a:xfrm>
            <a:off x="8366760" y="4992624"/>
            <a:ext cx="502006" cy="310896"/>
          </a:xfrm>
          <a:prstGeom prst="rect">
            <a:avLst/>
          </a:prstGeom>
          <a:noFill/>
          <a:ln/>
        </p:spPr>
        <p:txBody>
          <a:bodyPr wrap="square" lIns="0" tIns="0" rIns="0" bIns="0" rtlCol="0" anchor="ctr"/>
          <a:lstStyle/>
          <a:p>
            <a:pPr algn="ctr" indent="0" marL="0">
              <a:buNone/>
            </a:pPr>
            <a:r>
              <a:rPr lang="en-US" sz="1100" dirty="0">
                <a:solidFill>
                  <a:schemeClr val="bg1"/>
                </a:solidFill>
              </a:rPr>
              <a:t>WIP</a:t>
            </a:r>
            <a:endParaRPr lang="en-US" sz="1100" dirty="0"/>
          </a:p>
        </p:txBody>
      </p:sp>
      <p:sp>
        <p:nvSpPr>
          <p:cNvPr id="82" name="Shape 77"/>
          <p:cNvSpPr/>
          <p:nvPr/>
        </p:nvSpPr>
        <p:spPr>
          <a:xfrm>
            <a:off x="8978494" y="4992624"/>
            <a:ext cx="1336853" cy="310896"/>
          </a:xfrm>
          <a:prstGeom prst="roundRect">
            <a:avLst>
              <a:gd name="adj" fmla="val 23529"/>
            </a:avLst>
          </a:prstGeom>
          <a:solidFill>
            <a:schemeClr val="bg1">
              <a:alpha val="18000"/>
            </a:schemeClr>
          </a:solidFill>
          <a:ln/>
        </p:spPr>
      </p:sp>
      <p:sp>
        <p:nvSpPr>
          <p:cNvPr id="83" name="Text 78"/>
          <p:cNvSpPr txBox="1"/>
          <p:nvPr/>
        </p:nvSpPr>
        <p:spPr>
          <a:xfrm>
            <a:off x="8978494" y="4992624"/>
            <a:ext cx="1336853" cy="310896"/>
          </a:xfrm>
          <a:prstGeom prst="rect">
            <a:avLst/>
          </a:prstGeom>
          <a:noFill/>
          <a:ln/>
        </p:spPr>
        <p:txBody>
          <a:bodyPr wrap="square" lIns="0" tIns="0" rIns="0" bIns="0" rtlCol="0" anchor="ctr"/>
          <a:lstStyle/>
          <a:p>
            <a:pPr algn="ctr" indent="0" marL="0">
              <a:buNone/>
            </a:pPr>
            <a:r>
              <a:rPr lang="en-US" sz="1100" dirty="0">
                <a:solidFill>
                  <a:schemeClr val="bg1"/>
                </a:solidFill>
              </a:rPr>
              <a:t>Finished goods</a:t>
            </a:r>
            <a:endParaRPr lang="en-US" sz="1100" dirty="0"/>
          </a:p>
        </p:txBody>
      </p:sp>
      <p:sp>
        <p:nvSpPr>
          <p:cNvPr id="84" name="Shape 79"/>
          <p:cNvSpPr/>
          <p:nvPr/>
        </p:nvSpPr>
        <p:spPr>
          <a:xfrm>
            <a:off x="10425074" y="4992624"/>
            <a:ext cx="1109167" cy="310896"/>
          </a:xfrm>
          <a:prstGeom prst="roundRect">
            <a:avLst>
              <a:gd name="adj" fmla="val 23529"/>
            </a:avLst>
          </a:prstGeom>
          <a:solidFill>
            <a:schemeClr val="bg1">
              <a:alpha val="18000"/>
            </a:schemeClr>
          </a:solidFill>
          <a:ln/>
        </p:spPr>
      </p:sp>
      <p:sp>
        <p:nvSpPr>
          <p:cNvPr id="85" name="Text 80"/>
          <p:cNvSpPr txBox="1"/>
          <p:nvPr/>
        </p:nvSpPr>
        <p:spPr>
          <a:xfrm>
            <a:off x="10425074" y="4992624"/>
            <a:ext cx="1109167" cy="310896"/>
          </a:xfrm>
          <a:prstGeom prst="rect">
            <a:avLst/>
          </a:prstGeom>
          <a:noFill/>
          <a:ln/>
        </p:spPr>
        <p:txBody>
          <a:bodyPr wrap="square" lIns="0" tIns="0" rIns="0" bIns="0" rtlCol="0" anchor="ctr"/>
          <a:lstStyle/>
          <a:p>
            <a:pPr algn="ctr" indent="0" marL="0">
              <a:buNone/>
            </a:pPr>
            <a:r>
              <a:rPr lang="en-US" sz="1100" dirty="0">
                <a:solidFill>
                  <a:schemeClr val="bg1"/>
                </a:solidFill>
              </a:rPr>
              <a:t>Work status</a:t>
            </a:r>
            <a:endParaRPr lang="en-US" sz="1100" dirty="0"/>
          </a:p>
        </p:txBody>
      </p:sp>
      <p:sp>
        <p:nvSpPr>
          <p:cNvPr id="86" name="Shape 81"/>
          <p:cNvSpPr/>
          <p:nvPr/>
        </p:nvSpPr>
        <p:spPr>
          <a:xfrm>
            <a:off x="8366760" y="5394960"/>
            <a:ext cx="1716329" cy="310896"/>
          </a:xfrm>
          <a:prstGeom prst="roundRect">
            <a:avLst>
              <a:gd name="adj" fmla="val 23529"/>
            </a:avLst>
          </a:prstGeom>
          <a:solidFill>
            <a:schemeClr val="bg1">
              <a:alpha val="18000"/>
            </a:schemeClr>
          </a:solidFill>
          <a:ln/>
        </p:spPr>
      </p:sp>
      <p:sp>
        <p:nvSpPr>
          <p:cNvPr id="87" name="Text 82"/>
          <p:cNvSpPr txBox="1"/>
          <p:nvPr/>
        </p:nvSpPr>
        <p:spPr>
          <a:xfrm>
            <a:off x="8366760" y="5394960"/>
            <a:ext cx="1716329" cy="310896"/>
          </a:xfrm>
          <a:prstGeom prst="rect">
            <a:avLst/>
          </a:prstGeom>
          <a:noFill/>
          <a:ln/>
        </p:spPr>
        <p:txBody>
          <a:bodyPr wrap="square" lIns="0" tIns="0" rIns="0" bIns="0" rtlCol="0" anchor="ctr"/>
          <a:lstStyle/>
          <a:p>
            <a:pPr algn="ctr" indent="0" marL="0">
              <a:buNone/>
            </a:pPr>
            <a:r>
              <a:rPr lang="en-US" sz="1100" dirty="0">
                <a:solidFill>
                  <a:schemeClr val="bg1"/>
                </a:solidFill>
              </a:rPr>
              <a:t>Labour requirements</a:t>
            </a:r>
            <a:endParaRPr lang="en-US" sz="1100" dirty="0"/>
          </a:p>
        </p:txBody>
      </p:sp>
      <p:sp>
        <p:nvSpPr>
          <p:cNvPr id="88" name="Shape 83"/>
          <p:cNvSpPr/>
          <p:nvPr/>
        </p:nvSpPr>
        <p:spPr>
          <a:xfrm>
            <a:off x="10192817" y="5394960"/>
            <a:ext cx="1185062" cy="310896"/>
          </a:xfrm>
          <a:prstGeom prst="roundRect">
            <a:avLst>
              <a:gd name="adj" fmla="val 23529"/>
            </a:avLst>
          </a:prstGeom>
          <a:solidFill>
            <a:schemeClr val="bg1">
              <a:alpha val="18000"/>
            </a:schemeClr>
          </a:solidFill>
          <a:ln/>
        </p:spPr>
      </p:sp>
      <p:sp>
        <p:nvSpPr>
          <p:cNvPr id="89" name="Text 84"/>
          <p:cNvSpPr txBox="1"/>
          <p:nvPr/>
        </p:nvSpPr>
        <p:spPr>
          <a:xfrm>
            <a:off x="10192817" y="5394960"/>
            <a:ext cx="1185062" cy="310896"/>
          </a:xfrm>
          <a:prstGeom prst="rect">
            <a:avLst/>
          </a:prstGeom>
          <a:noFill/>
          <a:ln/>
        </p:spPr>
        <p:txBody>
          <a:bodyPr wrap="square" lIns="0" tIns="0" rIns="0" bIns="0" rtlCol="0" anchor="ctr"/>
          <a:lstStyle/>
          <a:p>
            <a:pPr algn="ctr" indent="0" marL="0">
              <a:buNone/>
            </a:pPr>
            <a:r>
              <a:rPr lang="en-US" sz="1100" dirty="0">
                <a:solidFill>
                  <a:schemeClr val="bg1"/>
                </a:solidFill>
              </a:rPr>
              <a:t>Process flow</a:t>
            </a:r>
            <a:endParaRPr lang="en-US" sz="1100" dirty="0"/>
          </a:p>
        </p:txBody>
      </p:sp>
      <p:sp>
        <p:nvSpPr>
          <p:cNvPr id="90" name="Text 85"/>
          <p:cNvSpPr txBox="1"/>
          <p:nvPr/>
        </p:nvSpPr>
        <p:spPr>
          <a:xfrm>
            <a:off x="411480" y="5989320"/>
            <a:ext cx="11365992" cy="228600"/>
          </a:xfrm>
          <a:prstGeom prst="rect">
            <a:avLst/>
          </a:prstGeom>
          <a:noFill/>
          <a:ln/>
        </p:spPr>
        <p:txBody>
          <a:bodyPr wrap="square" lIns="0" tIns="0" rIns="0" bIns="0" rtlCol="0" anchor="t"/>
          <a:lstStyle/>
          <a:p>
            <a:pPr indent="0" marL="0">
              <a:buNone/>
            </a:pPr>
            <a:r>
              <a:rPr lang="en-US" sz="900" i="1" dirty="0">
                <a:solidFill>
                  <a:srgbClr val="5B6675"/>
                </a:solidFill>
              </a:rPr>
              <a:t>Data: LEI (2016): spaghetti chart and Q1 2014 metrics. Process map simplified by WG-3 for illustration.</a:t>
            </a:r>
            <a:endParaRPr lang="en-US" sz="90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WASTE IDENTIFICATION: THE 8 WASTES (TIMWOODS)</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~10 hours of non-value-added time per unit: the problem was waste in the system, not a lack of effort.</a:t>
            </a:r>
            <a:endParaRPr lang="en-US" sz="1400" dirty="0"/>
          </a:p>
        </p:txBody>
      </p:sp>
      <p:sp>
        <p:nvSpPr>
          <p:cNvPr id="4" name="Waste Transportation"/>
          <p:cNvSpPr/>
          <p:nvPr/>
        </p:nvSpPr>
        <p:spPr>
          <a:xfrm>
            <a:off x="411480" y="1188720"/>
            <a:ext cx="2670048" cy="2377440"/>
          </a:xfrm>
          <a:prstGeom prst="roundRect">
            <a:avLst>
              <a:gd name="adj" fmla="val 3077"/>
            </a:avLst>
          </a:prstGeom>
          <a:solidFill>
            <a:schemeClr val="bg2"/>
          </a:solidFill>
          <a:ln/>
        </p:spPr>
      </p:sp>
      <p:sp>
        <p:nvSpPr>
          <p:cNvPr id="5" name="Shape 3"/>
          <p:cNvSpPr/>
          <p:nvPr/>
        </p:nvSpPr>
        <p:spPr>
          <a:xfrm>
            <a:off x="594360" y="1371600"/>
            <a:ext cx="502920" cy="502920"/>
          </a:xfrm>
          <a:prstGeom prst="ellipse">
            <a:avLst/>
          </a:prstGeom>
          <a:solidFill>
            <a:schemeClr val="accent5"/>
          </a:solidFill>
          <a:ln/>
        </p:spPr>
      </p:sp>
      <p:sp>
        <p:nvSpPr>
          <p:cNvPr id="6" name="Text 4"/>
          <p:cNvSpPr txBox="1"/>
          <p:nvPr/>
        </p:nvSpPr>
        <p:spPr>
          <a:xfrm>
            <a:off x="594360" y="13716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T</a:t>
            </a:r>
            <a:endParaRPr lang="en-US" sz="1800" dirty="0"/>
          </a:p>
        </p:txBody>
      </p:sp>
      <p:sp>
        <p:nvSpPr>
          <p:cNvPr id="7" name="Text 5"/>
          <p:cNvSpPr txBox="1"/>
          <p:nvPr/>
        </p:nvSpPr>
        <p:spPr>
          <a:xfrm>
            <a:off x="1216152" y="1371600"/>
            <a:ext cx="1755648" cy="502920"/>
          </a:xfrm>
          <a:prstGeom prst="rect">
            <a:avLst/>
          </a:prstGeom>
          <a:noFill/>
          <a:ln/>
        </p:spPr>
        <p:txBody>
          <a:bodyPr wrap="square" lIns="0" tIns="0" rIns="0" bIns="0" rtlCol="0" anchor="ctr"/>
          <a:lstStyle/>
          <a:p>
            <a:pPr indent="0" marL="0">
              <a:buNone/>
            </a:pPr>
            <a:r>
              <a:rPr lang="en-US" sz="1400" b="1" dirty="0">
                <a:solidFill>
                  <a:schemeClr val="tx2"/>
                </a:solidFill>
              </a:rPr>
              <a:t>Transportation</a:t>
            </a:r>
            <a:endParaRPr lang="en-US" sz="1400" dirty="0"/>
          </a:p>
        </p:txBody>
      </p:sp>
      <p:sp>
        <p:nvSpPr>
          <p:cNvPr id="8" name="Text 6"/>
          <p:cNvSpPr txBox="1"/>
          <p:nvPr/>
        </p:nvSpPr>
        <p:spPr>
          <a:xfrm>
            <a:off x="594360" y="1993392"/>
            <a:ext cx="2304288" cy="868680"/>
          </a:xfrm>
          <a:prstGeom prst="rect">
            <a:avLst/>
          </a:prstGeom>
          <a:noFill/>
          <a:ln/>
        </p:spPr>
        <p:txBody>
          <a:bodyPr wrap="square" lIns="0" tIns="0" rIns="0" bIns="0" rtlCol="0" anchor="t"/>
          <a:lstStyle/>
          <a:p>
            <a:pPr indent="0" marL="0">
              <a:buNone/>
            </a:pPr>
            <a:r>
              <a:rPr lang="en-US" sz="1250" dirty="0">
                <a:solidFill>
                  <a:schemeClr val="tx1"/>
                </a:solidFill>
              </a:rPr>
              <a:t>Heavy housings and parts move between far-apart departments</a:t>
            </a:r>
            <a:endParaRPr lang="en-US" sz="1250" dirty="0"/>
          </a:p>
        </p:txBody>
      </p:sp>
      <p:sp>
        <p:nvSpPr>
          <p:cNvPr id="9" name="Shape 7"/>
          <p:cNvSpPr/>
          <p:nvPr/>
        </p:nvSpPr>
        <p:spPr>
          <a:xfrm>
            <a:off x="539496" y="2889504"/>
            <a:ext cx="2414016" cy="548640"/>
          </a:xfrm>
          <a:prstGeom prst="roundRect">
            <a:avLst>
              <a:gd name="adj" fmla="val 13333"/>
            </a:avLst>
          </a:prstGeom>
          <a:solidFill>
            <a:schemeClr val="bg1"/>
          </a:solidFill>
          <a:ln/>
        </p:spPr>
      </p:sp>
      <p:sp>
        <p:nvSpPr>
          <p:cNvPr id="10" name="Text 8"/>
          <p:cNvSpPr txBox="1"/>
          <p:nvPr/>
        </p:nvSpPr>
        <p:spPr>
          <a:xfrm>
            <a:off x="649224" y="2889504"/>
            <a:ext cx="2194560" cy="548640"/>
          </a:xfrm>
          <a:prstGeom prst="rect">
            <a:avLst/>
          </a:prstGeom>
          <a:noFill/>
          <a:ln/>
        </p:spPr>
        <p:txBody>
          <a:bodyPr wrap="square" lIns="0" tIns="0" rIns="0" bIns="0" rtlCol="0" anchor="ctr"/>
          <a:lstStyle/>
          <a:p>
            <a:pPr indent="0" marL="0">
              <a:buNone/>
            </a:pPr>
            <a:r>
              <a:rPr lang="en-US" sz="1100" b="1" dirty="0">
                <a:solidFill>
                  <a:schemeClr val="accent1"/>
                </a:solidFill>
              </a:rPr>
              <a:t>Fix: </a:t>
            </a:r>
            <a:pPr indent="0" marL="0">
              <a:buNone/>
            </a:pPr>
            <a:r>
              <a:rPr lang="en-US" sz="1100" b="1" dirty="0">
                <a:solidFill>
                  <a:schemeClr val="tx2"/>
                </a:solidFill>
              </a:rPr>
              <a:t>Cells by product family</a:t>
            </a:r>
            <a:endParaRPr lang="en-US" sz="1100" dirty="0"/>
          </a:p>
        </p:txBody>
      </p:sp>
      <p:sp>
        <p:nvSpPr>
          <p:cNvPr id="11" name="Waste Inventory"/>
          <p:cNvSpPr/>
          <p:nvPr/>
        </p:nvSpPr>
        <p:spPr>
          <a:xfrm>
            <a:off x="3310128" y="1188720"/>
            <a:ext cx="2670048" cy="2377440"/>
          </a:xfrm>
          <a:prstGeom prst="roundRect">
            <a:avLst>
              <a:gd name="adj" fmla="val 3077"/>
            </a:avLst>
          </a:prstGeom>
          <a:solidFill>
            <a:schemeClr val="bg2"/>
          </a:solidFill>
          <a:ln/>
        </p:spPr>
      </p:sp>
      <p:sp>
        <p:nvSpPr>
          <p:cNvPr id="12" name="Shape 10"/>
          <p:cNvSpPr/>
          <p:nvPr/>
        </p:nvSpPr>
        <p:spPr>
          <a:xfrm>
            <a:off x="3493008" y="1371600"/>
            <a:ext cx="502920" cy="502920"/>
          </a:xfrm>
          <a:prstGeom prst="ellipse">
            <a:avLst/>
          </a:prstGeom>
          <a:solidFill>
            <a:schemeClr val="accent5"/>
          </a:solidFill>
          <a:ln/>
        </p:spPr>
      </p:sp>
      <p:sp>
        <p:nvSpPr>
          <p:cNvPr id="13" name="Text 11"/>
          <p:cNvSpPr txBox="1"/>
          <p:nvPr/>
        </p:nvSpPr>
        <p:spPr>
          <a:xfrm>
            <a:off x="3493008" y="13716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I</a:t>
            </a:r>
            <a:endParaRPr lang="en-US" sz="1800" dirty="0"/>
          </a:p>
        </p:txBody>
      </p:sp>
      <p:sp>
        <p:nvSpPr>
          <p:cNvPr id="14" name="Text 12"/>
          <p:cNvSpPr txBox="1"/>
          <p:nvPr/>
        </p:nvSpPr>
        <p:spPr>
          <a:xfrm>
            <a:off x="4114800" y="1371600"/>
            <a:ext cx="1755648" cy="502920"/>
          </a:xfrm>
          <a:prstGeom prst="rect">
            <a:avLst/>
          </a:prstGeom>
          <a:noFill/>
          <a:ln/>
        </p:spPr>
        <p:txBody>
          <a:bodyPr wrap="square" lIns="0" tIns="0" rIns="0" bIns="0" rtlCol="0" anchor="ctr"/>
          <a:lstStyle/>
          <a:p>
            <a:pPr indent="0" marL="0">
              <a:buNone/>
            </a:pPr>
            <a:r>
              <a:rPr lang="en-US" sz="1400" b="1" dirty="0">
                <a:solidFill>
                  <a:schemeClr val="tx2"/>
                </a:solidFill>
              </a:rPr>
              <a:t>Inventory</a:t>
            </a:r>
            <a:endParaRPr lang="en-US" sz="1400" dirty="0"/>
          </a:p>
        </p:txBody>
      </p:sp>
      <p:sp>
        <p:nvSpPr>
          <p:cNvPr id="15" name="Text 13"/>
          <p:cNvSpPr txBox="1"/>
          <p:nvPr/>
        </p:nvSpPr>
        <p:spPr>
          <a:xfrm>
            <a:off x="3493008" y="1993392"/>
            <a:ext cx="2304288" cy="868680"/>
          </a:xfrm>
          <a:prstGeom prst="rect">
            <a:avLst/>
          </a:prstGeom>
          <a:noFill/>
          <a:ln/>
        </p:spPr>
        <p:txBody>
          <a:bodyPr wrap="square" lIns="0" tIns="0" rIns="0" bIns="0" rtlCol="0" anchor="t"/>
          <a:lstStyle/>
          <a:p>
            <a:pPr indent="0" marL="0">
              <a:buNone/>
            </a:pPr>
            <a:r>
              <a:rPr lang="en-US" sz="1250" dirty="0">
                <a:solidFill>
                  <a:schemeClr val="tx1"/>
                </a:solidFill>
              </a:rPr>
              <a:t>WIP piles in every department; nobody can count it</a:t>
            </a:r>
            <a:endParaRPr lang="en-US" sz="1250" dirty="0"/>
          </a:p>
        </p:txBody>
      </p:sp>
      <p:sp>
        <p:nvSpPr>
          <p:cNvPr id="16" name="Shape 14"/>
          <p:cNvSpPr/>
          <p:nvPr/>
        </p:nvSpPr>
        <p:spPr>
          <a:xfrm>
            <a:off x="3438144" y="2889504"/>
            <a:ext cx="2414016" cy="548640"/>
          </a:xfrm>
          <a:prstGeom prst="roundRect">
            <a:avLst>
              <a:gd name="adj" fmla="val 13333"/>
            </a:avLst>
          </a:prstGeom>
          <a:solidFill>
            <a:schemeClr val="bg1"/>
          </a:solidFill>
          <a:ln/>
        </p:spPr>
      </p:sp>
      <p:sp>
        <p:nvSpPr>
          <p:cNvPr id="17" name="Text 15"/>
          <p:cNvSpPr txBox="1"/>
          <p:nvPr/>
        </p:nvSpPr>
        <p:spPr>
          <a:xfrm>
            <a:off x="3547872" y="2889504"/>
            <a:ext cx="2194560" cy="548640"/>
          </a:xfrm>
          <a:prstGeom prst="rect">
            <a:avLst/>
          </a:prstGeom>
          <a:noFill/>
          <a:ln/>
        </p:spPr>
        <p:txBody>
          <a:bodyPr wrap="square" lIns="0" tIns="0" rIns="0" bIns="0" rtlCol="0" anchor="ctr"/>
          <a:lstStyle/>
          <a:p>
            <a:pPr indent="0" marL="0">
              <a:buNone/>
            </a:pPr>
            <a:r>
              <a:rPr lang="en-US" sz="1100" b="1" dirty="0">
                <a:solidFill>
                  <a:schemeClr val="accent1"/>
                </a:solidFill>
              </a:rPr>
              <a:t>Fix: </a:t>
            </a:r>
            <a:pPr indent="0" marL="0">
              <a:buNone/>
            </a:pPr>
            <a:r>
              <a:rPr lang="en-US" sz="1100" b="1" dirty="0">
                <a:solidFill>
                  <a:schemeClr val="tx2"/>
                </a:solidFill>
              </a:rPr>
              <a:t>FIFO lanes with WIP caps</a:t>
            </a:r>
            <a:endParaRPr lang="en-US" sz="1100" dirty="0"/>
          </a:p>
        </p:txBody>
      </p:sp>
      <p:sp>
        <p:nvSpPr>
          <p:cNvPr id="18" name="Waste Motion"/>
          <p:cNvSpPr/>
          <p:nvPr/>
        </p:nvSpPr>
        <p:spPr>
          <a:xfrm>
            <a:off x="6208776" y="1188720"/>
            <a:ext cx="2670048" cy="2377440"/>
          </a:xfrm>
          <a:prstGeom prst="roundRect">
            <a:avLst>
              <a:gd name="adj" fmla="val 3077"/>
            </a:avLst>
          </a:prstGeom>
          <a:solidFill>
            <a:schemeClr val="bg2"/>
          </a:solidFill>
          <a:ln/>
        </p:spPr>
      </p:sp>
      <p:sp>
        <p:nvSpPr>
          <p:cNvPr id="19" name="Shape 17"/>
          <p:cNvSpPr/>
          <p:nvPr/>
        </p:nvSpPr>
        <p:spPr>
          <a:xfrm>
            <a:off x="6391656" y="1371600"/>
            <a:ext cx="502920" cy="502920"/>
          </a:xfrm>
          <a:prstGeom prst="ellipse">
            <a:avLst/>
          </a:prstGeom>
          <a:solidFill>
            <a:schemeClr val="accent5"/>
          </a:solidFill>
          <a:ln/>
        </p:spPr>
      </p:sp>
      <p:sp>
        <p:nvSpPr>
          <p:cNvPr id="20" name="Text 18"/>
          <p:cNvSpPr txBox="1"/>
          <p:nvPr/>
        </p:nvSpPr>
        <p:spPr>
          <a:xfrm>
            <a:off x="6391656" y="13716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M</a:t>
            </a:r>
            <a:endParaRPr lang="en-US" sz="1800" dirty="0"/>
          </a:p>
        </p:txBody>
      </p:sp>
      <p:sp>
        <p:nvSpPr>
          <p:cNvPr id="21" name="Text 19"/>
          <p:cNvSpPr txBox="1"/>
          <p:nvPr/>
        </p:nvSpPr>
        <p:spPr>
          <a:xfrm>
            <a:off x="7013448" y="1371600"/>
            <a:ext cx="1755648" cy="502920"/>
          </a:xfrm>
          <a:prstGeom prst="rect">
            <a:avLst/>
          </a:prstGeom>
          <a:noFill/>
          <a:ln/>
        </p:spPr>
        <p:txBody>
          <a:bodyPr wrap="square" lIns="0" tIns="0" rIns="0" bIns="0" rtlCol="0" anchor="ctr"/>
          <a:lstStyle/>
          <a:p>
            <a:pPr indent="0" marL="0">
              <a:buNone/>
            </a:pPr>
            <a:r>
              <a:rPr lang="en-US" sz="1400" b="1" dirty="0">
                <a:solidFill>
                  <a:schemeClr val="tx2"/>
                </a:solidFill>
              </a:rPr>
              <a:t>Motion</a:t>
            </a:r>
            <a:endParaRPr lang="en-US" sz="1400" dirty="0"/>
          </a:p>
        </p:txBody>
      </p:sp>
      <p:sp>
        <p:nvSpPr>
          <p:cNvPr id="22" name="Text 20"/>
          <p:cNvSpPr txBox="1"/>
          <p:nvPr/>
        </p:nvSpPr>
        <p:spPr>
          <a:xfrm>
            <a:off x="6391656" y="1993392"/>
            <a:ext cx="2304288" cy="868680"/>
          </a:xfrm>
          <a:prstGeom prst="rect">
            <a:avLst/>
          </a:prstGeom>
          <a:noFill/>
          <a:ln/>
        </p:spPr>
        <p:txBody>
          <a:bodyPr wrap="square" lIns="0" tIns="0" rIns="0" bIns="0" rtlCol="0" anchor="t"/>
          <a:lstStyle/>
          <a:p>
            <a:pPr indent="0" marL="0">
              <a:buNone/>
            </a:pPr>
            <a:r>
              <a:rPr lang="en-US" sz="1250" dirty="0">
                <a:solidFill>
                  <a:schemeClr val="tx1"/>
                </a:solidFill>
              </a:rPr>
              <a:t>~7 miles of walking per unit for parts, tools and drawings</a:t>
            </a:r>
            <a:endParaRPr lang="en-US" sz="1250" dirty="0"/>
          </a:p>
        </p:txBody>
      </p:sp>
      <p:sp>
        <p:nvSpPr>
          <p:cNvPr id="23" name="Shape 21"/>
          <p:cNvSpPr/>
          <p:nvPr/>
        </p:nvSpPr>
        <p:spPr>
          <a:xfrm>
            <a:off x="6336792" y="2889504"/>
            <a:ext cx="2414016" cy="548640"/>
          </a:xfrm>
          <a:prstGeom prst="roundRect">
            <a:avLst>
              <a:gd name="adj" fmla="val 13333"/>
            </a:avLst>
          </a:prstGeom>
          <a:solidFill>
            <a:schemeClr val="bg1"/>
          </a:solidFill>
          <a:ln/>
        </p:spPr>
      </p:sp>
      <p:sp>
        <p:nvSpPr>
          <p:cNvPr id="24" name="Text 22"/>
          <p:cNvSpPr txBox="1"/>
          <p:nvPr/>
        </p:nvSpPr>
        <p:spPr>
          <a:xfrm>
            <a:off x="6446520" y="2889504"/>
            <a:ext cx="2194560" cy="548640"/>
          </a:xfrm>
          <a:prstGeom prst="rect">
            <a:avLst/>
          </a:prstGeom>
          <a:noFill/>
          <a:ln/>
        </p:spPr>
        <p:txBody>
          <a:bodyPr wrap="square" lIns="0" tIns="0" rIns="0" bIns="0" rtlCol="0" anchor="ctr"/>
          <a:lstStyle/>
          <a:p>
            <a:pPr indent="0" marL="0">
              <a:buNone/>
            </a:pPr>
            <a:r>
              <a:rPr lang="en-US" sz="1100" b="1" dirty="0">
                <a:solidFill>
                  <a:schemeClr val="accent1"/>
                </a:solidFill>
              </a:rPr>
              <a:t>Fix: </a:t>
            </a:r>
            <a:pPr indent="0" marL="0">
              <a:buNone/>
            </a:pPr>
            <a:r>
              <a:rPr lang="en-US" sz="1100" b="1" dirty="0">
                <a:solidFill>
                  <a:schemeClr val="tx2"/>
                </a:solidFill>
              </a:rPr>
              <a:t>Kits and defined work areas</a:t>
            </a:r>
            <a:endParaRPr lang="en-US" sz="1100" dirty="0"/>
          </a:p>
        </p:txBody>
      </p:sp>
      <p:sp>
        <p:nvSpPr>
          <p:cNvPr id="25" name="Waste Waiting"/>
          <p:cNvSpPr/>
          <p:nvPr/>
        </p:nvSpPr>
        <p:spPr>
          <a:xfrm>
            <a:off x="9107424" y="1188720"/>
            <a:ext cx="2670048" cy="2377440"/>
          </a:xfrm>
          <a:prstGeom prst="roundRect">
            <a:avLst>
              <a:gd name="adj" fmla="val 3077"/>
            </a:avLst>
          </a:prstGeom>
          <a:solidFill>
            <a:schemeClr val="bg2"/>
          </a:solidFill>
          <a:ln/>
        </p:spPr>
      </p:sp>
      <p:sp>
        <p:nvSpPr>
          <p:cNvPr id="26" name="Shape 24"/>
          <p:cNvSpPr/>
          <p:nvPr/>
        </p:nvSpPr>
        <p:spPr>
          <a:xfrm>
            <a:off x="9290304" y="1371600"/>
            <a:ext cx="502920" cy="502920"/>
          </a:xfrm>
          <a:prstGeom prst="ellipse">
            <a:avLst/>
          </a:prstGeom>
          <a:solidFill>
            <a:schemeClr val="accent5"/>
          </a:solidFill>
          <a:ln/>
        </p:spPr>
      </p:sp>
      <p:sp>
        <p:nvSpPr>
          <p:cNvPr id="27" name="Text 25"/>
          <p:cNvSpPr txBox="1"/>
          <p:nvPr/>
        </p:nvSpPr>
        <p:spPr>
          <a:xfrm>
            <a:off x="9290304" y="13716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W</a:t>
            </a:r>
            <a:endParaRPr lang="en-US" sz="1800" dirty="0"/>
          </a:p>
        </p:txBody>
      </p:sp>
      <p:sp>
        <p:nvSpPr>
          <p:cNvPr id="28" name="Text 26"/>
          <p:cNvSpPr txBox="1"/>
          <p:nvPr/>
        </p:nvSpPr>
        <p:spPr>
          <a:xfrm>
            <a:off x="9912096" y="1371600"/>
            <a:ext cx="1755648" cy="502920"/>
          </a:xfrm>
          <a:prstGeom prst="rect">
            <a:avLst/>
          </a:prstGeom>
          <a:noFill/>
          <a:ln/>
        </p:spPr>
        <p:txBody>
          <a:bodyPr wrap="square" lIns="0" tIns="0" rIns="0" bIns="0" rtlCol="0" anchor="ctr"/>
          <a:lstStyle/>
          <a:p>
            <a:pPr indent="0" marL="0">
              <a:buNone/>
            </a:pPr>
            <a:r>
              <a:rPr lang="en-US" sz="1400" b="1" dirty="0">
                <a:solidFill>
                  <a:schemeClr val="tx2"/>
                </a:solidFill>
              </a:rPr>
              <a:t>Waiting</a:t>
            </a:r>
            <a:endParaRPr lang="en-US" sz="1400" dirty="0"/>
          </a:p>
        </p:txBody>
      </p:sp>
      <p:sp>
        <p:nvSpPr>
          <p:cNvPr id="29" name="Text 27"/>
          <p:cNvSpPr txBox="1"/>
          <p:nvPr/>
        </p:nvSpPr>
        <p:spPr>
          <a:xfrm>
            <a:off x="9290304" y="1993392"/>
            <a:ext cx="2304288" cy="868680"/>
          </a:xfrm>
          <a:prstGeom prst="rect">
            <a:avLst/>
          </a:prstGeom>
          <a:noFill/>
          <a:ln/>
        </p:spPr>
        <p:txBody>
          <a:bodyPr wrap="square" lIns="0" tIns="0" rIns="0" bIns="0" rtlCol="0" anchor="t"/>
          <a:lstStyle/>
          <a:p>
            <a:pPr indent="0" marL="0">
              <a:buNone/>
            </a:pPr>
            <a:r>
              <a:rPr lang="en-US" sz="1250" dirty="0">
                <a:solidFill>
                  <a:schemeClr val="tx1"/>
                </a:solidFill>
              </a:rPr>
              <a:t>Units wait for missing parts, the crane, the test stand or decisions</a:t>
            </a:r>
            <a:endParaRPr lang="en-US" sz="1250" dirty="0"/>
          </a:p>
        </p:txBody>
      </p:sp>
      <p:sp>
        <p:nvSpPr>
          <p:cNvPr id="30" name="Shape 28"/>
          <p:cNvSpPr/>
          <p:nvPr/>
        </p:nvSpPr>
        <p:spPr>
          <a:xfrm>
            <a:off x="9235440" y="2889504"/>
            <a:ext cx="2414016" cy="548640"/>
          </a:xfrm>
          <a:prstGeom prst="roundRect">
            <a:avLst>
              <a:gd name="adj" fmla="val 13333"/>
            </a:avLst>
          </a:prstGeom>
          <a:solidFill>
            <a:schemeClr val="bg1"/>
          </a:solidFill>
          <a:ln/>
        </p:spPr>
      </p:sp>
      <p:sp>
        <p:nvSpPr>
          <p:cNvPr id="31" name="Text 29"/>
          <p:cNvSpPr txBox="1"/>
          <p:nvPr/>
        </p:nvSpPr>
        <p:spPr>
          <a:xfrm>
            <a:off x="9345168" y="2889504"/>
            <a:ext cx="2194560" cy="548640"/>
          </a:xfrm>
          <a:prstGeom prst="rect">
            <a:avLst/>
          </a:prstGeom>
          <a:noFill/>
          <a:ln/>
        </p:spPr>
        <p:txBody>
          <a:bodyPr wrap="square" lIns="0" tIns="0" rIns="0" bIns="0" rtlCol="0" anchor="ctr"/>
          <a:lstStyle/>
          <a:p>
            <a:pPr indent="0" marL="0">
              <a:buNone/>
            </a:pPr>
            <a:r>
              <a:rPr lang="en-US" sz="1100" b="1" dirty="0">
                <a:solidFill>
                  <a:schemeClr val="accent1"/>
                </a:solidFill>
              </a:rPr>
              <a:t>Fix: </a:t>
            </a:r>
            <a:pPr indent="0" marL="0">
              <a:buNone/>
            </a:pPr>
            <a:r>
              <a:rPr lang="en-US" sz="1100" b="1" dirty="0">
                <a:solidFill>
                  <a:schemeClr val="tx2"/>
                </a:solidFill>
              </a:rPr>
              <a:t>3-day pitch; kit complete before start</a:t>
            </a:r>
            <a:endParaRPr lang="en-US" sz="1100" dirty="0"/>
          </a:p>
        </p:txBody>
      </p:sp>
      <p:sp>
        <p:nvSpPr>
          <p:cNvPr id="32" name="Waste Over-production"/>
          <p:cNvSpPr/>
          <p:nvPr/>
        </p:nvSpPr>
        <p:spPr>
          <a:xfrm>
            <a:off x="411480" y="3767328"/>
            <a:ext cx="2670048" cy="2377440"/>
          </a:xfrm>
          <a:prstGeom prst="roundRect">
            <a:avLst>
              <a:gd name="adj" fmla="val 3077"/>
            </a:avLst>
          </a:prstGeom>
          <a:solidFill>
            <a:schemeClr val="bg2"/>
          </a:solidFill>
          <a:ln/>
        </p:spPr>
      </p:sp>
      <p:sp>
        <p:nvSpPr>
          <p:cNvPr id="33" name="Shape 31"/>
          <p:cNvSpPr/>
          <p:nvPr/>
        </p:nvSpPr>
        <p:spPr>
          <a:xfrm>
            <a:off x="594360" y="3950208"/>
            <a:ext cx="502920" cy="502920"/>
          </a:xfrm>
          <a:prstGeom prst="ellipse">
            <a:avLst/>
          </a:prstGeom>
          <a:solidFill>
            <a:schemeClr val="accent5"/>
          </a:solidFill>
          <a:ln/>
        </p:spPr>
      </p:sp>
      <p:sp>
        <p:nvSpPr>
          <p:cNvPr id="34" name="Text 32"/>
          <p:cNvSpPr txBox="1"/>
          <p:nvPr/>
        </p:nvSpPr>
        <p:spPr>
          <a:xfrm>
            <a:off x="594360" y="395020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O</a:t>
            </a:r>
            <a:endParaRPr lang="en-US" sz="1800" dirty="0"/>
          </a:p>
        </p:txBody>
      </p:sp>
      <p:sp>
        <p:nvSpPr>
          <p:cNvPr id="35" name="Text 33"/>
          <p:cNvSpPr txBox="1"/>
          <p:nvPr/>
        </p:nvSpPr>
        <p:spPr>
          <a:xfrm>
            <a:off x="1216152" y="3950208"/>
            <a:ext cx="1755648" cy="502920"/>
          </a:xfrm>
          <a:prstGeom prst="rect">
            <a:avLst/>
          </a:prstGeom>
          <a:noFill/>
          <a:ln/>
        </p:spPr>
        <p:txBody>
          <a:bodyPr wrap="square" lIns="0" tIns="0" rIns="0" bIns="0" rtlCol="0" anchor="ctr"/>
          <a:lstStyle/>
          <a:p>
            <a:pPr indent="0" marL="0">
              <a:buNone/>
            </a:pPr>
            <a:r>
              <a:rPr lang="en-US" sz="1400" b="1" dirty="0">
                <a:solidFill>
                  <a:schemeClr val="tx2"/>
                </a:solidFill>
              </a:rPr>
              <a:t>Over-production</a:t>
            </a:r>
            <a:endParaRPr lang="en-US" sz="1400" dirty="0"/>
          </a:p>
        </p:txBody>
      </p:sp>
      <p:sp>
        <p:nvSpPr>
          <p:cNvPr id="36" name="Text 34"/>
          <p:cNvSpPr txBox="1"/>
          <p:nvPr/>
        </p:nvSpPr>
        <p:spPr>
          <a:xfrm>
            <a:off x="594360" y="4572000"/>
            <a:ext cx="2304288" cy="868680"/>
          </a:xfrm>
          <a:prstGeom prst="rect">
            <a:avLst/>
          </a:prstGeom>
          <a:noFill/>
          <a:ln/>
        </p:spPr>
        <p:txBody>
          <a:bodyPr wrap="square" lIns="0" tIns="0" rIns="0" bIns="0" rtlCol="0" anchor="t"/>
          <a:lstStyle/>
          <a:p>
            <a:pPr indent="0" marL="0">
              <a:buNone/>
            </a:pPr>
            <a:r>
              <a:rPr lang="en-US" sz="1250" dirty="0">
                <a:solidFill>
                  <a:schemeClr val="tx1"/>
                </a:solidFill>
              </a:rPr>
              <a:t>MRP batches build parts ahead of need</a:t>
            </a:r>
            <a:endParaRPr lang="en-US" sz="1250" dirty="0"/>
          </a:p>
        </p:txBody>
      </p:sp>
      <p:sp>
        <p:nvSpPr>
          <p:cNvPr id="37" name="Shape 35"/>
          <p:cNvSpPr/>
          <p:nvPr/>
        </p:nvSpPr>
        <p:spPr>
          <a:xfrm>
            <a:off x="539496" y="5468112"/>
            <a:ext cx="2414016" cy="548640"/>
          </a:xfrm>
          <a:prstGeom prst="roundRect">
            <a:avLst>
              <a:gd name="adj" fmla="val 13333"/>
            </a:avLst>
          </a:prstGeom>
          <a:solidFill>
            <a:schemeClr val="bg1"/>
          </a:solidFill>
          <a:ln/>
        </p:spPr>
      </p:sp>
      <p:sp>
        <p:nvSpPr>
          <p:cNvPr id="38" name="Text 36"/>
          <p:cNvSpPr txBox="1"/>
          <p:nvPr/>
        </p:nvSpPr>
        <p:spPr>
          <a:xfrm>
            <a:off x="649224" y="5468112"/>
            <a:ext cx="2194560" cy="548640"/>
          </a:xfrm>
          <a:prstGeom prst="rect">
            <a:avLst/>
          </a:prstGeom>
          <a:noFill/>
          <a:ln/>
        </p:spPr>
        <p:txBody>
          <a:bodyPr wrap="square" lIns="0" tIns="0" rIns="0" bIns="0" rtlCol="0" anchor="ctr"/>
          <a:lstStyle/>
          <a:p>
            <a:pPr indent="0" marL="0">
              <a:buNone/>
            </a:pPr>
            <a:r>
              <a:rPr lang="en-US" sz="1100" b="1" dirty="0">
                <a:solidFill>
                  <a:schemeClr val="accent1"/>
                </a:solidFill>
              </a:rPr>
              <a:t>Fix: </a:t>
            </a:r>
            <a:pPr indent="0" marL="0">
              <a:buNone/>
            </a:pPr>
            <a:r>
              <a:rPr lang="en-US" sz="1100" b="1" dirty="0">
                <a:solidFill>
                  <a:schemeClr val="tx2"/>
                </a:solidFill>
              </a:rPr>
              <a:t>Pull: build what the next step needs</a:t>
            </a:r>
            <a:endParaRPr lang="en-US" sz="1100" dirty="0"/>
          </a:p>
        </p:txBody>
      </p:sp>
      <p:sp>
        <p:nvSpPr>
          <p:cNvPr id="39" name="Waste Over-processing"/>
          <p:cNvSpPr/>
          <p:nvPr/>
        </p:nvSpPr>
        <p:spPr>
          <a:xfrm>
            <a:off x="3310128" y="3767328"/>
            <a:ext cx="2670048" cy="2377440"/>
          </a:xfrm>
          <a:prstGeom prst="roundRect">
            <a:avLst>
              <a:gd name="adj" fmla="val 3077"/>
            </a:avLst>
          </a:prstGeom>
          <a:solidFill>
            <a:schemeClr val="bg2"/>
          </a:solidFill>
          <a:ln/>
        </p:spPr>
      </p:sp>
      <p:sp>
        <p:nvSpPr>
          <p:cNvPr id="40" name="Shape 38"/>
          <p:cNvSpPr/>
          <p:nvPr/>
        </p:nvSpPr>
        <p:spPr>
          <a:xfrm>
            <a:off x="3493008" y="3950208"/>
            <a:ext cx="502920" cy="502920"/>
          </a:xfrm>
          <a:prstGeom prst="ellipse">
            <a:avLst/>
          </a:prstGeom>
          <a:solidFill>
            <a:schemeClr val="accent5"/>
          </a:solidFill>
          <a:ln/>
        </p:spPr>
      </p:sp>
      <p:sp>
        <p:nvSpPr>
          <p:cNvPr id="41" name="Text 39"/>
          <p:cNvSpPr txBox="1"/>
          <p:nvPr/>
        </p:nvSpPr>
        <p:spPr>
          <a:xfrm>
            <a:off x="3493008" y="395020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O</a:t>
            </a:r>
            <a:endParaRPr lang="en-US" sz="1800" dirty="0"/>
          </a:p>
        </p:txBody>
      </p:sp>
      <p:sp>
        <p:nvSpPr>
          <p:cNvPr id="42" name="Text 40"/>
          <p:cNvSpPr txBox="1"/>
          <p:nvPr/>
        </p:nvSpPr>
        <p:spPr>
          <a:xfrm>
            <a:off x="4114800" y="3950208"/>
            <a:ext cx="1755648" cy="502920"/>
          </a:xfrm>
          <a:prstGeom prst="rect">
            <a:avLst/>
          </a:prstGeom>
          <a:noFill/>
          <a:ln/>
        </p:spPr>
        <p:txBody>
          <a:bodyPr wrap="square" lIns="0" tIns="0" rIns="0" bIns="0" rtlCol="0" anchor="ctr"/>
          <a:lstStyle/>
          <a:p>
            <a:pPr indent="0" marL="0">
              <a:buNone/>
            </a:pPr>
            <a:r>
              <a:rPr lang="en-US" sz="1400" b="1" dirty="0">
                <a:solidFill>
                  <a:schemeClr val="tx2"/>
                </a:solidFill>
              </a:rPr>
              <a:t>Over-processing</a:t>
            </a:r>
            <a:endParaRPr lang="en-US" sz="1400" dirty="0"/>
          </a:p>
        </p:txBody>
      </p:sp>
      <p:sp>
        <p:nvSpPr>
          <p:cNvPr id="43" name="Text 41"/>
          <p:cNvSpPr txBox="1"/>
          <p:nvPr/>
        </p:nvSpPr>
        <p:spPr>
          <a:xfrm>
            <a:off x="3493008" y="4572000"/>
            <a:ext cx="2304288" cy="868680"/>
          </a:xfrm>
          <a:prstGeom prst="rect">
            <a:avLst/>
          </a:prstGeom>
          <a:noFill/>
          <a:ln/>
        </p:spPr>
        <p:txBody>
          <a:bodyPr wrap="square" lIns="0" tIns="0" rIns="0" bIns="0" rtlCol="0" anchor="t"/>
          <a:lstStyle/>
          <a:p>
            <a:pPr indent="0" marL="0">
              <a:buNone/>
            </a:pPr>
            <a:r>
              <a:rPr lang="en-US" sz="1250" dirty="0">
                <a:solidFill>
                  <a:schemeClr val="tx1"/>
                </a:solidFill>
              </a:rPr>
              <a:t>Re-reading 100+ page routers; repeated checks and workarounds</a:t>
            </a:r>
            <a:endParaRPr lang="en-US" sz="1250" dirty="0"/>
          </a:p>
        </p:txBody>
      </p:sp>
      <p:sp>
        <p:nvSpPr>
          <p:cNvPr id="44" name="Shape 42"/>
          <p:cNvSpPr/>
          <p:nvPr/>
        </p:nvSpPr>
        <p:spPr>
          <a:xfrm>
            <a:off x="3438144" y="5468112"/>
            <a:ext cx="2414016" cy="548640"/>
          </a:xfrm>
          <a:prstGeom prst="roundRect">
            <a:avLst>
              <a:gd name="adj" fmla="val 13333"/>
            </a:avLst>
          </a:prstGeom>
          <a:solidFill>
            <a:schemeClr val="bg1"/>
          </a:solidFill>
          <a:ln/>
        </p:spPr>
      </p:sp>
      <p:sp>
        <p:nvSpPr>
          <p:cNvPr id="45" name="Text 43"/>
          <p:cNvSpPr txBox="1"/>
          <p:nvPr/>
        </p:nvSpPr>
        <p:spPr>
          <a:xfrm>
            <a:off x="3547872" y="5468112"/>
            <a:ext cx="2194560" cy="548640"/>
          </a:xfrm>
          <a:prstGeom prst="rect">
            <a:avLst/>
          </a:prstGeom>
          <a:noFill/>
          <a:ln/>
        </p:spPr>
        <p:txBody>
          <a:bodyPr wrap="square" lIns="0" tIns="0" rIns="0" bIns="0" rtlCol="0" anchor="ctr"/>
          <a:lstStyle/>
          <a:p>
            <a:pPr indent="0" marL="0">
              <a:buNone/>
            </a:pPr>
            <a:r>
              <a:rPr lang="en-US" sz="1100" b="1" dirty="0">
                <a:solidFill>
                  <a:schemeClr val="accent1"/>
                </a:solidFill>
              </a:rPr>
              <a:t>Fix: </a:t>
            </a:r>
            <a:pPr indent="0" marL="0">
              <a:buNone/>
            </a:pPr>
            <a:r>
              <a:rPr lang="en-US" sz="1100" b="1" dirty="0">
                <a:solidFill>
                  <a:schemeClr val="tx2"/>
                </a:solidFill>
              </a:rPr>
              <a:t>Standard work for common steps</a:t>
            </a:r>
            <a:endParaRPr lang="en-US" sz="1100" dirty="0"/>
          </a:p>
        </p:txBody>
      </p:sp>
      <p:sp>
        <p:nvSpPr>
          <p:cNvPr id="46" name="Waste Defects"/>
          <p:cNvSpPr/>
          <p:nvPr/>
        </p:nvSpPr>
        <p:spPr>
          <a:xfrm>
            <a:off x="6208776" y="3767328"/>
            <a:ext cx="2670048" cy="2377440"/>
          </a:xfrm>
          <a:prstGeom prst="roundRect">
            <a:avLst>
              <a:gd name="adj" fmla="val 3077"/>
            </a:avLst>
          </a:prstGeom>
          <a:solidFill>
            <a:schemeClr val="bg2"/>
          </a:solidFill>
          <a:ln/>
        </p:spPr>
      </p:sp>
      <p:sp>
        <p:nvSpPr>
          <p:cNvPr id="47" name="Shape 45"/>
          <p:cNvSpPr/>
          <p:nvPr/>
        </p:nvSpPr>
        <p:spPr>
          <a:xfrm>
            <a:off x="6391656" y="3950208"/>
            <a:ext cx="502920" cy="502920"/>
          </a:xfrm>
          <a:prstGeom prst="ellipse">
            <a:avLst/>
          </a:prstGeom>
          <a:solidFill>
            <a:schemeClr val="accent5"/>
          </a:solidFill>
          <a:ln/>
        </p:spPr>
      </p:sp>
      <p:sp>
        <p:nvSpPr>
          <p:cNvPr id="48" name="Text 46"/>
          <p:cNvSpPr txBox="1"/>
          <p:nvPr/>
        </p:nvSpPr>
        <p:spPr>
          <a:xfrm>
            <a:off x="6391656" y="395020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49" name="Text 47"/>
          <p:cNvSpPr txBox="1"/>
          <p:nvPr/>
        </p:nvSpPr>
        <p:spPr>
          <a:xfrm>
            <a:off x="7013448" y="3950208"/>
            <a:ext cx="1755648" cy="502920"/>
          </a:xfrm>
          <a:prstGeom prst="rect">
            <a:avLst/>
          </a:prstGeom>
          <a:noFill/>
          <a:ln/>
        </p:spPr>
        <p:txBody>
          <a:bodyPr wrap="square" lIns="0" tIns="0" rIns="0" bIns="0" rtlCol="0" anchor="ctr"/>
          <a:lstStyle/>
          <a:p>
            <a:pPr indent="0" marL="0">
              <a:buNone/>
            </a:pPr>
            <a:r>
              <a:rPr lang="en-US" sz="1400" b="1" dirty="0">
                <a:solidFill>
                  <a:schemeClr val="tx2"/>
                </a:solidFill>
              </a:rPr>
              <a:t>Defects</a:t>
            </a:r>
            <a:endParaRPr lang="en-US" sz="1400" dirty="0"/>
          </a:p>
        </p:txBody>
      </p:sp>
      <p:sp>
        <p:nvSpPr>
          <p:cNvPr id="50" name="Text 48"/>
          <p:cNvSpPr txBox="1"/>
          <p:nvPr/>
        </p:nvSpPr>
        <p:spPr>
          <a:xfrm>
            <a:off x="6391656" y="4572000"/>
            <a:ext cx="2304288" cy="868680"/>
          </a:xfrm>
          <a:prstGeom prst="rect">
            <a:avLst/>
          </a:prstGeom>
          <a:noFill/>
          <a:ln/>
        </p:spPr>
        <p:txBody>
          <a:bodyPr wrap="square" lIns="0" tIns="0" rIns="0" bIns="0" rtlCol="0" anchor="t"/>
          <a:lstStyle/>
          <a:p>
            <a:pPr indent="0" marL="0">
              <a:buNone/>
            </a:pPr>
            <a:r>
              <a:rPr lang="en-US" sz="1250" dirty="0">
                <a:solidFill>
                  <a:schemeClr val="tx1"/>
                </a:solidFill>
              </a:rPr>
              <a:t>~50% first-pass yield; errors caught late at test</a:t>
            </a:r>
            <a:endParaRPr lang="en-US" sz="1250" dirty="0"/>
          </a:p>
        </p:txBody>
      </p:sp>
      <p:sp>
        <p:nvSpPr>
          <p:cNvPr id="51" name="Shape 49"/>
          <p:cNvSpPr/>
          <p:nvPr/>
        </p:nvSpPr>
        <p:spPr>
          <a:xfrm>
            <a:off x="6336792" y="5468112"/>
            <a:ext cx="2414016" cy="548640"/>
          </a:xfrm>
          <a:prstGeom prst="roundRect">
            <a:avLst>
              <a:gd name="adj" fmla="val 13333"/>
            </a:avLst>
          </a:prstGeom>
          <a:solidFill>
            <a:schemeClr val="bg1"/>
          </a:solidFill>
          <a:ln/>
        </p:spPr>
      </p:sp>
      <p:sp>
        <p:nvSpPr>
          <p:cNvPr id="52" name="Text 50"/>
          <p:cNvSpPr txBox="1"/>
          <p:nvPr/>
        </p:nvSpPr>
        <p:spPr>
          <a:xfrm>
            <a:off x="6446520" y="5468112"/>
            <a:ext cx="2194560" cy="548640"/>
          </a:xfrm>
          <a:prstGeom prst="rect">
            <a:avLst/>
          </a:prstGeom>
          <a:noFill/>
          <a:ln/>
        </p:spPr>
        <p:txBody>
          <a:bodyPr wrap="square" lIns="0" tIns="0" rIns="0" bIns="0" rtlCol="0" anchor="ctr"/>
          <a:lstStyle/>
          <a:p>
            <a:pPr indent="0" marL="0">
              <a:buNone/>
            </a:pPr>
            <a:r>
              <a:rPr lang="en-US" sz="1100" b="1" dirty="0">
                <a:solidFill>
                  <a:schemeClr val="accent1"/>
                </a:solidFill>
              </a:rPr>
              <a:t>Fix: </a:t>
            </a:r>
            <a:pPr indent="0" marL="0">
              <a:buNone/>
            </a:pPr>
            <a:r>
              <a:rPr lang="en-US" sz="1100" b="1" dirty="0">
                <a:solidFill>
                  <a:schemeClr val="tx2"/>
                </a:solidFill>
              </a:rPr>
              <a:t>Built-in quality checks at each station</a:t>
            </a:r>
            <a:endParaRPr lang="en-US" sz="1100" dirty="0"/>
          </a:p>
        </p:txBody>
      </p:sp>
      <p:sp>
        <p:nvSpPr>
          <p:cNvPr id="53" name="Waste Skills (unused talent)"/>
          <p:cNvSpPr/>
          <p:nvPr/>
        </p:nvSpPr>
        <p:spPr>
          <a:xfrm>
            <a:off x="9107424" y="3767328"/>
            <a:ext cx="2670048" cy="2377440"/>
          </a:xfrm>
          <a:prstGeom prst="roundRect">
            <a:avLst>
              <a:gd name="adj" fmla="val 3077"/>
            </a:avLst>
          </a:prstGeom>
          <a:solidFill>
            <a:schemeClr val="bg2"/>
          </a:solidFill>
          <a:ln/>
        </p:spPr>
      </p:sp>
      <p:sp>
        <p:nvSpPr>
          <p:cNvPr id="54" name="Shape 52"/>
          <p:cNvSpPr/>
          <p:nvPr/>
        </p:nvSpPr>
        <p:spPr>
          <a:xfrm>
            <a:off x="9290304" y="3950208"/>
            <a:ext cx="502920" cy="502920"/>
          </a:xfrm>
          <a:prstGeom prst="ellipse">
            <a:avLst/>
          </a:prstGeom>
          <a:solidFill>
            <a:schemeClr val="accent5"/>
          </a:solidFill>
          <a:ln/>
        </p:spPr>
      </p:sp>
      <p:sp>
        <p:nvSpPr>
          <p:cNvPr id="55" name="Text 53"/>
          <p:cNvSpPr txBox="1"/>
          <p:nvPr/>
        </p:nvSpPr>
        <p:spPr>
          <a:xfrm>
            <a:off x="9290304" y="395020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S</a:t>
            </a:r>
            <a:endParaRPr lang="en-US" sz="1800" dirty="0"/>
          </a:p>
        </p:txBody>
      </p:sp>
      <p:sp>
        <p:nvSpPr>
          <p:cNvPr id="56" name="Text 54"/>
          <p:cNvSpPr txBox="1"/>
          <p:nvPr/>
        </p:nvSpPr>
        <p:spPr>
          <a:xfrm>
            <a:off x="9912096" y="3950208"/>
            <a:ext cx="1755648" cy="502920"/>
          </a:xfrm>
          <a:prstGeom prst="rect">
            <a:avLst/>
          </a:prstGeom>
          <a:noFill/>
          <a:ln/>
        </p:spPr>
        <p:txBody>
          <a:bodyPr wrap="square" lIns="0" tIns="0" rIns="0" bIns="0" rtlCol="0" anchor="ctr"/>
          <a:lstStyle/>
          <a:p>
            <a:pPr indent="0" marL="0">
              <a:buNone/>
            </a:pPr>
            <a:r>
              <a:rPr lang="en-US" sz="1400" b="1" dirty="0">
                <a:solidFill>
                  <a:schemeClr val="tx2"/>
                </a:solidFill>
              </a:rPr>
              <a:t>Skills (unused talent)</a:t>
            </a:r>
            <a:endParaRPr lang="en-US" sz="1400" dirty="0"/>
          </a:p>
        </p:txBody>
      </p:sp>
      <p:sp>
        <p:nvSpPr>
          <p:cNvPr id="57" name="Text 55"/>
          <p:cNvSpPr txBox="1"/>
          <p:nvPr/>
        </p:nvSpPr>
        <p:spPr>
          <a:xfrm>
            <a:off x="9290304" y="4572000"/>
            <a:ext cx="2304288" cy="868680"/>
          </a:xfrm>
          <a:prstGeom prst="rect">
            <a:avLst/>
          </a:prstGeom>
          <a:noFill/>
          <a:ln/>
        </p:spPr>
        <p:txBody>
          <a:bodyPr wrap="square" lIns="0" tIns="0" rIns="0" bIns="0" rtlCol="0" anchor="t"/>
          <a:lstStyle/>
          <a:p>
            <a:pPr indent="0" marL="0">
              <a:buNone/>
            </a:pPr>
            <a:r>
              <a:rPr lang="en-US" sz="1250" dirty="0">
                <a:solidFill>
                  <a:schemeClr val="tx1"/>
                </a:solidFill>
              </a:rPr>
              <a:t>Know-how sits with a few experts; operators not engaged in improvement</a:t>
            </a:r>
            <a:endParaRPr lang="en-US" sz="1250" dirty="0"/>
          </a:p>
        </p:txBody>
      </p:sp>
      <p:sp>
        <p:nvSpPr>
          <p:cNvPr id="58" name="Shape 56"/>
          <p:cNvSpPr/>
          <p:nvPr/>
        </p:nvSpPr>
        <p:spPr>
          <a:xfrm>
            <a:off x="9235440" y="5468112"/>
            <a:ext cx="2414016" cy="548640"/>
          </a:xfrm>
          <a:prstGeom prst="roundRect">
            <a:avLst>
              <a:gd name="adj" fmla="val 13333"/>
            </a:avLst>
          </a:prstGeom>
          <a:solidFill>
            <a:schemeClr val="bg1"/>
          </a:solidFill>
          <a:ln/>
        </p:spPr>
      </p:sp>
      <p:sp>
        <p:nvSpPr>
          <p:cNvPr id="59" name="Text 57"/>
          <p:cNvSpPr txBox="1"/>
          <p:nvPr/>
        </p:nvSpPr>
        <p:spPr>
          <a:xfrm>
            <a:off x="9345168" y="5468112"/>
            <a:ext cx="2194560" cy="548640"/>
          </a:xfrm>
          <a:prstGeom prst="rect">
            <a:avLst/>
          </a:prstGeom>
          <a:noFill/>
          <a:ln/>
        </p:spPr>
        <p:txBody>
          <a:bodyPr wrap="square" lIns="0" tIns="0" rIns="0" bIns="0" rtlCol="0" anchor="ctr"/>
          <a:lstStyle/>
          <a:p>
            <a:pPr indent="0" marL="0">
              <a:buNone/>
            </a:pPr>
            <a:r>
              <a:rPr lang="en-US" sz="1100" b="1" dirty="0">
                <a:solidFill>
                  <a:schemeClr val="accent1"/>
                </a:solidFill>
              </a:rPr>
              <a:t>Fix: </a:t>
            </a:r>
            <a:pPr indent="0" marL="0">
              <a:buNone/>
            </a:pPr>
            <a:r>
              <a:rPr lang="en-US" sz="1100" b="1" dirty="0">
                <a:solidFill>
                  <a:schemeClr val="tx2"/>
                </a:solidFill>
              </a:rPr>
              <a:t>Standard work + daily huddles</a:t>
            </a:r>
            <a:endParaRPr lang="en-US" sz="1100" dirty="0"/>
          </a:p>
        </p:txBody>
      </p:sp>
      <p:sp>
        <p:nvSpPr>
          <p:cNvPr id="60" name="Text 58"/>
          <p:cNvSpPr txBox="1"/>
          <p:nvPr/>
        </p:nvSpPr>
        <p:spPr>
          <a:xfrm>
            <a:off x="411480" y="6291072"/>
            <a:ext cx="11365992" cy="228600"/>
          </a:xfrm>
          <a:prstGeom prst="rect">
            <a:avLst/>
          </a:prstGeom>
          <a:noFill/>
          <a:ln/>
        </p:spPr>
        <p:txBody>
          <a:bodyPr wrap="square" lIns="0" tIns="0" rIns="0" bIns="0" rtlCol="0" anchor="t"/>
          <a:lstStyle/>
          <a:p>
            <a:pPr indent="0" marL="0">
              <a:buNone/>
            </a:pPr>
            <a:r>
              <a:rPr lang="en-US" sz="900" i="1" dirty="0">
                <a:solidFill>
                  <a:srgbClr val="5B6675"/>
                </a:solidFill>
              </a:rPr>
              <a:t>Walking and FPY figures: LEI (2016). Waste examples and fixes: WG-3 analysis of the case.</a:t>
            </a:r>
            <a:endParaRPr lang="en-US" sz="90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ROOT CAUSE ANALYSIS: FISHBONE (6M)</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Causes cluster in method, layout and information, not in people's effort.</a:t>
            </a:r>
            <a:endParaRPr lang="en-US" sz="1400" dirty="0"/>
          </a:p>
        </p:txBody>
      </p:sp>
      <p:sp>
        <p:nvSpPr>
          <p:cNvPr id="4" name="Shape 2"/>
          <p:cNvSpPr/>
          <p:nvPr/>
        </p:nvSpPr>
        <p:spPr>
          <a:xfrm>
            <a:off x="411480" y="3703320"/>
            <a:ext cx="9217152" cy="0"/>
          </a:xfrm>
          <a:prstGeom prst="line">
            <a:avLst/>
          </a:prstGeom>
          <a:noFill/>
          <a:ln w="38100">
            <a:solidFill>
              <a:schemeClr val="tx2"/>
            </a:solidFill>
            <a:prstDash val="solid"/>
            <a:tailEnd type="triangle"/>
          </a:ln>
        </p:spPr>
      </p:sp>
      <p:sp>
        <p:nvSpPr>
          <p:cNvPr id="5" name="Effect"/>
          <p:cNvSpPr/>
          <p:nvPr/>
        </p:nvSpPr>
        <p:spPr>
          <a:xfrm>
            <a:off x="9646920" y="2926080"/>
            <a:ext cx="2130552" cy="1554480"/>
          </a:xfrm>
          <a:prstGeom prst="roundRect">
            <a:avLst>
              <a:gd name="adj" fmla="val 4706"/>
            </a:avLst>
          </a:prstGeom>
          <a:solidFill>
            <a:schemeClr val="accent5"/>
          </a:solidFill>
          <a:ln/>
        </p:spPr>
      </p:sp>
      <p:sp>
        <p:nvSpPr>
          <p:cNvPr id="6" name="Text 4"/>
          <p:cNvSpPr txBox="1"/>
          <p:nvPr/>
        </p:nvSpPr>
        <p:spPr>
          <a:xfrm>
            <a:off x="9784080" y="2926080"/>
            <a:ext cx="1874520" cy="1554480"/>
          </a:xfrm>
          <a:prstGeom prst="rect">
            <a:avLst/>
          </a:prstGeom>
          <a:noFill/>
          <a:ln/>
        </p:spPr>
        <p:txBody>
          <a:bodyPr wrap="square" lIns="0" tIns="0" rIns="0" bIns="0" rtlCol="0" anchor="ctr"/>
          <a:lstStyle/>
          <a:p>
            <a:pPr indent="0" marL="0">
              <a:buNone/>
            </a:pPr>
            <a:r>
              <a:rPr lang="en-US" sz="1100" b="1" dirty="0">
                <a:solidFill>
                  <a:schemeClr val="bg1"/>
                </a:solidFill>
              </a:rPr>
              <a:t>EFFECT</a:t>
            </a:r>
            <a:endParaRPr lang="en-US" sz="1200" dirty="0"/>
          </a:p>
          <a:p>
            <a:pPr indent="0" marL="0">
              <a:buNone/>
            </a:pPr>
            <a:r>
              <a:rPr lang="en-US" sz="1400" b="1" dirty="0">
                <a:solidFill>
                  <a:schemeClr val="bg1"/>
                </a:solidFill>
              </a:rPr>
              <a:t>~20% on-time delivery and ~50% first-pass yield</a:t>
            </a:r>
            <a:endParaRPr lang="en-US" sz="1200" dirty="0"/>
          </a:p>
        </p:txBody>
      </p:sp>
      <p:sp>
        <p:nvSpPr>
          <p:cNvPr id="7" name="Shape 5"/>
          <p:cNvSpPr/>
          <p:nvPr/>
        </p:nvSpPr>
        <p:spPr>
          <a:xfrm>
            <a:off x="1920240" y="1600200"/>
            <a:ext cx="1188720" cy="2103120"/>
          </a:xfrm>
          <a:prstGeom prst="line">
            <a:avLst/>
          </a:prstGeom>
          <a:noFill/>
          <a:ln w="25400">
            <a:solidFill>
              <a:schemeClr val="accent1"/>
            </a:solidFill>
            <a:prstDash val="solid"/>
          </a:ln>
        </p:spPr>
      </p:sp>
      <p:sp>
        <p:nvSpPr>
          <p:cNvPr id="8" name="Shape 6"/>
          <p:cNvSpPr/>
          <p:nvPr/>
        </p:nvSpPr>
        <p:spPr>
          <a:xfrm>
            <a:off x="1097280" y="1188720"/>
            <a:ext cx="1645920" cy="384048"/>
          </a:xfrm>
          <a:prstGeom prst="roundRect">
            <a:avLst>
              <a:gd name="adj" fmla="val 19048"/>
            </a:avLst>
          </a:prstGeom>
          <a:solidFill>
            <a:schemeClr val="accent1"/>
          </a:solidFill>
          <a:ln/>
        </p:spPr>
      </p:sp>
      <p:sp>
        <p:nvSpPr>
          <p:cNvPr id="9" name="Text 7"/>
          <p:cNvSpPr txBox="1"/>
          <p:nvPr/>
        </p:nvSpPr>
        <p:spPr>
          <a:xfrm>
            <a:off x="1097280" y="1188720"/>
            <a:ext cx="1645920" cy="384048"/>
          </a:xfrm>
          <a:prstGeom prst="rect">
            <a:avLst/>
          </a:prstGeom>
          <a:noFill/>
          <a:ln/>
        </p:spPr>
        <p:txBody>
          <a:bodyPr wrap="square" lIns="0" tIns="0" rIns="0" bIns="0" rtlCol="0" anchor="ctr"/>
          <a:lstStyle/>
          <a:p>
            <a:pPr algn="ctr" indent="0" marL="0">
              <a:buNone/>
            </a:pPr>
            <a:r>
              <a:rPr lang="en-US" sz="1200" b="1" dirty="0">
                <a:solidFill>
                  <a:schemeClr val="bg1"/>
                </a:solidFill>
              </a:rPr>
              <a:t>METHOD</a:t>
            </a:r>
            <a:endParaRPr lang="en-US" sz="1200" dirty="0"/>
          </a:p>
        </p:txBody>
      </p:sp>
      <p:sp>
        <p:nvSpPr>
          <p:cNvPr id="10" name="Text 8"/>
          <p:cNvSpPr txBox="1"/>
          <p:nvPr/>
        </p:nvSpPr>
        <p:spPr>
          <a:xfrm>
            <a:off x="365760" y="1737360"/>
            <a:ext cx="1536192" cy="1828800"/>
          </a:xfrm>
          <a:prstGeom prst="rect">
            <a:avLst/>
          </a:prstGeom>
          <a:noFill/>
          <a:ln/>
        </p:spPr>
        <p:txBody>
          <a:bodyPr wrap="square" lIns="0" tIns="0" rIns="0" bIns="0" rtlCol="0" anchor="t"/>
          <a:lstStyle/>
          <a:p>
            <a:pPr marL="127000" indent="-127000">
              <a:spcAft>
                <a:spcPts val="600"/>
              </a:spcAft>
              <a:buSzPct val="100000"/>
              <a:buChar char="•"/>
            </a:pPr>
            <a:r>
              <a:rPr lang="en-US" sz="1150" dirty="0">
                <a:solidFill>
                  <a:schemeClr val="tx1"/>
                </a:solidFill>
              </a:rPr>
              <a:t>No standard work: each tech builds 'their way'</a:t>
            </a:r>
            <a:endParaRPr lang="en-US" sz="1150" dirty="0"/>
          </a:p>
          <a:p>
            <a:pPr marL="127000" indent="-127000">
              <a:spcAft>
                <a:spcPts val="600"/>
              </a:spcAft>
              <a:buSzPct val="100000"/>
              <a:buChar char="•"/>
            </a:pPr>
            <a:r>
              <a:rPr lang="en-US" sz="1150" dirty="0">
                <a:solidFill>
                  <a:schemeClr val="tx1"/>
                </a:solidFill>
              </a:rPr>
              <a:t>MRP push scheduling and batch release</a:t>
            </a:r>
            <a:endParaRPr lang="en-US" sz="1150" dirty="0"/>
          </a:p>
        </p:txBody>
      </p:sp>
      <p:sp>
        <p:nvSpPr>
          <p:cNvPr id="11" name="Shape 9"/>
          <p:cNvSpPr/>
          <p:nvPr/>
        </p:nvSpPr>
        <p:spPr>
          <a:xfrm flipV="1">
            <a:off x="1920240" y="3703320"/>
            <a:ext cx="1188720" cy="2103120"/>
          </a:xfrm>
          <a:prstGeom prst="line">
            <a:avLst/>
          </a:prstGeom>
          <a:noFill/>
          <a:ln w="25400">
            <a:solidFill>
              <a:schemeClr val="accent1"/>
            </a:solidFill>
            <a:prstDash val="solid"/>
          </a:ln>
        </p:spPr>
      </p:sp>
      <p:sp>
        <p:nvSpPr>
          <p:cNvPr id="12" name="Shape 10"/>
          <p:cNvSpPr/>
          <p:nvPr/>
        </p:nvSpPr>
        <p:spPr>
          <a:xfrm>
            <a:off x="1097280" y="5806440"/>
            <a:ext cx="1645920" cy="384048"/>
          </a:xfrm>
          <a:prstGeom prst="roundRect">
            <a:avLst>
              <a:gd name="adj" fmla="val 19048"/>
            </a:avLst>
          </a:prstGeom>
          <a:solidFill>
            <a:schemeClr val="accent1"/>
          </a:solidFill>
          <a:ln/>
        </p:spPr>
      </p:sp>
      <p:sp>
        <p:nvSpPr>
          <p:cNvPr id="13" name="Text 11"/>
          <p:cNvSpPr txBox="1"/>
          <p:nvPr/>
        </p:nvSpPr>
        <p:spPr>
          <a:xfrm>
            <a:off x="1097280" y="5806440"/>
            <a:ext cx="1645920" cy="384048"/>
          </a:xfrm>
          <a:prstGeom prst="rect">
            <a:avLst/>
          </a:prstGeom>
          <a:noFill/>
          <a:ln/>
        </p:spPr>
        <p:txBody>
          <a:bodyPr wrap="square" lIns="0" tIns="0" rIns="0" bIns="0" rtlCol="0" anchor="ctr"/>
          <a:lstStyle/>
          <a:p>
            <a:pPr algn="ctr" indent="0" marL="0">
              <a:buNone/>
            </a:pPr>
            <a:r>
              <a:rPr lang="en-US" sz="1200" b="1" dirty="0">
                <a:solidFill>
                  <a:schemeClr val="bg1"/>
                </a:solidFill>
              </a:rPr>
              <a:t>MATERIAL</a:t>
            </a:r>
            <a:endParaRPr lang="en-US" sz="1200" dirty="0"/>
          </a:p>
        </p:txBody>
      </p:sp>
      <p:sp>
        <p:nvSpPr>
          <p:cNvPr id="14" name="Text 12"/>
          <p:cNvSpPr txBox="1"/>
          <p:nvPr/>
        </p:nvSpPr>
        <p:spPr>
          <a:xfrm>
            <a:off x="365760" y="3886200"/>
            <a:ext cx="1536192" cy="1828800"/>
          </a:xfrm>
          <a:prstGeom prst="rect">
            <a:avLst/>
          </a:prstGeom>
          <a:noFill/>
          <a:ln/>
        </p:spPr>
        <p:txBody>
          <a:bodyPr wrap="square" lIns="0" tIns="0" rIns="0" bIns="0" rtlCol="0" anchor="b"/>
          <a:lstStyle/>
          <a:p>
            <a:pPr marL="127000" indent="-127000">
              <a:spcAft>
                <a:spcPts val="600"/>
              </a:spcAft>
              <a:buSzPct val="100000"/>
              <a:buChar char="•"/>
            </a:pPr>
            <a:r>
              <a:rPr lang="en-US" sz="1150" dirty="0">
                <a:solidFill>
                  <a:schemeClr val="tx1"/>
                </a:solidFill>
              </a:rPr>
              <a:t>Parts not kitted; shortages found at assembly</a:t>
            </a:r>
            <a:endParaRPr lang="en-US" sz="1150" dirty="0"/>
          </a:p>
          <a:p>
            <a:pPr marL="127000" indent="-127000">
              <a:spcAft>
                <a:spcPts val="600"/>
              </a:spcAft>
              <a:buSzPct val="100000"/>
              <a:buChar char="•"/>
            </a:pPr>
            <a:r>
              <a:rPr lang="en-US" sz="1150" dirty="0">
                <a:solidFill>
                  <a:schemeClr val="tx1"/>
                </a:solidFill>
              </a:rPr>
              <a:t>Raw stock and WIP piles hide what's missing</a:t>
            </a:r>
            <a:endParaRPr lang="en-US" sz="1150" dirty="0"/>
          </a:p>
        </p:txBody>
      </p:sp>
      <p:sp>
        <p:nvSpPr>
          <p:cNvPr id="15" name="Shape 13"/>
          <p:cNvSpPr/>
          <p:nvPr/>
        </p:nvSpPr>
        <p:spPr>
          <a:xfrm>
            <a:off x="4709160" y="1600200"/>
            <a:ext cx="1188720" cy="2103120"/>
          </a:xfrm>
          <a:prstGeom prst="line">
            <a:avLst/>
          </a:prstGeom>
          <a:noFill/>
          <a:ln w="25400">
            <a:solidFill>
              <a:schemeClr val="accent1"/>
            </a:solidFill>
            <a:prstDash val="solid"/>
          </a:ln>
        </p:spPr>
      </p:sp>
      <p:sp>
        <p:nvSpPr>
          <p:cNvPr id="16" name="Shape 14"/>
          <p:cNvSpPr/>
          <p:nvPr/>
        </p:nvSpPr>
        <p:spPr>
          <a:xfrm>
            <a:off x="3886200" y="1188720"/>
            <a:ext cx="1645920" cy="384048"/>
          </a:xfrm>
          <a:prstGeom prst="roundRect">
            <a:avLst>
              <a:gd name="adj" fmla="val 19048"/>
            </a:avLst>
          </a:prstGeom>
          <a:solidFill>
            <a:schemeClr val="accent1"/>
          </a:solidFill>
          <a:ln/>
        </p:spPr>
      </p:sp>
      <p:sp>
        <p:nvSpPr>
          <p:cNvPr id="17" name="Text 15"/>
          <p:cNvSpPr txBox="1"/>
          <p:nvPr/>
        </p:nvSpPr>
        <p:spPr>
          <a:xfrm>
            <a:off x="3886200" y="1188720"/>
            <a:ext cx="1645920" cy="384048"/>
          </a:xfrm>
          <a:prstGeom prst="rect">
            <a:avLst/>
          </a:prstGeom>
          <a:noFill/>
          <a:ln/>
        </p:spPr>
        <p:txBody>
          <a:bodyPr wrap="square" lIns="0" tIns="0" rIns="0" bIns="0" rtlCol="0" anchor="ctr"/>
          <a:lstStyle/>
          <a:p>
            <a:pPr algn="ctr" indent="0" marL="0">
              <a:buNone/>
            </a:pPr>
            <a:r>
              <a:rPr lang="en-US" sz="1200" b="1" dirty="0">
                <a:solidFill>
                  <a:schemeClr val="bg1"/>
                </a:solidFill>
              </a:rPr>
              <a:t>PEOPLE</a:t>
            </a:r>
            <a:endParaRPr lang="en-US" sz="1200" dirty="0"/>
          </a:p>
        </p:txBody>
      </p:sp>
      <p:sp>
        <p:nvSpPr>
          <p:cNvPr id="18" name="Text 16"/>
          <p:cNvSpPr txBox="1"/>
          <p:nvPr/>
        </p:nvSpPr>
        <p:spPr>
          <a:xfrm>
            <a:off x="3154680" y="1737360"/>
            <a:ext cx="1536192" cy="1828800"/>
          </a:xfrm>
          <a:prstGeom prst="rect">
            <a:avLst/>
          </a:prstGeom>
          <a:noFill/>
          <a:ln/>
        </p:spPr>
        <p:txBody>
          <a:bodyPr wrap="square" lIns="0" tIns="0" rIns="0" bIns="0" rtlCol="0" anchor="t"/>
          <a:lstStyle/>
          <a:p>
            <a:pPr marL="127000" indent="-127000">
              <a:spcAft>
                <a:spcPts val="600"/>
              </a:spcAft>
              <a:buSzPct val="100000"/>
              <a:buChar char="•"/>
            </a:pPr>
            <a:r>
              <a:rPr lang="en-US" sz="1150" dirty="0">
                <a:solidFill>
                  <a:schemeClr val="tx1"/>
                </a:solidFill>
              </a:rPr>
              <a:t>Tacit knowledge held by a few experts</a:t>
            </a:r>
            <a:endParaRPr lang="en-US" sz="1150" dirty="0"/>
          </a:p>
          <a:p>
            <a:pPr marL="127000" indent="-127000">
              <a:spcAft>
                <a:spcPts val="600"/>
              </a:spcAft>
              <a:buSzPct val="100000"/>
              <a:buChar char="•"/>
            </a:pPr>
            <a:r>
              <a:rPr lang="en-US" sz="1150" dirty="0">
                <a:solidFill>
                  <a:schemeClr val="tx1"/>
                </a:solidFill>
              </a:rPr>
              <a:t>Firefighting and overtime culture</a:t>
            </a:r>
            <a:endParaRPr lang="en-US" sz="1150" dirty="0"/>
          </a:p>
        </p:txBody>
      </p:sp>
      <p:sp>
        <p:nvSpPr>
          <p:cNvPr id="19" name="Shape 17"/>
          <p:cNvSpPr/>
          <p:nvPr/>
        </p:nvSpPr>
        <p:spPr>
          <a:xfrm flipV="1">
            <a:off x="4709160" y="3703320"/>
            <a:ext cx="1188720" cy="2103120"/>
          </a:xfrm>
          <a:prstGeom prst="line">
            <a:avLst/>
          </a:prstGeom>
          <a:noFill/>
          <a:ln w="25400">
            <a:solidFill>
              <a:schemeClr val="accent1"/>
            </a:solidFill>
            <a:prstDash val="solid"/>
          </a:ln>
        </p:spPr>
      </p:sp>
      <p:sp>
        <p:nvSpPr>
          <p:cNvPr id="20" name="Shape 18"/>
          <p:cNvSpPr/>
          <p:nvPr/>
        </p:nvSpPr>
        <p:spPr>
          <a:xfrm>
            <a:off x="3886200" y="5806440"/>
            <a:ext cx="1645920" cy="384048"/>
          </a:xfrm>
          <a:prstGeom prst="roundRect">
            <a:avLst>
              <a:gd name="adj" fmla="val 19048"/>
            </a:avLst>
          </a:prstGeom>
          <a:solidFill>
            <a:schemeClr val="accent1"/>
          </a:solidFill>
          <a:ln/>
        </p:spPr>
      </p:sp>
      <p:sp>
        <p:nvSpPr>
          <p:cNvPr id="21" name="Text 19"/>
          <p:cNvSpPr txBox="1"/>
          <p:nvPr/>
        </p:nvSpPr>
        <p:spPr>
          <a:xfrm>
            <a:off x="3886200" y="5806440"/>
            <a:ext cx="1645920" cy="384048"/>
          </a:xfrm>
          <a:prstGeom prst="rect">
            <a:avLst/>
          </a:prstGeom>
          <a:noFill/>
          <a:ln/>
        </p:spPr>
        <p:txBody>
          <a:bodyPr wrap="square" lIns="0" tIns="0" rIns="0" bIns="0" rtlCol="0" anchor="ctr"/>
          <a:lstStyle/>
          <a:p>
            <a:pPr algn="ctr" indent="0" marL="0">
              <a:buNone/>
            </a:pPr>
            <a:r>
              <a:rPr lang="en-US" sz="1200" b="1" dirty="0">
                <a:solidFill>
                  <a:schemeClr val="bg1"/>
                </a:solidFill>
              </a:rPr>
              <a:t>MEASUREMENT</a:t>
            </a:r>
            <a:endParaRPr lang="en-US" sz="1200" dirty="0"/>
          </a:p>
        </p:txBody>
      </p:sp>
      <p:sp>
        <p:nvSpPr>
          <p:cNvPr id="22" name="Text 20"/>
          <p:cNvSpPr txBox="1"/>
          <p:nvPr/>
        </p:nvSpPr>
        <p:spPr>
          <a:xfrm>
            <a:off x="3154680" y="3886200"/>
            <a:ext cx="1536192" cy="1828800"/>
          </a:xfrm>
          <a:prstGeom prst="rect">
            <a:avLst/>
          </a:prstGeom>
          <a:noFill/>
          <a:ln/>
        </p:spPr>
        <p:txBody>
          <a:bodyPr wrap="square" lIns="0" tIns="0" rIns="0" bIns="0" rtlCol="0" anchor="b"/>
          <a:lstStyle/>
          <a:p>
            <a:pPr marL="127000" indent="-127000">
              <a:spcAft>
                <a:spcPts val="600"/>
              </a:spcAft>
              <a:buSzPct val="100000"/>
              <a:buChar char="•"/>
            </a:pPr>
            <a:r>
              <a:rPr lang="en-US" sz="1150" dirty="0">
                <a:solidFill>
                  <a:schemeClr val="tx1"/>
                </a:solidFill>
              </a:rPr>
              <a:t>No visible WIP, status or takt</a:t>
            </a:r>
            <a:endParaRPr lang="en-US" sz="1150" dirty="0"/>
          </a:p>
          <a:p>
            <a:pPr marL="127000" indent="-127000">
              <a:spcAft>
                <a:spcPts val="600"/>
              </a:spcAft>
              <a:buSzPct val="100000"/>
              <a:buChar char="•"/>
            </a:pPr>
            <a:r>
              <a:rPr lang="en-US" sz="1150" dirty="0">
                <a:solidFill>
                  <a:schemeClr val="tx1"/>
                </a:solidFill>
              </a:rPr>
              <a:t>Defects detected late, at test</a:t>
            </a:r>
            <a:endParaRPr lang="en-US" sz="1150" dirty="0"/>
          </a:p>
        </p:txBody>
      </p:sp>
      <p:sp>
        <p:nvSpPr>
          <p:cNvPr id="23" name="Shape 21"/>
          <p:cNvSpPr/>
          <p:nvPr/>
        </p:nvSpPr>
        <p:spPr>
          <a:xfrm>
            <a:off x="7498080" y="1600200"/>
            <a:ext cx="1188720" cy="2103120"/>
          </a:xfrm>
          <a:prstGeom prst="line">
            <a:avLst/>
          </a:prstGeom>
          <a:noFill/>
          <a:ln w="25400">
            <a:solidFill>
              <a:schemeClr val="accent1"/>
            </a:solidFill>
            <a:prstDash val="solid"/>
          </a:ln>
        </p:spPr>
      </p:sp>
      <p:sp>
        <p:nvSpPr>
          <p:cNvPr id="24" name="Shape 22"/>
          <p:cNvSpPr/>
          <p:nvPr/>
        </p:nvSpPr>
        <p:spPr>
          <a:xfrm>
            <a:off x="6675120" y="1188720"/>
            <a:ext cx="1645920" cy="384048"/>
          </a:xfrm>
          <a:prstGeom prst="roundRect">
            <a:avLst>
              <a:gd name="adj" fmla="val 19048"/>
            </a:avLst>
          </a:prstGeom>
          <a:solidFill>
            <a:schemeClr val="accent1"/>
          </a:solidFill>
          <a:ln/>
        </p:spPr>
      </p:sp>
      <p:sp>
        <p:nvSpPr>
          <p:cNvPr id="25" name="Text 23"/>
          <p:cNvSpPr txBox="1"/>
          <p:nvPr/>
        </p:nvSpPr>
        <p:spPr>
          <a:xfrm>
            <a:off x="6675120" y="1188720"/>
            <a:ext cx="1645920" cy="384048"/>
          </a:xfrm>
          <a:prstGeom prst="rect">
            <a:avLst/>
          </a:prstGeom>
          <a:noFill/>
          <a:ln/>
        </p:spPr>
        <p:txBody>
          <a:bodyPr wrap="square" lIns="0" tIns="0" rIns="0" bIns="0" rtlCol="0" anchor="ctr"/>
          <a:lstStyle/>
          <a:p>
            <a:pPr algn="ctr" indent="0" marL="0">
              <a:buNone/>
            </a:pPr>
            <a:r>
              <a:rPr lang="en-US" sz="1200" b="1" dirty="0">
                <a:solidFill>
                  <a:schemeClr val="bg1"/>
                </a:solidFill>
              </a:rPr>
              <a:t>MACHINE</a:t>
            </a:r>
            <a:endParaRPr lang="en-US" sz="1200" dirty="0"/>
          </a:p>
        </p:txBody>
      </p:sp>
      <p:sp>
        <p:nvSpPr>
          <p:cNvPr id="26" name="Text 24"/>
          <p:cNvSpPr txBox="1"/>
          <p:nvPr/>
        </p:nvSpPr>
        <p:spPr>
          <a:xfrm>
            <a:off x="5943600" y="1737360"/>
            <a:ext cx="1536192" cy="1828800"/>
          </a:xfrm>
          <a:prstGeom prst="rect">
            <a:avLst/>
          </a:prstGeom>
          <a:noFill/>
          <a:ln/>
        </p:spPr>
        <p:txBody>
          <a:bodyPr wrap="square" lIns="0" tIns="0" rIns="0" bIns="0" rtlCol="0" anchor="t"/>
          <a:lstStyle/>
          <a:p>
            <a:pPr marL="127000" indent="-127000">
              <a:spcAft>
                <a:spcPts val="600"/>
              </a:spcAft>
              <a:buSzPct val="100000"/>
              <a:buChar char="•"/>
            </a:pPr>
            <a:r>
              <a:rPr lang="en-US" sz="1150" dirty="0">
                <a:solidFill>
                  <a:schemeClr val="tx1"/>
                </a:solidFill>
              </a:rPr>
              <a:t>Shared cranes, machines and test stands create queues</a:t>
            </a:r>
            <a:endParaRPr lang="en-US" sz="1150" dirty="0"/>
          </a:p>
          <a:p>
            <a:pPr marL="127000" indent="-127000">
              <a:spcAft>
                <a:spcPts val="600"/>
              </a:spcAft>
              <a:buSzPct val="100000"/>
              <a:buChar char="•"/>
            </a:pPr>
            <a:r>
              <a:rPr lang="en-US" sz="1150" dirty="0">
                <a:solidFill>
                  <a:schemeClr val="tx1"/>
                </a:solidFill>
              </a:rPr>
              <a:t>New machines added; flow unchanged</a:t>
            </a:r>
            <a:endParaRPr lang="en-US" sz="1150" dirty="0"/>
          </a:p>
        </p:txBody>
      </p:sp>
      <p:sp>
        <p:nvSpPr>
          <p:cNvPr id="27" name="Shape 25"/>
          <p:cNvSpPr/>
          <p:nvPr/>
        </p:nvSpPr>
        <p:spPr>
          <a:xfrm flipV="1">
            <a:off x="7498080" y="3703320"/>
            <a:ext cx="1188720" cy="2103120"/>
          </a:xfrm>
          <a:prstGeom prst="line">
            <a:avLst/>
          </a:prstGeom>
          <a:noFill/>
          <a:ln w="25400">
            <a:solidFill>
              <a:schemeClr val="accent1"/>
            </a:solidFill>
            <a:prstDash val="solid"/>
          </a:ln>
        </p:spPr>
      </p:sp>
      <p:sp>
        <p:nvSpPr>
          <p:cNvPr id="28" name="Shape 26"/>
          <p:cNvSpPr/>
          <p:nvPr/>
        </p:nvSpPr>
        <p:spPr>
          <a:xfrm>
            <a:off x="6675120" y="5806440"/>
            <a:ext cx="1645920" cy="384048"/>
          </a:xfrm>
          <a:prstGeom prst="roundRect">
            <a:avLst>
              <a:gd name="adj" fmla="val 19048"/>
            </a:avLst>
          </a:prstGeom>
          <a:solidFill>
            <a:schemeClr val="accent1"/>
          </a:solidFill>
          <a:ln/>
        </p:spPr>
      </p:sp>
      <p:sp>
        <p:nvSpPr>
          <p:cNvPr id="29" name="Text 27"/>
          <p:cNvSpPr txBox="1"/>
          <p:nvPr/>
        </p:nvSpPr>
        <p:spPr>
          <a:xfrm>
            <a:off x="6675120" y="5806440"/>
            <a:ext cx="1645920" cy="384048"/>
          </a:xfrm>
          <a:prstGeom prst="rect">
            <a:avLst/>
          </a:prstGeom>
          <a:noFill/>
          <a:ln/>
        </p:spPr>
        <p:txBody>
          <a:bodyPr wrap="square" lIns="0" tIns="0" rIns="0" bIns="0" rtlCol="0" anchor="ctr"/>
          <a:lstStyle/>
          <a:p>
            <a:pPr algn="ctr" indent="0" marL="0">
              <a:buNone/>
            </a:pPr>
            <a:r>
              <a:rPr lang="en-US" sz="1200" b="1" dirty="0">
                <a:solidFill>
                  <a:schemeClr val="bg1"/>
                </a:solidFill>
              </a:rPr>
              <a:t>LAYOUT</a:t>
            </a:r>
            <a:endParaRPr lang="en-US" sz="1200" dirty="0"/>
          </a:p>
        </p:txBody>
      </p:sp>
      <p:sp>
        <p:nvSpPr>
          <p:cNvPr id="30" name="Text 28"/>
          <p:cNvSpPr txBox="1"/>
          <p:nvPr/>
        </p:nvSpPr>
        <p:spPr>
          <a:xfrm>
            <a:off x="5943600" y="3886200"/>
            <a:ext cx="1536192" cy="1828800"/>
          </a:xfrm>
          <a:prstGeom prst="rect">
            <a:avLst/>
          </a:prstGeom>
          <a:noFill/>
          <a:ln/>
        </p:spPr>
        <p:txBody>
          <a:bodyPr wrap="square" lIns="0" tIns="0" rIns="0" bIns="0" rtlCol="0" anchor="b"/>
          <a:lstStyle/>
          <a:p>
            <a:pPr marL="127000" indent="-127000">
              <a:spcAft>
                <a:spcPts val="600"/>
              </a:spcAft>
              <a:buSzPct val="100000"/>
              <a:buChar char="•"/>
            </a:pPr>
            <a:r>
              <a:rPr lang="en-US" sz="1150" dirty="0">
                <a:solidFill>
                  <a:schemeClr val="tx1"/>
                </a:solidFill>
              </a:rPr>
              <a:t>Functional job-shop layout</a:t>
            </a:r>
            <a:endParaRPr lang="en-US" sz="1150" dirty="0"/>
          </a:p>
          <a:p>
            <a:pPr marL="127000" indent="-127000">
              <a:spcAft>
                <a:spcPts val="600"/>
              </a:spcAft>
              <a:buSzPct val="100000"/>
              <a:buChar char="•"/>
            </a:pPr>
            <a:r>
              <a:rPr lang="en-US" sz="1150" dirty="0">
                <a:solidFill>
                  <a:schemeClr val="tx1"/>
                </a:solidFill>
              </a:rPr>
              <a:t>Undefined work areas; ~7 miles walked per unit</a:t>
            </a:r>
            <a:endParaRPr lang="en-US" sz="115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ROOT CAUSE ANALYSIS: 5 WHY</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Asking 'why' five times leads past the symptoms to a system-design problem.</a:t>
            </a:r>
            <a:endParaRPr lang="en-US" sz="1400" dirty="0"/>
          </a:p>
        </p:txBody>
      </p:sp>
      <p:sp>
        <p:nvSpPr>
          <p:cNvPr id="4" name="Problem statement"/>
          <p:cNvSpPr/>
          <p:nvPr/>
        </p:nvSpPr>
        <p:spPr>
          <a:xfrm>
            <a:off x="411480" y="1188720"/>
            <a:ext cx="7178040" cy="502920"/>
          </a:xfrm>
          <a:prstGeom prst="roundRect">
            <a:avLst>
              <a:gd name="adj" fmla="val 14545"/>
            </a:avLst>
          </a:prstGeom>
          <a:solidFill>
            <a:schemeClr val="accent5"/>
          </a:solidFill>
          <a:ln/>
        </p:spPr>
      </p:sp>
      <p:sp>
        <p:nvSpPr>
          <p:cNvPr id="5" name="Text 3"/>
          <p:cNvSpPr txBox="1"/>
          <p:nvPr/>
        </p:nvSpPr>
        <p:spPr>
          <a:xfrm>
            <a:off x="594360" y="1188720"/>
            <a:ext cx="6812280" cy="502920"/>
          </a:xfrm>
          <a:prstGeom prst="rect">
            <a:avLst/>
          </a:prstGeom>
          <a:noFill/>
          <a:ln/>
        </p:spPr>
        <p:txBody>
          <a:bodyPr wrap="square" lIns="0" tIns="0" rIns="0" bIns="0" rtlCol="0" anchor="ctr"/>
          <a:lstStyle/>
          <a:p>
            <a:pPr indent="0" marL="0">
              <a:buNone/>
            </a:pPr>
            <a:r>
              <a:rPr lang="en-US" sz="1400" b="1" dirty="0">
                <a:solidFill>
                  <a:schemeClr val="bg1"/>
                </a:solidFill>
              </a:rPr>
              <a:t>PROBLEM: only ~20% of orders shipped on time (Q1 2014)</a:t>
            </a:r>
            <a:endParaRPr lang="en-US" sz="1400" dirty="0"/>
          </a:p>
        </p:txBody>
      </p:sp>
      <p:sp>
        <p:nvSpPr>
          <p:cNvPr id="6" name="Shape 4"/>
          <p:cNvSpPr/>
          <p:nvPr/>
        </p:nvSpPr>
        <p:spPr>
          <a:xfrm>
            <a:off x="411480" y="1828800"/>
            <a:ext cx="1051560" cy="694944"/>
          </a:xfrm>
          <a:prstGeom prst="homePlate">
            <a:avLst/>
          </a:prstGeom>
          <a:solidFill>
            <a:schemeClr val="accent1"/>
          </a:solidFill>
          <a:ln/>
        </p:spPr>
      </p:sp>
      <p:sp>
        <p:nvSpPr>
          <p:cNvPr id="7" name="Text 5"/>
          <p:cNvSpPr txBox="1"/>
          <p:nvPr/>
        </p:nvSpPr>
        <p:spPr>
          <a:xfrm>
            <a:off x="457200" y="1828800"/>
            <a:ext cx="868680" cy="694944"/>
          </a:xfrm>
          <a:prstGeom prst="rect">
            <a:avLst/>
          </a:prstGeom>
          <a:noFill/>
          <a:ln/>
        </p:spPr>
        <p:txBody>
          <a:bodyPr wrap="square" lIns="0" tIns="0" rIns="0" bIns="0" rtlCol="0" anchor="ctr"/>
          <a:lstStyle/>
          <a:p>
            <a:pPr algn="ctr" indent="0" marL="0">
              <a:buNone/>
            </a:pPr>
            <a:r>
              <a:rPr lang="en-US" sz="1300" b="1" dirty="0">
                <a:solidFill>
                  <a:schemeClr val="bg1"/>
                </a:solidFill>
              </a:rPr>
              <a:t>WHY 1</a:t>
            </a:r>
            <a:endParaRPr lang="en-US" sz="1300" dirty="0"/>
          </a:p>
        </p:txBody>
      </p:sp>
      <p:sp>
        <p:nvSpPr>
          <p:cNvPr id="8" name="Shape 6"/>
          <p:cNvSpPr/>
          <p:nvPr/>
        </p:nvSpPr>
        <p:spPr>
          <a:xfrm>
            <a:off x="1554480" y="1828800"/>
            <a:ext cx="6035040" cy="694944"/>
          </a:xfrm>
          <a:prstGeom prst="roundRect">
            <a:avLst>
              <a:gd name="adj" fmla="val 10526"/>
            </a:avLst>
          </a:prstGeom>
          <a:solidFill>
            <a:schemeClr val="bg2"/>
          </a:solidFill>
          <a:ln/>
        </p:spPr>
      </p:sp>
      <p:sp>
        <p:nvSpPr>
          <p:cNvPr id="9" name="Text 7"/>
          <p:cNvSpPr txBox="1"/>
          <p:nvPr/>
        </p:nvSpPr>
        <p:spPr>
          <a:xfrm>
            <a:off x="1691640" y="1828800"/>
            <a:ext cx="5760720" cy="694944"/>
          </a:xfrm>
          <a:prstGeom prst="rect">
            <a:avLst/>
          </a:prstGeom>
          <a:noFill/>
          <a:ln/>
        </p:spPr>
        <p:txBody>
          <a:bodyPr wrap="square" lIns="0" tIns="0" rIns="0" bIns="0" rtlCol="0" anchor="ctr"/>
          <a:lstStyle/>
          <a:p>
            <a:pPr indent="0" marL="0">
              <a:buNone/>
            </a:pPr>
            <a:r>
              <a:rPr lang="en-US" sz="1200" b="1" dirty="0">
                <a:solidFill>
                  <a:schemeClr val="tx2"/>
                </a:solidFill>
              </a:rPr>
              <a:t>Why are orders late?  </a:t>
            </a:r>
            <a:pPr indent="0" marL="0">
              <a:buNone/>
            </a:pPr>
            <a:r>
              <a:rPr lang="en-US" sz="1200" dirty="0">
                <a:solidFill>
                  <a:schemeClr val="tx1"/>
                </a:solidFill>
              </a:rPr>
              <a:t>Units sit in queues waiting for parts, shared resources and rework.</a:t>
            </a:r>
            <a:endParaRPr lang="en-US" sz="1200" dirty="0"/>
          </a:p>
        </p:txBody>
      </p:sp>
      <p:sp>
        <p:nvSpPr>
          <p:cNvPr id="10" name="Shape 8"/>
          <p:cNvSpPr/>
          <p:nvPr/>
        </p:nvSpPr>
        <p:spPr>
          <a:xfrm>
            <a:off x="548640" y="2633472"/>
            <a:ext cx="1051560" cy="694944"/>
          </a:xfrm>
          <a:prstGeom prst="homePlate">
            <a:avLst/>
          </a:prstGeom>
          <a:solidFill>
            <a:schemeClr val="accent1"/>
          </a:solidFill>
          <a:ln/>
        </p:spPr>
      </p:sp>
      <p:sp>
        <p:nvSpPr>
          <p:cNvPr id="11" name="Text 9"/>
          <p:cNvSpPr txBox="1"/>
          <p:nvPr/>
        </p:nvSpPr>
        <p:spPr>
          <a:xfrm>
            <a:off x="594360" y="2633472"/>
            <a:ext cx="868680" cy="694944"/>
          </a:xfrm>
          <a:prstGeom prst="rect">
            <a:avLst/>
          </a:prstGeom>
          <a:noFill/>
          <a:ln/>
        </p:spPr>
        <p:txBody>
          <a:bodyPr wrap="square" lIns="0" tIns="0" rIns="0" bIns="0" rtlCol="0" anchor="ctr"/>
          <a:lstStyle/>
          <a:p>
            <a:pPr algn="ctr" indent="0" marL="0">
              <a:buNone/>
            </a:pPr>
            <a:r>
              <a:rPr lang="en-US" sz="1300" b="1" dirty="0">
                <a:solidFill>
                  <a:schemeClr val="bg1"/>
                </a:solidFill>
              </a:rPr>
              <a:t>WHY 2</a:t>
            </a:r>
            <a:endParaRPr lang="en-US" sz="1300" dirty="0"/>
          </a:p>
        </p:txBody>
      </p:sp>
      <p:sp>
        <p:nvSpPr>
          <p:cNvPr id="12" name="Shape 10"/>
          <p:cNvSpPr/>
          <p:nvPr/>
        </p:nvSpPr>
        <p:spPr>
          <a:xfrm>
            <a:off x="1691640" y="2633472"/>
            <a:ext cx="5897880" cy="694944"/>
          </a:xfrm>
          <a:prstGeom prst="roundRect">
            <a:avLst>
              <a:gd name="adj" fmla="val 10526"/>
            </a:avLst>
          </a:prstGeom>
          <a:solidFill>
            <a:schemeClr val="bg2"/>
          </a:solidFill>
          <a:ln/>
        </p:spPr>
      </p:sp>
      <p:sp>
        <p:nvSpPr>
          <p:cNvPr id="13" name="Text 11"/>
          <p:cNvSpPr txBox="1"/>
          <p:nvPr/>
        </p:nvSpPr>
        <p:spPr>
          <a:xfrm>
            <a:off x="1828800" y="2633472"/>
            <a:ext cx="5623560" cy="694944"/>
          </a:xfrm>
          <a:prstGeom prst="rect">
            <a:avLst/>
          </a:prstGeom>
          <a:noFill/>
          <a:ln/>
        </p:spPr>
        <p:txBody>
          <a:bodyPr wrap="square" lIns="0" tIns="0" rIns="0" bIns="0" rtlCol="0" anchor="ctr"/>
          <a:lstStyle/>
          <a:p>
            <a:pPr indent="0" marL="0">
              <a:buNone/>
            </a:pPr>
            <a:r>
              <a:rPr lang="en-US" sz="1200" b="1" dirty="0">
                <a:solidFill>
                  <a:schemeClr val="tx2"/>
                </a:solidFill>
              </a:rPr>
              <a:t>Why do they queue?  </a:t>
            </a:r>
            <a:pPr indent="0" marL="0">
              <a:buNone/>
            </a:pPr>
            <a:r>
              <a:rPr lang="en-US" sz="1200" dirty="0">
                <a:solidFill>
                  <a:schemeClr val="tx1"/>
                </a:solidFill>
              </a:rPr>
              <a:t>MRP pushes work into departments regardless of real capacity or sequence.</a:t>
            </a:r>
            <a:endParaRPr lang="en-US" sz="1200" dirty="0"/>
          </a:p>
        </p:txBody>
      </p:sp>
      <p:sp>
        <p:nvSpPr>
          <p:cNvPr id="14" name="Shape 12"/>
          <p:cNvSpPr/>
          <p:nvPr/>
        </p:nvSpPr>
        <p:spPr>
          <a:xfrm>
            <a:off x="685800" y="3438144"/>
            <a:ext cx="1051560" cy="694944"/>
          </a:xfrm>
          <a:prstGeom prst="homePlate">
            <a:avLst/>
          </a:prstGeom>
          <a:solidFill>
            <a:schemeClr val="accent1"/>
          </a:solidFill>
          <a:ln/>
        </p:spPr>
      </p:sp>
      <p:sp>
        <p:nvSpPr>
          <p:cNvPr id="15" name="Text 13"/>
          <p:cNvSpPr txBox="1"/>
          <p:nvPr/>
        </p:nvSpPr>
        <p:spPr>
          <a:xfrm>
            <a:off x="731520" y="3438144"/>
            <a:ext cx="868680" cy="694944"/>
          </a:xfrm>
          <a:prstGeom prst="rect">
            <a:avLst/>
          </a:prstGeom>
          <a:noFill/>
          <a:ln/>
        </p:spPr>
        <p:txBody>
          <a:bodyPr wrap="square" lIns="0" tIns="0" rIns="0" bIns="0" rtlCol="0" anchor="ctr"/>
          <a:lstStyle/>
          <a:p>
            <a:pPr algn="ctr" indent="0" marL="0">
              <a:buNone/>
            </a:pPr>
            <a:r>
              <a:rPr lang="en-US" sz="1300" b="1" dirty="0">
                <a:solidFill>
                  <a:schemeClr val="bg1"/>
                </a:solidFill>
              </a:rPr>
              <a:t>WHY 3</a:t>
            </a:r>
            <a:endParaRPr lang="en-US" sz="1300" dirty="0"/>
          </a:p>
        </p:txBody>
      </p:sp>
      <p:sp>
        <p:nvSpPr>
          <p:cNvPr id="16" name="Shape 14"/>
          <p:cNvSpPr/>
          <p:nvPr/>
        </p:nvSpPr>
        <p:spPr>
          <a:xfrm>
            <a:off x="1828800" y="3438144"/>
            <a:ext cx="5760720" cy="694944"/>
          </a:xfrm>
          <a:prstGeom prst="roundRect">
            <a:avLst>
              <a:gd name="adj" fmla="val 10526"/>
            </a:avLst>
          </a:prstGeom>
          <a:solidFill>
            <a:schemeClr val="bg2"/>
          </a:solidFill>
          <a:ln/>
        </p:spPr>
      </p:sp>
      <p:sp>
        <p:nvSpPr>
          <p:cNvPr id="17" name="Text 15"/>
          <p:cNvSpPr txBox="1"/>
          <p:nvPr/>
        </p:nvSpPr>
        <p:spPr>
          <a:xfrm>
            <a:off x="1965960" y="3438144"/>
            <a:ext cx="5486400" cy="694944"/>
          </a:xfrm>
          <a:prstGeom prst="rect">
            <a:avLst/>
          </a:prstGeom>
          <a:noFill/>
          <a:ln/>
        </p:spPr>
        <p:txBody>
          <a:bodyPr wrap="square" lIns="0" tIns="0" rIns="0" bIns="0" rtlCol="0" anchor="ctr"/>
          <a:lstStyle/>
          <a:p>
            <a:pPr indent="0" marL="0">
              <a:buNone/>
            </a:pPr>
            <a:r>
              <a:rPr lang="en-US" sz="1200" b="1" dirty="0">
                <a:solidFill>
                  <a:schemeClr val="tx2"/>
                </a:solidFill>
              </a:rPr>
              <a:t>Why can't capacity be matched?  </a:t>
            </a:r>
            <a:pPr indent="0" marL="0">
              <a:buNone/>
            </a:pPr>
            <a:r>
              <a:rPr lang="en-US" sz="1200" dirty="0">
                <a:solidFill>
                  <a:schemeClr val="tx1"/>
                </a:solidFill>
              </a:rPr>
              <a:t>Every job takes its own path through a functional layout, with no cadence and no visible status.</a:t>
            </a:r>
            <a:endParaRPr lang="en-US" sz="1200" dirty="0"/>
          </a:p>
        </p:txBody>
      </p:sp>
      <p:sp>
        <p:nvSpPr>
          <p:cNvPr id="18" name="Shape 16"/>
          <p:cNvSpPr/>
          <p:nvPr/>
        </p:nvSpPr>
        <p:spPr>
          <a:xfrm>
            <a:off x="822960" y="4242816"/>
            <a:ext cx="1051560" cy="694944"/>
          </a:xfrm>
          <a:prstGeom prst="homePlate">
            <a:avLst/>
          </a:prstGeom>
          <a:solidFill>
            <a:schemeClr val="accent1"/>
          </a:solidFill>
          <a:ln/>
        </p:spPr>
      </p:sp>
      <p:sp>
        <p:nvSpPr>
          <p:cNvPr id="19" name="Text 17"/>
          <p:cNvSpPr txBox="1"/>
          <p:nvPr/>
        </p:nvSpPr>
        <p:spPr>
          <a:xfrm>
            <a:off x="868680" y="4242816"/>
            <a:ext cx="868680" cy="694944"/>
          </a:xfrm>
          <a:prstGeom prst="rect">
            <a:avLst/>
          </a:prstGeom>
          <a:noFill/>
          <a:ln/>
        </p:spPr>
        <p:txBody>
          <a:bodyPr wrap="square" lIns="0" tIns="0" rIns="0" bIns="0" rtlCol="0" anchor="ctr"/>
          <a:lstStyle/>
          <a:p>
            <a:pPr algn="ctr" indent="0" marL="0">
              <a:buNone/>
            </a:pPr>
            <a:r>
              <a:rPr lang="en-US" sz="1300" b="1" dirty="0">
                <a:solidFill>
                  <a:schemeClr val="bg1"/>
                </a:solidFill>
              </a:rPr>
              <a:t>WHY 4</a:t>
            </a:r>
            <a:endParaRPr lang="en-US" sz="1300" dirty="0"/>
          </a:p>
        </p:txBody>
      </p:sp>
      <p:sp>
        <p:nvSpPr>
          <p:cNvPr id="20" name="Shape 18"/>
          <p:cNvSpPr/>
          <p:nvPr/>
        </p:nvSpPr>
        <p:spPr>
          <a:xfrm>
            <a:off x="1965960" y="4242816"/>
            <a:ext cx="5623560" cy="694944"/>
          </a:xfrm>
          <a:prstGeom prst="roundRect">
            <a:avLst>
              <a:gd name="adj" fmla="val 10526"/>
            </a:avLst>
          </a:prstGeom>
          <a:solidFill>
            <a:schemeClr val="bg2"/>
          </a:solidFill>
          <a:ln/>
        </p:spPr>
      </p:sp>
      <p:sp>
        <p:nvSpPr>
          <p:cNvPr id="21" name="Text 19"/>
          <p:cNvSpPr txBox="1"/>
          <p:nvPr/>
        </p:nvSpPr>
        <p:spPr>
          <a:xfrm>
            <a:off x="2103120" y="4242816"/>
            <a:ext cx="5349240" cy="694944"/>
          </a:xfrm>
          <a:prstGeom prst="rect">
            <a:avLst/>
          </a:prstGeom>
          <a:noFill/>
          <a:ln/>
        </p:spPr>
        <p:txBody>
          <a:bodyPr wrap="square" lIns="0" tIns="0" rIns="0" bIns="0" rtlCol="0" anchor="ctr"/>
          <a:lstStyle/>
          <a:p>
            <a:pPr indent="0" marL="0">
              <a:buNone/>
            </a:pPr>
            <a:r>
              <a:rPr lang="en-US" sz="1200" b="1" dirty="0">
                <a:solidFill>
                  <a:schemeClr val="tx2"/>
                </a:solidFill>
              </a:rPr>
              <a:t>Why no cadence or visibility?  </a:t>
            </a:r>
            <a:pPr indent="0" marL="0">
              <a:buNone/>
            </a:pPr>
            <a:r>
              <a:rPr lang="en-US" sz="1200" dirty="0">
                <a:solidFill>
                  <a:schemeClr val="tx1"/>
                </a:solidFill>
              </a:rPr>
              <a:t>Work areas, labour content and methods were never defined: no standard work.</a:t>
            </a:r>
            <a:endParaRPr lang="en-US" sz="1200" dirty="0"/>
          </a:p>
        </p:txBody>
      </p:sp>
      <p:sp>
        <p:nvSpPr>
          <p:cNvPr id="22" name="Shape 20"/>
          <p:cNvSpPr/>
          <p:nvPr/>
        </p:nvSpPr>
        <p:spPr>
          <a:xfrm>
            <a:off x="960120" y="5047488"/>
            <a:ext cx="1051560" cy="694944"/>
          </a:xfrm>
          <a:prstGeom prst="homePlate">
            <a:avLst/>
          </a:prstGeom>
          <a:solidFill>
            <a:schemeClr val="accent1"/>
          </a:solidFill>
          <a:ln/>
        </p:spPr>
      </p:sp>
      <p:sp>
        <p:nvSpPr>
          <p:cNvPr id="23" name="Text 21"/>
          <p:cNvSpPr txBox="1"/>
          <p:nvPr/>
        </p:nvSpPr>
        <p:spPr>
          <a:xfrm>
            <a:off x="1005840" y="5047488"/>
            <a:ext cx="868680" cy="694944"/>
          </a:xfrm>
          <a:prstGeom prst="rect">
            <a:avLst/>
          </a:prstGeom>
          <a:noFill/>
          <a:ln/>
        </p:spPr>
        <p:txBody>
          <a:bodyPr wrap="square" lIns="0" tIns="0" rIns="0" bIns="0" rtlCol="0" anchor="ctr"/>
          <a:lstStyle/>
          <a:p>
            <a:pPr algn="ctr" indent="0" marL="0">
              <a:buNone/>
            </a:pPr>
            <a:r>
              <a:rPr lang="en-US" sz="1300" b="1" dirty="0">
                <a:solidFill>
                  <a:schemeClr val="bg1"/>
                </a:solidFill>
              </a:rPr>
              <a:t>WHY 5</a:t>
            </a:r>
            <a:endParaRPr lang="en-US" sz="1300" dirty="0"/>
          </a:p>
        </p:txBody>
      </p:sp>
      <p:sp>
        <p:nvSpPr>
          <p:cNvPr id="24" name="Shape 22"/>
          <p:cNvSpPr/>
          <p:nvPr/>
        </p:nvSpPr>
        <p:spPr>
          <a:xfrm>
            <a:off x="2103120" y="5047488"/>
            <a:ext cx="5486400" cy="694944"/>
          </a:xfrm>
          <a:prstGeom prst="roundRect">
            <a:avLst>
              <a:gd name="adj" fmla="val 10526"/>
            </a:avLst>
          </a:prstGeom>
          <a:solidFill>
            <a:schemeClr val="bg2"/>
          </a:solidFill>
          <a:ln/>
        </p:spPr>
      </p:sp>
      <p:sp>
        <p:nvSpPr>
          <p:cNvPr id="25" name="Text 23"/>
          <p:cNvSpPr txBox="1"/>
          <p:nvPr/>
        </p:nvSpPr>
        <p:spPr>
          <a:xfrm>
            <a:off x="2240280" y="5047488"/>
            <a:ext cx="5212080" cy="694944"/>
          </a:xfrm>
          <a:prstGeom prst="rect">
            <a:avLst/>
          </a:prstGeom>
          <a:noFill/>
          <a:ln/>
        </p:spPr>
        <p:txBody>
          <a:bodyPr wrap="square" lIns="0" tIns="0" rIns="0" bIns="0" rtlCol="0" anchor="ctr"/>
          <a:lstStyle/>
          <a:p>
            <a:pPr indent="0" marL="0">
              <a:buNone/>
            </a:pPr>
            <a:r>
              <a:rPr lang="en-US" sz="1200" b="1" dirty="0">
                <a:solidFill>
                  <a:schemeClr val="tx2"/>
                </a:solidFill>
              </a:rPr>
              <a:t>Why no standard work?  </a:t>
            </a:r>
            <a:pPr indent="0" marL="0">
              <a:buNone/>
            </a:pPr>
            <a:r>
              <a:rPr lang="en-US" sz="1200" dirty="0">
                <a:solidFill>
                  <a:schemeClr val="tx1"/>
                </a:solidFill>
              </a:rPr>
              <a:t>The shop ran on tacit knowledge and was organized around departments, not product flow.</a:t>
            </a:r>
            <a:endParaRPr lang="en-US" sz="1200" dirty="0"/>
          </a:p>
        </p:txBody>
      </p:sp>
      <p:sp>
        <p:nvSpPr>
          <p:cNvPr id="26" name="Root cause"/>
          <p:cNvSpPr/>
          <p:nvPr/>
        </p:nvSpPr>
        <p:spPr>
          <a:xfrm>
            <a:off x="7863840" y="1188720"/>
            <a:ext cx="3913632" cy="4572000"/>
          </a:xfrm>
          <a:prstGeom prst="roundRect">
            <a:avLst>
              <a:gd name="adj" fmla="val 1869"/>
            </a:avLst>
          </a:prstGeom>
          <a:solidFill>
            <a:schemeClr val="tx2"/>
          </a:solidFill>
          <a:ln/>
        </p:spPr>
      </p:sp>
      <p:sp>
        <p:nvSpPr>
          <p:cNvPr id="27" name="Text 25"/>
          <p:cNvSpPr txBox="1"/>
          <p:nvPr/>
        </p:nvSpPr>
        <p:spPr>
          <a:xfrm>
            <a:off x="8092440" y="1353312"/>
            <a:ext cx="3474720" cy="274320"/>
          </a:xfrm>
          <a:prstGeom prst="rect">
            <a:avLst/>
          </a:prstGeom>
          <a:noFill/>
          <a:ln/>
        </p:spPr>
        <p:txBody>
          <a:bodyPr wrap="square" lIns="0" tIns="0" rIns="0" bIns="0" rtlCol="0" anchor="t"/>
          <a:lstStyle/>
          <a:p>
            <a:pPr indent="0" marL="0">
              <a:buNone/>
            </a:pPr>
            <a:r>
              <a:rPr lang="en-US" sz="1200" b="1" dirty="0">
                <a:solidFill>
                  <a:schemeClr val="accent2"/>
                </a:solidFill>
              </a:rPr>
              <a:t>ROOT CAUSE</a:t>
            </a:r>
            <a:endParaRPr lang="en-US" sz="1200" dirty="0"/>
          </a:p>
        </p:txBody>
      </p:sp>
      <p:sp>
        <p:nvSpPr>
          <p:cNvPr id="28" name="Text 26"/>
          <p:cNvSpPr txBox="1"/>
          <p:nvPr/>
        </p:nvSpPr>
        <p:spPr>
          <a:xfrm>
            <a:off x="8092440" y="1664208"/>
            <a:ext cx="3474720" cy="1783080"/>
          </a:xfrm>
          <a:prstGeom prst="rect">
            <a:avLst/>
          </a:prstGeom>
          <a:noFill/>
          <a:ln/>
        </p:spPr>
        <p:txBody>
          <a:bodyPr wrap="square" lIns="0" tIns="0" rIns="0" bIns="0" rtlCol="0" anchor="t"/>
          <a:lstStyle/>
          <a:p>
            <a:pPr indent="0" marL="0">
              <a:buNone/>
            </a:pPr>
            <a:r>
              <a:rPr lang="en-US" sz="1500" b="1" dirty="0">
                <a:solidFill>
                  <a:schemeClr val="bg1"/>
                </a:solidFill>
              </a:rPr>
              <a:t>Thrustmaster had no flow system. Layout, scheduling and work methods were organized by function and individual experience, not by product family and standard work.</a:t>
            </a:r>
            <a:endParaRPr lang="en-US" sz="1500" dirty="0"/>
          </a:p>
        </p:txBody>
      </p:sp>
      <p:sp>
        <p:nvSpPr>
          <p:cNvPr id="29" name="Text 27"/>
          <p:cNvSpPr txBox="1"/>
          <p:nvPr/>
        </p:nvSpPr>
        <p:spPr>
          <a:xfrm>
            <a:off x="8092440" y="3520440"/>
            <a:ext cx="3474720" cy="274320"/>
          </a:xfrm>
          <a:prstGeom prst="rect">
            <a:avLst/>
          </a:prstGeom>
          <a:noFill/>
          <a:ln/>
        </p:spPr>
        <p:txBody>
          <a:bodyPr wrap="square" lIns="0" tIns="0" rIns="0" bIns="0" rtlCol="0" anchor="t"/>
          <a:lstStyle/>
          <a:p>
            <a:pPr indent="0" marL="0">
              <a:buNone/>
            </a:pPr>
            <a:r>
              <a:rPr lang="en-US" sz="1200" dirty="0">
                <a:solidFill>
                  <a:schemeClr val="bg1"/>
                </a:solidFill>
              </a:rPr>
              <a:t>So the fix must be systemic:</a:t>
            </a:r>
            <a:endParaRPr lang="en-US" sz="1200" dirty="0"/>
          </a:p>
        </p:txBody>
      </p:sp>
      <p:sp>
        <p:nvSpPr>
          <p:cNvPr id="30" name="Shape 28"/>
          <p:cNvSpPr/>
          <p:nvPr/>
        </p:nvSpPr>
        <p:spPr>
          <a:xfrm>
            <a:off x="8092440" y="3886200"/>
            <a:ext cx="3474720" cy="365760"/>
          </a:xfrm>
          <a:prstGeom prst="roundRect">
            <a:avLst>
              <a:gd name="adj" fmla="val 20000"/>
            </a:avLst>
          </a:prstGeom>
          <a:solidFill>
            <a:schemeClr val="bg1">
              <a:alpha val="15000"/>
            </a:schemeClr>
          </a:solidFill>
          <a:ln/>
        </p:spPr>
      </p:sp>
      <p:sp>
        <p:nvSpPr>
          <p:cNvPr id="31" name="Text 29"/>
          <p:cNvSpPr txBox="1"/>
          <p:nvPr/>
        </p:nvSpPr>
        <p:spPr>
          <a:xfrm>
            <a:off x="8229600" y="3886200"/>
            <a:ext cx="3291840" cy="365760"/>
          </a:xfrm>
          <a:prstGeom prst="rect">
            <a:avLst/>
          </a:prstGeom>
          <a:noFill/>
          <a:ln/>
        </p:spPr>
        <p:txBody>
          <a:bodyPr wrap="square" lIns="0" tIns="0" rIns="0" bIns="0" rtlCol="0" anchor="ctr"/>
          <a:lstStyle/>
          <a:p>
            <a:pPr indent="0" marL="0">
              <a:buNone/>
            </a:pPr>
            <a:r>
              <a:rPr lang="en-US" sz="1200" dirty="0">
                <a:solidFill>
                  <a:schemeClr val="bg1"/>
                </a:solidFill>
              </a:rPr>
              <a:t>Flow layout: product-family cells</a:t>
            </a:r>
            <a:endParaRPr lang="en-US" sz="1200" dirty="0"/>
          </a:p>
        </p:txBody>
      </p:sp>
      <p:sp>
        <p:nvSpPr>
          <p:cNvPr id="32" name="Shape 30"/>
          <p:cNvSpPr/>
          <p:nvPr/>
        </p:nvSpPr>
        <p:spPr>
          <a:xfrm>
            <a:off x="8092440" y="4343400"/>
            <a:ext cx="3474720" cy="365760"/>
          </a:xfrm>
          <a:prstGeom prst="roundRect">
            <a:avLst>
              <a:gd name="adj" fmla="val 20000"/>
            </a:avLst>
          </a:prstGeom>
          <a:solidFill>
            <a:schemeClr val="bg1">
              <a:alpha val="15000"/>
            </a:schemeClr>
          </a:solidFill>
          <a:ln/>
        </p:spPr>
      </p:sp>
      <p:sp>
        <p:nvSpPr>
          <p:cNvPr id="33" name="Text 31"/>
          <p:cNvSpPr txBox="1"/>
          <p:nvPr/>
        </p:nvSpPr>
        <p:spPr>
          <a:xfrm>
            <a:off x="8229600" y="4343400"/>
            <a:ext cx="3291840" cy="365760"/>
          </a:xfrm>
          <a:prstGeom prst="rect">
            <a:avLst/>
          </a:prstGeom>
          <a:noFill/>
          <a:ln/>
        </p:spPr>
        <p:txBody>
          <a:bodyPr wrap="square" lIns="0" tIns="0" rIns="0" bIns="0" rtlCol="0" anchor="ctr"/>
          <a:lstStyle/>
          <a:p>
            <a:pPr indent="0" marL="0">
              <a:buNone/>
            </a:pPr>
            <a:r>
              <a:rPr lang="en-US" sz="1200" dirty="0">
                <a:solidFill>
                  <a:schemeClr val="bg1"/>
                </a:solidFill>
              </a:rPr>
              <a:t>Standard work at every station</a:t>
            </a:r>
            <a:endParaRPr lang="en-US" sz="1200" dirty="0"/>
          </a:p>
        </p:txBody>
      </p:sp>
      <p:sp>
        <p:nvSpPr>
          <p:cNvPr id="34" name="Shape 32"/>
          <p:cNvSpPr/>
          <p:nvPr/>
        </p:nvSpPr>
        <p:spPr>
          <a:xfrm>
            <a:off x="8092440" y="4800600"/>
            <a:ext cx="3474720" cy="365760"/>
          </a:xfrm>
          <a:prstGeom prst="roundRect">
            <a:avLst>
              <a:gd name="adj" fmla="val 20000"/>
            </a:avLst>
          </a:prstGeom>
          <a:solidFill>
            <a:schemeClr val="bg1">
              <a:alpha val="15000"/>
            </a:schemeClr>
          </a:solidFill>
          <a:ln/>
        </p:spPr>
      </p:sp>
      <p:sp>
        <p:nvSpPr>
          <p:cNvPr id="35" name="Text 33"/>
          <p:cNvSpPr txBox="1"/>
          <p:nvPr/>
        </p:nvSpPr>
        <p:spPr>
          <a:xfrm>
            <a:off x="8229600" y="4800600"/>
            <a:ext cx="3291840" cy="365760"/>
          </a:xfrm>
          <a:prstGeom prst="rect">
            <a:avLst/>
          </a:prstGeom>
          <a:noFill/>
          <a:ln/>
        </p:spPr>
        <p:txBody>
          <a:bodyPr wrap="square" lIns="0" tIns="0" rIns="0" bIns="0" rtlCol="0" anchor="ctr"/>
          <a:lstStyle/>
          <a:p>
            <a:pPr indent="0" marL="0">
              <a:buNone/>
            </a:pPr>
            <a:r>
              <a:rPr lang="en-US" sz="1200" dirty="0">
                <a:solidFill>
                  <a:schemeClr val="bg1"/>
                </a:solidFill>
              </a:rPr>
              <a:t>Pull + a 3-day pitch</a:t>
            </a:r>
            <a:endParaRPr lang="en-US" sz="1200" dirty="0"/>
          </a:p>
        </p:txBody>
      </p:sp>
      <p:sp>
        <p:nvSpPr>
          <p:cNvPr id="36" name="Shape 34"/>
          <p:cNvSpPr/>
          <p:nvPr/>
        </p:nvSpPr>
        <p:spPr>
          <a:xfrm>
            <a:off x="8092440" y="5257800"/>
            <a:ext cx="3474720" cy="365760"/>
          </a:xfrm>
          <a:prstGeom prst="roundRect">
            <a:avLst>
              <a:gd name="adj" fmla="val 20000"/>
            </a:avLst>
          </a:prstGeom>
          <a:solidFill>
            <a:schemeClr val="bg1">
              <a:alpha val="15000"/>
            </a:schemeClr>
          </a:solidFill>
          <a:ln/>
        </p:spPr>
      </p:sp>
      <p:sp>
        <p:nvSpPr>
          <p:cNvPr id="37" name="Text 35"/>
          <p:cNvSpPr txBox="1"/>
          <p:nvPr/>
        </p:nvSpPr>
        <p:spPr>
          <a:xfrm>
            <a:off x="8229600" y="5257800"/>
            <a:ext cx="3291840" cy="365760"/>
          </a:xfrm>
          <a:prstGeom prst="rect">
            <a:avLst/>
          </a:prstGeom>
          <a:noFill/>
          <a:ln/>
        </p:spPr>
        <p:txBody>
          <a:bodyPr wrap="square" lIns="0" tIns="0" rIns="0" bIns="0" rtlCol="0" anchor="ctr"/>
          <a:lstStyle/>
          <a:p>
            <a:pPr indent="0" marL="0">
              <a:buNone/>
            </a:pPr>
            <a:r>
              <a:rPr lang="en-US" sz="1200" dirty="0">
                <a:solidFill>
                  <a:schemeClr val="bg1"/>
                </a:solidFill>
              </a:rPr>
              <a:t>Visual management and daily huddles</a:t>
            </a:r>
            <a:endParaRPr lang="en-US" sz="120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OPERATIONAL EXCELLENCE SOLUTION</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What should management change? Stop managing departments and schedules; manage the flow of each product family.</a:t>
            </a:r>
            <a:endParaRPr lang="en-US" sz="1400" dirty="0"/>
          </a:p>
        </p:txBody>
      </p:sp>
      <p:sp>
        <p:nvSpPr>
          <p:cNvPr id="4" name="Action 1"/>
          <p:cNvSpPr/>
          <p:nvPr/>
        </p:nvSpPr>
        <p:spPr>
          <a:xfrm>
            <a:off x="411480" y="1188720"/>
            <a:ext cx="2670048" cy="1645920"/>
          </a:xfrm>
          <a:prstGeom prst="roundRect">
            <a:avLst>
              <a:gd name="adj" fmla="val 4444"/>
            </a:avLst>
          </a:prstGeom>
          <a:solidFill>
            <a:schemeClr val="bg2"/>
          </a:solidFill>
          <a:ln/>
        </p:spPr>
      </p:sp>
      <p:sp>
        <p:nvSpPr>
          <p:cNvPr id="5" name="Shape 3"/>
          <p:cNvSpPr/>
          <p:nvPr/>
        </p:nvSpPr>
        <p:spPr>
          <a:xfrm>
            <a:off x="576072" y="1371600"/>
            <a:ext cx="457200" cy="457200"/>
          </a:xfrm>
          <a:prstGeom prst="ellipse">
            <a:avLst/>
          </a:prstGeom>
          <a:solidFill>
            <a:schemeClr val="accent1"/>
          </a:solidFill>
          <a:ln/>
        </p:spPr>
      </p:sp>
      <p:sp>
        <p:nvSpPr>
          <p:cNvPr id="6" name="Text 4"/>
          <p:cNvSpPr txBox="1"/>
          <p:nvPr/>
        </p:nvSpPr>
        <p:spPr>
          <a:xfrm>
            <a:off x="576072" y="1371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143000" y="1316736"/>
            <a:ext cx="1801368" cy="566928"/>
          </a:xfrm>
          <a:prstGeom prst="rect">
            <a:avLst/>
          </a:prstGeom>
          <a:noFill/>
          <a:ln/>
        </p:spPr>
        <p:txBody>
          <a:bodyPr wrap="square" lIns="0" tIns="0" rIns="0" bIns="0" rtlCol="0" anchor="ctr"/>
          <a:lstStyle/>
          <a:p>
            <a:pPr indent="0" marL="0">
              <a:buNone/>
            </a:pPr>
            <a:r>
              <a:rPr lang="en-US" sz="1300" b="1" dirty="0">
                <a:solidFill>
                  <a:schemeClr val="tx2"/>
                </a:solidFill>
              </a:rPr>
              <a:t>Map the value stream</a:t>
            </a:r>
            <a:endParaRPr lang="en-US" sz="1300" dirty="0"/>
          </a:p>
        </p:txBody>
      </p:sp>
      <p:sp>
        <p:nvSpPr>
          <p:cNvPr id="8" name="Text 6"/>
          <p:cNvSpPr txBox="1"/>
          <p:nvPr/>
        </p:nvSpPr>
        <p:spPr>
          <a:xfrm>
            <a:off x="576072" y="1975104"/>
            <a:ext cx="2340864" cy="237744"/>
          </a:xfrm>
          <a:prstGeom prst="rect">
            <a:avLst/>
          </a:prstGeom>
          <a:noFill/>
          <a:ln/>
        </p:spPr>
        <p:txBody>
          <a:bodyPr wrap="square" lIns="0" tIns="0" rIns="0" bIns="0" rtlCol="0" anchor="t"/>
          <a:lstStyle/>
          <a:p>
            <a:pPr indent="0" marL="0">
              <a:buNone/>
            </a:pPr>
            <a:r>
              <a:rPr lang="en-US" sz="1050" b="1" dirty="0">
                <a:solidFill>
                  <a:schemeClr val="accent1"/>
                </a:solidFill>
              </a:rPr>
              <a:t>SEE THE WHOLE</a:t>
            </a:r>
            <a:endParaRPr lang="en-US" sz="1050" dirty="0"/>
          </a:p>
        </p:txBody>
      </p:sp>
      <p:sp>
        <p:nvSpPr>
          <p:cNvPr id="9" name="Text 7"/>
          <p:cNvSpPr txBox="1"/>
          <p:nvPr/>
        </p:nvSpPr>
        <p:spPr>
          <a:xfrm>
            <a:off x="576072" y="2221992"/>
            <a:ext cx="2340864" cy="548640"/>
          </a:xfrm>
          <a:prstGeom prst="rect">
            <a:avLst/>
          </a:prstGeom>
          <a:noFill/>
          <a:ln/>
        </p:spPr>
        <p:txBody>
          <a:bodyPr wrap="square" lIns="0" tIns="0" rIns="0" bIns="0" rtlCol="0" anchor="t"/>
          <a:lstStyle/>
          <a:p>
            <a:pPr indent="0" marL="0">
              <a:buNone/>
            </a:pPr>
            <a:r>
              <a:rPr lang="en-US" sz="1150" dirty="0">
                <a:solidFill>
                  <a:schemeClr val="tx1"/>
                </a:solidFill>
              </a:rPr>
              <a:t>VSM and spaghetti chart expose the waste and WIP</a:t>
            </a:r>
            <a:endParaRPr lang="en-US" sz="1150" dirty="0"/>
          </a:p>
        </p:txBody>
      </p:sp>
      <p:sp>
        <p:nvSpPr>
          <p:cNvPr id="10" name="Action 2"/>
          <p:cNvSpPr/>
          <p:nvPr/>
        </p:nvSpPr>
        <p:spPr>
          <a:xfrm>
            <a:off x="3310128" y="1188720"/>
            <a:ext cx="2670048" cy="1645920"/>
          </a:xfrm>
          <a:prstGeom prst="roundRect">
            <a:avLst>
              <a:gd name="adj" fmla="val 4444"/>
            </a:avLst>
          </a:prstGeom>
          <a:solidFill>
            <a:schemeClr val="bg2"/>
          </a:solidFill>
          <a:ln/>
        </p:spPr>
      </p:sp>
      <p:sp>
        <p:nvSpPr>
          <p:cNvPr id="11" name="Shape 9"/>
          <p:cNvSpPr/>
          <p:nvPr/>
        </p:nvSpPr>
        <p:spPr>
          <a:xfrm>
            <a:off x="3474720" y="1371600"/>
            <a:ext cx="457200" cy="457200"/>
          </a:xfrm>
          <a:prstGeom prst="ellipse">
            <a:avLst/>
          </a:prstGeom>
          <a:solidFill>
            <a:schemeClr val="accent1"/>
          </a:solidFill>
          <a:ln/>
        </p:spPr>
      </p:sp>
      <p:sp>
        <p:nvSpPr>
          <p:cNvPr id="12" name="Text 10"/>
          <p:cNvSpPr txBox="1"/>
          <p:nvPr/>
        </p:nvSpPr>
        <p:spPr>
          <a:xfrm>
            <a:off x="3474720" y="1371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1"/>
          <p:cNvSpPr txBox="1"/>
          <p:nvPr/>
        </p:nvSpPr>
        <p:spPr>
          <a:xfrm>
            <a:off x="4041648" y="1316736"/>
            <a:ext cx="1801368" cy="566928"/>
          </a:xfrm>
          <a:prstGeom prst="rect">
            <a:avLst/>
          </a:prstGeom>
          <a:noFill/>
          <a:ln/>
        </p:spPr>
        <p:txBody>
          <a:bodyPr wrap="square" lIns="0" tIns="0" rIns="0" bIns="0" rtlCol="0" anchor="ctr"/>
          <a:lstStyle/>
          <a:p>
            <a:pPr indent="0" marL="0">
              <a:buNone/>
            </a:pPr>
            <a:r>
              <a:rPr lang="en-US" sz="1300" b="1" dirty="0">
                <a:solidFill>
                  <a:schemeClr val="tx2"/>
                </a:solidFill>
              </a:rPr>
              <a:t>Reorganize by product family</a:t>
            </a:r>
            <a:endParaRPr lang="en-US" sz="1300" dirty="0"/>
          </a:p>
        </p:txBody>
      </p:sp>
      <p:sp>
        <p:nvSpPr>
          <p:cNvPr id="14" name="Text 12"/>
          <p:cNvSpPr txBox="1"/>
          <p:nvPr/>
        </p:nvSpPr>
        <p:spPr>
          <a:xfrm>
            <a:off x="3474720" y="1975104"/>
            <a:ext cx="2340864" cy="237744"/>
          </a:xfrm>
          <a:prstGeom prst="rect">
            <a:avLst/>
          </a:prstGeom>
          <a:noFill/>
          <a:ln/>
        </p:spPr>
        <p:txBody>
          <a:bodyPr wrap="square" lIns="0" tIns="0" rIns="0" bIns="0" rtlCol="0" anchor="t"/>
          <a:lstStyle/>
          <a:p>
            <a:pPr indent="0" marL="0">
              <a:buNone/>
            </a:pPr>
            <a:r>
              <a:rPr lang="en-US" sz="1050" b="1" dirty="0">
                <a:solidFill>
                  <a:schemeClr val="accent1"/>
                </a:solidFill>
              </a:rPr>
              <a:t>PRODUCT FAMILIES</a:t>
            </a:r>
            <a:endParaRPr lang="en-US" sz="1050" dirty="0"/>
          </a:p>
        </p:txBody>
      </p:sp>
      <p:sp>
        <p:nvSpPr>
          <p:cNvPr id="15" name="Text 13"/>
          <p:cNvSpPr txBox="1"/>
          <p:nvPr/>
        </p:nvSpPr>
        <p:spPr>
          <a:xfrm>
            <a:off x="3474720" y="2221992"/>
            <a:ext cx="2340864" cy="548640"/>
          </a:xfrm>
          <a:prstGeom prst="rect">
            <a:avLst/>
          </a:prstGeom>
          <a:noFill/>
          <a:ln/>
        </p:spPr>
        <p:txBody>
          <a:bodyPr wrap="square" lIns="0" tIns="0" rIns="0" bIns="0" rtlCol="0" anchor="t"/>
          <a:lstStyle/>
          <a:p>
            <a:pPr indent="0" marL="0">
              <a:buNone/>
            </a:pPr>
            <a:r>
              <a:rPr lang="en-US" sz="1150" dirty="0">
                <a:solidFill>
                  <a:schemeClr val="tx1"/>
                </a:solidFill>
              </a:rPr>
              <a:t>P-Q analysis groups drives by size and characteristics</a:t>
            </a:r>
            <a:endParaRPr lang="en-US" sz="1150" dirty="0"/>
          </a:p>
        </p:txBody>
      </p:sp>
      <p:sp>
        <p:nvSpPr>
          <p:cNvPr id="16" name="Action 3"/>
          <p:cNvSpPr/>
          <p:nvPr/>
        </p:nvSpPr>
        <p:spPr>
          <a:xfrm>
            <a:off x="6208776" y="1188720"/>
            <a:ext cx="2670048" cy="1645920"/>
          </a:xfrm>
          <a:prstGeom prst="roundRect">
            <a:avLst>
              <a:gd name="adj" fmla="val 4444"/>
            </a:avLst>
          </a:prstGeom>
          <a:solidFill>
            <a:schemeClr val="bg2"/>
          </a:solidFill>
          <a:ln/>
        </p:spPr>
      </p:sp>
      <p:sp>
        <p:nvSpPr>
          <p:cNvPr id="17" name="Shape 15"/>
          <p:cNvSpPr/>
          <p:nvPr/>
        </p:nvSpPr>
        <p:spPr>
          <a:xfrm>
            <a:off x="6373368" y="1371600"/>
            <a:ext cx="457200" cy="457200"/>
          </a:xfrm>
          <a:prstGeom prst="ellipse">
            <a:avLst/>
          </a:prstGeom>
          <a:solidFill>
            <a:schemeClr val="accent1"/>
          </a:solidFill>
          <a:ln/>
        </p:spPr>
      </p:sp>
      <p:sp>
        <p:nvSpPr>
          <p:cNvPr id="18" name="Text 16"/>
          <p:cNvSpPr txBox="1"/>
          <p:nvPr/>
        </p:nvSpPr>
        <p:spPr>
          <a:xfrm>
            <a:off x="6373368" y="1371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7"/>
          <p:cNvSpPr txBox="1"/>
          <p:nvPr/>
        </p:nvSpPr>
        <p:spPr>
          <a:xfrm>
            <a:off x="6940296" y="1316736"/>
            <a:ext cx="1801368" cy="566928"/>
          </a:xfrm>
          <a:prstGeom prst="rect">
            <a:avLst/>
          </a:prstGeom>
          <a:noFill/>
          <a:ln/>
        </p:spPr>
        <p:txBody>
          <a:bodyPr wrap="square" lIns="0" tIns="0" rIns="0" bIns="0" rtlCol="0" anchor="ctr"/>
          <a:lstStyle/>
          <a:p>
            <a:pPr indent="0" marL="0">
              <a:buNone/>
            </a:pPr>
            <a:r>
              <a:rPr lang="en-US" sz="1300" b="1" dirty="0">
                <a:solidFill>
                  <a:schemeClr val="tx2"/>
                </a:solidFill>
              </a:rPr>
              <a:t>Create assembly cells</a:t>
            </a:r>
            <a:endParaRPr lang="en-US" sz="1300" dirty="0"/>
          </a:p>
        </p:txBody>
      </p:sp>
      <p:sp>
        <p:nvSpPr>
          <p:cNvPr id="20" name="Text 18"/>
          <p:cNvSpPr txBox="1"/>
          <p:nvPr/>
        </p:nvSpPr>
        <p:spPr>
          <a:xfrm>
            <a:off x="6373368" y="1975104"/>
            <a:ext cx="2340864" cy="237744"/>
          </a:xfrm>
          <a:prstGeom prst="rect">
            <a:avLst/>
          </a:prstGeom>
          <a:noFill/>
          <a:ln/>
        </p:spPr>
        <p:txBody>
          <a:bodyPr wrap="square" lIns="0" tIns="0" rIns="0" bIns="0" rtlCol="0" anchor="t"/>
          <a:lstStyle/>
          <a:p>
            <a:pPr indent="0" marL="0">
              <a:buNone/>
            </a:pPr>
            <a:r>
              <a:rPr lang="en-US" sz="1050" b="1" dirty="0">
                <a:solidFill>
                  <a:schemeClr val="accent1"/>
                </a:solidFill>
              </a:rPr>
              <a:t>FLOW</a:t>
            </a:r>
            <a:endParaRPr lang="en-US" sz="1050" dirty="0"/>
          </a:p>
        </p:txBody>
      </p:sp>
      <p:sp>
        <p:nvSpPr>
          <p:cNvPr id="21" name="Text 19"/>
          <p:cNvSpPr txBox="1"/>
          <p:nvPr/>
        </p:nvSpPr>
        <p:spPr>
          <a:xfrm>
            <a:off x="6373368" y="2221992"/>
            <a:ext cx="2340864" cy="548640"/>
          </a:xfrm>
          <a:prstGeom prst="rect">
            <a:avLst/>
          </a:prstGeom>
          <a:noFill/>
          <a:ln/>
        </p:spPr>
        <p:txBody>
          <a:bodyPr wrap="square" lIns="0" tIns="0" rIns="0" bIns="0" rtlCol="0" anchor="t"/>
          <a:lstStyle/>
          <a:p>
            <a:pPr indent="0" marL="0">
              <a:buNone/>
            </a:pPr>
            <a:r>
              <a:rPr lang="en-US" sz="1150" dirty="0">
                <a:solidFill>
                  <a:schemeClr val="tx1"/>
                </a:solidFill>
              </a:rPr>
              <a:t>Co-locate people, parts and tools per family</a:t>
            </a:r>
            <a:endParaRPr lang="en-US" sz="1150" dirty="0"/>
          </a:p>
        </p:txBody>
      </p:sp>
      <p:sp>
        <p:nvSpPr>
          <p:cNvPr id="22" name="Action 4"/>
          <p:cNvSpPr/>
          <p:nvPr/>
        </p:nvSpPr>
        <p:spPr>
          <a:xfrm>
            <a:off x="9107424" y="1188720"/>
            <a:ext cx="2670048" cy="1645920"/>
          </a:xfrm>
          <a:prstGeom prst="roundRect">
            <a:avLst>
              <a:gd name="adj" fmla="val 4444"/>
            </a:avLst>
          </a:prstGeom>
          <a:solidFill>
            <a:schemeClr val="bg2"/>
          </a:solidFill>
          <a:ln/>
        </p:spPr>
      </p:sp>
      <p:sp>
        <p:nvSpPr>
          <p:cNvPr id="23" name="Shape 21"/>
          <p:cNvSpPr/>
          <p:nvPr/>
        </p:nvSpPr>
        <p:spPr>
          <a:xfrm>
            <a:off x="9272016" y="1371600"/>
            <a:ext cx="457200" cy="457200"/>
          </a:xfrm>
          <a:prstGeom prst="ellipse">
            <a:avLst/>
          </a:prstGeom>
          <a:solidFill>
            <a:schemeClr val="accent1"/>
          </a:solidFill>
          <a:ln/>
        </p:spPr>
      </p:sp>
      <p:sp>
        <p:nvSpPr>
          <p:cNvPr id="24" name="Text 22"/>
          <p:cNvSpPr txBox="1"/>
          <p:nvPr/>
        </p:nvSpPr>
        <p:spPr>
          <a:xfrm>
            <a:off x="9272016" y="1371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Text 23"/>
          <p:cNvSpPr txBox="1"/>
          <p:nvPr/>
        </p:nvSpPr>
        <p:spPr>
          <a:xfrm>
            <a:off x="9838944" y="1316736"/>
            <a:ext cx="1801368" cy="566928"/>
          </a:xfrm>
          <a:prstGeom prst="rect">
            <a:avLst/>
          </a:prstGeom>
          <a:noFill/>
          <a:ln/>
        </p:spPr>
        <p:txBody>
          <a:bodyPr wrap="square" lIns="0" tIns="0" rIns="0" bIns="0" rtlCol="0" anchor="ctr"/>
          <a:lstStyle/>
          <a:p>
            <a:pPr indent="0" marL="0">
              <a:buNone/>
            </a:pPr>
            <a:r>
              <a:rPr lang="en-US" sz="1300" b="1" dirty="0">
                <a:solidFill>
                  <a:schemeClr val="tx2"/>
                </a:solidFill>
              </a:rPr>
              <a:t>Develop standard work</a:t>
            </a:r>
            <a:endParaRPr lang="en-US" sz="1300" dirty="0"/>
          </a:p>
        </p:txBody>
      </p:sp>
      <p:sp>
        <p:nvSpPr>
          <p:cNvPr id="26" name="Text 24"/>
          <p:cNvSpPr txBox="1"/>
          <p:nvPr/>
        </p:nvSpPr>
        <p:spPr>
          <a:xfrm>
            <a:off x="9272016" y="1975104"/>
            <a:ext cx="2340864" cy="237744"/>
          </a:xfrm>
          <a:prstGeom prst="rect">
            <a:avLst/>
          </a:prstGeom>
          <a:noFill/>
          <a:ln/>
        </p:spPr>
        <p:txBody>
          <a:bodyPr wrap="square" lIns="0" tIns="0" rIns="0" bIns="0" rtlCol="0" anchor="t"/>
          <a:lstStyle/>
          <a:p>
            <a:pPr indent="0" marL="0">
              <a:buNone/>
            </a:pPr>
            <a:r>
              <a:rPr lang="en-US" sz="1050" b="1" dirty="0">
                <a:solidFill>
                  <a:schemeClr val="accent1"/>
                </a:solidFill>
              </a:rPr>
              <a:t>STANDARDIZATION</a:t>
            </a:r>
            <a:endParaRPr lang="en-US" sz="1050" dirty="0"/>
          </a:p>
        </p:txBody>
      </p:sp>
      <p:sp>
        <p:nvSpPr>
          <p:cNvPr id="27" name="Text 25"/>
          <p:cNvSpPr txBox="1"/>
          <p:nvPr/>
        </p:nvSpPr>
        <p:spPr>
          <a:xfrm>
            <a:off x="9272016" y="2221992"/>
            <a:ext cx="2340864" cy="548640"/>
          </a:xfrm>
          <a:prstGeom prst="rect">
            <a:avLst/>
          </a:prstGeom>
          <a:noFill/>
          <a:ln/>
        </p:spPr>
        <p:txBody>
          <a:bodyPr wrap="square" lIns="0" tIns="0" rIns="0" bIns="0" rtlCol="0" anchor="t"/>
          <a:lstStyle/>
          <a:p>
            <a:pPr indent="0" marL="0">
              <a:buNone/>
            </a:pPr>
            <a:r>
              <a:rPr lang="en-US" sz="1150" dirty="0">
                <a:solidFill>
                  <a:schemeClr val="tx1"/>
                </a:solidFill>
              </a:rPr>
              <a:t>Capture expert know-how as posted sequences</a:t>
            </a:r>
            <a:endParaRPr lang="en-US" sz="1150" dirty="0"/>
          </a:p>
        </p:txBody>
      </p:sp>
      <p:sp>
        <p:nvSpPr>
          <p:cNvPr id="28" name="Action 5"/>
          <p:cNvSpPr/>
          <p:nvPr/>
        </p:nvSpPr>
        <p:spPr>
          <a:xfrm>
            <a:off x="411480" y="3017520"/>
            <a:ext cx="2670048" cy="1645920"/>
          </a:xfrm>
          <a:prstGeom prst="roundRect">
            <a:avLst>
              <a:gd name="adj" fmla="val 4444"/>
            </a:avLst>
          </a:prstGeom>
          <a:solidFill>
            <a:schemeClr val="bg2"/>
          </a:solidFill>
          <a:ln/>
        </p:spPr>
      </p:sp>
      <p:sp>
        <p:nvSpPr>
          <p:cNvPr id="29" name="Shape 27"/>
          <p:cNvSpPr/>
          <p:nvPr/>
        </p:nvSpPr>
        <p:spPr>
          <a:xfrm>
            <a:off x="576072" y="3200400"/>
            <a:ext cx="457200" cy="457200"/>
          </a:xfrm>
          <a:prstGeom prst="ellipse">
            <a:avLst/>
          </a:prstGeom>
          <a:solidFill>
            <a:schemeClr val="accent1"/>
          </a:solidFill>
          <a:ln/>
        </p:spPr>
      </p:sp>
      <p:sp>
        <p:nvSpPr>
          <p:cNvPr id="30" name="Text 28"/>
          <p:cNvSpPr txBox="1"/>
          <p:nvPr/>
        </p:nvSpPr>
        <p:spPr>
          <a:xfrm>
            <a:off x="576072" y="32004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1" name="Text 29"/>
          <p:cNvSpPr txBox="1"/>
          <p:nvPr/>
        </p:nvSpPr>
        <p:spPr>
          <a:xfrm>
            <a:off x="1143000" y="3145536"/>
            <a:ext cx="1801368" cy="566928"/>
          </a:xfrm>
          <a:prstGeom prst="rect">
            <a:avLst/>
          </a:prstGeom>
          <a:noFill/>
          <a:ln/>
        </p:spPr>
        <p:txBody>
          <a:bodyPr wrap="square" lIns="0" tIns="0" rIns="0" bIns="0" rtlCol="0" anchor="ctr"/>
          <a:lstStyle/>
          <a:p>
            <a:pPr indent="0" marL="0">
              <a:buNone/>
            </a:pPr>
            <a:r>
              <a:rPr lang="en-US" sz="1300" b="1" dirty="0">
                <a:solidFill>
                  <a:schemeClr val="tx2"/>
                </a:solidFill>
              </a:rPr>
              <a:t>Define work areas</a:t>
            </a:r>
            <a:endParaRPr lang="en-US" sz="1300" dirty="0"/>
          </a:p>
        </p:txBody>
      </p:sp>
      <p:sp>
        <p:nvSpPr>
          <p:cNvPr id="32" name="Text 30"/>
          <p:cNvSpPr txBox="1"/>
          <p:nvPr/>
        </p:nvSpPr>
        <p:spPr>
          <a:xfrm>
            <a:off x="576072" y="3803904"/>
            <a:ext cx="2340864" cy="237744"/>
          </a:xfrm>
          <a:prstGeom prst="rect">
            <a:avLst/>
          </a:prstGeom>
          <a:noFill/>
          <a:ln/>
        </p:spPr>
        <p:txBody>
          <a:bodyPr wrap="square" lIns="0" tIns="0" rIns="0" bIns="0" rtlCol="0" anchor="t"/>
          <a:lstStyle/>
          <a:p>
            <a:pPr indent="0" marL="0">
              <a:buNone/>
            </a:pPr>
            <a:r>
              <a:rPr lang="en-US" sz="1050" b="1" dirty="0">
                <a:solidFill>
                  <a:schemeClr val="accent1"/>
                </a:solidFill>
              </a:rPr>
              <a:t>VISUAL WORKPLACE / 5S</a:t>
            </a:r>
            <a:endParaRPr lang="en-US" sz="1050" dirty="0"/>
          </a:p>
        </p:txBody>
      </p:sp>
      <p:sp>
        <p:nvSpPr>
          <p:cNvPr id="33" name="Text 31"/>
          <p:cNvSpPr txBox="1"/>
          <p:nvPr/>
        </p:nvSpPr>
        <p:spPr>
          <a:xfrm>
            <a:off x="576072" y="4050792"/>
            <a:ext cx="2340864" cy="548640"/>
          </a:xfrm>
          <a:prstGeom prst="rect">
            <a:avLst/>
          </a:prstGeom>
          <a:noFill/>
          <a:ln/>
        </p:spPr>
        <p:txBody>
          <a:bodyPr wrap="square" lIns="0" tIns="0" rIns="0" bIns="0" rtlCol="0" anchor="t"/>
          <a:lstStyle/>
          <a:p>
            <a:pPr indent="0" marL="0">
              <a:buNone/>
            </a:pPr>
            <a:r>
              <a:rPr lang="en-US" sz="1150" dirty="0">
                <a:solidFill>
                  <a:schemeClr val="tx1"/>
                </a:solidFill>
              </a:rPr>
              <a:t>Every station, tool and WIP spot labelled</a:t>
            </a:r>
            <a:endParaRPr lang="en-US" sz="1150" dirty="0"/>
          </a:p>
        </p:txBody>
      </p:sp>
      <p:sp>
        <p:nvSpPr>
          <p:cNvPr id="34" name="Action 6"/>
          <p:cNvSpPr/>
          <p:nvPr/>
        </p:nvSpPr>
        <p:spPr>
          <a:xfrm>
            <a:off x="3310128" y="3017520"/>
            <a:ext cx="2670048" cy="1645920"/>
          </a:xfrm>
          <a:prstGeom prst="roundRect">
            <a:avLst>
              <a:gd name="adj" fmla="val 4444"/>
            </a:avLst>
          </a:prstGeom>
          <a:solidFill>
            <a:schemeClr val="bg2"/>
          </a:solidFill>
          <a:ln/>
        </p:spPr>
      </p:sp>
      <p:sp>
        <p:nvSpPr>
          <p:cNvPr id="35" name="Shape 33"/>
          <p:cNvSpPr/>
          <p:nvPr/>
        </p:nvSpPr>
        <p:spPr>
          <a:xfrm>
            <a:off x="3474720" y="3200400"/>
            <a:ext cx="457200" cy="457200"/>
          </a:xfrm>
          <a:prstGeom prst="ellipse">
            <a:avLst/>
          </a:prstGeom>
          <a:solidFill>
            <a:schemeClr val="accent1"/>
          </a:solidFill>
          <a:ln/>
        </p:spPr>
      </p:sp>
      <p:sp>
        <p:nvSpPr>
          <p:cNvPr id="36" name="Text 34"/>
          <p:cNvSpPr txBox="1"/>
          <p:nvPr/>
        </p:nvSpPr>
        <p:spPr>
          <a:xfrm>
            <a:off x="3474720" y="32004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7" name="Text 35"/>
          <p:cNvSpPr txBox="1"/>
          <p:nvPr/>
        </p:nvSpPr>
        <p:spPr>
          <a:xfrm>
            <a:off x="4041648" y="3145536"/>
            <a:ext cx="1801368" cy="566928"/>
          </a:xfrm>
          <a:prstGeom prst="rect">
            <a:avLst/>
          </a:prstGeom>
          <a:noFill/>
          <a:ln/>
        </p:spPr>
        <p:txBody>
          <a:bodyPr wrap="square" lIns="0" tIns="0" rIns="0" bIns="0" rtlCol="0" anchor="ctr"/>
          <a:lstStyle/>
          <a:p>
            <a:pPr indent="0" marL="0">
              <a:buNone/>
            </a:pPr>
            <a:r>
              <a:rPr lang="en-US" sz="1300" b="1" dirty="0">
                <a:solidFill>
                  <a:schemeClr val="tx2"/>
                </a:solidFill>
              </a:rPr>
              <a:t>Introduce pull-based movement</a:t>
            </a:r>
            <a:endParaRPr lang="en-US" sz="1300" dirty="0"/>
          </a:p>
        </p:txBody>
      </p:sp>
      <p:sp>
        <p:nvSpPr>
          <p:cNvPr id="38" name="Text 36"/>
          <p:cNvSpPr txBox="1"/>
          <p:nvPr/>
        </p:nvSpPr>
        <p:spPr>
          <a:xfrm>
            <a:off x="3474720" y="3803904"/>
            <a:ext cx="2340864" cy="237744"/>
          </a:xfrm>
          <a:prstGeom prst="rect">
            <a:avLst/>
          </a:prstGeom>
          <a:noFill/>
          <a:ln/>
        </p:spPr>
        <p:txBody>
          <a:bodyPr wrap="square" lIns="0" tIns="0" rIns="0" bIns="0" rtlCol="0" anchor="t"/>
          <a:lstStyle/>
          <a:p>
            <a:pPr indent="0" marL="0">
              <a:buNone/>
            </a:pPr>
            <a:r>
              <a:rPr lang="en-US" sz="1050" b="1" dirty="0">
                <a:solidFill>
                  <a:schemeClr val="accent1"/>
                </a:solidFill>
              </a:rPr>
              <a:t>PULL</a:t>
            </a:r>
            <a:endParaRPr lang="en-US" sz="1050" dirty="0"/>
          </a:p>
        </p:txBody>
      </p:sp>
      <p:sp>
        <p:nvSpPr>
          <p:cNvPr id="39" name="Text 37"/>
          <p:cNvSpPr txBox="1"/>
          <p:nvPr/>
        </p:nvSpPr>
        <p:spPr>
          <a:xfrm>
            <a:off x="3474720" y="4050792"/>
            <a:ext cx="2340864" cy="548640"/>
          </a:xfrm>
          <a:prstGeom prst="rect">
            <a:avLst/>
          </a:prstGeom>
          <a:noFill/>
          <a:ln/>
        </p:spPr>
        <p:txBody>
          <a:bodyPr wrap="square" lIns="0" tIns="0" rIns="0" bIns="0" rtlCol="0" anchor="t"/>
          <a:lstStyle/>
          <a:p>
            <a:pPr indent="0" marL="0">
              <a:buNone/>
            </a:pPr>
            <a:r>
              <a:rPr lang="en-US" sz="1150" dirty="0">
                <a:solidFill>
                  <a:schemeClr val="tx1"/>
                </a:solidFill>
              </a:rPr>
              <a:t>Next step pulls; FIFO replaces MRP dispatch</a:t>
            </a:r>
            <a:endParaRPr lang="en-US" sz="1150" dirty="0"/>
          </a:p>
        </p:txBody>
      </p:sp>
      <p:sp>
        <p:nvSpPr>
          <p:cNvPr id="40" name="Action 7"/>
          <p:cNvSpPr/>
          <p:nvPr/>
        </p:nvSpPr>
        <p:spPr>
          <a:xfrm>
            <a:off x="6208776" y="3017520"/>
            <a:ext cx="2670048" cy="1645920"/>
          </a:xfrm>
          <a:prstGeom prst="roundRect">
            <a:avLst>
              <a:gd name="adj" fmla="val 4444"/>
            </a:avLst>
          </a:prstGeom>
          <a:solidFill>
            <a:schemeClr val="bg2"/>
          </a:solidFill>
          <a:ln/>
        </p:spPr>
      </p:sp>
      <p:sp>
        <p:nvSpPr>
          <p:cNvPr id="41" name="Shape 39"/>
          <p:cNvSpPr/>
          <p:nvPr/>
        </p:nvSpPr>
        <p:spPr>
          <a:xfrm>
            <a:off x="6373368" y="3200400"/>
            <a:ext cx="457200" cy="457200"/>
          </a:xfrm>
          <a:prstGeom prst="ellipse">
            <a:avLst/>
          </a:prstGeom>
          <a:solidFill>
            <a:schemeClr val="accent1"/>
          </a:solidFill>
          <a:ln/>
        </p:spPr>
      </p:sp>
      <p:sp>
        <p:nvSpPr>
          <p:cNvPr id="42" name="Text 40"/>
          <p:cNvSpPr txBox="1"/>
          <p:nvPr/>
        </p:nvSpPr>
        <p:spPr>
          <a:xfrm>
            <a:off x="6373368" y="32004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43" name="Text 41"/>
          <p:cNvSpPr txBox="1"/>
          <p:nvPr/>
        </p:nvSpPr>
        <p:spPr>
          <a:xfrm>
            <a:off x="6940296" y="3145536"/>
            <a:ext cx="1801368" cy="566928"/>
          </a:xfrm>
          <a:prstGeom prst="rect">
            <a:avLst/>
          </a:prstGeom>
          <a:noFill/>
          <a:ln/>
        </p:spPr>
        <p:txBody>
          <a:bodyPr wrap="square" lIns="0" tIns="0" rIns="0" bIns="0" rtlCol="0" anchor="ctr"/>
          <a:lstStyle/>
          <a:p>
            <a:pPr indent="0" marL="0">
              <a:buNone/>
            </a:pPr>
            <a:r>
              <a:rPr lang="en-US" sz="1300" b="1" dirty="0">
                <a:solidFill>
                  <a:schemeClr val="tx2"/>
                </a:solidFill>
              </a:rPr>
              <a:t>Set takt / pitch</a:t>
            </a:r>
            <a:endParaRPr lang="en-US" sz="1300" dirty="0"/>
          </a:p>
        </p:txBody>
      </p:sp>
      <p:sp>
        <p:nvSpPr>
          <p:cNvPr id="44" name="Text 42"/>
          <p:cNvSpPr txBox="1"/>
          <p:nvPr/>
        </p:nvSpPr>
        <p:spPr>
          <a:xfrm>
            <a:off x="6373368" y="3803904"/>
            <a:ext cx="2340864" cy="237744"/>
          </a:xfrm>
          <a:prstGeom prst="rect">
            <a:avLst/>
          </a:prstGeom>
          <a:noFill/>
          <a:ln/>
        </p:spPr>
        <p:txBody>
          <a:bodyPr wrap="square" lIns="0" tIns="0" rIns="0" bIns="0" rtlCol="0" anchor="t"/>
          <a:lstStyle/>
          <a:p>
            <a:pPr indent="0" marL="0">
              <a:buNone/>
            </a:pPr>
            <a:r>
              <a:rPr lang="en-US" sz="1050" b="1" dirty="0">
                <a:solidFill>
                  <a:schemeClr val="accent1"/>
                </a:solidFill>
              </a:rPr>
              <a:t>RHYTHM</a:t>
            </a:r>
            <a:endParaRPr lang="en-US" sz="1050" dirty="0"/>
          </a:p>
        </p:txBody>
      </p:sp>
      <p:sp>
        <p:nvSpPr>
          <p:cNvPr id="45" name="Text 43"/>
          <p:cNvSpPr txBox="1"/>
          <p:nvPr/>
        </p:nvSpPr>
        <p:spPr>
          <a:xfrm>
            <a:off x="6373368" y="4050792"/>
            <a:ext cx="2340864" cy="548640"/>
          </a:xfrm>
          <a:prstGeom prst="rect">
            <a:avLst/>
          </a:prstGeom>
          <a:noFill/>
          <a:ln/>
        </p:spPr>
        <p:txBody>
          <a:bodyPr wrap="square" lIns="0" tIns="0" rIns="0" bIns="0" rtlCol="0" anchor="t"/>
          <a:lstStyle/>
          <a:p>
            <a:pPr indent="0" marL="0">
              <a:buNone/>
            </a:pPr>
            <a:r>
              <a:rPr lang="en-US" sz="1150" dirty="0">
                <a:solidFill>
                  <a:schemeClr val="tx1"/>
                </a:solidFill>
              </a:rPr>
              <a:t>A 3-day pitch shows progress every 3 days</a:t>
            </a:r>
            <a:endParaRPr lang="en-US" sz="1150" dirty="0"/>
          </a:p>
        </p:txBody>
      </p:sp>
      <p:sp>
        <p:nvSpPr>
          <p:cNvPr id="46" name="Action 8"/>
          <p:cNvSpPr/>
          <p:nvPr/>
        </p:nvSpPr>
        <p:spPr>
          <a:xfrm>
            <a:off x="9107424" y="3017520"/>
            <a:ext cx="2670048" cy="1645920"/>
          </a:xfrm>
          <a:prstGeom prst="roundRect">
            <a:avLst>
              <a:gd name="adj" fmla="val 4444"/>
            </a:avLst>
          </a:prstGeom>
          <a:solidFill>
            <a:schemeClr val="bg2"/>
          </a:solidFill>
          <a:ln/>
        </p:spPr>
      </p:sp>
      <p:sp>
        <p:nvSpPr>
          <p:cNvPr id="47" name="Shape 45"/>
          <p:cNvSpPr/>
          <p:nvPr/>
        </p:nvSpPr>
        <p:spPr>
          <a:xfrm>
            <a:off x="9272016" y="3200400"/>
            <a:ext cx="457200" cy="457200"/>
          </a:xfrm>
          <a:prstGeom prst="ellipse">
            <a:avLst/>
          </a:prstGeom>
          <a:solidFill>
            <a:schemeClr val="accent1"/>
          </a:solidFill>
          <a:ln/>
        </p:spPr>
      </p:sp>
      <p:sp>
        <p:nvSpPr>
          <p:cNvPr id="48" name="Text 46"/>
          <p:cNvSpPr txBox="1"/>
          <p:nvPr/>
        </p:nvSpPr>
        <p:spPr>
          <a:xfrm>
            <a:off x="9272016" y="32004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9" name="Text 47"/>
          <p:cNvSpPr txBox="1"/>
          <p:nvPr/>
        </p:nvSpPr>
        <p:spPr>
          <a:xfrm>
            <a:off x="9838944" y="3145536"/>
            <a:ext cx="1801368" cy="566928"/>
          </a:xfrm>
          <a:prstGeom prst="rect">
            <a:avLst/>
          </a:prstGeom>
          <a:noFill/>
          <a:ln/>
        </p:spPr>
        <p:txBody>
          <a:bodyPr wrap="square" lIns="0" tIns="0" rIns="0" bIns="0" rtlCol="0" anchor="ctr"/>
          <a:lstStyle/>
          <a:p>
            <a:pPr indent="0" marL="0">
              <a:buNone/>
            </a:pPr>
            <a:r>
              <a:rPr lang="en-US" sz="1300" b="1" dirty="0">
                <a:solidFill>
                  <a:schemeClr val="tx2"/>
                </a:solidFill>
              </a:rPr>
              <a:t>Build quality into the process</a:t>
            </a:r>
            <a:endParaRPr lang="en-US" sz="1300" dirty="0"/>
          </a:p>
        </p:txBody>
      </p:sp>
      <p:sp>
        <p:nvSpPr>
          <p:cNvPr id="50" name="Text 48"/>
          <p:cNvSpPr txBox="1"/>
          <p:nvPr/>
        </p:nvSpPr>
        <p:spPr>
          <a:xfrm>
            <a:off x="9272016" y="3803904"/>
            <a:ext cx="2340864" cy="237744"/>
          </a:xfrm>
          <a:prstGeom prst="rect">
            <a:avLst/>
          </a:prstGeom>
          <a:noFill/>
          <a:ln/>
        </p:spPr>
        <p:txBody>
          <a:bodyPr wrap="square" lIns="0" tIns="0" rIns="0" bIns="0" rtlCol="0" anchor="t"/>
          <a:lstStyle/>
          <a:p>
            <a:pPr indent="0" marL="0">
              <a:buNone/>
            </a:pPr>
            <a:r>
              <a:rPr lang="en-US" sz="1050" b="1" dirty="0">
                <a:solidFill>
                  <a:schemeClr val="accent1"/>
                </a:solidFill>
              </a:rPr>
              <a:t>JIDOKA</a:t>
            </a:r>
            <a:endParaRPr lang="en-US" sz="1050" dirty="0"/>
          </a:p>
        </p:txBody>
      </p:sp>
      <p:sp>
        <p:nvSpPr>
          <p:cNvPr id="51" name="Text 49"/>
          <p:cNvSpPr txBox="1"/>
          <p:nvPr/>
        </p:nvSpPr>
        <p:spPr>
          <a:xfrm>
            <a:off x="9272016" y="4050792"/>
            <a:ext cx="2340864" cy="548640"/>
          </a:xfrm>
          <a:prstGeom prst="rect">
            <a:avLst/>
          </a:prstGeom>
          <a:noFill/>
          <a:ln/>
        </p:spPr>
        <p:txBody>
          <a:bodyPr wrap="square" lIns="0" tIns="0" rIns="0" bIns="0" rtlCol="0" anchor="t"/>
          <a:lstStyle/>
          <a:p>
            <a:pPr indent="0" marL="0">
              <a:buNone/>
            </a:pPr>
            <a:r>
              <a:rPr lang="en-US" sz="1150" dirty="0">
                <a:solidFill>
                  <a:schemeClr val="tx1"/>
                </a:solidFill>
              </a:rPr>
              <a:t>Checks at each station: stop and fix</a:t>
            </a:r>
            <a:endParaRPr lang="en-US" sz="1150" dirty="0"/>
          </a:p>
        </p:txBody>
      </p:sp>
      <p:sp>
        <p:nvSpPr>
          <p:cNvPr id="52" name="Management behaviours"/>
          <p:cNvSpPr/>
          <p:nvPr/>
        </p:nvSpPr>
        <p:spPr>
          <a:xfrm>
            <a:off x="411480" y="4846320"/>
            <a:ext cx="11365992" cy="1325880"/>
          </a:xfrm>
          <a:prstGeom prst="roundRect">
            <a:avLst>
              <a:gd name="adj" fmla="val 5517"/>
            </a:avLst>
          </a:prstGeom>
          <a:solidFill>
            <a:schemeClr val="tx2"/>
          </a:solidFill>
          <a:ln/>
        </p:spPr>
      </p:sp>
      <p:sp>
        <p:nvSpPr>
          <p:cNvPr id="53" name="Text 51"/>
          <p:cNvSpPr txBox="1"/>
          <p:nvPr/>
        </p:nvSpPr>
        <p:spPr>
          <a:xfrm>
            <a:off x="640080" y="4919472"/>
            <a:ext cx="7315200" cy="274320"/>
          </a:xfrm>
          <a:prstGeom prst="rect">
            <a:avLst/>
          </a:prstGeom>
          <a:noFill/>
          <a:ln/>
        </p:spPr>
        <p:txBody>
          <a:bodyPr wrap="square" lIns="0" tIns="0" rIns="0" bIns="0" rtlCol="0" anchor="t"/>
          <a:lstStyle/>
          <a:p>
            <a:pPr indent="0" marL="0">
              <a:buNone/>
            </a:pPr>
            <a:r>
              <a:rPr lang="en-US" sz="1150" b="1" dirty="0">
                <a:solidFill>
                  <a:schemeClr val="accent2"/>
                </a:solidFill>
              </a:rPr>
              <a:t>MANAGEMENT BEHAVIOURS THAT MAKE IT STICK</a:t>
            </a:r>
            <a:endParaRPr lang="en-US" sz="1150" dirty="0"/>
          </a:p>
        </p:txBody>
      </p:sp>
      <p:sp>
        <p:nvSpPr>
          <p:cNvPr id="54" name="Shape 52"/>
          <p:cNvSpPr/>
          <p:nvPr/>
        </p:nvSpPr>
        <p:spPr>
          <a:xfrm>
            <a:off x="640080" y="5303520"/>
            <a:ext cx="548640" cy="548640"/>
          </a:xfrm>
          <a:prstGeom prst="ellipse">
            <a:avLst/>
          </a:prstGeom>
          <a:solidFill>
            <a:schemeClr val="bg1"/>
          </a:solidFill>
          <a:ln/>
        </p:spPr>
      </p:sp>
      <p:pic>
        <p:nvPicPr>
          <p:cNvPr id="55" name="Image 0" descr="preencoded.png">    </p:cNvPr>
          <p:cNvPicPr>
            <a:picLocks noChangeAspect="1"/>
          </p:cNvPicPr>
          <p:nvPr/>
        </p:nvPicPr>
        <p:blipFill>
          <a:blip r:embed="rId1"/>
          <a:stretch>
            <a:fillRect/>
          </a:stretch>
        </p:blipFill>
        <p:spPr>
          <a:xfrm>
            <a:off x="771754" y="5435194"/>
            <a:ext cx="285293" cy="285293"/>
          </a:xfrm>
          <a:prstGeom prst="rect">
            <a:avLst/>
          </a:prstGeom>
        </p:spPr>
      </p:pic>
      <p:sp>
        <p:nvSpPr>
          <p:cNvPr id="56" name="Text 53"/>
          <p:cNvSpPr txBox="1"/>
          <p:nvPr/>
        </p:nvSpPr>
        <p:spPr>
          <a:xfrm>
            <a:off x="1325880" y="5285232"/>
            <a:ext cx="2834640" cy="640080"/>
          </a:xfrm>
          <a:prstGeom prst="rect">
            <a:avLst/>
          </a:prstGeom>
          <a:noFill/>
          <a:ln/>
        </p:spPr>
        <p:txBody>
          <a:bodyPr wrap="square" lIns="0" tIns="0" rIns="0" bIns="0" rtlCol="0" anchor="ctr"/>
          <a:lstStyle/>
          <a:p>
            <a:pPr indent="0" marL="0">
              <a:buNone/>
            </a:pPr>
            <a:r>
              <a:rPr lang="en-US" sz="1200" b="1" dirty="0">
                <a:solidFill>
                  <a:schemeClr val="bg1"/>
                </a:solidFill>
              </a:rPr>
              <a:t>Go to the gemba</a:t>
            </a:r>
            <a:endParaRPr lang="en-US" sz="1200" dirty="0"/>
          </a:p>
          <a:p>
            <a:pPr indent="0" marL="0">
              <a:buNone/>
            </a:pPr>
            <a:r>
              <a:rPr lang="en-US" sz="1200" dirty="0">
                <a:solidFill>
                  <a:schemeClr val="bg1"/>
                </a:solidFill>
              </a:rPr>
              <a:t>Daily cell walks and 10-minute huddles</a:t>
            </a:r>
            <a:endParaRPr lang="en-US" sz="1200" dirty="0"/>
          </a:p>
        </p:txBody>
      </p:sp>
      <p:sp>
        <p:nvSpPr>
          <p:cNvPr id="57" name="Shape 54"/>
          <p:cNvSpPr/>
          <p:nvPr/>
        </p:nvSpPr>
        <p:spPr>
          <a:xfrm>
            <a:off x="4315968" y="5303520"/>
            <a:ext cx="548640" cy="548640"/>
          </a:xfrm>
          <a:prstGeom prst="ellipse">
            <a:avLst/>
          </a:prstGeom>
          <a:solidFill>
            <a:schemeClr val="bg1"/>
          </a:solidFill>
          <a:ln/>
        </p:spPr>
      </p:sp>
      <p:pic>
        <p:nvPicPr>
          <p:cNvPr id="58" name="Image 1" descr="preencoded.png">    </p:cNvPr>
          <p:cNvPicPr>
            <a:picLocks noChangeAspect="1"/>
          </p:cNvPicPr>
          <p:nvPr/>
        </p:nvPicPr>
        <p:blipFill>
          <a:blip r:embed="rId2"/>
          <a:stretch>
            <a:fillRect/>
          </a:stretch>
        </p:blipFill>
        <p:spPr>
          <a:xfrm>
            <a:off x="4447642" y="5435194"/>
            <a:ext cx="285293" cy="285293"/>
          </a:xfrm>
          <a:prstGeom prst="rect">
            <a:avLst/>
          </a:prstGeom>
        </p:spPr>
      </p:pic>
      <p:sp>
        <p:nvSpPr>
          <p:cNvPr id="59" name="Text 55"/>
          <p:cNvSpPr txBox="1"/>
          <p:nvPr/>
        </p:nvSpPr>
        <p:spPr>
          <a:xfrm>
            <a:off x="5001768" y="5285232"/>
            <a:ext cx="2834640" cy="640080"/>
          </a:xfrm>
          <a:prstGeom prst="rect">
            <a:avLst/>
          </a:prstGeom>
          <a:noFill/>
          <a:ln/>
        </p:spPr>
        <p:txBody>
          <a:bodyPr wrap="square" lIns="0" tIns="0" rIns="0" bIns="0" rtlCol="0" anchor="ctr"/>
          <a:lstStyle/>
          <a:p>
            <a:pPr indent="0" marL="0">
              <a:buNone/>
            </a:pPr>
            <a:r>
              <a:rPr lang="en-US" sz="1200" b="1" dirty="0">
                <a:solidFill>
                  <a:schemeClr val="bg1"/>
                </a:solidFill>
              </a:rPr>
              <a:t>Leader standard work</a:t>
            </a:r>
            <a:endParaRPr lang="en-US" sz="1200" dirty="0"/>
          </a:p>
          <a:p>
            <a:pPr indent="0" marL="0">
              <a:buNone/>
            </a:pPr>
            <a:r>
              <a:rPr lang="en-US" sz="1200" dirty="0">
                <a:solidFill>
                  <a:schemeClr val="bg1"/>
                </a:solidFill>
              </a:rPr>
              <a:t>Check the pitch board every 3 days</a:t>
            </a:r>
            <a:endParaRPr lang="en-US" sz="1200" dirty="0"/>
          </a:p>
        </p:txBody>
      </p:sp>
      <p:sp>
        <p:nvSpPr>
          <p:cNvPr id="60" name="Shape 56"/>
          <p:cNvSpPr/>
          <p:nvPr/>
        </p:nvSpPr>
        <p:spPr>
          <a:xfrm>
            <a:off x="7991856" y="5303520"/>
            <a:ext cx="548640" cy="548640"/>
          </a:xfrm>
          <a:prstGeom prst="ellipse">
            <a:avLst/>
          </a:prstGeom>
          <a:solidFill>
            <a:schemeClr val="bg1"/>
          </a:solidFill>
          <a:ln/>
        </p:spPr>
      </p:sp>
      <p:pic>
        <p:nvPicPr>
          <p:cNvPr id="61" name="Image 2" descr="preencoded.png">    </p:cNvPr>
          <p:cNvPicPr>
            <a:picLocks noChangeAspect="1"/>
          </p:cNvPicPr>
          <p:nvPr/>
        </p:nvPicPr>
        <p:blipFill>
          <a:blip r:embed="rId3"/>
          <a:stretch>
            <a:fillRect/>
          </a:stretch>
        </p:blipFill>
        <p:spPr>
          <a:xfrm>
            <a:off x="8123530" y="5435194"/>
            <a:ext cx="285293" cy="285293"/>
          </a:xfrm>
          <a:prstGeom prst="rect">
            <a:avLst/>
          </a:prstGeom>
        </p:spPr>
      </p:pic>
      <p:sp>
        <p:nvSpPr>
          <p:cNvPr id="62" name="Text 57"/>
          <p:cNvSpPr txBox="1"/>
          <p:nvPr/>
        </p:nvSpPr>
        <p:spPr>
          <a:xfrm>
            <a:off x="8677656" y="5285232"/>
            <a:ext cx="2834640" cy="640080"/>
          </a:xfrm>
          <a:prstGeom prst="rect">
            <a:avLst/>
          </a:prstGeom>
          <a:noFill/>
          <a:ln/>
        </p:spPr>
        <p:txBody>
          <a:bodyPr wrap="square" lIns="0" tIns="0" rIns="0" bIns="0" rtlCol="0" anchor="ctr"/>
          <a:lstStyle/>
          <a:p>
            <a:pPr indent="0" marL="0">
              <a:buNone/>
            </a:pPr>
            <a:r>
              <a:rPr lang="en-US" sz="1200" b="1" dirty="0">
                <a:solidFill>
                  <a:schemeClr val="bg1"/>
                </a:solidFill>
              </a:rPr>
              <a:t>Keep flexibility</a:t>
            </a:r>
            <a:endParaRPr lang="en-US" sz="1200" dirty="0"/>
          </a:p>
          <a:p>
            <a:pPr indent="0" marL="0">
              <a:buNone/>
            </a:pPr>
            <a:r>
              <a:rPr lang="en-US" sz="1200" dirty="0">
                <a:solidFill>
                  <a:schemeClr val="bg1"/>
                </a:solidFill>
              </a:rPr>
              <a:t>Standardize steps; let specs vary</a:t>
            </a:r>
            <a:endParaRPr lang="en-US" sz="120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FUTURE LAYOUT: PRODUCT-FAMILY ASSEMBLY CELLS</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Two size-based assembly cells fed by a kitting supermarket give short, visible, one-direction flow (illustrative layout).</a:t>
            </a:r>
            <a:endParaRPr lang="en-US" sz="1400" dirty="0"/>
          </a:p>
        </p:txBody>
      </p:sp>
      <p:sp>
        <p:nvSpPr>
          <p:cNvPr id="4" name="Machining"/>
          <p:cNvSpPr/>
          <p:nvPr/>
        </p:nvSpPr>
        <p:spPr>
          <a:xfrm>
            <a:off x="411480" y="1188720"/>
            <a:ext cx="1463040" cy="1188720"/>
          </a:xfrm>
          <a:prstGeom prst="roundRect">
            <a:avLst>
              <a:gd name="adj" fmla="val 6154"/>
            </a:avLst>
          </a:prstGeom>
          <a:solidFill>
            <a:schemeClr val="tx2"/>
          </a:solidFill>
          <a:ln/>
        </p:spPr>
      </p:sp>
      <p:sp>
        <p:nvSpPr>
          <p:cNvPr id="5" name="Text 3"/>
          <p:cNvSpPr txBox="1"/>
          <p:nvPr/>
        </p:nvSpPr>
        <p:spPr>
          <a:xfrm>
            <a:off x="484632" y="1188720"/>
            <a:ext cx="1316736" cy="1188720"/>
          </a:xfrm>
          <a:prstGeom prst="rect">
            <a:avLst/>
          </a:prstGeom>
          <a:noFill/>
          <a:ln/>
        </p:spPr>
        <p:txBody>
          <a:bodyPr wrap="square" lIns="0" tIns="0" rIns="0" bIns="0" rtlCol="0" anchor="ctr"/>
          <a:lstStyle/>
          <a:p>
            <a:pPr algn="ctr" indent="0" marL="0">
              <a:buNone/>
            </a:pPr>
            <a:r>
              <a:rPr lang="en-US" sz="1200" b="1" dirty="0">
                <a:solidFill>
                  <a:schemeClr val="bg1"/>
                </a:solidFill>
              </a:rPr>
              <a:t>Machining</a:t>
            </a:r>
            <a:endParaRPr lang="en-US" sz="1200" dirty="0"/>
          </a:p>
          <a:p>
            <a:pPr algn="ctr" indent="0" marL="0">
              <a:buNone/>
            </a:pPr>
            <a:r>
              <a:rPr lang="en-US" sz="1000" dirty="0">
                <a:solidFill>
                  <a:schemeClr val="bg1"/>
                </a:solidFill>
              </a:rPr>
              <a:t>kanban replenishment</a:t>
            </a:r>
            <a:endParaRPr lang="en-US" sz="1200" dirty="0"/>
          </a:p>
        </p:txBody>
      </p:sp>
      <p:sp>
        <p:nvSpPr>
          <p:cNvPr id="6" name="Shape 4"/>
          <p:cNvSpPr/>
          <p:nvPr/>
        </p:nvSpPr>
        <p:spPr>
          <a:xfrm>
            <a:off x="1901952" y="1783080"/>
            <a:ext cx="310896" cy="0"/>
          </a:xfrm>
          <a:prstGeom prst="line">
            <a:avLst/>
          </a:prstGeom>
          <a:noFill/>
          <a:ln w="25400">
            <a:solidFill>
              <a:schemeClr val="tx2"/>
            </a:solidFill>
            <a:prstDash val="solid"/>
            <a:tailEnd type="triangle"/>
          </a:ln>
        </p:spPr>
      </p:sp>
      <p:sp>
        <p:nvSpPr>
          <p:cNvPr id="7" name="Fabrication &amp; Weld"/>
          <p:cNvSpPr/>
          <p:nvPr/>
        </p:nvSpPr>
        <p:spPr>
          <a:xfrm>
            <a:off x="411480" y="2514600"/>
            <a:ext cx="1463040" cy="1188720"/>
          </a:xfrm>
          <a:prstGeom prst="roundRect">
            <a:avLst>
              <a:gd name="adj" fmla="val 6154"/>
            </a:avLst>
          </a:prstGeom>
          <a:solidFill>
            <a:schemeClr val="tx2"/>
          </a:solidFill>
          <a:ln/>
        </p:spPr>
      </p:sp>
      <p:sp>
        <p:nvSpPr>
          <p:cNvPr id="8" name="Text 6"/>
          <p:cNvSpPr txBox="1"/>
          <p:nvPr/>
        </p:nvSpPr>
        <p:spPr>
          <a:xfrm>
            <a:off x="484632" y="2514600"/>
            <a:ext cx="1316736" cy="1188720"/>
          </a:xfrm>
          <a:prstGeom prst="rect">
            <a:avLst/>
          </a:prstGeom>
          <a:noFill/>
          <a:ln/>
        </p:spPr>
        <p:txBody>
          <a:bodyPr wrap="square" lIns="0" tIns="0" rIns="0" bIns="0" rtlCol="0" anchor="ctr"/>
          <a:lstStyle/>
          <a:p>
            <a:pPr algn="ctr" indent="0" marL="0">
              <a:buNone/>
            </a:pPr>
            <a:r>
              <a:rPr lang="en-US" sz="1200" b="1" dirty="0">
                <a:solidFill>
                  <a:schemeClr val="bg1"/>
                </a:solidFill>
              </a:rPr>
              <a:t>Fabrication &amp; Weld</a:t>
            </a:r>
            <a:endParaRPr lang="en-US" sz="1200" dirty="0"/>
          </a:p>
          <a:p>
            <a:pPr algn="ctr" indent="0" marL="0">
              <a:buNone/>
            </a:pPr>
            <a:r>
              <a:rPr lang="en-US" sz="1000" dirty="0">
                <a:solidFill>
                  <a:schemeClr val="bg1"/>
                </a:solidFill>
              </a:rPr>
              <a:t>kanban replenishment</a:t>
            </a:r>
            <a:endParaRPr lang="en-US" sz="1200" dirty="0"/>
          </a:p>
        </p:txBody>
      </p:sp>
      <p:sp>
        <p:nvSpPr>
          <p:cNvPr id="9" name="Shape 7"/>
          <p:cNvSpPr/>
          <p:nvPr/>
        </p:nvSpPr>
        <p:spPr>
          <a:xfrm>
            <a:off x="1901952" y="3108960"/>
            <a:ext cx="310896" cy="0"/>
          </a:xfrm>
          <a:prstGeom prst="line">
            <a:avLst/>
          </a:prstGeom>
          <a:noFill/>
          <a:ln w="25400">
            <a:solidFill>
              <a:schemeClr val="tx2"/>
            </a:solidFill>
            <a:prstDash val="solid"/>
            <a:tailEnd type="triangle"/>
          </a:ln>
        </p:spPr>
      </p:sp>
      <p:sp>
        <p:nvSpPr>
          <p:cNvPr id="10" name="Purchased parts"/>
          <p:cNvSpPr/>
          <p:nvPr/>
        </p:nvSpPr>
        <p:spPr>
          <a:xfrm>
            <a:off x="411480" y="3840480"/>
            <a:ext cx="1463040" cy="1188720"/>
          </a:xfrm>
          <a:prstGeom prst="roundRect">
            <a:avLst>
              <a:gd name="adj" fmla="val 6154"/>
            </a:avLst>
          </a:prstGeom>
          <a:solidFill>
            <a:schemeClr val="tx2"/>
          </a:solidFill>
          <a:ln/>
        </p:spPr>
      </p:sp>
      <p:sp>
        <p:nvSpPr>
          <p:cNvPr id="11" name="Text 9"/>
          <p:cNvSpPr txBox="1"/>
          <p:nvPr/>
        </p:nvSpPr>
        <p:spPr>
          <a:xfrm>
            <a:off x="484632" y="3840480"/>
            <a:ext cx="1316736" cy="1188720"/>
          </a:xfrm>
          <a:prstGeom prst="rect">
            <a:avLst/>
          </a:prstGeom>
          <a:noFill/>
          <a:ln/>
        </p:spPr>
        <p:txBody>
          <a:bodyPr wrap="square" lIns="0" tIns="0" rIns="0" bIns="0" rtlCol="0" anchor="ctr"/>
          <a:lstStyle/>
          <a:p>
            <a:pPr algn="ctr" indent="0" marL="0">
              <a:buNone/>
            </a:pPr>
            <a:r>
              <a:rPr lang="en-US" sz="1200" b="1" dirty="0">
                <a:solidFill>
                  <a:schemeClr val="bg1"/>
                </a:solidFill>
              </a:rPr>
              <a:t>Purchased parts</a:t>
            </a:r>
            <a:endParaRPr lang="en-US" sz="1200" dirty="0"/>
          </a:p>
          <a:p>
            <a:pPr algn="ctr" indent="0" marL="0">
              <a:buNone/>
            </a:pPr>
            <a:r>
              <a:rPr lang="en-US" sz="1000" dirty="0">
                <a:solidFill>
                  <a:schemeClr val="bg1"/>
                </a:solidFill>
              </a:rPr>
              <a:t>two-bin / supplier kanban</a:t>
            </a:r>
            <a:endParaRPr lang="en-US" sz="1200" dirty="0"/>
          </a:p>
        </p:txBody>
      </p:sp>
      <p:sp>
        <p:nvSpPr>
          <p:cNvPr id="12" name="Shape 10"/>
          <p:cNvSpPr/>
          <p:nvPr/>
        </p:nvSpPr>
        <p:spPr>
          <a:xfrm>
            <a:off x="1901952" y="4434840"/>
            <a:ext cx="310896" cy="0"/>
          </a:xfrm>
          <a:prstGeom prst="line">
            <a:avLst/>
          </a:prstGeom>
          <a:noFill/>
          <a:ln w="25400">
            <a:solidFill>
              <a:schemeClr val="tx2"/>
            </a:solidFill>
            <a:prstDash val="solid"/>
            <a:tailEnd type="triangle"/>
          </a:ln>
        </p:spPr>
      </p:sp>
      <p:sp>
        <p:nvSpPr>
          <p:cNvPr id="13" name="Kitting supermarket"/>
          <p:cNvSpPr/>
          <p:nvPr/>
        </p:nvSpPr>
        <p:spPr>
          <a:xfrm>
            <a:off x="2240280" y="1188720"/>
            <a:ext cx="1325880" cy="3840480"/>
          </a:xfrm>
          <a:prstGeom prst="roundRect">
            <a:avLst>
              <a:gd name="adj" fmla="val 5517"/>
            </a:avLst>
          </a:prstGeom>
          <a:solidFill>
            <a:schemeClr val="accent4"/>
          </a:solidFill>
          <a:ln/>
        </p:spPr>
      </p:sp>
      <p:sp>
        <p:nvSpPr>
          <p:cNvPr id="14" name="Text 12"/>
          <p:cNvSpPr txBox="1"/>
          <p:nvPr/>
        </p:nvSpPr>
        <p:spPr>
          <a:xfrm>
            <a:off x="2286000" y="1188720"/>
            <a:ext cx="1234440" cy="3840480"/>
          </a:xfrm>
          <a:prstGeom prst="rect">
            <a:avLst/>
          </a:prstGeom>
          <a:noFill/>
          <a:ln/>
        </p:spPr>
        <p:txBody>
          <a:bodyPr wrap="square" lIns="0" tIns="0" rIns="0" bIns="0" rtlCol="0" anchor="ctr"/>
          <a:lstStyle/>
          <a:p>
            <a:pPr algn="ctr" indent="0" marL="0">
              <a:buNone/>
            </a:pPr>
            <a:r>
              <a:rPr lang="en-US" sz="1100" b="1" dirty="0">
                <a:solidFill>
                  <a:schemeClr val="bg1"/>
                </a:solidFill>
              </a:rPr>
              <a:t>KITTING</a:t>
            </a:r>
            <a:endParaRPr lang="en-US" sz="1100" dirty="0"/>
          </a:p>
          <a:p>
            <a:pPr algn="ctr" indent="0" marL="0">
              <a:buNone/>
            </a:pPr>
            <a:r>
              <a:rPr lang="en-US" sz="1100" b="1" dirty="0">
                <a:solidFill>
                  <a:schemeClr val="bg1"/>
                </a:solidFill>
              </a:rPr>
              <a:t>SUPERMARKET</a:t>
            </a:r>
            <a:endParaRPr lang="en-US" sz="1100" dirty="0"/>
          </a:p>
          <a:p>
            <a:pPr algn="ctr" indent="0" marL="0">
              <a:buNone/>
            </a:pPr>
            <a:r>
              <a:rPr lang="en-US" sz="600" dirty="0">
                <a:solidFill>
                  <a:schemeClr val="bg1"/>
                </a:solidFill>
              </a:rPr>
              <a:t> </a:t>
            </a:r>
            <a:endParaRPr lang="en-US" sz="1100" dirty="0"/>
          </a:p>
          <a:p>
            <a:pPr algn="ctr" indent="0" marL="0">
              <a:buNone/>
            </a:pPr>
            <a:r>
              <a:rPr lang="en-US" sz="1050" dirty="0">
                <a:solidFill>
                  <a:schemeClr val="bg1"/>
                </a:solidFill>
              </a:rPr>
              <a:t>1 complete kit per drive, per pitch</a:t>
            </a:r>
            <a:endParaRPr lang="en-US" sz="1100" dirty="0"/>
          </a:p>
        </p:txBody>
      </p:sp>
      <p:sp>
        <p:nvSpPr>
          <p:cNvPr id="15" name="CELL A: small / medium-frame drives"/>
          <p:cNvSpPr/>
          <p:nvPr/>
        </p:nvSpPr>
        <p:spPr>
          <a:xfrm>
            <a:off x="3931920" y="1188720"/>
            <a:ext cx="5486400" cy="1828800"/>
          </a:xfrm>
          <a:prstGeom prst="roundRect">
            <a:avLst>
              <a:gd name="adj" fmla="val 4000"/>
            </a:avLst>
          </a:prstGeom>
          <a:solidFill>
            <a:schemeClr val="accent1">
              <a:alpha val="12000"/>
            </a:schemeClr>
          </a:solidFill>
          <a:ln w="12700">
            <a:solidFill>
              <a:schemeClr val="accent1"/>
            </a:solidFill>
            <a:prstDash val="solid"/>
          </a:ln>
        </p:spPr>
      </p:sp>
      <p:sp>
        <p:nvSpPr>
          <p:cNvPr id="16" name="Text 14"/>
          <p:cNvSpPr txBox="1"/>
          <p:nvPr/>
        </p:nvSpPr>
        <p:spPr>
          <a:xfrm>
            <a:off x="4069080" y="1261872"/>
            <a:ext cx="5257800" cy="411480"/>
          </a:xfrm>
          <a:prstGeom prst="rect">
            <a:avLst/>
          </a:prstGeom>
          <a:noFill/>
          <a:ln/>
        </p:spPr>
        <p:txBody>
          <a:bodyPr wrap="square" lIns="0" tIns="0" rIns="0" bIns="0" rtlCol="0" anchor="ctr"/>
          <a:lstStyle/>
          <a:p>
            <a:pPr indent="0" marL="0">
              <a:buNone/>
            </a:pPr>
            <a:r>
              <a:rPr lang="en-US" sz="1250" b="1" dirty="0">
                <a:solidFill>
                  <a:schemeClr val="tx2"/>
                </a:solidFill>
              </a:rPr>
              <a:t>CELL A: small / medium-frame drives</a:t>
            </a:r>
            <a:pPr indent="0" marL="0">
              <a:buNone/>
            </a:pPr>
            <a:r>
              <a:rPr lang="en-US" sz="1050" dirty="0">
                <a:solidFill>
                  <a:srgbClr val="5B6675"/>
                </a:solidFill>
              </a:rPr>
              <a:t>   e.g., tunnel thrusters</a:t>
            </a:r>
            <a:endParaRPr lang="en-US" sz="1250" dirty="0"/>
          </a:p>
        </p:txBody>
      </p:sp>
      <p:sp>
        <p:nvSpPr>
          <p:cNvPr id="17" name="Shape 15"/>
          <p:cNvSpPr/>
          <p:nvPr/>
        </p:nvSpPr>
        <p:spPr>
          <a:xfrm>
            <a:off x="4069080" y="1755648"/>
            <a:ext cx="1097280" cy="822960"/>
          </a:xfrm>
          <a:prstGeom prst="roundRect">
            <a:avLst>
              <a:gd name="adj" fmla="val 8889"/>
            </a:avLst>
          </a:prstGeom>
          <a:solidFill>
            <a:schemeClr val="accent1"/>
          </a:solidFill>
          <a:ln/>
        </p:spPr>
      </p:sp>
      <p:sp>
        <p:nvSpPr>
          <p:cNvPr id="18" name="Text 16"/>
          <p:cNvSpPr txBox="1"/>
          <p:nvPr/>
        </p:nvSpPr>
        <p:spPr>
          <a:xfrm>
            <a:off x="4114800" y="1755648"/>
            <a:ext cx="1005840" cy="822960"/>
          </a:xfrm>
          <a:prstGeom prst="rect">
            <a:avLst/>
          </a:prstGeom>
          <a:noFill/>
          <a:ln/>
        </p:spPr>
        <p:txBody>
          <a:bodyPr wrap="square" lIns="0" tIns="0" rIns="0" bIns="0" rtlCol="0" anchor="ctr"/>
          <a:lstStyle/>
          <a:p>
            <a:pPr algn="ctr" indent="0" marL="0">
              <a:buNone/>
            </a:pPr>
            <a:r>
              <a:rPr lang="en-US" sz="1200" b="1" dirty="0">
                <a:solidFill>
                  <a:schemeClr val="bg1"/>
                </a:solidFill>
              </a:rPr>
              <a:t>S1</a:t>
            </a:r>
            <a:endParaRPr lang="en-US" sz="1200" dirty="0"/>
          </a:p>
          <a:p>
            <a:pPr algn="ctr" indent="0" marL="0">
              <a:buNone/>
            </a:pPr>
            <a:r>
              <a:rPr lang="en-US" sz="1050" dirty="0">
                <a:solidFill>
                  <a:schemeClr val="bg1"/>
                </a:solidFill>
              </a:rPr>
              <a:t>Sub-assembly</a:t>
            </a:r>
            <a:endParaRPr lang="en-US" sz="1200" dirty="0"/>
          </a:p>
        </p:txBody>
      </p:sp>
      <p:sp>
        <p:nvSpPr>
          <p:cNvPr id="19" name="Shape 17"/>
          <p:cNvSpPr/>
          <p:nvPr/>
        </p:nvSpPr>
        <p:spPr>
          <a:xfrm>
            <a:off x="5193792" y="2167128"/>
            <a:ext cx="219456" cy="0"/>
          </a:xfrm>
          <a:prstGeom prst="line">
            <a:avLst/>
          </a:prstGeom>
          <a:noFill/>
          <a:ln w="25400">
            <a:solidFill>
              <a:schemeClr val="tx2"/>
            </a:solidFill>
            <a:prstDash val="solid"/>
            <a:tailEnd type="triangle"/>
          </a:ln>
        </p:spPr>
      </p:sp>
      <p:sp>
        <p:nvSpPr>
          <p:cNvPr id="20" name="Shape 18"/>
          <p:cNvSpPr/>
          <p:nvPr/>
        </p:nvSpPr>
        <p:spPr>
          <a:xfrm>
            <a:off x="5440680" y="1755648"/>
            <a:ext cx="1097280" cy="822960"/>
          </a:xfrm>
          <a:prstGeom prst="roundRect">
            <a:avLst>
              <a:gd name="adj" fmla="val 8889"/>
            </a:avLst>
          </a:prstGeom>
          <a:solidFill>
            <a:schemeClr val="accent1"/>
          </a:solidFill>
          <a:ln/>
        </p:spPr>
      </p:sp>
      <p:sp>
        <p:nvSpPr>
          <p:cNvPr id="21" name="Text 19"/>
          <p:cNvSpPr txBox="1"/>
          <p:nvPr/>
        </p:nvSpPr>
        <p:spPr>
          <a:xfrm>
            <a:off x="5486400" y="1755648"/>
            <a:ext cx="1005840" cy="822960"/>
          </a:xfrm>
          <a:prstGeom prst="rect">
            <a:avLst/>
          </a:prstGeom>
          <a:noFill/>
          <a:ln/>
        </p:spPr>
        <p:txBody>
          <a:bodyPr wrap="square" lIns="0" tIns="0" rIns="0" bIns="0" rtlCol="0" anchor="ctr"/>
          <a:lstStyle/>
          <a:p>
            <a:pPr algn="ctr" indent="0" marL="0">
              <a:buNone/>
            </a:pPr>
            <a:r>
              <a:rPr lang="en-US" sz="1200" b="1" dirty="0">
                <a:solidFill>
                  <a:schemeClr val="bg1"/>
                </a:solidFill>
              </a:rPr>
              <a:t>S2</a:t>
            </a:r>
            <a:endParaRPr lang="en-US" sz="1200" dirty="0"/>
          </a:p>
          <a:p>
            <a:pPr algn="ctr" indent="0" marL="0">
              <a:buNone/>
            </a:pPr>
            <a:r>
              <a:rPr lang="en-US" sz="1050" dirty="0">
                <a:solidFill>
                  <a:schemeClr val="bg1"/>
                </a:solidFill>
              </a:rPr>
              <a:t>Drive / gearbox</a:t>
            </a:r>
            <a:endParaRPr lang="en-US" sz="1200" dirty="0"/>
          </a:p>
        </p:txBody>
      </p:sp>
      <p:sp>
        <p:nvSpPr>
          <p:cNvPr id="22" name="Shape 20"/>
          <p:cNvSpPr/>
          <p:nvPr/>
        </p:nvSpPr>
        <p:spPr>
          <a:xfrm>
            <a:off x="6565392" y="2167128"/>
            <a:ext cx="219456" cy="0"/>
          </a:xfrm>
          <a:prstGeom prst="line">
            <a:avLst/>
          </a:prstGeom>
          <a:noFill/>
          <a:ln w="25400">
            <a:solidFill>
              <a:schemeClr val="tx2"/>
            </a:solidFill>
            <a:prstDash val="solid"/>
            <a:tailEnd type="triangle"/>
          </a:ln>
        </p:spPr>
      </p:sp>
      <p:sp>
        <p:nvSpPr>
          <p:cNvPr id="23" name="Shape 21"/>
          <p:cNvSpPr/>
          <p:nvPr/>
        </p:nvSpPr>
        <p:spPr>
          <a:xfrm>
            <a:off x="6812280" y="1755648"/>
            <a:ext cx="1097280" cy="822960"/>
          </a:xfrm>
          <a:prstGeom prst="roundRect">
            <a:avLst>
              <a:gd name="adj" fmla="val 8889"/>
            </a:avLst>
          </a:prstGeom>
          <a:solidFill>
            <a:schemeClr val="accent1"/>
          </a:solidFill>
          <a:ln/>
        </p:spPr>
      </p:sp>
      <p:sp>
        <p:nvSpPr>
          <p:cNvPr id="24" name="Text 22"/>
          <p:cNvSpPr txBox="1"/>
          <p:nvPr/>
        </p:nvSpPr>
        <p:spPr>
          <a:xfrm>
            <a:off x="6858000" y="1755648"/>
            <a:ext cx="1005840" cy="822960"/>
          </a:xfrm>
          <a:prstGeom prst="rect">
            <a:avLst/>
          </a:prstGeom>
          <a:noFill/>
          <a:ln/>
        </p:spPr>
        <p:txBody>
          <a:bodyPr wrap="square" lIns="0" tIns="0" rIns="0" bIns="0" rtlCol="0" anchor="ctr"/>
          <a:lstStyle/>
          <a:p>
            <a:pPr algn="ctr" indent="0" marL="0">
              <a:buNone/>
            </a:pPr>
            <a:r>
              <a:rPr lang="en-US" sz="1200" b="1" dirty="0">
                <a:solidFill>
                  <a:schemeClr val="bg1"/>
                </a:solidFill>
              </a:rPr>
              <a:t>S3</a:t>
            </a:r>
            <a:endParaRPr lang="en-US" sz="1200" dirty="0"/>
          </a:p>
          <a:p>
            <a:pPr algn="ctr" indent="0" marL="0">
              <a:buNone/>
            </a:pPr>
            <a:r>
              <a:rPr lang="en-US" sz="1050" dirty="0">
                <a:solidFill>
                  <a:schemeClr val="bg1"/>
                </a:solidFill>
              </a:rPr>
              <a:t>Final assembly</a:t>
            </a:r>
            <a:endParaRPr lang="en-US" sz="1200" dirty="0"/>
          </a:p>
        </p:txBody>
      </p:sp>
      <p:sp>
        <p:nvSpPr>
          <p:cNvPr id="25" name="Shape 23"/>
          <p:cNvSpPr/>
          <p:nvPr/>
        </p:nvSpPr>
        <p:spPr>
          <a:xfrm>
            <a:off x="7936992" y="2167128"/>
            <a:ext cx="219456" cy="0"/>
          </a:xfrm>
          <a:prstGeom prst="line">
            <a:avLst/>
          </a:prstGeom>
          <a:noFill/>
          <a:ln w="25400">
            <a:solidFill>
              <a:schemeClr val="tx2"/>
            </a:solidFill>
            <a:prstDash val="solid"/>
            <a:tailEnd type="triangle"/>
          </a:ln>
        </p:spPr>
      </p:sp>
      <p:sp>
        <p:nvSpPr>
          <p:cNvPr id="26" name="Shape 24"/>
          <p:cNvSpPr/>
          <p:nvPr/>
        </p:nvSpPr>
        <p:spPr>
          <a:xfrm>
            <a:off x="8183880" y="1755648"/>
            <a:ext cx="1097280" cy="822960"/>
          </a:xfrm>
          <a:prstGeom prst="roundRect">
            <a:avLst>
              <a:gd name="adj" fmla="val 8889"/>
            </a:avLst>
          </a:prstGeom>
          <a:solidFill>
            <a:schemeClr val="accent1"/>
          </a:solidFill>
          <a:ln/>
        </p:spPr>
      </p:sp>
      <p:sp>
        <p:nvSpPr>
          <p:cNvPr id="27" name="Text 25"/>
          <p:cNvSpPr txBox="1"/>
          <p:nvPr/>
        </p:nvSpPr>
        <p:spPr>
          <a:xfrm>
            <a:off x="8229600" y="1755648"/>
            <a:ext cx="1005840" cy="822960"/>
          </a:xfrm>
          <a:prstGeom prst="rect">
            <a:avLst/>
          </a:prstGeom>
          <a:noFill/>
          <a:ln/>
        </p:spPr>
        <p:txBody>
          <a:bodyPr wrap="square" lIns="0" tIns="0" rIns="0" bIns="0" rtlCol="0" anchor="ctr"/>
          <a:lstStyle/>
          <a:p>
            <a:pPr algn="ctr" indent="0" marL="0">
              <a:buNone/>
            </a:pPr>
            <a:r>
              <a:rPr lang="en-US" sz="1200" b="1" dirty="0">
                <a:solidFill>
                  <a:schemeClr val="bg1"/>
                </a:solidFill>
              </a:rPr>
              <a:t>S4</a:t>
            </a:r>
            <a:endParaRPr lang="en-US" sz="1200" dirty="0"/>
          </a:p>
          <a:p>
            <a:pPr algn="ctr" indent="0" marL="0">
              <a:buNone/>
            </a:pPr>
            <a:r>
              <a:rPr lang="en-US" sz="1050" dirty="0">
                <a:solidFill>
                  <a:schemeClr val="bg1"/>
                </a:solidFill>
              </a:rPr>
              <a:t>Test &amp; QC</a:t>
            </a:r>
            <a:endParaRPr lang="en-US" sz="1200" dirty="0"/>
          </a:p>
        </p:txBody>
      </p:sp>
      <p:sp>
        <p:nvSpPr>
          <p:cNvPr id="28" name="Text 26"/>
          <p:cNvSpPr txBox="1"/>
          <p:nvPr/>
        </p:nvSpPr>
        <p:spPr>
          <a:xfrm>
            <a:off x="4069080" y="2651760"/>
            <a:ext cx="5257800" cy="274320"/>
          </a:xfrm>
          <a:prstGeom prst="rect">
            <a:avLst/>
          </a:prstGeom>
          <a:noFill/>
          <a:ln/>
        </p:spPr>
        <p:txBody>
          <a:bodyPr wrap="square" lIns="0" tIns="0" rIns="0" bIns="0" rtlCol="0" anchor="t"/>
          <a:lstStyle/>
          <a:p>
            <a:pPr algn="ctr" indent="0" marL="0">
              <a:buNone/>
            </a:pPr>
            <a:r>
              <a:rPr lang="en-US" sz="1050" i="1" dirty="0">
                <a:solidFill>
                  <a:schemeClr val="tx2"/>
                </a:solidFill>
              </a:rPr>
              <a:t>Material moves every 3 days (pitch)  ·  max. 1 drive in each FIFO lane</a:t>
            </a:r>
            <a:endParaRPr lang="en-US" sz="1050" dirty="0"/>
          </a:p>
        </p:txBody>
      </p:sp>
      <p:sp>
        <p:nvSpPr>
          <p:cNvPr id="29" name="Shape 27"/>
          <p:cNvSpPr/>
          <p:nvPr/>
        </p:nvSpPr>
        <p:spPr>
          <a:xfrm>
            <a:off x="3584448" y="2167128"/>
            <a:ext cx="457200" cy="0"/>
          </a:xfrm>
          <a:prstGeom prst="line">
            <a:avLst/>
          </a:prstGeom>
          <a:noFill/>
          <a:ln w="25400">
            <a:solidFill>
              <a:schemeClr val="tx2"/>
            </a:solidFill>
            <a:prstDash val="solid"/>
            <a:tailEnd type="triangle"/>
          </a:ln>
        </p:spPr>
      </p:sp>
      <p:sp>
        <p:nvSpPr>
          <p:cNvPr id="30" name="Shape 28"/>
          <p:cNvSpPr/>
          <p:nvPr/>
        </p:nvSpPr>
        <p:spPr>
          <a:xfrm>
            <a:off x="9308592" y="2167128"/>
            <a:ext cx="411480" cy="0"/>
          </a:xfrm>
          <a:prstGeom prst="line">
            <a:avLst/>
          </a:prstGeom>
          <a:noFill/>
          <a:ln w="25400">
            <a:solidFill>
              <a:schemeClr val="tx2"/>
            </a:solidFill>
            <a:prstDash val="solid"/>
            <a:tailEnd type="triangle"/>
          </a:ln>
        </p:spPr>
      </p:sp>
      <p:sp>
        <p:nvSpPr>
          <p:cNvPr id="31" name="CELL B: large-frame drives"/>
          <p:cNvSpPr/>
          <p:nvPr/>
        </p:nvSpPr>
        <p:spPr>
          <a:xfrm>
            <a:off x="3931920" y="3108960"/>
            <a:ext cx="5486400" cy="1828800"/>
          </a:xfrm>
          <a:prstGeom prst="roundRect">
            <a:avLst>
              <a:gd name="adj" fmla="val 4000"/>
            </a:avLst>
          </a:prstGeom>
          <a:solidFill>
            <a:schemeClr val="accent1">
              <a:alpha val="12000"/>
            </a:schemeClr>
          </a:solidFill>
          <a:ln w="12700">
            <a:solidFill>
              <a:schemeClr val="accent1"/>
            </a:solidFill>
            <a:prstDash val="solid"/>
          </a:ln>
        </p:spPr>
      </p:sp>
      <p:sp>
        <p:nvSpPr>
          <p:cNvPr id="32" name="Text 30"/>
          <p:cNvSpPr txBox="1"/>
          <p:nvPr/>
        </p:nvSpPr>
        <p:spPr>
          <a:xfrm>
            <a:off x="4069080" y="3182112"/>
            <a:ext cx="5257800" cy="411480"/>
          </a:xfrm>
          <a:prstGeom prst="rect">
            <a:avLst/>
          </a:prstGeom>
          <a:noFill/>
          <a:ln/>
        </p:spPr>
        <p:txBody>
          <a:bodyPr wrap="square" lIns="0" tIns="0" rIns="0" bIns="0" rtlCol="0" anchor="ctr"/>
          <a:lstStyle/>
          <a:p>
            <a:pPr indent="0" marL="0">
              <a:buNone/>
            </a:pPr>
            <a:r>
              <a:rPr lang="en-US" sz="1250" b="1" dirty="0">
                <a:solidFill>
                  <a:schemeClr val="tx2"/>
                </a:solidFill>
              </a:rPr>
              <a:t>CELL B: large-frame drives</a:t>
            </a:r>
            <a:pPr indent="0" marL="0">
              <a:buNone/>
            </a:pPr>
            <a:r>
              <a:rPr lang="en-US" sz="1050" dirty="0">
                <a:solidFill>
                  <a:srgbClr val="5B6675"/>
                </a:solidFill>
              </a:rPr>
              <a:t>   e.g., azimuth and retractable thrusters (crane bay)</a:t>
            </a:r>
            <a:endParaRPr lang="en-US" sz="1250" dirty="0"/>
          </a:p>
        </p:txBody>
      </p:sp>
      <p:sp>
        <p:nvSpPr>
          <p:cNvPr id="33" name="Shape 31"/>
          <p:cNvSpPr/>
          <p:nvPr/>
        </p:nvSpPr>
        <p:spPr>
          <a:xfrm>
            <a:off x="4091940" y="3675888"/>
            <a:ext cx="1508760" cy="822960"/>
          </a:xfrm>
          <a:prstGeom prst="roundRect">
            <a:avLst>
              <a:gd name="adj" fmla="val 8889"/>
            </a:avLst>
          </a:prstGeom>
          <a:solidFill>
            <a:schemeClr val="accent1"/>
          </a:solidFill>
          <a:ln/>
        </p:spPr>
      </p:sp>
      <p:sp>
        <p:nvSpPr>
          <p:cNvPr id="34" name="Text 32"/>
          <p:cNvSpPr txBox="1"/>
          <p:nvPr/>
        </p:nvSpPr>
        <p:spPr>
          <a:xfrm>
            <a:off x="4137660" y="3675888"/>
            <a:ext cx="1417320" cy="822960"/>
          </a:xfrm>
          <a:prstGeom prst="rect">
            <a:avLst/>
          </a:prstGeom>
          <a:noFill/>
          <a:ln/>
        </p:spPr>
        <p:txBody>
          <a:bodyPr wrap="square" lIns="0" tIns="0" rIns="0" bIns="0" rtlCol="0" anchor="ctr"/>
          <a:lstStyle/>
          <a:p>
            <a:pPr algn="ctr" indent="0" marL="0">
              <a:buNone/>
            </a:pPr>
            <a:r>
              <a:rPr lang="en-US" sz="1200" b="1" dirty="0">
                <a:solidFill>
                  <a:schemeClr val="bg1"/>
                </a:solidFill>
              </a:rPr>
              <a:t>B1</a:t>
            </a:r>
            <a:endParaRPr lang="en-US" sz="1200" dirty="0"/>
          </a:p>
          <a:p>
            <a:pPr algn="ctr" indent="0" marL="0">
              <a:buNone/>
            </a:pPr>
            <a:r>
              <a:rPr lang="en-US" sz="1050" dirty="0">
                <a:solidFill>
                  <a:schemeClr val="bg1"/>
                </a:solidFill>
              </a:rPr>
              <a:t>Sub-assembly</a:t>
            </a:r>
            <a:endParaRPr lang="en-US" sz="1200" dirty="0"/>
          </a:p>
        </p:txBody>
      </p:sp>
      <p:sp>
        <p:nvSpPr>
          <p:cNvPr id="35" name="Shape 33"/>
          <p:cNvSpPr/>
          <p:nvPr/>
        </p:nvSpPr>
        <p:spPr>
          <a:xfrm>
            <a:off x="5628132" y="4087368"/>
            <a:ext cx="265176" cy="0"/>
          </a:xfrm>
          <a:prstGeom prst="line">
            <a:avLst/>
          </a:prstGeom>
          <a:noFill/>
          <a:ln w="25400">
            <a:solidFill>
              <a:schemeClr val="tx2"/>
            </a:solidFill>
            <a:prstDash val="solid"/>
            <a:tailEnd type="triangle"/>
          </a:ln>
        </p:spPr>
      </p:sp>
      <p:sp>
        <p:nvSpPr>
          <p:cNvPr id="36" name="Shape 34"/>
          <p:cNvSpPr/>
          <p:nvPr/>
        </p:nvSpPr>
        <p:spPr>
          <a:xfrm>
            <a:off x="5920740" y="3675888"/>
            <a:ext cx="1508760" cy="822960"/>
          </a:xfrm>
          <a:prstGeom prst="roundRect">
            <a:avLst>
              <a:gd name="adj" fmla="val 8889"/>
            </a:avLst>
          </a:prstGeom>
          <a:solidFill>
            <a:schemeClr val="accent1"/>
          </a:solidFill>
          <a:ln/>
        </p:spPr>
      </p:sp>
      <p:sp>
        <p:nvSpPr>
          <p:cNvPr id="37" name="Text 35"/>
          <p:cNvSpPr txBox="1"/>
          <p:nvPr/>
        </p:nvSpPr>
        <p:spPr>
          <a:xfrm>
            <a:off x="5966460" y="3675888"/>
            <a:ext cx="1417320" cy="822960"/>
          </a:xfrm>
          <a:prstGeom prst="rect">
            <a:avLst/>
          </a:prstGeom>
          <a:noFill/>
          <a:ln/>
        </p:spPr>
        <p:txBody>
          <a:bodyPr wrap="square" lIns="0" tIns="0" rIns="0" bIns="0" rtlCol="0" anchor="ctr"/>
          <a:lstStyle/>
          <a:p>
            <a:pPr algn="ctr" indent="0" marL="0">
              <a:buNone/>
            </a:pPr>
            <a:r>
              <a:rPr lang="en-US" sz="1200" b="1" dirty="0">
                <a:solidFill>
                  <a:schemeClr val="bg1"/>
                </a:solidFill>
              </a:rPr>
              <a:t>B2</a:t>
            </a:r>
            <a:endParaRPr lang="en-US" sz="1200" dirty="0"/>
          </a:p>
          <a:p>
            <a:pPr algn="ctr" indent="0" marL="0">
              <a:buNone/>
            </a:pPr>
            <a:r>
              <a:rPr lang="en-US" sz="1050" dirty="0">
                <a:solidFill>
                  <a:schemeClr val="bg1"/>
                </a:solidFill>
              </a:rPr>
              <a:t>Main assembly (crane)</a:t>
            </a:r>
            <a:endParaRPr lang="en-US" sz="1200" dirty="0"/>
          </a:p>
        </p:txBody>
      </p:sp>
      <p:sp>
        <p:nvSpPr>
          <p:cNvPr id="38" name="Shape 36"/>
          <p:cNvSpPr/>
          <p:nvPr/>
        </p:nvSpPr>
        <p:spPr>
          <a:xfrm>
            <a:off x="7456932" y="4087368"/>
            <a:ext cx="265176" cy="0"/>
          </a:xfrm>
          <a:prstGeom prst="line">
            <a:avLst/>
          </a:prstGeom>
          <a:noFill/>
          <a:ln w="25400">
            <a:solidFill>
              <a:schemeClr val="tx2"/>
            </a:solidFill>
            <a:prstDash val="solid"/>
            <a:tailEnd type="triangle"/>
          </a:ln>
        </p:spPr>
      </p:sp>
      <p:sp>
        <p:nvSpPr>
          <p:cNvPr id="39" name="Shape 37"/>
          <p:cNvSpPr/>
          <p:nvPr/>
        </p:nvSpPr>
        <p:spPr>
          <a:xfrm>
            <a:off x="7749540" y="3675888"/>
            <a:ext cx="1508760" cy="822960"/>
          </a:xfrm>
          <a:prstGeom prst="roundRect">
            <a:avLst>
              <a:gd name="adj" fmla="val 8889"/>
            </a:avLst>
          </a:prstGeom>
          <a:solidFill>
            <a:schemeClr val="accent1"/>
          </a:solidFill>
          <a:ln/>
        </p:spPr>
      </p:sp>
      <p:sp>
        <p:nvSpPr>
          <p:cNvPr id="40" name="Text 38"/>
          <p:cNvSpPr txBox="1"/>
          <p:nvPr/>
        </p:nvSpPr>
        <p:spPr>
          <a:xfrm>
            <a:off x="7795260" y="3675888"/>
            <a:ext cx="1417320" cy="822960"/>
          </a:xfrm>
          <a:prstGeom prst="rect">
            <a:avLst/>
          </a:prstGeom>
          <a:noFill/>
          <a:ln/>
        </p:spPr>
        <p:txBody>
          <a:bodyPr wrap="square" lIns="0" tIns="0" rIns="0" bIns="0" rtlCol="0" anchor="ctr"/>
          <a:lstStyle/>
          <a:p>
            <a:pPr algn="ctr" indent="0" marL="0">
              <a:buNone/>
            </a:pPr>
            <a:r>
              <a:rPr lang="en-US" sz="1200" b="1" dirty="0">
                <a:solidFill>
                  <a:schemeClr val="bg1"/>
                </a:solidFill>
              </a:rPr>
              <a:t>B3</a:t>
            </a:r>
            <a:endParaRPr lang="en-US" sz="1200" dirty="0"/>
          </a:p>
          <a:p>
            <a:pPr algn="ctr" indent="0" marL="0">
              <a:buNone/>
            </a:pPr>
            <a:r>
              <a:rPr lang="en-US" sz="1050" dirty="0">
                <a:solidFill>
                  <a:schemeClr val="bg1"/>
                </a:solidFill>
              </a:rPr>
              <a:t>Test &amp; QC</a:t>
            </a:r>
            <a:endParaRPr lang="en-US" sz="1200" dirty="0"/>
          </a:p>
        </p:txBody>
      </p:sp>
      <p:sp>
        <p:nvSpPr>
          <p:cNvPr id="41" name="Text 39"/>
          <p:cNvSpPr txBox="1"/>
          <p:nvPr/>
        </p:nvSpPr>
        <p:spPr>
          <a:xfrm>
            <a:off x="4069080" y="4572000"/>
            <a:ext cx="5257800" cy="274320"/>
          </a:xfrm>
          <a:prstGeom prst="rect">
            <a:avLst/>
          </a:prstGeom>
          <a:noFill/>
          <a:ln/>
        </p:spPr>
        <p:txBody>
          <a:bodyPr wrap="square" lIns="0" tIns="0" rIns="0" bIns="0" rtlCol="0" anchor="t"/>
          <a:lstStyle/>
          <a:p>
            <a:pPr algn="ctr" indent="0" marL="0">
              <a:buNone/>
            </a:pPr>
            <a:r>
              <a:rPr lang="en-US" sz="1050" i="1" dirty="0">
                <a:solidFill>
                  <a:schemeClr val="tx2"/>
                </a:solidFill>
              </a:rPr>
              <a:t>Material moves every 3 days (pitch)  ·  max. 1 drive in each FIFO lane</a:t>
            </a:r>
            <a:endParaRPr lang="en-US" sz="1050" dirty="0"/>
          </a:p>
        </p:txBody>
      </p:sp>
      <p:sp>
        <p:nvSpPr>
          <p:cNvPr id="42" name="Shape 40"/>
          <p:cNvSpPr/>
          <p:nvPr/>
        </p:nvSpPr>
        <p:spPr>
          <a:xfrm>
            <a:off x="3584448" y="4087368"/>
            <a:ext cx="480060" cy="0"/>
          </a:xfrm>
          <a:prstGeom prst="line">
            <a:avLst/>
          </a:prstGeom>
          <a:noFill/>
          <a:ln w="25400">
            <a:solidFill>
              <a:schemeClr val="tx2"/>
            </a:solidFill>
            <a:prstDash val="solid"/>
            <a:tailEnd type="triangle"/>
          </a:ln>
        </p:spPr>
      </p:sp>
      <p:sp>
        <p:nvSpPr>
          <p:cNvPr id="43" name="Shape 41"/>
          <p:cNvSpPr/>
          <p:nvPr/>
        </p:nvSpPr>
        <p:spPr>
          <a:xfrm>
            <a:off x="9285732" y="4087368"/>
            <a:ext cx="434340" cy="0"/>
          </a:xfrm>
          <a:prstGeom prst="line">
            <a:avLst/>
          </a:prstGeom>
          <a:noFill/>
          <a:ln w="25400">
            <a:solidFill>
              <a:schemeClr val="tx2"/>
            </a:solidFill>
            <a:prstDash val="solid"/>
            <a:tailEnd type="triangle"/>
          </a:ln>
        </p:spPr>
      </p:sp>
      <p:sp>
        <p:nvSpPr>
          <p:cNvPr id="44" name="Pack and ship"/>
          <p:cNvSpPr/>
          <p:nvPr/>
        </p:nvSpPr>
        <p:spPr>
          <a:xfrm>
            <a:off x="9738360" y="1188720"/>
            <a:ext cx="2039112" cy="3749040"/>
          </a:xfrm>
          <a:prstGeom prst="roundRect">
            <a:avLst>
              <a:gd name="adj" fmla="val 3587"/>
            </a:avLst>
          </a:prstGeom>
          <a:solidFill>
            <a:schemeClr val="tx2"/>
          </a:solidFill>
          <a:ln/>
        </p:spPr>
      </p:sp>
      <p:pic>
        <p:nvPicPr>
          <p:cNvPr id="45" name="Image 0" descr="preencoded.png">    </p:cNvPr>
          <p:cNvPicPr>
            <a:picLocks noChangeAspect="1"/>
          </p:cNvPicPr>
          <p:nvPr/>
        </p:nvPicPr>
        <p:blipFill>
          <a:blip r:embed="rId1"/>
          <a:stretch>
            <a:fillRect/>
          </a:stretch>
        </p:blipFill>
        <p:spPr>
          <a:xfrm>
            <a:off x="10479024" y="2240280"/>
            <a:ext cx="548640" cy="548640"/>
          </a:xfrm>
          <a:prstGeom prst="rect">
            <a:avLst/>
          </a:prstGeom>
        </p:spPr>
      </p:pic>
      <p:sp>
        <p:nvSpPr>
          <p:cNvPr id="46" name="Text 43"/>
          <p:cNvSpPr txBox="1"/>
          <p:nvPr/>
        </p:nvSpPr>
        <p:spPr>
          <a:xfrm>
            <a:off x="9829800" y="2880360"/>
            <a:ext cx="1856232" cy="731520"/>
          </a:xfrm>
          <a:prstGeom prst="rect">
            <a:avLst/>
          </a:prstGeom>
          <a:noFill/>
          <a:ln/>
        </p:spPr>
        <p:txBody>
          <a:bodyPr wrap="square" lIns="0" tIns="0" rIns="0" bIns="0" rtlCol="0" anchor="t"/>
          <a:lstStyle/>
          <a:p>
            <a:pPr algn="ctr" indent="0" marL="0">
              <a:buNone/>
            </a:pPr>
            <a:r>
              <a:rPr lang="en-US" sz="1250" b="1" dirty="0">
                <a:solidFill>
                  <a:schemeClr val="bg1"/>
                </a:solidFill>
              </a:rPr>
              <a:t>PAINT, PACK &amp; SHIP</a:t>
            </a:r>
            <a:endParaRPr lang="en-US" sz="1250" dirty="0"/>
          </a:p>
          <a:p>
            <a:pPr algn="ctr" indent="0" marL="0">
              <a:buNone/>
            </a:pPr>
            <a:r>
              <a:rPr lang="en-US" sz="1100" dirty="0">
                <a:solidFill>
                  <a:schemeClr val="bg1"/>
                </a:solidFill>
              </a:rPr>
              <a:t>to the customer</a:t>
            </a:r>
            <a:endParaRPr lang="en-US" sz="1250" dirty="0"/>
          </a:p>
        </p:txBody>
      </p:sp>
      <p:sp>
        <p:nvSpPr>
          <p:cNvPr id="47" name="Layout principle 1"/>
          <p:cNvSpPr/>
          <p:nvPr/>
        </p:nvSpPr>
        <p:spPr>
          <a:xfrm>
            <a:off x="411480" y="5166360"/>
            <a:ext cx="2670048" cy="1097280"/>
          </a:xfrm>
          <a:prstGeom prst="roundRect">
            <a:avLst>
              <a:gd name="adj" fmla="val 6667"/>
            </a:avLst>
          </a:prstGeom>
          <a:solidFill>
            <a:schemeClr val="bg2"/>
          </a:solidFill>
          <a:ln/>
        </p:spPr>
      </p:sp>
      <p:sp>
        <p:nvSpPr>
          <p:cNvPr id="48" name="Shape 45"/>
          <p:cNvSpPr/>
          <p:nvPr/>
        </p:nvSpPr>
        <p:spPr>
          <a:xfrm>
            <a:off x="557784" y="5303520"/>
            <a:ext cx="457200" cy="457200"/>
          </a:xfrm>
          <a:prstGeom prst="ellipse">
            <a:avLst/>
          </a:prstGeom>
          <a:solidFill>
            <a:schemeClr val="accent1"/>
          </a:solidFill>
          <a:ln/>
        </p:spPr>
      </p:sp>
      <p:pic>
        <p:nvPicPr>
          <p:cNvPr id="49" name="Image 1" descr="preencoded.png">    </p:cNvPr>
          <p:cNvPicPr>
            <a:picLocks noChangeAspect="1"/>
          </p:cNvPicPr>
          <p:nvPr/>
        </p:nvPicPr>
        <p:blipFill>
          <a:blip r:embed="rId2"/>
          <a:stretch>
            <a:fillRect/>
          </a:stretch>
        </p:blipFill>
        <p:spPr>
          <a:xfrm>
            <a:off x="667512" y="5413248"/>
            <a:ext cx="237744" cy="237744"/>
          </a:xfrm>
          <a:prstGeom prst="rect">
            <a:avLst/>
          </a:prstGeom>
        </p:spPr>
      </p:pic>
      <p:sp>
        <p:nvSpPr>
          <p:cNvPr id="50" name="Text 46"/>
          <p:cNvSpPr txBox="1"/>
          <p:nvPr/>
        </p:nvSpPr>
        <p:spPr>
          <a:xfrm>
            <a:off x="1124712" y="5230368"/>
            <a:ext cx="1847088" cy="969264"/>
          </a:xfrm>
          <a:prstGeom prst="rect">
            <a:avLst/>
          </a:prstGeom>
          <a:noFill/>
          <a:ln/>
        </p:spPr>
        <p:txBody>
          <a:bodyPr wrap="square" lIns="0" tIns="0" rIns="0" bIns="0" rtlCol="0" anchor="ctr"/>
          <a:lstStyle/>
          <a:p>
            <a:pPr indent="0" marL="0">
              <a:buNone/>
            </a:pPr>
            <a:r>
              <a:rPr lang="en-US" sz="1150" dirty="0">
                <a:solidFill>
                  <a:schemeClr val="tx1"/>
                </a:solidFill>
              </a:rPr>
              <a:t>Two cells by product size: similar work content, tooling and lifting needs</a:t>
            </a:r>
            <a:endParaRPr lang="en-US" sz="1150" dirty="0"/>
          </a:p>
        </p:txBody>
      </p:sp>
      <p:sp>
        <p:nvSpPr>
          <p:cNvPr id="51" name="Layout principle 2"/>
          <p:cNvSpPr/>
          <p:nvPr/>
        </p:nvSpPr>
        <p:spPr>
          <a:xfrm>
            <a:off x="3310128" y="5166360"/>
            <a:ext cx="2670048" cy="1097280"/>
          </a:xfrm>
          <a:prstGeom prst="roundRect">
            <a:avLst>
              <a:gd name="adj" fmla="val 6667"/>
            </a:avLst>
          </a:prstGeom>
          <a:solidFill>
            <a:schemeClr val="bg2"/>
          </a:solidFill>
          <a:ln/>
        </p:spPr>
      </p:sp>
      <p:sp>
        <p:nvSpPr>
          <p:cNvPr id="52" name="Shape 48"/>
          <p:cNvSpPr/>
          <p:nvPr/>
        </p:nvSpPr>
        <p:spPr>
          <a:xfrm>
            <a:off x="3456432" y="5303520"/>
            <a:ext cx="457200" cy="457200"/>
          </a:xfrm>
          <a:prstGeom prst="ellipse">
            <a:avLst/>
          </a:prstGeom>
          <a:solidFill>
            <a:schemeClr val="accent1"/>
          </a:solidFill>
          <a:ln/>
        </p:spPr>
      </p:sp>
      <p:pic>
        <p:nvPicPr>
          <p:cNvPr id="53" name="Image 2" descr="preencoded.png">    </p:cNvPr>
          <p:cNvPicPr>
            <a:picLocks noChangeAspect="1"/>
          </p:cNvPicPr>
          <p:nvPr/>
        </p:nvPicPr>
        <p:blipFill>
          <a:blip r:embed="rId3"/>
          <a:stretch>
            <a:fillRect/>
          </a:stretch>
        </p:blipFill>
        <p:spPr>
          <a:xfrm>
            <a:off x="3566160" y="5413248"/>
            <a:ext cx="237744" cy="237744"/>
          </a:xfrm>
          <a:prstGeom prst="rect">
            <a:avLst/>
          </a:prstGeom>
        </p:spPr>
      </p:pic>
      <p:sp>
        <p:nvSpPr>
          <p:cNvPr id="54" name="Text 49"/>
          <p:cNvSpPr txBox="1"/>
          <p:nvPr/>
        </p:nvSpPr>
        <p:spPr>
          <a:xfrm>
            <a:off x="4023360" y="5230368"/>
            <a:ext cx="1847088" cy="969264"/>
          </a:xfrm>
          <a:prstGeom prst="rect">
            <a:avLst/>
          </a:prstGeom>
          <a:noFill/>
          <a:ln/>
        </p:spPr>
        <p:txBody>
          <a:bodyPr wrap="square" lIns="0" tIns="0" rIns="0" bIns="0" rtlCol="0" anchor="ctr"/>
          <a:lstStyle/>
          <a:p>
            <a:pPr indent="0" marL="0">
              <a:buNone/>
            </a:pPr>
            <a:r>
              <a:rPr lang="en-US" sz="1150" dirty="0">
                <a:solidFill>
                  <a:schemeClr val="tx1"/>
                </a:solidFill>
              </a:rPr>
              <a:t>Defined work areas: marked stations, WIP and tool locations</a:t>
            </a:r>
            <a:endParaRPr lang="en-US" sz="1150" dirty="0"/>
          </a:p>
        </p:txBody>
      </p:sp>
      <p:sp>
        <p:nvSpPr>
          <p:cNvPr id="55" name="Layout principle 3"/>
          <p:cNvSpPr/>
          <p:nvPr/>
        </p:nvSpPr>
        <p:spPr>
          <a:xfrm>
            <a:off x="6208776" y="5166360"/>
            <a:ext cx="2670048" cy="1097280"/>
          </a:xfrm>
          <a:prstGeom prst="roundRect">
            <a:avLst>
              <a:gd name="adj" fmla="val 6667"/>
            </a:avLst>
          </a:prstGeom>
          <a:solidFill>
            <a:schemeClr val="bg2"/>
          </a:solidFill>
          <a:ln/>
        </p:spPr>
      </p:sp>
      <p:sp>
        <p:nvSpPr>
          <p:cNvPr id="56" name="Shape 51"/>
          <p:cNvSpPr/>
          <p:nvPr/>
        </p:nvSpPr>
        <p:spPr>
          <a:xfrm>
            <a:off x="6355080" y="5303520"/>
            <a:ext cx="457200" cy="457200"/>
          </a:xfrm>
          <a:prstGeom prst="ellipse">
            <a:avLst/>
          </a:prstGeom>
          <a:solidFill>
            <a:schemeClr val="accent1"/>
          </a:solidFill>
          <a:ln/>
        </p:spPr>
      </p:sp>
      <p:pic>
        <p:nvPicPr>
          <p:cNvPr id="57" name="Image 3" descr="preencoded.png">    </p:cNvPr>
          <p:cNvPicPr>
            <a:picLocks noChangeAspect="1"/>
          </p:cNvPicPr>
          <p:nvPr/>
        </p:nvPicPr>
        <p:blipFill>
          <a:blip r:embed="rId4"/>
          <a:stretch>
            <a:fillRect/>
          </a:stretch>
        </p:blipFill>
        <p:spPr>
          <a:xfrm>
            <a:off x="6464808" y="5413248"/>
            <a:ext cx="237744" cy="237744"/>
          </a:xfrm>
          <a:prstGeom prst="rect">
            <a:avLst/>
          </a:prstGeom>
        </p:spPr>
      </p:pic>
      <p:sp>
        <p:nvSpPr>
          <p:cNvPr id="58" name="Text 52"/>
          <p:cNvSpPr txBox="1"/>
          <p:nvPr/>
        </p:nvSpPr>
        <p:spPr>
          <a:xfrm>
            <a:off x="6922008" y="5230368"/>
            <a:ext cx="1847088" cy="969264"/>
          </a:xfrm>
          <a:prstGeom prst="rect">
            <a:avLst/>
          </a:prstGeom>
          <a:noFill/>
          <a:ln/>
        </p:spPr>
        <p:txBody>
          <a:bodyPr wrap="square" lIns="0" tIns="0" rIns="0" bIns="0" rtlCol="0" anchor="ctr"/>
          <a:lstStyle/>
          <a:p>
            <a:pPr indent="0" marL="0">
              <a:buNone/>
            </a:pPr>
            <a:r>
              <a:rPr lang="en-US" sz="1150" dirty="0">
                <a:solidFill>
                  <a:schemeClr val="tx1"/>
                </a:solidFill>
              </a:rPr>
              <a:t>Point-of-use kits: no trips to stores (target &lt; 1 mile walked per unit)</a:t>
            </a:r>
            <a:endParaRPr lang="en-US" sz="1150" dirty="0"/>
          </a:p>
        </p:txBody>
      </p:sp>
      <p:sp>
        <p:nvSpPr>
          <p:cNvPr id="59" name="Layout principle 4"/>
          <p:cNvSpPr/>
          <p:nvPr/>
        </p:nvSpPr>
        <p:spPr>
          <a:xfrm>
            <a:off x="9107424" y="5166360"/>
            <a:ext cx="2670048" cy="1097280"/>
          </a:xfrm>
          <a:prstGeom prst="roundRect">
            <a:avLst>
              <a:gd name="adj" fmla="val 6667"/>
            </a:avLst>
          </a:prstGeom>
          <a:solidFill>
            <a:schemeClr val="bg2"/>
          </a:solidFill>
          <a:ln/>
        </p:spPr>
      </p:sp>
      <p:sp>
        <p:nvSpPr>
          <p:cNvPr id="60" name="Shape 54"/>
          <p:cNvSpPr/>
          <p:nvPr/>
        </p:nvSpPr>
        <p:spPr>
          <a:xfrm>
            <a:off x="9253728" y="5303520"/>
            <a:ext cx="457200" cy="457200"/>
          </a:xfrm>
          <a:prstGeom prst="ellipse">
            <a:avLst/>
          </a:prstGeom>
          <a:solidFill>
            <a:schemeClr val="accent1"/>
          </a:solidFill>
          <a:ln/>
        </p:spPr>
      </p:sp>
      <p:pic>
        <p:nvPicPr>
          <p:cNvPr id="61" name="Image 4" descr="preencoded.png">    </p:cNvPr>
          <p:cNvPicPr>
            <a:picLocks noChangeAspect="1"/>
          </p:cNvPicPr>
          <p:nvPr/>
        </p:nvPicPr>
        <p:blipFill>
          <a:blip r:embed="rId5"/>
          <a:stretch>
            <a:fillRect/>
          </a:stretch>
        </p:blipFill>
        <p:spPr>
          <a:xfrm>
            <a:off x="9363456" y="5413248"/>
            <a:ext cx="237744" cy="237744"/>
          </a:xfrm>
          <a:prstGeom prst="rect">
            <a:avLst/>
          </a:prstGeom>
        </p:spPr>
      </p:pic>
      <p:sp>
        <p:nvSpPr>
          <p:cNvPr id="62" name="Text 55"/>
          <p:cNvSpPr txBox="1"/>
          <p:nvPr/>
        </p:nvSpPr>
        <p:spPr>
          <a:xfrm>
            <a:off x="9820656" y="5230368"/>
            <a:ext cx="1847088" cy="969264"/>
          </a:xfrm>
          <a:prstGeom prst="rect">
            <a:avLst/>
          </a:prstGeom>
          <a:noFill/>
          <a:ln/>
        </p:spPr>
        <p:txBody>
          <a:bodyPr wrap="square" lIns="0" tIns="0" rIns="0" bIns="0" rtlCol="0" anchor="ctr"/>
          <a:lstStyle/>
          <a:p>
            <a:pPr indent="0" marL="0">
              <a:buNone/>
            </a:pPr>
            <a:r>
              <a:rPr lang="en-US" sz="1150" dirty="0">
                <a:solidFill>
                  <a:schemeClr val="tx1"/>
                </a:solidFill>
              </a:rPr>
              <a:t>One-direction flow with a visual pitch board at each cell</a:t>
            </a:r>
            <a:endParaRPr lang="en-US" sz="115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FLOW: TAKT TIME AND THE 3-DAY PITCH</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At low volume, takt is measured in days. A 3-day pitch moves every drive one station forward and finishes one drive every 3 days.</a:t>
            </a:r>
            <a:endParaRPr lang="en-US" sz="1400" dirty="0"/>
          </a:p>
        </p:txBody>
      </p:sp>
      <p:sp>
        <p:nvSpPr>
          <p:cNvPr id="4" name="Takt card"/>
          <p:cNvSpPr/>
          <p:nvPr/>
        </p:nvSpPr>
        <p:spPr>
          <a:xfrm>
            <a:off x="411480" y="1188720"/>
            <a:ext cx="4343400" cy="1645920"/>
          </a:xfrm>
          <a:prstGeom prst="roundRect">
            <a:avLst>
              <a:gd name="adj" fmla="val 4444"/>
            </a:avLst>
          </a:prstGeom>
          <a:solidFill>
            <a:schemeClr val="bg2"/>
          </a:solidFill>
          <a:ln/>
        </p:spPr>
      </p:sp>
      <p:sp>
        <p:nvSpPr>
          <p:cNvPr id="5" name="Shape 3"/>
          <p:cNvSpPr/>
          <p:nvPr/>
        </p:nvSpPr>
        <p:spPr>
          <a:xfrm>
            <a:off x="594360" y="1325880"/>
            <a:ext cx="457200" cy="45720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04088" y="1435608"/>
            <a:ext cx="237744" cy="237744"/>
          </a:xfrm>
          <a:prstGeom prst="rect">
            <a:avLst/>
          </a:prstGeom>
        </p:spPr>
      </p:pic>
      <p:sp>
        <p:nvSpPr>
          <p:cNvPr id="7" name="Text 4"/>
          <p:cNvSpPr txBox="1"/>
          <p:nvPr/>
        </p:nvSpPr>
        <p:spPr>
          <a:xfrm>
            <a:off x="1188720" y="1325880"/>
            <a:ext cx="3291840" cy="457200"/>
          </a:xfrm>
          <a:prstGeom prst="rect">
            <a:avLst/>
          </a:prstGeom>
          <a:noFill/>
          <a:ln/>
        </p:spPr>
        <p:txBody>
          <a:bodyPr wrap="square" lIns="0" tIns="0" rIns="0" bIns="0" rtlCol="0" anchor="ctr"/>
          <a:lstStyle/>
          <a:p>
            <a:pPr indent="0" marL="0">
              <a:buNone/>
            </a:pPr>
            <a:r>
              <a:rPr lang="en-US" sz="1300" b="1" dirty="0">
                <a:solidFill>
                  <a:schemeClr val="tx2"/>
                </a:solidFill>
              </a:rPr>
              <a:t>TAKT TIME</a:t>
            </a:r>
            <a:endParaRPr lang="en-US" sz="1300" dirty="0"/>
          </a:p>
        </p:txBody>
      </p:sp>
      <p:sp>
        <p:nvSpPr>
          <p:cNvPr id="8" name="Text 5"/>
          <p:cNvSpPr txBox="1"/>
          <p:nvPr/>
        </p:nvSpPr>
        <p:spPr>
          <a:xfrm>
            <a:off x="594360" y="1874520"/>
            <a:ext cx="3977640" cy="868680"/>
          </a:xfrm>
          <a:prstGeom prst="rect">
            <a:avLst/>
          </a:prstGeom>
          <a:noFill/>
          <a:ln/>
        </p:spPr>
        <p:txBody>
          <a:bodyPr wrap="square" lIns="0" tIns="0" rIns="0" bIns="0" rtlCol="0" anchor="t"/>
          <a:lstStyle/>
          <a:p>
            <a:pPr indent="0" marL="0">
              <a:buNone/>
            </a:pPr>
            <a:r>
              <a:rPr lang="en-US" sz="1250" b="1" dirty="0">
                <a:solidFill>
                  <a:schemeClr val="tx1"/>
                </a:solidFill>
              </a:rPr>
              <a:t>Available working time ÷ customer demand</a:t>
            </a:r>
            <a:endParaRPr lang="en-US" sz="1250" dirty="0"/>
          </a:p>
          <a:p>
            <a:pPr indent="0" marL="0">
              <a:buNone/>
            </a:pPr>
            <a:r>
              <a:rPr lang="en-US" sz="1150" dirty="0">
                <a:solidFill>
                  <a:schemeClr val="tx1"/>
                </a:solidFill>
              </a:rPr>
              <a:t>Illustrative: 63 working days per quarter ÷ 21 drives = 3 days per drive</a:t>
            </a:r>
            <a:endParaRPr lang="en-US" sz="1250" dirty="0"/>
          </a:p>
        </p:txBody>
      </p:sp>
      <p:sp>
        <p:nvSpPr>
          <p:cNvPr id="9" name="Pitch card"/>
          <p:cNvSpPr/>
          <p:nvPr/>
        </p:nvSpPr>
        <p:spPr>
          <a:xfrm>
            <a:off x="411480" y="2971800"/>
            <a:ext cx="4343400" cy="1417320"/>
          </a:xfrm>
          <a:prstGeom prst="roundRect">
            <a:avLst>
              <a:gd name="adj" fmla="val 5161"/>
            </a:avLst>
          </a:prstGeom>
          <a:solidFill>
            <a:schemeClr val="bg2"/>
          </a:solidFill>
          <a:ln/>
        </p:spPr>
      </p:sp>
      <p:sp>
        <p:nvSpPr>
          <p:cNvPr id="10" name="Shape 7"/>
          <p:cNvSpPr/>
          <p:nvPr/>
        </p:nvSpPr>
        <p:spPr>
          <a:xfrm>
            <a:off x="594360" y="3108960"/>
            <a:ext cx="457200" cy="45720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704088" y="3218688"/>
            <a:ext cx="237744" cy="237744"/>
          </a:xfrm>
          <a:prstGeom prst="rect">
            <a:avLst/>
          </a:prstGeom>
        </p:spPr>
      </p:pic>
      <p:sp>
        <p:nvSpPr>
          <p:cNvPr id="12" name="Text 8"/>
          <p:cNvSpPr txBox="1"/>
          <p:nvPr/>
        </p:nvSpPr>
        <p:spPr>
          <a:xfrm>
            <a:off x="1188720" y="3108960"/>
            <a:ext cx="3291840" cy="457200"/>
          </a:xfrm>
          <a:prstGeom prst="rect">
            <a:avLst/>
          </a:prstGeom>
          <a:noFill/>
          <a:ln/>
        </p:spPr>
        <p:txBody>
          <a:bodyPr wrap="square" lIns="0" tIns="0" rIns="0" bIns="0" rtlCol="0" anchor="ctr"/>
          <a:lstStyle/>
          <a:p>
            <a:pPr indent="0" marL="0">
              <a:buNone/>
            </a:pPr>
            <a:r>
              <a:rPr lang="en-US" sz="1300" b="1" dirty="0">
                <a:solidFill>
                  <a:schemeClr val="tx2"/>
                </a:solidFill>
              </a:rPr>
              <a:t>PITCH</a:t>
            </a:r>
            <a:endParaRPr lang="en-US" sz="1300" dirty="0"/>
          </a:p>
        </p:txBody>
      </p:sp>
      <p:sp>
        <p:nvSpPr>
          <p:cNvPr id="13" name="Text 9"/>
          <p:cNvSpPr txBox="1"/>
          <p:nvPr/>
        </p:nvSpPr>
        <p:spPr>
          <a:xfrm>
            <a:off x="594360" y="3639312"/>
            <a:ext cx="3977640" cy="685800"/>
          </a:xfrm>
          <a:prstGeom prst="rect">
            <a:avLst/>
          </a:prstGeom>
          <a:noFill/>
          <a:ln/>
        </p:spPr>
        <p:txBody>
          <a:bodyPr wrap="square" lIns="0" tIns="0" rIns="0" bIns="0" rtlCol="0" anchor="t"/>
          <a:lstStyle/>
          <a:p>
            <a:pPr indent="0" marL="0">
              <a:buNone/>
            </a:pPr>
            <a:r>
              <a:rPr lang="en-US" sz="1200" dirty="0">
                <a:solidFill>
                  <a:schemeClr val="tx1"/>
                </a:solidFill>
              </a:rPr>
              <a:t>The interval for releasing and moving work: 3 days. Each pitch, every drive moves one station forward.</a:t>
            </a:r>
            <a:endParaRPr lang="en-US" sz="1200" dirty="0"/>
          </a:p>
        </p:txBody>
      </p:sp>
      <p:sp>
        <p:nvSpPr>
          <p:cNvPr id="14" name="Pitch routine"/>
          <p:cNvSpPr/>
          <p:nvPr/>
        </p:nvSpPr>
        <p:spPr>
          <a:xfrm>
            <a:off x="411480" y="4526280"/>
            <a:ext cx="4343400" cy="1645920"/>
          </a:xfrm>
          <a:prstGeom prst="roundRect">
            <a:avLst>
              <a:gd name="adj" fmla="val 4444"/>
            </a:avLst>
          </a:prstGeom>
          <a:solidFill>
            <a:schemeClr val="bg2"/>
          </a:solidFill>
          <a:ln/>
        </p:spPr>
      </p:sp>
      <p:sp>
        <p:nvSpPr>
          <p:cNvPr id="15" name="Shape 11"/>
          <p:cNvSpPr/>
          <p:nvPr/>
        </p:nvSpPr>
        <p:spPr>
          <a:xfrm>
            <a:off x="594360" y="4663440"/>
            <a:ext cx="457200" cy="45720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704088" y="4773168"/>
            <a:ext cx="237744" cy="237744"/>
          </a:xfrm>
          <a:prstGeom prst="rect">
            <a:avLst/>
          </a:prstGeom>
        </p:spPr>
      </p:pic>
      <p:sp>
        <p:nvSpPr>
          <p:cNvPr id="17" name="Text 12"/>
          <p:cNvSpPr txBox="1"/>
          <p:nvPr/>
        </p:nvSpPr>
        <p:spPr>
          <a:xfrm>
            <a:off x="1188720" y="4663440"/>
            <a:ext cx="3474720" cy="457200"/>
          </a:xfrm>
          <a:prstGeom prst="rect">
            <a:avLst/>
          </a:prstGeom>
          <a:noFill/>
          <a:ln/>
        </p:spPr>
        <p:txBody>
          <a:bodyPr wrap="square" lIns="0" tIns="0" rIns="0" bIns="0" rtlCol="0" anchor="ctr"/>
          <a:lstStyle/>
          <a:p>
            <a:pPr indent="0" marL="0">
              <a:buNone/>
            </a:pPr>
            <a:r>
              <a:rPr lang="en-US" sz="1300" b="1" dirty="0">
                <a:solidFill>
                  <a:schemeClr val="tx2"/>
                </a:solidFill>
              </a:rPr>
              <a:t>EVERY 3 DAYS AT THE PITCH BOARD</a:t>
            </a:r>
            <a:endParaRPr lang="en-US" sz="1300" dirty="0"/>
          </a:p>
        </p:txBody>
      </p:sp>
      <p:sp>
        <p:nvSpPr>
          <p:cNvPr id="18" name="Text 13"/>
          <p:cNvSpPr txBox="1"/>
          <p:nvPr/>
        </p:nvSpPr>
        <p:spPr>
          <a:xfrm>
            <a:off x="594360" y="5193792"/>
            <a:ext cx="3977640" cy="9144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Material moves to the next station</a:t>
            </a:r>
            <a:endParaRPr lang="en-US" sz="1200" dirty="0"/>
          </a:p>
          <a:p>
            <a:pPr marL="152400" indent="-152400">
              <a:spcAft>
                <a:spcPts val="300"/>
              </a:spcAft>
              <a:buSzPct val="100000"/>
              <a:buChar char="•"/>
            </a:pPr>
            <a:r>
              <a:rPr lang="en-US" sz="1200" dirty="0">
                <a:solidFill>
                  <a:schemeClr val="tx1"/>
                </a:solidFill>
              </a:rPr>
              <a:t>Cell lead checks plan vs. actual</a:t>
            </a:r>
            <a:endParaRPr lang="en-US" sz="1200" dirty="0"/>
          </a:p>
          <a:p>
            <a:pPr marL="152400" indent="-152400">
              <a:spcAft>
                <a:spcPts val="300"/>
              </a:spcAft>
              <a:buSzPct val="100000"/>
              <a:buChar char="•"/>
            </a:pPr>
            <a:r>
              <a:rPr lang="en-US" sz="1200" dirty="0">
                <a:solidFill>
                  <a:schemeClr val="tx1"/>
                </a:solidFill>
              </a:rPr>
              <a:t>Misses escalated and fixed within the pitch</a:t>
            </a:r>
            <a:endParaRPr lang="en-US" sz="1200" dirty="0"/>
          </a:p>
        </p:txBody>
      </p:sp>
      <p:sp>
        <p:nvSpPr>
          <p:cNvPr id="19" name="Text 14"/>
          <p:cNvSpPr txBox="1"/>
          <p:nvPr/>
        </p:nvSpPr>
        <p:spPr>
          <a:xfrm>
            <a:off x="5029200" y="1188720"/>
            <a:ext cx="6748272" cy="274320"/>
          </a:xfrm>
          <a:prstGeom prst="rect">
            <a:avLst/>
          </a:prstGeom>
          <a:noFill/>
          <a:ln/>
        </p:spPr>
        <p:txBody>
          <a:bodyPr wrap="square" lIns="0" tIns="0" rIns="0" bIns="0" rtlCol="0" anchor="t"/>
          <a:lstStyle/>
          <a:p>
            <a:pPr indent="0" marL="0">
              <a:buNone/>
            </a:pPr>
            <a:r>
              <a:rPr lang="en-US" sz="1250" b="1" dirty="0">
                <a:solidFill>
                  <a:schemeClr val="tx2"/>
                </a:solidFill>
              </a:rPr>
              <a:t>Pitch board, Cell A (illustrative)</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0" y="1508760"/>
          <a:ext cx="6748272" cy="914400"/>
        </p:xfrm>
        <a:graphic>
          <a:graphicData uri="http://schemas.openxmlformats.org/drawingml/2006/table">
            <a:tbl>
              <a:tblPr/>
              <a:tblGrid>
                <a:gridCol w="1490472"/>
                <a:gridCol w="1051560"/>
                <a:gridCol w="1051560"/>
                <a:gridCol w="1051560"/>
                <a:gridCol w="1051560"/>
                <a:gridCol w="1051560"/>
              </a:tblGrid>
              <a:tr h="502920">
                <a:tc>
                  <a:txBody>
                    <a:bodyPr/>
                    <a:lstStyle/>
                    <a:p>
                      <a:pPr algn="ctr" indent="0" marL="0">
                        <a:buNone/>
                      </a:pPr>
                      <a:r>
                        <a:rPr lang="en-US" sz="1150" b="1" dirty="0">
                          <a:solidFill>
                            <a:srgbClr val="FFFFFF"/>
                          </a:solidFill>
                        </a:rPr>
                        <a:t>Station</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algn="ctr" indent="0" marL="0">
                        <a:buNone/>
                      </a:pPr>
                      <a:r>
                        <a:rPr lang="en-US" sz="1150" b="1" dirty="0">
                          <a:solidFill>
                            <a:srgbClr val="FFFFFF"/>
                          </a:solidFill>
                        </a:rPr>
                        <a:t>Pitch 1</a:t>
                      </a:r>
                      <a:endParaRPr lang="en-US" sz="1150" dirty="0"/>
                    </a:p>
                    <a:p>
                      <a:pPr algn="ctr" indent="0" marL="0">
                        <a:buNone/>
                      </a:pPr>
                      <a:r>
                        <a:rPr lang="en-US" sz="1150" b="1" dirty="0">
                          <a:solidFill>
                            <a:srgbClr val="FFFFFF"/>
                          </a:solidFill>
                        </a:rPr>
                        <a:t>Day 0–3</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algn="ctr" indent="0" marL="0">
                        <a:buNone/>
                      </a:pPr>
                      <a:r>
                        <a:rPr lang="en-US" sz="1150" b="1" dirty="0">
                          <a:solidFill>
                            <a:srgbClr val="FFFFFF"/>
                          </a:solidFill>
                        </a:rPr>
                        <a:t>Pitch 2</a:t>
                      </a:r>
                      <a:endParaRPr lang="en-US" sz="1150" dirty="0"/>
                    </a:p>
                    <a:p>
                      <a:pPr algn="ctr" indent="0" marL="0">
                        <a:buNone/>
                      </a:pPr>
                      <a:r>
                        <a:rPr lang="en-US" sz="1150" b="1" dirty="0">
                          <a:solidFill>
                            <a:srgbClr val="FFFFFF"/>
                          </a:solidFill>
                        </a:rPr>
                        <a:t>Day 3–6</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algn="ctr" indent="0" marL="0">
                        <a:buNone/>
                      </a:pPr>
                      <a:r>
                        <a:rPr lang="en-US" sz="1150" b="1" dirty="0">
                          <a:solidFill>
                            <a:srgbClr val="FFFFFF"/>
                          </a:solidFill>
                        </a:rPr>
                        <a:t>Pitch 3</a:t>
                      </a:r>
                      <a:endParaRPr lang="en-US" sz="1150" dirty="0"/>
                    </a:p>
                    <a:p>
                      <a:pPr algn="ctr" indent="0" marL="0">
                        <a:buNone/>
                      </a:pPr>
                      <a:r>
                        <a:rPr lang="en-US" sz="1150" b="1" dirty="0">
                          <a:solidFill>
                            <a:srgbClr val="FFFFFF"/>
                          </a:solidFill>
                        </a:rPr>
                        <a:t>Day 6–9</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algn="ctr" indent="0" marL="0">
                        <a:buNone/>
                      </a:pPr>
                      <a:r>
                        <a:rPr lang="en-US" sz="1150" b="1" dirty="0">
                          <a:solidFill>
                            <a:srgbClr val="FFFFFF"/>
                          </a:solidFill>
                        </a:rPr>
                        <a:t>Pitch 4</a:t>
                      </a:r>
                      <a:endParaRPr lang="en-US" sz="1150" dirty="0"/>
                    </a:p>
                    <a:p>
                      <a:pPr algn="ctr" indent="0" marL="0">
                        <a:buNone/>
                      </a:pPr>
                      <a:r>
                        <a:rPr lang="en-US" sz="1150" b="1" dirty="0">
                          <a:solidFill>
                            <a:srgbClr val="FFFFFF"/>
                          </a:solidFill>
                        </a:rPr>
                        <a:t>Day 9–12</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algn="ctr" indent="0" marL="0">
                        <a:buNone/>
                      </a:pPr>
                      <a:r>
                        <a:rPr lang="en-US" sz="1150" b="1" dirty="0">
                          <a:solidFill>
                            <a:srgbClr val="FFFFFF"/>
                          </a:solidFill>
                        </a:rPr>
                        <a:t>Pitch 5</a:t>
                      </a:r>
                      <a:endParaRPr lang="en-US" sz="1150" dirty="0"/>
                    </a:p>
                    <a:p>
                      <a:pPr algn="ctr" indent="0" marL="0">
                        <a:buNone/>
                      </a:pPr>
                      <a:r>
                        <a:rPr lang="en-US" sz="1150" b="1" dirty="0">
                          <a:solidFill>
                            <a:srgbClr val="FFFFFF"/>
                          </a:solidFill>
                        </a:rPr>
                        <a:t>Day 12–15</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r>
              <a:tr h="384048">
                <a:tc>
                  <a:txBody>
                    <a:bodyPr/>
                    <a:lstStyle/>
                    <a:p>
                      <a:pPr indent="0" marL="0">
                        <a:buNone/>
                      </a:pPr>
                      <a:r>
                        <a:rPr lang="en-US" sz="1150" b="1" dirty="0">
                          <a:solidFill>
                            <a:srgbClr val="13426C"/>
                          </a:solidFill>
                        </a:rPr>
                        <a:t>S1 Sub-assembly</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c>
                  <a:txBody>
                    <a:bodyPr/>
                    <a:lstStyle/>
                    <a:p>
                      <a:pPr algn="ctr" indent="0" marL="0">
                        <a:buNone/>
                      </a:pPr>
                      <a:r>
                        <a:rPr lang="en-US" sz="1150" b="1" dirty="0">
                          <a:solidFill>
                            <a:srgbClr val="FFFFFF"/>
                          </a:solidFill>
                        </a:rPr>
                        <a:t>D1</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algn="ctr" indent="0" marL="0">
                        <a:buNone/>
                      </a:pPr>
                      <a:r>
                        <a:rPr lang="en-US" sz="1150" dirty="0">
                          <a:solidFill>
                            <a:srgbClr val="1F1F1F"/>
                          </a:solidFill>
                        </a:rPr>
                        <a:t>D2</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6F5"/>
                    </a:solidFill>
                  </a:tcPr>
                </a:tc>
                <a:tc>
                  <a:txBody>
                    <a:bodyPr/>
                    <a:lstStyle/>
                    <a:p>
                      <a:pPr algn="ctr" indent="0" marL="0">
                        <a:buNone/>
                      </a:pPr>
                      <a:r>
                        <a:rPr lang="en-US" sz="1150" dirty="0">
                          <a:solidFill>
                            <a:srgbClr val="1F1F1F"/>
                          </a:solidFill>
                        </a:rPr>
                        <a:t>D3</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6F5"/>
                    </a:solidFill>
                  </a:tcPr>
                </a:tc>
                <a:tc>
                  <a:txBody>
                    <a:bodyPr/>
                    <a:lstStyle/>
                    <a:p>
                      <a:pPr algn="ctr" indent="0" marL="0">
                        <a:buNone/>
                      </a:pPr>
                      <a:r>
                        <a:rPr lang="en-US" sz="1150" dirty="0">
                          <a:solidFill>
                            <a:srgbClr val="1F1F1F"/>
                          </a:solidFill>
                        </a:rPr>
                        <a:t>D4</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6F5"/>
                    </a:solidFill>
                  </a:tcPr>
                </a:tc>
                <a:tc>
                  <a:txBody>
                    <a:bodyPr/>
                    <a:lstStyle/>
                    <a:p>
                      <a:pPr algn="ctr" indent="0" marL="0">
                        <a:buNone/>
                      </a:pPr>
                      <a:r>
                        <a:rPr lang="en-US" sz="1150" dirty="0">
                          <a:solidFill>
                            <a:srgbClr val="1F1F1F"/>
                          </a:solidFill>
                        </a:rPr>
                        <a:t>D5</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6F5"/>
                    </a:solidFill>
                  </a:tcPr>
                </a:tc>
              </a:tr>
              <a:tr h="384048">
                <a:tc>
                  <a:txBody>
                    <a:bodyPr/>
                    <a:lstStyle/>
                    <a:p>
                      <a:pPr indent="0" marL="0">
                        <a:buNone/>
                      </a:pPr>
                      <a:r>
                        <a:rPr lang="en-US" sz="1150" b="1" dirty="0">
                          <a:solidFill>
                            <a:srgbClr val="13426C"/>
                          </a:solidFill>
                        </a:rPr>
                        <a:t>S2 Drive / gearbox</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c>
                  <a:txBody>
                    <a:bodyPr/>
                    <a:lstStyle/>
                    <a:p>
                      <a:pPr indent="0" marL="0">
                        <a:buNone/>
                      </a:pP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rPr>
                        <a:t>D1</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algn="ctr" indent="0" marL="0">
                        <a:buNone/>
                      </a:pPr>
                      <a:r>
                        <a:rPr lang="en-US" sz="1150" dirty="0">
                          <a:solidFill>
                            <a:srgbClr val="1F1F1F"/>
                          </a:solidFill>
                        </a:rPr>
                        <a:t>D2</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6F5"/>
                    </a:solidFill>
                  </a:tcPr>
                </a:tc>
                <a:tc>
                  <a:txBody>
                    <a:bodyPr/>
                    <a:lstStyle/>
                    <a:p>
                      <a:pPr algn="ctr" indent="0" marL="0">
                        <a:buNone/>
                      </a:pPr>
                      <a:r>
                        <a:rPr lang="en-US" sz="1150" dirty="0">
                          <a:solidFill>
                            <a:srgbClr val="1F1F1F"/>
                          </a:solidFill>
                        </a:rPr>
                        <a:t>D3</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6F5"/>
                    </a:solidFill>
                  </a:tcPr>
                </a:tc>
                <a:tc>
                  <a:txBody>
                    <a:bodyPr/>
                    <a:lstStyle/>
                    <a:p>
                      <a:pPr algn="ctr" indent="0" marL="0">
                        <a:buNone/>
                      </a:pPr>
                      <a:r>
                        <a:rPr lang="en-US" sz="1150" dirty="0">
                          <a:solidFill>
                            <a:srgbClr val="1F1F1F"/>
                          </a:solidFill>
                        </a:rPr>
                        <a:t>D4</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6F5"/>
                    </a:solidFill>
                  </a:tcPr>
                </a:tc>
              </a:tr>
              <a:tr h="384048">
                <a:tc>
                  <a:txBody>
                    <a:bodyPr/>
                    <a:lstStyle/>
                    <a:p>
                      <a:pPr indent="0" marL="0">
                        <a:buNone/>
                      </a:pPr>
                      <a:r>
                        <a:rPr lang="en-US" sz="1150" b="1" dirty="0">
                          <a:solidFill>
                            <a:srgbClr val="13426C"/>
                          </a:solidFill>
                        </a:rPr>
                        <a:t>S3 Final assembly</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c>
                  <a:txBody>
                    <a:bodyPr/>
                    <a:lstStyle/>
                    <a:p>
                      <a:pPr indent="0" marL="0">
                        <a:buNone/>
                      </a:pP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rPr>
                        <a:t>D1</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algn="ctr" indent="0" marL="0">
                        <a:buNone/>
                      </a:pPr>
                      <a:r>
                        <a:rPr lang="en-US" sz="1150" dirty="0">
                          <a:solidFill>
                            <a:srgbClr val="1F1F1F"/>
                          </a:solidFill>
                        </a:rPr>
                        <a:t>D2</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6F5"/>
                    </a:solidFill>
                  </a:tcPr>
                </a:tc>
                <a:tc>
                  <a:txBody>
                    <a:bodyPr/>
                    <a:lstStyle/>
                    <a:p>
                      <a:pPr algn="ctr" indent="0" marL="0">
                        <a:buNone/>
                      </a:pPr>
                      <a:r>
                        <a:rPr lang="en-US" sz="1150" dirty="0">
                          <a:solidFill>
                            <a:srgbClr val="1F1F1F"/>
                          </a:solidFill>
                        </a:rPr>
                        <a:t>D3</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6F5"/>
                    </a:solidFill>
                  </a:tcPr>
                </a:tc>
              </a:tr>
              <a:tr h="384048">
                <a:tc>
                  <a:txBody>
                    <a:bodyPr/>
                    <a:lstStyle/>
                    <a:p>
                      <a:pPr indent="0" marL="0">
                        <a:buNone/>
                      </a:pPr>
                      <a:r>
                        <a:rPr lang="en-US" sz="1150" b="1" dirty="0">
                          <a:solidFill>
                            <a:srgbClr val="13426C"/>
                          </a:solidFill>
                        </a:rPr>
                        <a:t>S4 Test &amp; QC</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c>
                  <a:txBody>
                    <a:bodyPr/>
                    <a:lstStyle/>
                    <a:p>
                      <a:pPr indent="0" marL="0">
                        <a:buNone/>
                      </a:pP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rPr>
                        <a:t>D1</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algn="ctr" indent="0" marL="0">
                        <a:buNone/>
                      </a:pPr>
                      <a:r>
                        <a:rPr lang="en-US" sz="1150" dirty="0">
                          <a:solidFill>
                            <a:srgbClr val="1F1F1F"/>
                          </a:solidFill>
                        </a:rPr>
                        <a:t>D2</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6F5"/>
                    </a:solidFill>
                  </a:tcPr>
                </a:tc>
              </a:tr>
              <a:tr h="384048">
                <a:tc>
                  <a:txBody>
                    <a:bodyPr/>
                    <a:lstStyle/>
                    <a:p>
                      <a:pPr indent="0" marL="0">
                        <a:buNone/>
                      </a:pPr>
                      <a:r>
                        <a:rPr lang="en-US" sz="1150" b="1" dirty="0">
                          <a:solidFill>
                            <a:srgbClr val="13426C"/>
                          </a:solidFill>
                        </a:rPr>
                        <a:t>Completed</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c>
                  <a:txBody>
                    <a:bodyPr/>
                    <a:lstStyle/>
                    <a:p>
                      <a:pPr indent="0" marL="0">
                        <a:buNone/>
                      </a:pP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rPr>
                        <a:t>D1 ✓</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algn="ctr" indent="0" marL="0">
                        <a:buNone/>
                      </a:pPr>
                      <a:r>
                        <a:rPr lang="en-US" sz="1150" dirty="0">
                          <a:solidFill>
                            <a:srgbClr val="1F1F1F"/>
                          </a:solidFill>
                        </a:rPr>
                        <a:t>D2 ✓</a:t>
                      </a:r>
                      <a:endParaRPr lang="en-US" sz="1150" dirty="0"/>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FE6F5"/>
                    </a:solidFill>
                  </a:tcPr>
                </a:tc>
              </a:tr>
            </a:tbl>
          </a:graphicData>
        </a:graphic>
      </p:graphicFrame>
      <p:sp>
        <p:nvSpPr>
          <p:cNvPr id="21" name="Flow tile 1"/>
          <p:cNvSpPr/>
          <p:nvPr/>
        </p:nvSpPr>
        <p:spPr>
          <a:xfrm>
            <a:off x="5029200" y="4206240"/>
            <a:ext cx="2097024" cy="1143000"/>
          </a:xfrm>
          <a:prstGeom prst="roundRect">
            <a:avLst>
              <a:gd name="adj" fmla="val 6400"/>
            </a:avLst>
          </a:prstGeom>
          <a:solidFill>
            <a:schemeClr val="accent3"/>
          </a:solidFill>
          <a:ln/>
        </p:spPr>
      </p:sp>
      <p:sp>
        <p:nvSpPr>
          <p:cNvPr id="22" name="Text 16"/>
          <p:cNvSpPr txBox="1"/>
          <p:nvPr/>
        </p:nvSpPr>
        <p:spPr>
          <a:xfrm>
            <a:off x="5175504" y="4297680"/>
            <a:ext cx="1804416" cy="457200"/>
          </a:xfrm>
          <a:prstGeom prst="rect">
            <a:avLst/>
          </a:prstGeom>
          <a:noFill/>
          <a:ln/>
        </p:spPr>
        <p:txBody>
          <a:bodyPr wrap="square" lIns="0" tIns="0" rIns="0" bIns="0" rtlCol="0" anchor="t"/>
          <a:lstStyle/>
          <a:p>
            <a:pPr indent="0" marL="0">
              <a:buNone/>
            </a:pPr>
            <a:r>
              <a:rPr lang="en-US" sz="1900" b="1" dirty="0">
                <a:solidFill>
                  <a:schemeClr val="bg1"/>
                </a:solidFill>
              </a:rPr>
              <a:t>1 drive / 3 days</a:t>
            </a:r>
            <a:endParaRPr lang="en-US" sz="1900" dirty="0"/>
          </a:p>
        </p:txBody>
      </p:sp>
      <p:sp>
        <p:nvSpPr>
          <p:cNvPr id="23" name="Text 17"/>
          <p:cNvSpPr txBox="1"/>
          <p:nvPr/>
        </p:nvSpPr>
        <p:spPr>
          <a:xfrm>
            <a:off x="5175504" y="4773168"/>
            <a:ext cx="1804416" cy="502920"/>
          </a:xfrm>
          <a:prstGeom prst="rect">
            <a:avLst/>
          </a:prstGeom>
          <a:noFill/>
          <a:ln/>
        </p:spPr>
        <p:txBody>
          <a:bodyPr wrap="square" lIns="0" tIns="0" rIns="0" bIns="0" rtlCol="0" anchor="t"/>
          <a:lstStyle/>
          <a:p>
            <a:pPr indent="0" marL="0">
              <a:buNone/>
            </a:pPr>
            <a:r>
              <a:rPr lang="en-US" sz="1100" dirty="0">
                <a:solidFill>
                  <a:schemeClr val="bg1"/>
                </a:solidFill>
              </a:rPr>
              <a:t>steady output once the cell is full</a:t>
            </a:r>
            <a:endParaRPr lang="en-US" sz="1100" dirty="0"/>
          </a:p>
        </p:txBody>
      </p:sp>
      <p:sp>
        <p:nvSpPr>
          <p:cNvPr id="24" name="Flow tile 2"/>
          <p:cNvSpPr/>
          <p:nvPr/>
        </p:nvSpPr>
        <p:spPr>
          <a:xfrm>
            <a:off x="7354824" y="4206240"/>
            <a:ext cx="2097024" cy="1143000"/>
          </a:xfrm>
          <a:prstGeom prst="roundRect">
            <a:avLst>
              <a:gd name="adj" fmla="val 6400"/>
            </a:avLst>
          </a:prstGeom>
          <a:solidFill>
            <a:schemeClr val="accent3"/>
          </a:solidFill>
          <a:ln/>
        </p:spPr>
      </p:sp>
      <p:sp>
        <p:nvSpPr>
          <p:cNvPr id="25" name="Text 19"/>
          <p:cNvSpPr txBox="1"/>
          <p:nvPr/>
        </p:nvSpPr>
        <p:spPr>
          <a:xfrm>
            <a:off x="7501128" y="4297680"/>
            <a:ext cx="1804416" cy="457200"/>
          </a:xfrm>
          <a:prstGeom prst="rect">
            <a:avLst/>
          </a:prstGeom>
          <a:noFill/>
          <a:ln/>
        </p:spPr>
        <p:txBody>
          <a:bodyPr wrap="square" lIns="0" tIns="0" rIns="0" bIns="0" rtlCol="0" anchor="t"/>
          <a:lstStyle/>
          <a:p>
            <a:pPr indent="0" marL="0">
              <a:buNone/>
            </a:pPr>
            <a:r>
              <a:rPr lang="en-US" sz="1900" b="1" dirty="0">
                <a:solidFill>
                  <a:schemeClr val="bg1"/>
                </a:solidFill>
              </a:rPr>
              <a:t>4 drives</a:t>
            </a:r>
            <a:endParaRPr lang="en-US" sz="1900" dirty="0"/>
          </a:p>
        </p:txBody>
      </p:sp>
      <p:sp>
        <p:nvSpPr>
          <p:cNvPr id="26" name="Text 20"/>
          <p:cNvSpPr txBox="1"/>
          <p:nvPr/>
        </p:nvSpPr>
        <p:spPr>
          <a:xfrm>
            <a:off x="7501128" y="4773168"/>
            <a:ext cx="1804416" cy="502920"/>
          </a:xfrm>
          <a:prstGeom prst="rect">
            <a:avLst/>
          </a:prstGeom>
          <a:noFill/>
          <a:ln/>
        </p:spPr>
        <p:txBody>
          <a:bodyPr wrap="square" lIns="0" tIns="0" rIns="0" bIns="0" rtlCol="0" anchor="t"/>
          <a:lstStyle/>
          <a:p>
            <a:pPr indent="0" marL="0">
              <a:buNone/>
            </a:pPr>
            <a:r>
              <a:rPr lang="en-US" sz="1100" dirty="0">
                <a:solidFill>
                  <a:schemeClr val="bg1"/>
                </a:solidFill>
              </a:rPr>
              <a:t>fixed WIP in the cell, one per station</a:t>
            </a:r>
            <a:endParaRPr lang="en-US" sz="1100" dirty="0"/>
          </a:p>
        </p:txBody>
      </p:sp>
      <p:sp>
        <p:nvSpPr>
          <p:cNvPr id="27" name="Flow tile 3"/>
          <p:cNvSpPr/>
          <p:nvPr/>
        </p:nvSpPr>
        <p:spPr>
          <a:xfrm>
            <a:off x="9680448" y="4206240"/>
            <a:ext cx="2097024" cy="1143000"/>
          </a:xfrm>
          <a:prstGeom prst="roundRect">
            <a:avLst>
              <a:gd name="adj" fmla="val 6400"/>
            </a:avLst>
          </a:prstGeom>
          <a:solidFill>
            <a:schemeClr val="accent3"/>
          </a:solidFill>
          <a:ln/>
        </p:spPr>
      </p:sp>
      <p:sp>
        <p:nvSpPr>
          <p:cNvPr id="28" name="Text 22"/>
          <p:cNvSpPr txBox="1"/>
          <p:nvPr/>
        </p:nvSpPr>
        <p:spPr>
          <a:xfrm>
            <a:off x="9826752" y="4297680"/>
            <a:ext cx="1804416" cy="457200"/>
          </a:xfrm>
          <a:prstGeom prst="rect">
            <a:avLst/>
          </a:prstGeom>
          <a:noFill/>
          <a:ln/>
        </p:spPr>
        <p:txBody>
          <a:bodyPr wrap="square" lIns="0" tIns="0" rIns="0" bIns="0" rtlCol="0" anchor="t"/>
          <a:lstStyle/>
          <a:p>
            <a:pPr indent="0" marL="0">
              <a:buNone/>
            </a:pPr>
            <a:r>
              <a:rPr lang="en-US" sz="1900" b="1" dirty="0">
                <a:solidFill>
                  <a:schemeClr val="bg1"/>
                </a:solidFill>
              </a:rPr>
              <a:t>12 days</a:t>
            </a:r>
            <a:endParaRPr lang="en-US" sz="1900" dirty="0"/>
          </a:p>
        </p:txBody>
      </p:sp>
      <p:sp>
        <p:nvSpPr>
          <p:cNvPr id="29" name="Text 23"/>
          <p:cNvSpPr txBox="1"/>
          <p:nvPr/>
        </p:nvSpPr>
        <p:spPr>
          <a:xfrm>
            <a:off x="9826752" y="4773168"/>
            <a:ext cx="1804416" cy="502920"/>
          </a:xfrm>
          <a:prstGeom prst="rect">
            <a:avLst/>
          </a:prstGeom>
          <a:noFill/>
          <a:ln/>
        </p:spPr>
        <p:txBody>
          <a:bodyPr wrap="square" lIns="0" tIns="0" rIns="0" bIns="0" rtlCol="0" anchor="t"/>
          <a:lstStyle/>
          <a:p>
            <a:pPr indent="0" marL="0">
              <a:buNone/>
            </a:pPr>
            <a:r>
              <a:rPr lang="en-US" sz="1100" dirty="0">
                <a:solidFill>
                  <a:schemeClr val="bg1"/>
                </a:solidFill>
              </a:rPr>
              <a:t>in-cell lead time per drive (4 pitches)</a:t>
            </a:r>
            <a:endParaRPr lang="en-US" sz="1100" dirty="0"/>
          </a:p>
        </p:txBody>
      </p:sp>
      <p:sp>
        <p:nvSpPr>
          <p:cNvPr id="30" name="Flow insight"/>
          <p:cNvSpPr/>
          <p:nvPr/>
        </p:nvSpPr>
        <p:spPr>
          <a:xfrm>
            <a:off x="5029200" y="5486400"/>
            <a:ext cx="6748272" cy="685800"/>
          </a:xfrm>
          <a:prstGeom prst="roundRect">
            <a:avLst>
              <a:gd name="adj" fmla="val 10667"/>
            </a:avLst>
          </a:prstGeom>
          <a:solidFill>
            <a:schemeClr val="bg2"/>
          </a:solidFill>
          <a:ln/>
        </p:spPr>
      </p:sp>
      <p:sp>
        <p:nvSpPr>
          <p:cNvPr id="31" name="Shape 25"/>
          <p:cNvSpPr/>
          <p:nvPr/>
        </p:nvSpPr>
        <p:spPr>
          <a:xfrm>
            <a:off x="5166360" y="5577840"/>
            <a:ext cx="502920" cy="502920"/>
          </a:xfrm>
          <a:prstGeom prst="ellipse">
            <a:avLst/>
          </a:prstGeom>
          <a:solidFill>
            <a:schemeClr val="accent5"/>
          </a:solidFill>
          <a:ln/>
        </p:spPr>
      </p:sp>
      <p:pic>
        <p:nvPicPr>
          <p:cNvPr id="32" name="Image 3" descr="preencoded.png">    </p:cNvPr>
          <p:cNvPicPr>
            <a:picLocks noChangeAspect="1"/>
          </p:cNvPicPr>
          <p:nvPr/>
        </p:nvPicPr>
        <p:blipFill>
          <a:blip r:embed="rId4"/>
          <a:stretch>
            <a:fillRect/>
          </a:stretch>
        </p:blipFill>
        <p:spPr>
          <a:xfrm>
            <a:off x="5287061" y="5698541"/>
            <a:ext cx="261518" cy="261518"/>
          </a:xfrm>
          <a:prstGeom prst="rect">
            <a:avLst/>
          </a:prstGeom>
        </p:spPr>
      </p:pic>
      <p:sp>
        <p:nvSpPr>
          <p:cNvPr id="33" name="Text 26"/>
          <p:cNvSpPr txBox="1"/>
          <p:nvPr/>
        </p:nvSpPr>
        <p:spPr>
          <a:xfrm>
            <a:off x="5806440" y="5486400"/>
            <a:ext cx="5852160" cy="685800"/>
          </a:xfrm>
          <a:prstGeom prst="rect">
            <a:avLst/>
          </a:prstGeom>
          <a:noFill/>
          <a:ln/>
        </p:spPr>
        <p:txBody>
          <a:bodyPr wrap="square" lIns="0" tIns="0" rIns="0" bIns="0" rtlCol="0" anchor="ctr"/>
          <a:lstStyle/>
          <a:p>
            <a:pPr indent="0" marL="0">
              <a:buNone/>
            </a:pPr>
            <a:r>
              <a:rPr lang="en-US" sz="1250" b="1" dirty="0">
                <a:solidFill>
                  <a:schemeClr val="tx2"/>
                </a:solidFill>
              </a:rPr>
              <a:t>Problems now surface within one pitch (3 days), not at month-end when the order is already late.</a:t>
            </a:r>
            <a:endParaRPr lang="en-US" sz="125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STANDARD WORK: FROM TACIT KNOWLEDGE TO A SHARED BEST WAY</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The assembly steps are roughly the same for every unit; only the specs change. Standardize the steps and let the router carry the specs.</a:t>
            </a:r>
            <a:endParaRPr lang="en-US" sz="1400" dirty="0"/>
          </a:p>
        </p:txBody>
      </p:sp>
      <p:sp>
        <p:nvSpPr>
          <p:cNvPr id="4" name="Text 2"/>
          <p:cNvSpPr txBox="1"/>
          <p:nvPr/>
        </p:nvSpPr>
        <p:spPr>
          <a:xfrm>
            <a:off x="411480" y="1188720"/>
            <a:ext cx="4206240" cy="274320"/>
          </a:xfrm>
          <a:prstGeom prst="rect">
            <a:avLst/>
          </a:prstGeom>
          <a:noFill/>
          <a:ln/>
        </p:spPr>
        <p:txBody>
          <a:bodyPr wrap="square" lIns="0" tIns="0" rIns="0" bIns="0" rtlCol="0" anchor="t"/>
          <a:lstStyle/>
          <a:p>
            <a:pPr indent="0" marL="0">
              <a:buNone/>
            </a:pPr>
            <a:r>
              <a:rPr lang="en-US" sz="1200" b="1" dirty="0">
                <a:solidFill>
                  <a:schemeClr val="tx2"/>
                </a:solidFill>
              </a:rPr>
              <a:t>THE 3 ELEMENTS OF STANDARD WORK</a:t>
            </a:r>
            <a:endParaRPr lang="en-US" sz="1200" dirty="0"/>
          </a:p>
        </p:txBody>
      </p:sp>
      <p:sp>
        <p:nvSpPr>
          <p:cNvPr id="5" name="Shape 3"/>
          <p:cNvSpPr/>
          <p:nvPr/>
        </p:nvSpPr>
        <p:spPr>
          <a:xfrm>
            <a:off x="411480" y="1554480"/>
            <a:ext cx="4206240" cy="822960"/>
          </a:xfrm>
          <a:prstGeom prst="roundRect">
            <a:avLst>
              <a:gd name="adj" fmla="val 8889"/>
            </a:avLst>
          </a:prstGeom>
          <a:solidFill>
            <a:schemeClr val="bg2"/>
          </a:solidFill>
          <a:ln/>
        </p:spPr>
      </p:sp>
      <p:sp>
        <p:nvSpPr>
          <p:cNvPr id="6" name="Shape 4"/>
          <p:cNvSpPr/>
          <p:nvPr/>
        </p:nvSpPr>
        <p:spPr>
          <a:xfrm>
            <a:off x="548640" y="1709928"/>
            <a:ext cx="512064" cy="512064"/>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671535" y="1832823"/>
            <a:ext cx="266273" cy="266273"/>
          </a:xfrm>
          <a:prstGeom prst="rect">
            <a:avLst/>
          </a:prstGeom>
        </p:spPr>
      </p:pic>
      <p:sp>
        <p:nvSpPr>
          <p:cNvPr id="8" name="Text 5"/>
          <p:cNvSpPr txBox="1"/>
          <p:nvPr/>
        </p:nvSpPr>
        <p:spPr>
          <a:xfrm>
            <a:off x="1188720" y="1600200"/>
            <a:ext cx="3337560" cy="731520"/>
          </a:xfrm>
          <a:prstGeom prst="rect">
            <a:avLst/>
          </a:prstGeom>
          <a:noFill/>
          <a:ln/>
        </p:spPr>
        <p:txBody>
          <a:bodyPr wrap="square" lIns="0" tIns="0" rIns="0" bIns="0" rtlCol="0" anchor="ctr"/>
          <a:lstStyle/>
          <a:p>
            <a:pPr indent="0" marL="0">
              <a:buNone/>
            </a:pPr>
            <a:r>
              <a:rPr lang="en-US" sz="1300" b="1" dirty="0">
                <a:solidFill>
                  <a:schemeClr val="tx2"/>
                </a:solidFill>
              </a:rPr>
              <a:t>Takt / pitch time</a:t>
            </a:r>
            <a:endParaRPr lang="en-US" sz="1300" dirty="0"/>
          </a:p>
          <a:p>
            <a:pPr indent="0" marL="0">
              <a:buNone/>
            </a:pPr>
            <a:r>
              <a:rPr lang="en-US" sz="1150" dirty="0">
                <a:solidFill>
                  <a:schemeClr val="tx1"/>
                </a:solidFill>
              </a:rPr>
              <a:t>The pace: each station finishes its work within the 3-day pitch</a:t>
            </a:r>
            <a:endParaRPr lang="en-US" sz="1300" dirty="0"/>
          </a:p>
        </p:txBody>
      </p:sp>
      <p:sp>
        <p:nvSpPr>
          <p:cNvPr id="9" name="Shape 6"/>
          <p:cNvSpPr/>
          <p:nvPr/>
        </p:nvSpPr>
        <p:spPr>
          <a:xfrm>
            <a:off x="411480" y="2487168"/>
            <a:ext cx="4206240" cy="822960"/>
          </a:xfrm>
          <a:prstGeom prst="roundRect">
            <a:avLst>
              <a:gd name="adj" fmla="val 8889"/>
            </a:avLst>
          </a:prstGeom>
          <a:solidFill>
            <a:schemeClr val="bg2"/>
          </a:solidFill>
          <a:ln/>
        </p:spPr>
      </p:sp>
      <p:sp>
        <p:nvSpPr>
          <p:cNvPr id="10" name="Shape 7"/>
          <p:cNvSpPr/>
          <p:nvPr/>
        </p:nvSpPr>
        <p:spPr>
          <a:xfrm>
            <a:off x="548640" y="2642616"/>
            <a:ext cx="512064" cy="512064"/>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671535" y="2765511"/>
            <a:ext cx="266273" cy="266273"/>
          </a:xfrm>
          <a:prstGeom prst="rect">
            <a:avLst/>
          </a:prstGeom>
        </p:spPr>
      </p:pic>
      <p:sp>
        <p:nvSpPr>
          <p:cNvPr id="12" name="Text 8"/>
          <p:cNvSpPr txBox="1"/>
          <p:nvPr/>
        </p:nvSpPr>
        <p:spPr>
          <a:xfrm>
            <a:off x="1188720" y="2532888"/>
            <a:ext cx="3337560" cy="731520"/>
          </a:xfrm>
          <a:prstGeom prst="rect">
            <a:avLst/>
          </a:prstGeom>
          <a:noFill/>
          <a:ln/>
        </p:spPr>
        <p:txBody>
          <a:bodyPr wrap="square" lIns="0" tIns="0" rIns="0" bIns="0" rtlCol="0" anchor="ctr"/>
          <a:lstStyle/>
          <a:p>
            <a:pPr indent="0" marL="0">
              <a:buNone/>
            </a:pPr>
            <a:r>
              <a:rPr lang="en-US" sz="1300" b="1" dirty="0">
                <a:solidFill>
                  <a:schemeClr val="tx2"/>
                </a:solidFill>
              </a:rPr>
              <a:t>Work sequence</a:t>
            </a:r>
            <a:endParaRPr lang="en-US" sz="1300" dirty="0"/>
          </a:p>
          <a:p>
            <a:pPr indent="0" marL="0">
              <a:buNone/>
            </a:pPr>
            <a:r>
              <a:rPr lang="en-US" sz="1150" dirty="0">
                <a:solidFill>
                  <a:schemeClr val="tx1"/>
                </a:solidFill>
              </a:rPr>
              <a:t>The best-known order of steps, with key points for quality and safety</a:t>
            </a:r>
            <a:endParaRPr lang="en-US" sz="1300" dirty="0"/>
          </a:p>
        </p:txBody>
      </p:sp>
      <p:sp>
        <p:nvSpPr>
          <p:cNvPr id="13" name="Shape 9"/>
          <p:cNvSpPr/>
          <p:nvPr/>
        </p:nvSpPr>
        <p:spPr>
          <a:xfrm>
            <a:off x="411480" y="3419856"/>
            <a:ext cx="4206240" cy="822960"/>
          </a:xfrm>
          <a:prstGeom prst="roundRect">
            <a:avLst>
              <a:gd name="adj" fmla="val 8889"/>
            </a:avLst>
          </a:prstGeom>
          <a:solidFill>
            <a:schemeClr val="bg2"/>
          </a:solidFill>
          <a:ln/>
        </p:spPr>
      </p:sp>
      <p:sp>
        <p:nvSpPr>
          <p:cNvPr id="14" name="Shape 10"/>
          <p:cNvSpPr/>
          <p:nvPr/>
        </p:nvSpPr>
        <p:spPr>
          <a:xfrm>
            <a:off x="548640" y="3575304"/>
            <a:ext cx="512064" cy="512064"/>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671535" y="3698199"/>
            <a:ext cx="266273" cy="266273"/>
          </a:xfrm>
          <a:prstGeom prst="rect">
            <a:avLst/>
          </a:prstGeom>
        </p:spPr>
      </p:pic>
      <p:sp>
        <p:nvSpPr>
          <p:cNvPr id="16" name="Text 11"/>
          <p:cNvSpPr txBox="1"/>
          <p:nvPr/>
        </p:nvSpPr>
        <p:spPr>
          <a:xfrm>
            <a:off x="1188720" y="3465576"/>
            <a:ext cx="3337560" cy="731520"/>
          </a:xfrm>
          <a:prstGeom prst="rect">
            <a:avLst/>
          </a:prstGeom>
          <a:noFill/>
          <a:ln/>
        </p:spPr>
        <p:txBody>
          <a:bodyPr wrap="square" lIns="0" tIns="0" rIns="0" bIns="0" rtlCol="0" anchor="ctr"/>
          <a:lstStyle/>
          <a:p>
            <a:pPr indent="0" marL="0">
              <a:buNone/>
            </a:pPr>
            <a:r>
              <a:rPr lang="en-US" sz="1300" b="1" dirty="0">
                <a:solidFill>
                  <a:schemeClr val="tx2"/>
                </a:solidFill>
              </a:rPr>
              <a:t>Standard WIP</a:t>
            </a:r>
            <a:endParaRPr lang="en-US" sz="1300" dirty="0"/>
          </a:p>
          <a:p>
            <a:pPr indent="0" marL="0">
              <a:buNone/>
            </a:pPr>
            <a:r>
              <a:rPr lang="en-US" sz="1150" dirty="0">
                <a:solidFill>
                  <a:schemeClr val="tx1"/>
                </a:solidFill>
              </a:rPr>
              <a:t>One drive at each station plus at most one in each FIFO lane</a:t>
            </a:r>
            <a:endParaRPr lang="en-US" sz="1300" dirty="0"/>
          </a:p>
        </p:txBody>
      </p:sp>
      <p:sp>
        <p:nvSpPr>
          <p:cNvPr id="17" name="Supporting tools"/>
          <p:cNvSpPr/>
          <p:nvPr/>
        </p:nvSpPr>
        <p:spPr>
          <a:xfrm>
            <a:off x="411480" y="4434840"/>
            <a:ext cx="4206240" cy="1737360"/>
          </a:xfrm>
          <a:prstGeom prst="roundRect">
            <a:avLst>
              <a:gd name="adj" fmla="val 4211"/>
            </a:avLst>
          </a:prstGeom>
          <a:solidFill>
            <a:schemeClr val="tx2"/>
          </a:solidFill>
          <a:ln/>
        </p:spPr>
      </p:sp>
      <p:sp>
        <p:nvSpPr>
          <p:cNvPr id="18" name="Text 13"/>
          <p:cNvSpPr txBox="1"/>
          <p:nvPr/>
        </p:nvSpPr>
        <p:spPr>
          <a:xfrm>
            <a:off x="594360" y="4526280"/>
            <a:ext cx="3840480" cy="274320"/>
          </a:xfrm>
          <a:prstGeom prst="rect">
            <a:avLst/>
          </a:prstGeom>
          <a:noFill/>
          <a:ln/>
        </p:spPr>
        <p:txBody>
          <a:bodyPr wrap="square" lIns="0" tIns="0" rIns="0" bIns="0" rtlCol="0" anchor="t"/>
          <a:lstStyle/>
          <a:p>
            <a:pPr indent="0" marL="0">
              <a:buNone/>
            </a:pPr>
            <a:r>
              <a:rPr lang="en-US" sz="1150" b="1" dirty="0">
                <a:solidFill>
                  <a:schemeClr val="accent2"/>
                </a:solidFill>
              </a:rPr>
              <a:t>SUPPORTING TOOLS</a:t>
            </a:r>
            <a:endParaRPr lang="en-US" sz="1150" dirty="0"/>
          </a:p>
        </p:txBody>
      </p:sp>
      <p:sp>
        <p:nvSpPr>
          <p:cNvPr id="19" name="Text 14"/>
          <p:cNvSpPr txBox="1"/>
          <p:nvPr/>
        </p:nvSpPr>
        <p:spPr>
          <a:xfrm>
            <a:off x="594360" y="4846320"/>
            <a:ext cx="3886200" cy="1280160"/>
          </a:xfrm>
          <a:prstGeom prst="rect">
            <a:avLst/>
          </a:prstGeom>
          <a:noFill/>
          <a:ln/>
        </p:spPr>
        <p:txBody>
          <a:bodyPr wrap="square" lIns="0" tIns="0" rIns="0" bIns="0" rtlCol="0" anchor="t"/>
          <a:lstStyle/>
          <a:p>
            <a:pPr marL="152400" indent="-152400">
              <a:spcAft>
                <a:spcPts val="400"/>
              </a:spcAft>
              <a:buSzPct val="100000"/>
              <a:buChar char="•"/>
            </a:pPr>
            <a:r>
              <a:rPr lang="en-US" sz="1250" dirty="0">
                <a:solidFill>
                  <a:schemeClr val="bg1"/>
                </a:solidFill>
              </a:rPr>
              <a:t>Job breakdown sheets (TWI) to train new hires</a:t>
            </a:r>
            <a:endParaRPr lang="en-US" sz="1250" dirty="0"/>
          </a:p>
          <a:p>
            <a:pPr marL="152400" indent="-152400">
              <a:spcAft>
                <a:spcPts val="400"/>
              </a:spcAft>
              <a:buSzPct val="100000"/>
              <a:buChar char="•"/>
            </a:pPr>
            <a:r>
              <a:rPr lang="en-US" sz="1250" dirty="0">
                <a:solidFill>
                  <a:schemeClr val="bg1"/>
                </a:solidFill>
              </a:rPr>
              <a:t>Standard work posted at every station</a:t>
            </a:r>
            <a:endParaRPr lang="en-US" sz="1250" dirty="0"/>
          </a:p>
          <a:p>
            <a:pPr marL="152400" indent="-152400">
              <a:spcAft>
                <a:spcPts val="400"/>
              </a:spcAft>
              <a:buSzPct val="100000"/>
              <a:buChar char="•"/>
            </a:pPr>
            <a:r>
              <a:rPr lang="en-US" sz="1250" dirty="0">
                <a:solidFill>
                  <a:schemeClr val="bg1"/>
                </a:solidFill>
              </a:rPr>
              <a:t>Time-based operations visible on the pitch board</a:t>
            </a:r>
            <a:endParaRPr lang="en-US" sz="1250" dirty="0"/>
          </a:p>
          <a:p>
            <a:pPr marL="152400" indent="-152400">
              <a:spcAft>
                <a:spcPts val="400"/>
              </a:spcAft>
              <a:buSzPct val="100000"/>
              <a:buChar char="•"/>
            </a:pPr>
            <a:r>
              <a:rPr lang="en-US" sz="1250" dirty="0">
                <a:solidFill>
                  <a:schemeClr val="bg1"/>
                </a:solidFill>
              </a:rPr>
              <a:t>Leader standard work for supervisors</a:t>
            </a:r>
            <a:endParaRPr lang="en-US" sz="1250" dirty="0"/>
          </a:p>
        </p:txBody>
      </p:sp>
      <p:sp>
        <p:nvSpPr>
          <p:cNvPr id="20" name="Text 15"/>
          <p:cNvSpPr txBox="1"/>
          <p:nvPr/>
        </p:nvSpPr>
        <p:spPr>
          <a:xfrm>
            <a:off x="4892040" y="1188720"/>
            <a:ext cx="6885432" cy="274320"/>
          </a:xfrm>
          <a:prstGeom prst="rect">
            <a:avLst/>
          </a:prstGeom>
          <a:noFill/>
          <a:ln/>
        </p:spPr>
        <p:txBody>
          <a:bodyPr wrap="square" lIns="0" tIns="0" rIns="0" bIns="0" rtlCol="0" anchor="t"/>
          <a:lstStyle/>
          <a:p>
            <a:pPr indent="0" marL="0">
              <a:buNone/>
            </a:pPr>
            <a:r>
              <a:rPr lang="en-US" sz="1250" b="1" dirty="0">
                <a:solidFill>
                  <a:schemeClr val="tx2"/>
                </a:solidFill>
              </a:rPr>
              <a:t>Standard work sheet, Cell A, Station S2: drive / gearbox assembly (illustrative)</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892040" y="1536192"/>
          <a:ext cx="6885432" cy="914400"/>
        </p:xfrm>
        <a:graphic>
          <a:graphicData uri="http://schemas.openxmlformats.org/drawingml/2006/table">
            <a:tbl>
              <a:tblPr/>
              <a:tblGrid>
                <a:gridCol w="411480"/>
                <a:gridCol w="2697480"/>
                <a:gridCol w="2816352"/>
                <a:gridCol w="960120"/>
              </a:tblGrid>
              <a:tr h="420624">
                <a:tc>
                  <a:txBody>
                    <a:bodyPr/>
                    <a:lstStyle/>
                    <a:p>
                      <a:pPr algn="ctr" indent="0" marL="0">
                        <a:buNone/>
                      </a:pPr>
                      <a:r>
                        <a:rPr lang="en-US" sz="1150" b="1" dirty="0">
                          <a:solidFill>
                            <a:srgbClr val="FFFFFF"/>
                          </a:solidFill>
                        </a:rPr>
                        <a:t>#</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426C"/>
                    </a:solidFill>
                  </a:tcPr>
                </a:tc>
                <a:tc>
                  <a:txBody>
                    <a:bodyPr/>
                    <a:lstStyle/>
                    <a:p>
                      <a:pPr algn="l" indent="0" marL="0">
                        <a:buNone/>
                      </a:pPr>
                      <a:r>
                        <a:rPr lang="en-US" sz="1150" b="1" dirty="0">
                          <a:solidFill>
                            <a:srgbClr val="FFFFFF"/>
                          </a:solidFill>
                        </a:rPr>
                        <a:t>Work element</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426C"/>
                    </a:solidFill>
                  </a:tcPr>
                </a:tc>
                <a:tc>
                  <a:txBody>
                    <a:bodyPr/>
                    <a:lstStyle/>
                    <a:p>
                      <a:pPr algn="l" indent="0" marL="0">
                        <a:buNone/>
                      </a:pPr>
                      <a:r>
                        <a:rPr lang="en-US" sz="1150" b="1" dirty="0">
                          <a:solidFill>
                            <a:srgbClr val="FFFFFF"/>
                          </a:solidFill>
                        </a:rPr>
                        <a:t>Key point (quality / safety)</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426C"/>
                    </a:solidFill>
                  </a:tcPr>
                </a:tc>
                <a:tc>
                  <a:txBody>
                    <a:bodyPr/>
                    <a:lstStyle/>
                    <a:p>
                      <a:pPr algn="ctr" indent="0" marL="0">
                        <a:buNone/>
                      </a:pPr>
                      <a:r>
                        <a:rPr lang="en-US" sz="1150" b="1" dirty="0">
                          <a:solidFill>
                            <a:srgbClr val="FFFFFF"/>
                          </a:solidFill>
                        </a:rPr>
                        <a:t>Time (h)</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3426C"/>
                    </a:solidFill>
                  </a:tcPr>
                </a:tc>
              </a:tr>
              <a:tr h="420624">
                <a:tc>
                  <a:txBody>
                    <a:bodyPr/>
                    <a:lstStyle/>
                    <a:p>
                      <a:pPr algn="ctr" indent="0" marL="0">
                        <a:buNone/>
                      </a:pPr>
                      <a:r>
                        <a:rPr lang="en-US" sz="1150" b="1" dirty="0">
                          <a:solidFill>
                            <a:srgbClr val="1F1F1F"/>
                          </a:solidFill>
                        </a:rPr>
                        <a:t>1</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A"/>
                    </a:solidFill>
                  </a:tcPr>
                </a:tc>
                <a:tc>
                  <a:txBody>
                    <a:bodyPr/>
                    <a:lstStyle/>
                    <a:p>
                      <a:pPr indent="0" marL="0">
                        <a:buNone/>
                      </a:pPr>
                      <a:r>
                        <a:rPr lang="en-US" sz="1150" dirty="0">
                          <a:solidFill>
                            <a:srgbClr val="1F1F1F"/>
                          </a:solidFill>
                        </a:rPr>
                        <a:t>Verify kit against router and spec sheet</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A"/>
                    </a:solidFill>
                  </a:tcPr>
                </a:tc>
                <a:tc>
                  <a:txBody>
                    <a:bodyPr/>
                    <a:lstStyle/>
                    <a:p>
                      <a:pPr indent="0" marL="0">
                        <a:buNone/>
                      </a:pPr>
                      <a:r>
                        <a:rPr lang="en-US" sz="1150" dirty="0">
                          <a:solidFill>
                            <a:srgbClr val="1F1F1F"/>
                          </a:solidFill>
                        </a:rPr>
                        <a:t>Kit 100% complete before starting</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A"/>
                    </a:solidFill>
                  </a:tcPr>
                </a:tc>
                <a:tc>
                  <a:txBody>
                    <a:bodyPr/>
                    <a:lstStyle/>
                    <a:p>
                      <a:pPr algn="ctr" indent="0" marL="0">
                        <a:buNone/>
                      </a:pPr>
                      <a:r>
                        <a:rPr lang="en-US" sz="1150" dirty="0">
                          <a:solidFill>
                            <a:srgbClr val="1F1F1F"/>
                          </a:solidFill>
                        </a:rPr>
                        <a:t>1.0</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A"/>
                    </a:solidFill>
                  </a:tcPr>
                </a:tc>
              </a:tr>
              <a:tr h="420624">
                <a:tc>
                  <a:txBody>
                    <a:bodyPr/>
                    <a:lstStyle/>
                    <a:p>
                      <a:pPr algn="ctr" indent="0" marL="0">
                        <a:buNone/>
                      </a:pPr>
                      <a:r>
                        <a:rPr lang="en-US" sz="1150" b="1" dirty="0">
                          <a:solidFill>
                            <a:srgbClr val="1F1F1F"/>
                          </a:solidFill>
                        </a:rPr>
                        <a:t>2</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1F1F1F"/>
                          </a:solidFill>
                        </a:rPr>
                        <a:t>Install bearings and seals in housing</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1F1F1F"/>
                          </a:solidFill>
                        </a:rPr>
                        <a:t>Press to depth; no seal damage</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1F1F"/>
                          </a:solidFill>
                        </a:rPr>
                        <a:t>5.0</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0624">
                <a:tc>
                  <a:txBody>
                    <a:bodyPr/>
                    <a:lstStyle/>
                    <a:p>
                      <a:pPr algn="ctr" indent="0" marL="0">
                        <a:buNone/>
                      </a:pPr>
                      <a:r>
                        <a:rPr lang="en-US" sz="1150" b="1" dirty="0">
                          <a:solidFill>
                            <a:srgbClr val="1F1F1F"/>
                          </a:solidFill>
                        </a:rPr>
                        <a:t>3</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A"/>
                    </a:solidFill>
                  </a:tcPr>
                </a:tc>
                <a:tc>
                  <a:txBody>
                    <a:bodyPr/>
                    <a:lstStyle/>
                    <a:p>
                      <a:pPr indent="0" marL="0">
                        <a:buNone/>
                      </a:pPr>
                      <a:r>
                        <a:rPr lang="en-US" sz="1150" dirty="0">
                          <a:solidFill>
                            <a:srgbClr val="1F1F1F"/>
                          </a:solidFill>
                        </a:rPr>
                        <a:t>Assemble gear set; set backlash</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A"/>
                    </a:solidFill>
                  </a:tcPr>
                </a:tc>
                <a:tc>
                  <a:txBody>
                    <a:bodyPr/>
                    <a:lstStyle/>
                    <a:p>
                      <a:pPr indent="0" marL="0">
                        <a:buNone/>
                      </a:pPr>
                      <a:r>
                        <a:rPr lang="en-US" sz="1150" dirty="0">
                          <a:solidFill>
                            <a:srgbClr val="1F1F1F"/>
                          </a:solidFill>
                        </a:rPr>
                        <a:t>Record backlash on check sheet</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A"/>
                    </a:solidFill>
                  </a:tcPr>
                </a:tc>
                <a:tc>
                  <a:txBody>
                    <a:bodyPr/>
                    <a:lstStyle/>
                    <a:p>
                      <a:pPr algn="ctr" indent="0" marL="0">
                        <a:buNone/>
                      </a:pPr>
                      <a:r>
                        <a:rPr lang="en-US" sz="1150" dirty="0">
                          <a:solidFill>
                            <a:srgbClr val="1F1F1F"/>
                          </a:solidFill>
                        </a:rPr>
                        <a:t>7.0</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A"/>
                    </a:solidFill>
                  </a:tcPr>
                </a:tc>
              </a:tr>
              <a:tr h="420624">
                <a:tc>
                  <a:txBody>
                    <a:bodyPr/>
                    <a:lstStyle/>
                    <a:p>
                      <a:pPr algn="ctr" indent="0" marL="0">
                        <a:buNone/>
                      </a:pPr>
                      <a:r>
                        <a:rPr lang="en-US" sz="1150" b="1" dirty="0">
                          <a:solidFill>
                            <a:srgbClr val="1F1F1F"/>
                          </a:solidFill>
                        </a:rPr>
                        <a:t>4</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1F1F1F"/>
                          </a:solidFill>
                        </a:rPr>
                        <a:t>Torque fasteners to spec</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1F1F1F"/>
                          </a:solidFill>
                        </a:rPr>
                        <a:t>Calibrated wrench; torque stripe</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1F1F"/>
                          </a:solidFill>
                        </a:rPr>
                        <a:t>3.0</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0624">
                <a:tc>
                  <a:txBody>
                    <a:bodyPr/>
                    <a:lstStyle/>
                    <a:p>
                      <a:pPr algn="ctr" indent="0" marL="0">
                        <a:buNone/>
                      </a:pPr>
                      <a:r>
                        <a:rPr lang="en-US" sz="1150" b="1" dirty="0">
                          <a:solidFill>
                            <a:srgbClr val="1F1F1F"/>
                          </a:solidFill>
                        </a:rPr>
                        <a:t>5</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A"/>
                    </a:solidFill>
                  </a:tcPr>
                </a:tc>
                <a:tc>
                  <a:txBody>
                    <a:bodyPr/>
                    <a:lstStyle/>
                    <a:p>
                      <a:pPr indent="0" marL="0">
                        <a:buNone/>
                      </a:pPr>
                      <a:r>
                        <a:rPr lang="en-US" sz="1150" dirty="0">
                          <a:solidFill>
                            <a:srgbClr val="1F1F1F"/>
                          </a:solidFill>
                        </a:rPr>
                        <a:t>Pressure / leak test sub-assembly</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A"/>
                    </a:solidFill>
                  </a:tcPr>
                </a:tc>
                <a:tc>
                  <a:txBody>
                    <a:bodyPr/>
                    <a:lstStyle/>
                    <a:p>
                      <a:pPr indent="0" marL="0">
                        <a:buNone/>
                      </a:pPr>
                      <a:r>
                        <a:rPr lang="en-US" sz="1150" dirty="0">
                          <a:solidFill>
                            <a:srgbClr val="1F1F1F"/>
                          </a:solidFill>
                        </a:rPr>
                        <a:t>Fail = stop and call the cell lead</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A"/>
                    </a:solidFill>
                  </a:tcPr>
                </a:tc>
                <a:tc>
                  <a:txBody>
                    <a:bodyPr/>
                    <a:lstStyle/>
                    <a:p>
                      <a:pPr algn="ctr" indent="0" marL="0">
                        <a:buNone/>
                      </a:pPr>
                      <a:r>
                        <a:rPr lang="en-US" sz="1150" dirty="0">
                          <a:solidFill>
                            <a:srgbClr val="1F1F1F"/>
                          </a:solidFill>
                        </a:rPr>
                        <a:t>4.0</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F3FA"/>
                    </a:solidFill>
                  </a:tcPr>
                </a:tc>
              </a:tr>
              <a:tr h="420624">
                <a:tc>
                  <a:txBody>
                    <a:bodyPr/>
                    <a:lstStyle/>
                    <a:p>
                      <a:pPr algn="ctr" indent="0" marL="0">
                        <a:buNone/>
                      </a:pPr>
                      <a:r>
                        <a:rPr lang="en-US" sz="1150" b="1" dirty="0">
                          <a:solidFill>
                            <a:srgbClr val="1F1F1F"/>
                          </a:solidFill>
                        </a:rPr>
                        <a:t>6</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1F1F1F"/>
                          </a:solidFill>
                        </a:rPr>
                        <a:t>Self-check, sign off, move to FIFO lane</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1F1F1F"/>
                          </a:solidFill>
                        </a:rPr>
                        <a:t>Only good units move forward</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1F1F"/>
                          </a:solidFill>
                        </a:rPr>
                        <a:t>1.0</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0624">
                <a:tc>
                  <a:txBody>
                    <a:bodyPr/>
                    <a:lstStyle/>
                    <a:p>
                      <a:pPr indent="0" marL="0">
                        <a:buNone/>
                      </a:pP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6F5"/>
                    </a:solidFill>
                  </a:tcPr>
                </a:tc>
                <a:tc>
                  <a:txBody>
                    <a:bodyPr/>
                    <a:lstStyle/>
                    <a:p>
                      <a:pPr indent="0" marL="0">
                        <a:buNone/>
                      </a:pPr>
                      <a:r>
                        <a:rPr lang="en-US" sz="1150" b="1" dirty="0">
                          <a:solidFill>
                            <a:srgbClr val="1F1F1F"/>
                          </a:solidFill>
                        </a:rPr>
                        <a:t>Total work content</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6F5"/>
                    </a:solidFill>
                  </a:tcPr>
                </a:tc>
                <a:tc>
                  <a:txBody>
                    <a:bodyPr/>
                    <a:lstStyle/>
                    <a:p>
                      <a:pPr indent="0" marL="0">
                        <a:buNone/>
                      </a:pPr>
                      <a:r>
                        <a:rPr lang="en-US" sz="1150" b="1" dirty="0">
                          <a:solidFill>
                            <a:srgbClr val="1F1F1F"/>
                          </a:solidFill>
                        </a:rPr>
                        <a:t>≤ 24 h available per 3-day pitch (1 shift)</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6F5"/>
                    </a:solidFill>
                  </a:tcPr>
                </a:tc>
                <a:tc>
                  <a:txBody>
                    <a:bodyPr/>
                    <a:lstStyle/>
                    <a:p>
                      <a:pPr algn="ctr" indent="0" marL="0">
                        <a:buNone/>
                      </a:pPr>
                      <a:r>
                        <a:rPr lang="en-US" sz="1150" b="1" dirty="0">
                          <a:solidFill>
                            <a:srgbClr val="1F1F1F"/>
                          </a:solidFill>
                        </a:rPr>
                        <a:t>21.0</a:t>
                      </a:r>
                      <a:endParaRPr lang="en-US" sz="11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6F5"/>
                    </a:solidFill>
                  </a:tcPr>
                </a:tc>
              </a:tr>
            </a:tbl>
          </a:graphicData>
        </a:graphic>
      </p:graphicFrame>
      <p:sp>
        <p:nvSpPr>
          <p:cNvPr id="22" name="SW benefit 1"/>
          <p:cNvSpPr/>
          <p:nvPr/>
        </p:nvSpPr>
        <p:spPr>
          <a:xfrm>
            <a:off x="4892040" y="5349240"/>
            <a:ext cx="1618488" cy="822960"/>
          </a:xfrm>
          <a:prstGeom prst="roundRect">
            <a:avLst>
              <a:gd name="adj" fmla="val 8889"/>
            </a:avLst>
          </a:prstGeom>
          <a:solidFill>
            <a:schemeClr val="accent1"/>
          </a:solidFill>
          <a:ln/>
        </p:spPr>
      </p:sp>
      <p:sp>
        <p:nvSpPr>
          <p:cNvPr id="23" name="Text 17"/>
          <p:cNvSpPr txBox="1"/>
          <p:nvPr/>
        </p:nvSpPr>
        <p:spPr>
          <a:xfrm>
            <a:off x="4983480" y="5349240"/>
            <a:ext cx="1435608" cy="822960"/>
          </a:xfrm>
          <a:prstGeom prst="rect">
            <a:avLst/>
          </a:prstGeom>
          <a:noFill/>
          <a:ln/>
        </p:spPr>
        <p:txBody>
          <a:bodyPr wrap="square" lIns="0" tIns="0" rIns="0" bIns="0" rtlCol="0" anchor="ctr"/>
          <a:lstStyle/>
          <a:p>
            <a:pPr algn="ctr" indent="0" marL="0">
              <a:buNone/>
            </a:pPr>
            <a:r>
              <a:rPr lang="en-US" sz="1150" b="1" dirty="0">
                <a:solidFill>
                  <a:schemeClr val="bg1"/>
                </a:solidFill>
              </a:rPr>
              <a:t>New hires productive faster</a:t>
            </a:r>
            <a:endParaRPr lang="en-US" sz="1150" dirty="0"/>
          </a:p>
        </p:txBody>
      </p:sp>
      <p:sp>
        <p:nvSpPr>
          <p:cNvPr id="24" name="SW benefit 2"/>
          <p:cNvSpPr/>
          <p:nvPr/>
        </p:nvSpPr>
        <p:spPr>
          <a:xfrm>
            <a:off x="6647688" y="5349240"/>
            <a:ext cx="1618488" cy="822960"/>
          </a:xfrm>
          <a:prstGeom prst="roundRect">
            <a:avLst>
              <a:gd name="adj" fmla="val 8889"/>
            </a:avLst>
          </a:prstGeom>
          <a:solidFill>
            <a:schemeClr val="accent1"/>
          </a:solidFill>
          <a:ln/>
        </p:spPr>
      </p:sp>
      <p:sp>
        <p:nvSpPr>
          <p:cNvPr id="25" name="Text 19"/>
          <p:cNvSpPr txBox="1"/>
          <p:nvPr/>
        </p:nvSpPr>
        <p:spPr>
          <a:xfrm>
            <a:off x="6739128" y="5349240"/>
            <a:ext cx="1435608" cy="822960"/>
          </a:xfrm>
          <a:prstGeom prst="rect">
            <a:avLst/>
          </a:prstGeom>
          <a:noFill/>
          <a:ln/>
        </p:spPr>
        <p:txBody>
          <a:bodyPr wrap="square" lIns="0" tIns="0" rIns="0" bIns="0" rtlCol="0" anchor="ctr"/>
          <a:lstStyle/>
          <a:p>
            <a:pPr algn="ctr" indent="0" marL="0">
              <a:buNone/>
            </a:pPr>
            <a:r>
              <a:rPr lang="en-US" sz="1150" b="1" dirty="0">
                <a:solidFill>
                  <a:schemeClr val="bg1"/>
                </a:solidFill>
              </a:rPr>
              <a:t>Less variation, so FPY rises</a:t>
            </a:r>
            <a:endParaRPr lang="en-US" sz="1150" dirty="0"/>
          </a:p>
        </p:txBody>
      </p:sp>
      <p:sp>
        <p:nvSpPr>
          <p:cNvPr id="26" name="SW benefit 3"/>
          <p:cNvSpPr/>
          <p:nvPr/>
        </p:nvSpPr>
        <p:spPr>
          <a:xfrm>
            <a:off x="8403336" y="5349240"/>
            <a:ext cx="1618488" cy="822960"/>
          </a:xfrm>
          <a:prstGeom prst="roundRect">
            <a:avLst>
              <a:gd name="adj" fmla="val 8889"/>
            </a:avLst>
          </a:prstGeom>
          <a:solidFill>
            <a:schemeClr val="accent1"/>
          </a:solidFill>
          <a:ln/>
        </p:spPr>
      </p:sp>
      <p:sp>
        <p:nvSpPr>
          <p:cNvPr id="27" name="Text 21"/>
          <p:cNvSpPr txBox="1"/>
          <p:nvPr/>
        </p:nvSpPr>
        <p:spPr>
          <a:xfrm>
            <a:off x="8494776" y="5349240"/>
            <a:ext cx="1435608" cy="822960"/>
          </a:xfrm>
          <a:prstGeom prst="rect">
            <a:avLst/>
          </a:prstGeom>
          <a:noFill/>
          <a:ln/>
        </p:spPr>
        <p:txBody>
          <a:bodyPr wrap="square" lIns="0" tIns="0" rIns="0" bIns="0" rtlCol="0" anchor="ctr"/>
          <a:lstStyle/>
          <a:p>
            <a:pPr algn="ctr" indent="0" marL="0">
              <a:buNone/>
            </a:pPr>
            <a:r>
              <a:rPr lang="en-US" sz="1150" b="1" dirty="0">
                <a:solidFill>
                  <a:schemeClr val="bg1"/>
                </a:solidFill>
              </a:rPr>
              <a:t>Labour need visible per cell</a:t>
            </a:r>
            <a:endParaRPr lang="en-US" sz="1150" dirty="0"/>
          </a:p>
        </p:txBody>
      </p:sp>
      <p:sp>
        <p:nvSpPr>
          <p:cNvPr id="28" name="SW benefit 4"/>
          <p:cNvSpPr/>
          <p:nvPr/>
        </p:nvSpPr>
        <p:spPr>
          <a:xfrm>
            <a:off x="10158984" y="5349240"/>
            <a:ext cx="1618488" cy="822960"/>
          </a:xfrm>
          <a:prstGeom prst="roundRect">
            <a:avLst>
              <a:gd name="adj" fmla="val 8889"/>
            </a:avLst>
          </a:prstGeom>
          <a:solidFill>
            <a:schemeClr val="accent1"/>
          </a:solidFill>
          <a:ln/>
        </p:spPr>
      </p:sp>
      <p:sp>
        <p:nvSpPr>
          <p:cNvPr id="29" name="Text 23"/>
          <p:cNvSpPr txBox="1"/>
          <p:nvPr/>
        </p:nvSpPr>
        <p:spPr>
          <a:xfrm>
            <a:off x="10250424" y="5349240"/>
            <a:ext cx="1435608" cy="822960"/>
          </a:xfrm>
          <a:prstGeom prst="rect">
            <a:avLst/>
          </a:prstGeom>
          <a:noFill/>
          <a:ln/>
        </p:spPr>
        <p:txBody>
          <a:bodyPr wrap="square" lIns="0" tIns="0" rIns="0" bIns="0" rtlCol="0" anchor="ctr"/>
          <a:lstStyle/>
          <a:p>
            <a:pPr algn="ctr" indent="0" marL="0">
              <a:buNone/>
            </a:pPr>
            <a:r>
              <a:rPr lang="en-US" sz="1150" b="1" dirty="0">
                <a:solidFill>
                  <a:schemeClr val="bg1"/>
                </a:solidFill>
              </a:rPr>
              <a:t>A baseline for kaizen</a:t>
            </a:r>
            <a:endParaRPr lang="en-US" sz="115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PULL SYSTEM: FIFO, KITS AND VISUAL SCHEDULING</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Replace MRP dispatch with visual pull: work starts only when the next station is ready, so WIP stays capped and easy to count.</a:t>
            </a:r>
            <a:endParaRPr lang="en-US" sz="1400" dirty="0"/>
          </a:p>
        </p:txBody>
      </p:sp>
      <p:sp>
        <p:nvSpPr>
          <p:cNvPr id="4" name="Shape 2"/>
          <p:cNvSpPr/>
          <p:nvPr/>
        </p:nvSpPr>
        <p:spPr>
          <a:xfrm>
            <a:off x="411480" y="1280160"/>
            <a:ext cx="457200" cy="0"/>
          </a:xfrm>
          <a:prstGeom prst="line">
            <a:avLst/>
          </a:prstGeom>
          <a:noFill/>
          <a:ln w="25400">
            <a:solidFill>
              <a:schemeClr val="tx2"/>
            </a:solidFill>
            <a:prstDash val="solid"/>
            <a:tailEnd type="triangle"/>
          </a:ln>
        </p:spPr>
      </p:sp>
      <p:sp>
        <p:nvSpPr>
          <p:cNvPr id="5" name="Text 3"/>
          <p:cNvSpPr txBox="1"/>
          <p:nvPr/>
        </p:nvSpPr>
        <p:spPr>
          <a:xfrm>
            <a:off x="960120" y="1143000"/>
            <a:ext cx="1188720" cy="274320"/>
          </a:xfrm>
          <a:prstGeom prst="rect">
            <a:avLst/>
          </a:prstGeom>
          <a:noFill/>
          <a:ln/>
        </p:spPr>
        <p:txBody>
          <a:bodyPr wrap="square" lIns="0" tIns="0" rIns="0" bIns="0" rtlCol="0" anchor="ctr"/>
          <a:lstStyle/>
          <a:p>
            <a:pPr indent="0" marL="0">
              <a:buNone/>
            </a:pPr>
            <a:r>
              <a:rPr lang="en-US" sz="1100" dirty="0">
                <a:solidFill>
                  <a:srgbClr val="5B6675"/>
                </a:solidFill>
              </a:rPr>
              <a:t>Material flow</a:t>
            </a:r>
            <a:endParaRPr lang="en-US" sz="1100" dirty="0"/>
          </a:p>
        </p:txBody>
      </p:sp>
      <p:sp>
        <p:nvSpPr>
          <p:cNvPr id="6" name="Shape 4"/>
          <p:cNvSpPr/>
          <p:nvPr/>
        </p:nvSpPr>
        <p:spPr>
          <a:xfrm>
            <a:off x="2240280" y="1280160"/>
            <a:ext cx="457200" cy="0"/>
          </a:xfrm>
          <a:prstGeom prst="line">
            <a:avLst/>
          </a:prstGeom>
          <a:noFill/>
          <a:ln w="19050">
            <a:solidFill>
              <a:schemeClr val="accent5"/>
            </a:solidFill>
            <a:prstDash val="dash"/>
            <a:tailEnd type="triangle"/>
          </a:ln>
        </p:spPr>
      </p:sp>
      <p:sp>
        <p:nvSpPr>
          <p:cNvPr id="7" name="Text 5"/>
          <p:cNvSpPr txBox="1"/>
          <p:nvPr/>
        </p:nvSpPr>
        <p:spPr>
          <a:xfrm>
            <a:off x="2788920" y="1143000"/>
            <a:ext cx="1188720" cy="274320"/>
          </a:xfrm>
          <a:prstGeom prst="rect">
            <a:avLst/>
          </a:prstGeom>
          <a:noFill/>
          <a:ln/>
        </p:spPr>
        <p:txBody>
          <a:bodyPr wrap="square" lIns="0" tIns="0" rIns="0" bIns="0" rtlCol="0" anchor="ctr"/>
          <a:lstStyle/>
          <a:p>
            <a:pPr indent="0" marL="0">
              <a:buNone/>
            </a:pPr>
            <a:r>
              <a:rPr lang="en-US" sz="1100" dirty="0">
                <a:solidFill>
                  <a:srgbClr val="5B6675"/>
                </a:solidFill>
              </a:rPr>
              <a:t>Pull signal</a:t>
            </a:r>
            <a:endParaRPr lang="en-US" sz="1100" dirty="0"/>
          </a:p>
        </p:txBody>
      </p:sp>
      <p:sp>
        <p:nvSpPr>
          <p:cNvPr id="8" name="Suppliers"/>
          <p:cNvSpPr/>
          <p:nvPr/>
        </p:nvSpPr>
        <p:spPr>
          <a:xfrm>
            <a:off x="411480" y="2240280"/>
            <a:ext cx="1143000" cy="960120"/>
          </a:xfrm>
          <a:prstGeom prst="roundRect">
            <a:avLst>
              <a:gd name="adj" fmla="val 7619"/>
            </a:avLst>
          </a:prstGeom>
          <a:solidFill>
            <a:schemeClr val="bg2"/>
          </a:solidFill>
          <a:ln/>
        </p:spPr>
      </p:sp>
      <p:sp>
        <p:nvSpPr>
          <p:cNvPr id="9" name="Text 7"/>
          <p:cNvSpPr txBox="1"/>
          <p:nvPr/>
        </p:nvSpPr>
        <p:spPr>
          <a:xfrm>
            <a:off x="466344" y="2240280"/>
            <a:ext cx="1033272" cy="960120"/>
          </a:xfrm>
          <a:prstGeom prst="rect">
            <a:avLst/>
          </a:prstGeom>
          <a:noFill/>
          <a:ln/>
        </p:spPr>
        <p:txBody>
          <a:bodyPr wrap="square" lIns="0" tIns="0" rIns="0" bIns="0" rtlCol="0" anchor="ctr"/>
          <a:lstStyle/>
          <a:p>
            <a:pPr algn="ctr" indent="0" marL="0">
              <a:buNone/>
            </a:pPr>
            <a:r>
              <a:rPr lang="en-US" sz="1200" b="1" dirty="0">
                <a:solidFill>
                  <a:schemeClr val="tx2"/>
                </a:solidFill>
              </a:rPr>
              <a:t>Suppliers</a:t>
            </a:r>
            <a:endParaRPr lang="en-US" sz="1200" dirty="0"/>
          </a:p>
        </p:txBody>
      </p:sp>
      <p:sp>
        <p:nvSpPr>
          <p:cNvPr id="10" name="Shape 8"/>
          <p:cNvSpPr/>
          <p:nvPr/>
        </p:nvSpPr>
        <p:spPr>
          <a:xfrm>
            <a:off x="1591056" y="2720340"/>
            <a:ext cx="352958" cy="0"/>
          </a:xfrm>
          <a:prstGeom prst="line">
            <a:avLst/>
          </a:prstGeom>
          <a:noFill/>
          <a:ln w="25400">
            <a:solidFill>
              <a:schemeClr val="tx2"/>
            </a:solidFill>
            <a:prstDash val="solid"/>
            <a:tailEnd type="triangle"/>
          </a:ln>
        </p:spPr>
      </p:sp>
      <p:sp>
        <p:nvSpPr>
          <p:cNvPr id="11" name="Machining &amp; Fab"/>
          <p:cNvSpPr/>
          <p:nvPr/>
        </p:nvSpPr>
        <p:spPr>
          <a:xfrm>
            <a:off x="1980590" y="2240280"/>
            <a:ext cx="1463040" cy="960120"/>
          </a:xfrm>
          <a:prstGeom prst="roundRect">
            <a:avLst>
              <a:gd name="adj" fmla="val 7619"/>
            </a:avLst>
          </a:prstGeom>
          <a:solidFill>
            <a:schemeClr val="tx2"/>
          </a:solidFill>
          <a:ln/>
        </p:spPr>
      </p:sp>
      <p:sp>
        <p:nvSpPr>
          <p:cNvPr id="12" name="Text 10"/>
          <p:cNvSpPr txBox="1"/>
          <p:nvPr/>
        </p:nvSpPr>
        <p:spPr>
          <a:xfrm>
            <a:off x="2035454" y="2240280"/>
            <a:ext cx="1353312" cy="960120"/>
          </a:xfrm>
          <a:prstGeom prst="rect">
            <a:avLst/>
          </a:prstGeom>
          <a:noFill/>
          <a:ln/>
        </p:spPr>
        <p:txBody>
          <a:bodyPr wrap="square" lIns="0" tIns="0" rIns="0" bIns="0" rtlCol="0" anchor="ctr"/>
          <a:lstStyle/>
          <a:p>
            <a:pPr algn="ctr" indent="0" marL="0">
              <a:buNone/>
            </a:pPr>
            <a:r>
              <a:rPr lang="en-US" sz="1200" b="1" dirty="0">
                <a:solidFill>
                  <a:schemeClr val="bg1"/>
                </a:solidFill>
              </a:rPr>
              <a:t>Machining &amp; Fab</a:t>
            </a:r>
            <a:endParaRPr lang="en-US" sz="1200" dirty="0"/>
          </a:p>
        </p:txBody>
      </p:sp>
      <p:sp>
        <p:nvSpPr>
          <p:cNvPr id="13" name="Shape 11"/>
          <p:cNvSpPr/>
          <p:nvPr/>
        </p:nvSpPr>
        <p:spPr>
          <a:xfrm>
            <a:off x="3480206" y="2720340"/>
            <a:ext cx="352958" cy="0"/>
          </a:xfrm>
          <a:prstGeom prst="line">
            <a:avLst/>
          </a:prstGeom>
          <a:noFill/>
          <a:ln w="25400">
            <a:solidFill>
              <a:schemeClr val="tx2"/>
            </a:solidFill>
            <a:prstDash val="solid"/>
            <a:tailEnd type="triangle"/>
          </a:ln>
        </p:spPr>
      </p:sp>
      <p:sp>
        <p:nvSpPr>
          <p:cNvPr id="14" name="Kitting supermarket"/>
          <p:cNvSpPr/>
          <p:nvPr/>
        </p:nvSpPr>
        <p:spPr>
          <a:xfrm>
            <a:off x="3869741" y="2240280"/>
            <a:ext cx="1463040" cy="960120"/>
          </a:xfrm>
          <a:prstGeom prst="roundRect">
            <a:avLst>
              <a:gd name="adj" fmla="val 7619"/>
            </a:avLst>
          </a:prstGeom>
          <a:solidFill>
            <a:schemeClr val="accent4"/>
          </a:solidFill>
          <a:ln/>
        </p:spPr>
      </p:sp>
      <p:sp>
        <p:nvSpPr>
          <p:cNvPr id="15" name="Text 13"/>
          <p:cNvSpPr txBox="1"/>
          <p:nvPr/>
        </p:nvSpPr>
        <p:spPr>
          <a:xfrm>
            <a:off x="3924605" y="2240280"/>
            <a:ext cx="1353312" cy="960120"/>
          </a:xfrm>
          <a:prstGeom prst="rect">
            <a:avLst/>
          </a:prstGeom>
          <a:noFill/>
          <a:ln/>
        </p:spPr>
        <p:txBody>
          <a:bodyPr wrap="square" lIns="0" tIns="0" rIns="0" bIns="0" rtlCol="0" anchor="ctr"/>
          <a:lstStyle/>
          <a:p>
            <a:pPr algn="ctr" indent="0" marL="0">
              <a:buNone/>
            </a:pPr>
            <a:r>
              <a:rPr lang="en-US" sz="1200" b="1" dirty="0">
                <a:solidFill>
                  <a:schemeClr val="bg1"/>
                </a:solidFill>
              </a:rPr>
              <a:t>Kitting supermarket</a:t>
            </a:r>
            <a:endParaRPr lang="en-US" sz="1200" dirty="0"/>
          </a:p>
        </p:txBody>
      </p:sp>
      <p:sp>
        <p:nvSpPr>
          <p:cNvPr id="16" name="Shape 14"/>
          <p:cNvSpPr/>
          <p:nvPr/>
        </p:nvSpPr>
        <p:spPr>
          <a:xfrm>
            <a:off x="5369357" y="2720340"/>
            <a:ext cx="352958" cy="0"/>
          </a:xfrm>
          <a:prstGeom prst="line">
            <a:avLst/>
          </a:prstGeom>
          <a:noFill/>
          <a:ln w="25400">
            <a:solidFill>
              <a:schemeClr val="tx2"/>
            </a:solidFill>
            <a:prstDash val="solid"/>
            <a:tailEnd type="triangle"/>
          </a:ln>
        </p:spPr>
      </p:sp>
      <p:sp>
        <p:nvSpPr>
          <p:cNvPr id="17" name="ASSEMBLY CELL"/>
          <p:cNvSpPr/>
          <p:nvPr/>
        </p:nvSpPr>
        <p:spPr>
          <a:xfrm>
            <a:off x="5758891" y="2240280"/>
            <a:ext cx="2834640" cy="960120"/>
          </a:xfrm>
          <a:prstGeom prst="roundRect">
            <a:avLst>
              <a:gd name="adj" fmla="val 7619"/>
            </a:avLst>
          </a:prstGeom>
          <a:solidFill>
            <a:schemeClr val="accent1"/>
          </a:solidFill>
          <a:ln/>
        </p:spPr>
      </p:sp>
      <p:sp>
        <p:nvSpPr>
          <p:cNvPr id="18" name="Text 16"/>
          <p:cNvSpPr txBox="1"/>
          <p:nvPr/>
        </p:nvSpPr>
        <p:spPr>
          <a:xfrm>
            <a:off x="5758891" y="2276856"/>
            <a:ext cx="2834640" cy="347472"/>
          </a:xfrm>
          <a:prstGeom prst="rect">
            <a:avLst/>
          </a:prstGeom>
          <a:noFill/>
          <a:ln/>
        </p:spPr>
        <p:txBody>
          <a:bodyPr wrap="square" lIns="0" tIns="0" rIns="0" bIns="0" rtlCol="0" anchor="ctr"/>
          <a:lstStyle/>
          <a:p>
            <a:pPr algn="ctr" indent="0" marL="0">
              <a:buNone/>
            </a:pPr>
            <a:r>
              <a:rPr lang="en-US" sz="1200" b="1" dirty="0">
                <a:solidFill>
                  <a:schemeClr val="bg1"/>
                </a:solidFill>
              </a:rPr>
              <a:t>ASSEMBLY CELL (pacemaker)</a:t>
            </a:r>
            <a:endParaRPr lang="en-US" sz="1200" dirty="0"/>
          </a:p>
        </p:txBody>
      </p:sp>
      <p:sp>
        <p:nvSpPr>
          <p:cNvPr id="19" name="Shape 17"/>
          <p:cNvSpPr/>
          <p:nvPr/>
        </p:nvSpPr>
        <p:spPr>
          <a:xfrm>
            <a:off x="5987491" y="2679192"/>
            <a:ext cx="457200" cy="384048"/>
          </a:xfrm>
          <a:prstGeom prst="roundRect">
            <a:avLst>
              <a:gd name="adj" fmla="val 19048"/>
            </a:avLst>
          </a:prstGeom>
          <a:solidFill>
            <a:schemeClr val="bg1"/>
          </a:solidFill>
          <a:ln/>
        </p:spPr>
      </p:sp>
      <p:sp>
        <p:nvSpPr>
          <p:cNvPr id="20" name="Text 18"/>
          <p:cNvSpPr txBox="1"/>
          <p:nvPr/>
        </p:nvSpPr>
        <p:spPr>
          <a:xfrm>
            <a:off x="5987491" y="2679192"/>
            <a:ext cx="457200" cy="384048"/>
          </a:xfrm>
          <a:prstGeom prst="rect">
            <a:avLst/>
          </a:prstGeom>
          <a:noFill/>
          <a:ln/>
        </p:spPr>
        <p:txBody>
          <a:bodyPr wrap="square" lIns="0" tIns="0" rIns="0" bIns="0" rtlCol="0" anchor="ctr"/>
          <a:lstStyle/>
          <a:p>
            <a:pPr algn="ctr" indent="0" marL="0">
              <a:buNone/>
            </a:pPr>
            <a:r>
              <a:rPr lang="en-US" sz="1100" b="1" dirty="0">
                <a:solidFill>
                  <a:schemeClr val="tx2"/>
                </a:solidFill>
              </a:rPr>
              <a:t>S1</a:t>
            </a:r>
            <a:endParaRPr lang="en-US" sz="1100" dirty="0"/>
          </a:p>
        </p:txBody>
      </p:sp>
      <p:sp>
        <p:nvSpPr>
          <p:cNvPr id="21" name="Shape 19"/>
          <p:cNvSpPr/>
          <p:nvPr/>
        </p:nvSpPr>
        <p:spPr>
          <a:xfrm>
            <a:off x="6462979" y="2871216"/>
            <a:ext cx="146304" cy="0"/>
          </a:xfrm>
          <a:prstGeom prst="line">
            <a:avLst/>
          </a:prstGeom>
          <a:noFill/>
          <a:ln w="19050">
            <a:solidFill>
              <a:schemeClr val="bg1"/>
            </a:solidFill>
            <a:prstDash val="solid"/>
            <a:tailEnd type="triangle"/>
          </a:ln>
        </p:spPr>
      </p:sp>
      <p:sp>
        <p:nvSpPr>
          <p:cNvPr id="22" name="Shape 20"/>
          <p:cNvSpPr/>
          <p:nvPr/>
        </p:nvSpPr>
        <p:spPr>
          <a:xfrm>
            <a:off x="6627571" y="2679192"/>
            <a:ext cx="457200" cy="384048"/>
          </a:xfrm>
          <a:prstGeom prst="roundRect">
            <a:avLst>
              <a:gd name="adj" fmla="val 19048"/>
            </a:avLst>
          </a:prstGeom>
          <a:solidFill>
            <a:schemeClr val="bg1"/>
          </a:solidFill>
          <a:ln/>
        </p:spPr>
      </p:sp>
      <p:sp>
        <p:nvSpPr>
          <p:cNvPr id="23" name="Text 21"/>
          <p:cNvSpPr txBox="1"/>
          <p:nvPr/>
        </p:nvSpPr>
        <p:spPr>
          <a:xfrm>
            <a:off x="6627571" y="2679192"/>
            <a:ext cx="457200" cy="384048"/>
          </a:xfrm>
          <a:prstGeom prst="rect">
            <a:avLst/>
          </a:prstGeom>
          <a:noFill/>
          <a:ln/>
        </p:spPr>
        <p:txBody>
          <a:bodyPr wrap="square" lIns="0" tIns="0" rIns="0" bIns="0" rtlCol="0" anchor="ctr"/>
          <a:lstStyle/>
          <a:p>
            <a:pPr algn="ctr" indent="0" marL="0">
              <a:buNone/>
            </a:pPr>
            <a:r>
              <a:rPr lang="en-US" sz="1100" b="1" dirty="0">
                <a:solidFill>
                  <a:schemeClr val="tx2"/>
                </a:solidFill>
              </a:rPr>
              <a:t>S2</a:t>
            </a:r>
            <a:endParaRPr lang="en-US" sz="1100" dirty="0"/>
          </a:p>
        </p:txBody>
      </p:sp>
      <p:sp>
        <p:nvSpPr>
          <p:cNvPr id="24" name="Shape 22"/>
          <p:cNvSpPr/>
          <p:nvPr/>
        </p:nvSpPr>
        <p:spPr>
          <a:xfrm>
            <a:off x="7103059" y="2871216"/>
            <a:ext cx="146304" cy="0"/>
          </a:xfrm>
          <a:prstGeom prst="line">
            <a:avLst/>
          </a:prstGeom>
          <a:noFill/>
          <a:ln w="19050">
            <a:solidFill>
              <a:schemeClr val="bg1"/>
            </a:solidFill>
            <a:prstDash val="solid"/>
            <a:tailEnd type="triangle"/>
          </a:ln>
        </p:spPr>
      </p:sp>
      <p:sp>
        <p:nvSpPr>
          <p:cNvPr id="25" name="Shape 23"/>
          <p:cNvSpPr/>
          <p:nvPr/>
        </p:nvSpPr>
        <p:spPr>
          <a:xfrm>
            <a:off x="7267651" y="2679192"/>
            <a:ext cx="457200" cy="384048"/>
          </a:xfrm>
          <a:prstGeom prst="roundRect">
            <a:avLst>
              <a:gd name="adj" fmla="val 19048"/>
            </a:avLst>
          </a:prstGeom>
          <a:solidFill>
            <a:schemeClr val="bg1"/>
          </a:solidFill>
          <a:ln/>
        </p:spPr>
      </p:sp>
      <p:sp>
        <p:nvSpPr>
          <p:cNvPr id="26" name="Text 24"/>
          <p:cNvSpPr txBox="1"/>
          <p:nvPr/>
        </p:nvSpPr>
        <p:spPr>
          <a:xfrm>
            <a:off x="7267651" y="2679192"/>
            <a:ext cx="457200" cy="384048"/>
          </a:xfrm>
          <a:prstGeom prst="rect">
            <a:avLst/>
          </a:prstGeom>
          <a:noFill/>
          <a:ln/>
        </p:spPr>
        <p:txBody>
          <a:bodyPr wrap="square" lIns="0" tIns="0" rIns="0" bIns="0" rtlCol="0" anchor="ctr"/>
          <a:lstStyle/>
          <a:p>
            <a:pPr algn="ctr" indent="0" marL="0">
              <a:buNone/>
            </a:pPr>
            <a:r>
              <a:rPr lang="en-US" sz="1100" b="1" dirty="0">
                <a:solidFill>
                  <a:schemeClr val="tx2"/>
                </a:solidFill>
              </a:rPr>
              <a:t>S3</a:t>
            </a:r>
            <a:endParaRPr lang="en-US" sz="1100" dirty="0"/>
          </a:p>
        </p:txBody>
      </p:sp>
      <p:sp>
        <p:nvSpPr>
          <p:cNvPr id="27" name="Shape 25"/>
          <p:cNvSpPr/>
          <p:nvPr/>
        </p:nvSpPr>
        <p:spPr>
          <a:xfrm>
            <a:off x="7743139" y="2871216"/>
            <a:ext cx="146304" cy="0"/>
          </a:xfrm>
          <a:prstGeom prst="line">
            <a:avLst/>
          </a:prstGeom>
          <a:noFill/>
          <a:ln w="19050">
            <a:solidFill>
              <a:schemeClr val="bg1"/>
            </a:solidFill>
            <a:prstDash val="solid"/>
            <a:tailEnd type="triangle"/>
          </a:ln>
        </p:spPr>
      </p:sp>
      <p:sp>
        <p:nvSpPr>
          <p:cNvPr id="28" name="Shape 26"/>
          <p:cNvSpPr/>
          <p:nvPr/>
        </p:nvSpPr>
        <p:spPr>
          <a:xfrm>
            <a:off x="7907731" y="2679192"/>
            <a:ext cx="457200" cy="384048"/>
          </a:xfrm>
          <a:prstGeom prst="roundRect">
            <a:avLst>
              <a:gd name="adj" fmla="val 19048"/>
            </a:avLst>
          </a:prstGeom>
          <a:solidFill>
            <a:schemeClr val="bg1"/>
          </a:solidFill>
          <a:ln/>
        </p:spPr>
      </p:sp>
      <p:sp>
        <p:nvSpPr>
          <p:cNvPr id="29" name="Text 27"/>
          <p:cNvSpPr txBox="1"/>
          <p:nvPr/>
        </p:nvSpPr>
        <p:spPr>
          <a:xfrm>
            <a:off x="7907731" y="2679192"/>
            <a:ext cx="457200" cy="384048"/>
          </a:xfrm>
          <a:prstGeom prst="rect">
            <a:avLst/>
          </a:prstGeom>
          <a:noFill/>
          <a:ln/>
        </p:spPr>
        <p:txBody>
          <a:bodyPr wrap="square" lIns="0" tIns="0" rIns="0" bIns="0" rtlCol="0" anchor="ctr"/>
          <a:lstStyle/>
          <a:p>
            <a:pPr algn="ctr" indent="0" marL="0">
              <a:buNone/>
            </a:pPr>
            <a:r>
              <a:rPr lang="en-US" sz="1100" b="1" dirty="0">
                <a:solidFill>
                  <a:schemeClr val="tx2"/>
                </a:solidFill>
              </a:rPr>
              <a:t>S4</a:t>
            </a:r>
            <a:endParaRPr lang="en-US" sz="1100" dirty="0"/>
          </a:p>
        </p:txBody>
      </p:sp>
      <p:sp>
        <p:nvSpPr>
          <p:cNvPr id="30" name="Shape 28"/>
          <p:cNvSpPr/>
          <p:nvPr/>
        </p:nvSpPr>
        <p:spPr>
          <a:xfrm>
            <a:off x="8630107" y="2720340"/>
            <a:ext cx="352958" cy="0"/>
          </a:xfrm>
          <a:prstGeom prst="line">
            <a:avLst/>
          </a:prstGeom>
          <a:noFill/>
          <a:ln w="25400">
            <a:solidFill>
              <a:schemeClr val="tx2"/>
            </a:solidFill>
            <a:prstDash val="solid"/>
            <a:tailEnd type="triangle"/>
          </a:ln>
        </p:spPr>
      </p:sp>
      <p:sp>
        <p:nvSpPr>
          <p:cNvPr id="31" name="Test &amp; Ship"/>
          <p:cNvSpPr/>
          <p:nvPr/>
        </p:nvSpPr>
        <p:spPr>
          <a:xfrm>
            <a:off x="9019642" y="2240280"/>
            <a:ext cx="1234440" cy="960120"/>
          </a:xfrm>
          <a:prstGeom prst="roundRect">
            <a:avLst>
              <a:gd name="adj" fmla="val 7619"/>
            </a:avLst>
          </a:prstGeom>
          <a:solidFill>
            <a:schemeClr val="tx2"/>
          </a:solidFill>
          <a:ln/>
        </p:spPr>
      </p:sp>
      <p:sp>
        <p:nvSpPr>
          <p:cNvPr id="32" name="Text 30"/>
          <p:cNvSpPr txBox="1"/>
          <p:nvPr/>
        </p:nvSpPr>
        <p:spPr>
          <a:xfrm>
            <a:off x="9074506" y="2240280"/>
            <a:ext cx="1124712" cy="960120"/>
          </a:xfrm>
          <a:prstGeom prst="rect">
            <a:avLst/>
          </a:prstGeom>
          <a:noFill/>
          <a:ln/>
        </p:spPr>
        <p:txBody>
          <a:bodyPr wrap="square" lIns="0" tIns="0" rIns="0" bIns="0" rtlCol="0" anchor="ctr"/>
          <a:lstStyle/>
          <a:p>
            <a:pPr algn="ctr" indent="0" marL="0">
              <a:buNone/>
            </a:pPr>
            <a:r>
              <a:rPr lang="en-US" sz="1200" b="1" dirty="0">
                <a:solidFill>
                  <a:schemeClr val="bg1"/>
                </a:solidFill>
              </a:rPr>
              <a:t>Test &amp; Ship</a:t>
            </a:r>
            <a:endParaRPr lang="en-US" sz="1200" dirty="0"/>
          </a:p>
        </p:txBody>
      </p:sp>
      <p:sp>
        <p:nvSpPr>
          <p:cNvPr id="33" name="Shape 31"/>
          <p:cNvSpPr/>
          <p:nvPr/>
        </p:nvSpPr>
        <p:spPr>
          <a:xfrm>
            <a:off x="10290658" y="2720340"/>
            <a:ext cx="352958" cy="0"/>
          </a:xfrm>
          <a:prstGeom prst="line">
            <a:avLst/>
          </a:prstGeom>
          <a:noFill/>
          <a:ln w="25400">
            <a:solidFill>
              <a:schemeClr val="tx2"/>
            </a:solidFill>
            <a:prstDash val="solid"/>
            <a:tailEnd type="triangle"/>
          </a:ln>
        </p:spPr>
      </p:sp>
      <p:sp>
        <p:nvSpPr>
          <p:cNvPr id="34" name="Customer"/>
          <p:cNvSpPr/>
          <p:nvPr/>
        </p:nvSpPr>
        <p:spPr>
          <a:xfrm>
            <a:off x="10680192" y="2240280"/>
            <a:ext cx="1097280" cy="960120"/>
          </a:xfrm>
          <a:prstGeom prst="roundRect">
            <a:avLst>
              <a:gd name="adj" fmla="val 7619"/>
            </a:avLst>
          </a:prstGeom>
          <a:solidFill>
            <a:schemeClr val="bg2"/>
          </a:solidFill>
          <a:ln/>
        </p:spPr>
      </p:sp>
      <p:sp>
        <p:nvSpPr>
          <p:cNvPr id="35" name="Text 33"/>
          <p:cNvSpPr txBox="1"/>
          <p:nvPr/>
        </p:nvSpPr>
        <p:spPr>
          <a:xfrm>
            <a:off x="10735056" y="2240280"/>
            <a:ext cx="987552" cy="960120"/>
          </a:xfrm>
          <a:prstGeom prst="rect">
            <a:avLst/>
          </a:prstGeom>
          <a:noFill/>
          <a:ln/>
        </p:spPr>
        <p:txBody>
          <a:bodyPr wrap="square" lIns="0" tIns="0" rIns="0" bIns="0" rtlCol="0" anchor="ctr"/>
          <a:lstStyle/>
          <a:p>
            <a:pPr algn="ctr" indent="0" marL="0">
              <a:buNone/>
            </a:pPr>
            <a:r>
              <a:rPr lang="en-US" sz="1200" b="1" dirty="0">
                <a:solidFill>
                  <a:schemeClr val="tx2"/>
                </a:solidFill>
              </a:rPr>
              <a:t>Customer</a:t>
            </a:r>
            <a:endParaRPr lang="en-US" sz="1200" dirty="0"/>
          </a:p>
        </p:txBody>
      </p:sp>
      <p:sp>
        <p:nvSpPr>
          <p:cNvPr id="36" name="Visual FIFO schedule"/>
          <p:cNvSpPr/>
          <p:nvPr/>
        </p:nvSpPr>
        <p:spPr>
          <a:xfrm>
            <a:off x="5758891" y="1097280"/>
            <a:ext cx="2834640" cy="566928"/>
          </a:xfrm>
          <a:prstGeom prst="roundRect">
            <a:avLst>
              <a:gd name="adj" fmla="val 12903"/>
            </a:avLst>
          </a:prstGeom>
          <a:solidFill>
            <a:schemeClr val="tx2"/>
          </a:solidFill>
          <a:ln/>
        </p:spPr>
      </p:sp>
      <p:sp>
        <p:nvSpPr>
          <p:cNvPr id="37" name="Text 35"/>
          <p:cNvSpPr txBox="1"/>
          <p:nvPr/>
        </p:nvSpPr>
        <p:spPr>
          <a:xfrm>
            <a:off x="5758891" y="1097280"/>
            <a:ext cx="2834640" cy="566928"/>
          </a:xfrm>
          <a:prstGeom prst="rect">
            <a:avLst/>
          </a:prstGeom>
          <a:noFill/>
          <a:ln/>
        </p:spPr>
        <p:txBody>
          <a:bodyPr wrap="square" lIns="0" tIns="0" rIns="0" bIns="0" rtlCol="0" anchor="ctr"/>
          <a:lstStyle/>
          <a:p>
            <a:pPr algn="ctr" indent="0" marL="0">
              <a:buNone/>
            </a:pPr>
            <a:r>
              <a:rPr lang="en-US" sz="1200" b="1" dirty="0">
                <a:solidFill>
                  <a:schemeClr val="bg1"/>
                </a:solidFill>
              </a:rPr>
              <a:t>VISUAL FIFO SCHEDULE</a:t>
            </a:r>
            <a:endParaRPr lang="en-US" sz="1200" dirty="0"/>
          </a:p>
          <a:p>
            <a:pPr algn="ctr" indent="0" marL="0">
              <a:buNone/>
            </a:pPr>
            <a:r>
              <a:rPr lang="en-US" sz="1050" dirty="0">
                <a:solidFill>
                  <a:schemeClr val="bg1"/>
                </a:solidFill>
              </a:rPr>
              <a:t>the only scheduling point</a:t>
            </a:r>
            <a:endParaRPr lang="en-US" sz="1200" dirty="0"/>
          </a:p>
        </p:txBody>
      </p:sp>
      <p:sp>
        <p:nvSpPr>
          <p:cNvPr id="38" name="Shape 36"/>
          <p:cNvSpPr/>
          <p:nvPr/>
        </p:nvSpPr>
        <p:spPr>
          <a:xfrm>
            <a:off x="6307531" y="1664208"/>
            <a:ext cx="0" cy="557784"/>
          </a:xfrm>
          <a:prstGeom prst="line">
            <a:avLst/>
          </a:prstGeom>
          <a:noFill/>
          <a:ln w="22225">
            <a:solidFill>
              <a:schemeClr val="tx2"/>
            </a:solidFill>
            <a:prstDash val="solid"/>
            <a:tailEnd type="triangle"/>
          </a:ln>
        </p:spPr>
      </p:sp>
      <p:sp>
        <p:nvSpPr>
          <p:cNvPr id="39" name="Text 37"/>
          <p:cNvSpPr txBox="1"/>
          <p:nvPr/>
        </p:nvSpPr>
        <p:spPr>
          <a:xfrm>
            <a:off x="6398971" y="1783080"/>
            <a:ext cx="1828800" cy="274320"/>
          </a:xfrm>
          <a:prstGeom prst="rect">
            <a:avLst/>
          </a:prstGeom>
          <a:noFill/>
          <a:ln/>
        </p:spPr>
        <p:txBody>
          <a:bodyPr wrap="square" lIns="0" tIns="0" rIns="0" bIns="0" rtlCol="0" anchor="t"/>
          <a:lstStyle/>
          <a:p>
            <a:pPr indent="0" marL="0">
              <a:buNone/>
            </a:pPr>
            <a:r>
              <a:rPr lang="en-US" sz="1000" i="1" dirty="0">
                <a:solidFill>
                  <a:schemeClr val="tx2"/>
                </a:solidFill>
              </a:rPr>
              <a:t>release 1 kit per pitch</a:t>
            </a:r>
            <a:endParaRPr lang="en-US" sz="1000" dirty="0"/>
          </a:p>
        </p:txBody>
      </p:sp>
      <p:sp>
        <p:nvSpPr>
          <p:cNvPr id="40" name="Shape 38"/>
          <p:cNvSpPr/>
          <p:nvPr/>
        </p:nvSpPr>
        <p:spPr>
          <a:xfrm flipV="1">
            <a:off x="11228832" y="1380744"/>
            <a:ext cx="0" cy="841248"/>
          </a:xfrm>
          <a:prstGeom prst="line">
            <a:avLst/>
          </a:prstGeom>
          <a:noFill/>
          <a:ln w="19050">
            <a:solidFill>
              <a:schemeClr val="accent5"/>
            </a:solidFill>
            <a:prstDash val="dash"/>
          </a:ln>
        </p:spPr>
      </p:sp>
      <p:sp>
        <p:nvSpPr>
          <p:cNvPr id="41" name="Shape 39"/>
          <p:cNvSpPr/>
          <p:nvPr/>
        </p:nvSpPr>
        <p:spPr>
          <a:xfrm flipH="1">
            <a:off x="8611819" y="1380744"/>
            <a:ext cx="2617013" cy="0"/>
          </a:xfrm>
          <a:prstGeom prst="line">
            <a:avLst/>
          </a:prstGeom>
          <a:noFill/>
          <a:ln w="19050">
            <a:solidFill>
              <a:schemeClr val="accent5"/>
            </a:solidFill>
            <a:prstDash val="dash"/>
            <a:tailEnd type="triangle"/>
          </a:ln>
        </p:spPr>
      </p:sp>
      <p:sp>
        <p:nvSpPr>
          <p:cNvPr id="42" name="Text 40"/>
          <p:cNvSpPr txBox="1"/>
          <p:nvPr/>
        </p:nvSpPr>
        <p:spPr>
          <a:xfrm>
            <a:off x="8822131" y="1069848"/>
            <a:ext cx="2743200" cy="274320"/>
          </a:xfrm>
          <a:prstGeom prst="rect">
            <a:avLst/>
          </a:prstGeom>
          <a:noFill/>
          <a:ln/>
        </p:spPr>
        <p:txBody>
          <a:bodyPr wrap="square" lIns="0" tIns="0" rIns="0" bIns="0" rtlCol="0" anchor="t"/>
          <a:lstStyle/>
          <a:p>
            <a:pPr indent="0" marL="0">
              <a:buNone/>
            </a:pPr>
            <a:r>
              <a:rPr lang="en-US" sz="1000" i="1" dirty="0">
                <a:solidFill>
                  <a:schemeClr val="tx2"/>
                </a:solidFill>
              </a:rPr>
              <a:t>customer orders, by due date</a:t>
            </a:r>
            <a:endParaRPr lang="en-US" sz="1000" dirty="0"/>
          </a:p>
        </p:txBody>
      </p:sp>
      <p:sp>
        <p:nvSpPr>
          <p:cNvPr id="43" name="Shape 41"/>
          <p:cNvSpPr/>
          <p:nvPr/>
        </p:nvSpPr>
        <p:spPr>
          <a:xfrm>
            <a:off x="6078931" y="3218688"/>
            <a:ext cx="0" cy="301752"/>
          </a:xfrm>
          <a:prstGeom prst="line">
            <a:avLst/>
          </a:prstGeom>
          <a:noFill/>
          <a:ln w="19050">
            <a:solidFill>
              <a:schemeClr val="accent5"/>
            </a:solidFill>
            <a:prstDash val="dash"/>
          </a:ln>
        </p:spPr>
      </p:sp>
      <p:sp>
        <p:nvSpPr>
          <p:cNvPr id="44" name="Shape 42"/>
          <p:cNvSpPr/>
          <p:nvPr/>
        </p:nvSpPr>
        <p:spPr>
          <a:xfrm flipH="1">
            <a:off x="5012741" y="3520440"/>
            <a:ext cx="1066190" cy="0"/>
          </a:xfrm>
          <a:prstGeom prst="line">
            <a:avLst/>
          </a:prstGeom>
          <a:noFill/>
          <a:ln w="19050">
            <a:solidFill>
              <a:schemeClr val="accent5"/>
            </a:solidFill>
            <a:prstDash val="dash"/>
          </a:ln>
        </p:spPr>
      </p:sp>
      <p:sp>
        <p:nvSpPr>
          <p:cNvPr id="45" name="Shape 43"/>
          <p:cNvSpPr/>
          <p:nvPr/>
        </p:nvSpPr>
        <p:spPr>
          <a:xfrm flipV="1">
            <a:off x="5012741" y="3227832"/>
            <a:ext cx="0" cy="292608"/>
          </a:xfrm>
          <a:prstGeom prst="line">
            <a:avLst/>
          </a:prstGeom>
          <a:noFill/>
          <a:ln w="19050">
            <a:solidFill>
              <a:schemeClr val="accent5"/>
            </a:solidFill>
            <a:prstDash val="dash"/>
            <a:tailEnd type="triangle"/>
          </a:ln>
        </p:spPr>
      </p:sp>
      <p:sp>
        <p:nvSpPr>
          <p:cNvPr id="46" name="Text 44"/>
          <p:cNvSpPr txBox="1"/>
          <p:nvPr/>
        </p:nvSpPr>
        <p:spPr>
          <a:xfrm>
            <a:off x="5012741" y="3547872"/>
            <a:ext cx="1066190" cy="274320"/>
          </a:xfrm>
          <a:prstGeom prst="rect">
            <a:avLst/>
          </a:prstGeom>
          <a:noFill/>
          <a:ln/>
        </p:spPr>
        <p:txBody>
          <a:bodyPr wrap="square" lIns="0" tIns="0" rIns="0" bIns="0" rtlCol="0" anchor="t"/>
          <a:lstStyle/>
          <a:p>
            <a:pPr algn="ctr" indent="0" marL="0">
              <a:buNone/>
            </a:pPr>
            <a:r>
              <a:rPr lang="en-US" sz="1000" i="1" dirty="0">
                <a:solidFill>
                  <a:schemeClr val="tx2"/>
                </a:solidFill>
              </a:rPr>
              <a:t>kit pull</a:t>
            </a:r>
            <a:endParaRPr lang="en-US" sz="1000" dirty="0"/>
          </a:p>
        </p:txBody>
      </p:sp>
      <p:sp>
        <p:nvSpPr>
          <p:cNvPr id="47" name="Shape 45"/>
          <p:cNvSpPr/>
          <p:nvPr/>
        </p:nvSpPr>
        <p:spPr>
          <a:xfrm>
            <a:off x="4189781" y="3218688"/>
            <a:ext cx="0" cy="301752"/>
          </a:xfrm>
          <a:prstGeom prst="line">
            <a:avLst/>
          </a:prstGeom>
          <a:noFill/>
          <a:ln w="19050">
            <a:solidFill>
              <a:schemeClr val="accent5"/>
            </a:solidFill>
            <a:prstDash val="dash"/>
          </a:ln>
        </p:spPr>
      </p:sp>
      <p:sp>
        <p:nvSpPr>
          <p:cNvPr id="48" name="Shape 46"/>
          <p:cNvSpPr/>
          <p:nvPr/>
        </p:nvSpPr>
        <p:spPr>
          <a:xfrm flipH="1">
            <a:off x="3123590" y="3520440"/>
            <a:ext cx="1066190" cy="0"/>
          </a:xfrm>
          <a:prstGeom prst="line">
            <a:avLst/>
          </a:prstGeom>
          <a:noFill/>
          <a:ln w="19050">
            <a:solidFill>
              <a:schemeClr val="accent5"/>
            </a:solidFill>
            <a:prstDash val="dash"/>
          </a:ln>
        </p:spPr>
      </p:sp>
      <p:sp>
        <p:nvSpPr>
          <p:cNvPr id="49" name="Shape 47"/>
          <p:cNvSpPr/>
          <p:nvPr/>
        </p:nvSpPr>
        <p:spPr>
          <a:xfrm flipV="1">
            <a:off x="3123590" y="3227832"/>
            <a:ext cx="0" cy="292608"/>
          </a:xfrm>
          <a:prstGeom prst="line">
            <a:avLst/>
          </a:prstGeom>
          <a:noFill/>
          <a:ln w="19050">
            <a:solidFill>
              <a:schemeClr val="accent5"/>
            </a:solidFill>
            <a:prstDash val="dash"/>
            <a:tailEnd type="triangle"/>
          </a:ln>
        </p:spPr>
      </p:sp>
      <p:sp>
        <p:nvSpPr>
          <p:cNvPr id="50" name="Text 48"/>
          <p:cNvSpPr txBox="1"/>
          <p:nvPr/>
        </p:nvSpPr>
        <p:spPr>
          <a:xfrm>
            <a:off x="3123590" y="3547872"/>
            <a:ext cx="1066190" cy="274320"/>
          </a:xfrm>
          <a:prstGeom prst="rect">
            <a:avLst/>
          </a:prstGeom>
          <a:noFill/>
          <a:ln/>
        </p:spPr>
        <p:txBody>
          <a:bodyPr wrap="square" lIns="0" tIns="0" rIns="0" bIns="0" rtlCol="0" anchor="t"/>
          <a:lstStyle/>
          <a:p>
            <a:pPr algn="ctr" indent="0" marL="0">
              <a:buNone/>
            </a:pPr>
            <a:r>
              <a:rPr lang="en-US" sz="1000" i="1" dirty="0">
                <a:solidFill>
                  <a:schemeClr val="tx2"/>
                </a:solidFill>
              </a:rPr>
              <a:t>kanban</a:t>
            </a:r>
            <a:endParaRPr lang="en-US" sz="1000" dirty="0"/>
          </a:p>
        </p:txBody>
      </p:sp>
      <p:sp>
        <p:nvSpPr>
          <p:cNvPr id="51" name="Shape 49"/>
          <p:cNvSpPr/>
          <p:nvPr/>
        </p:nvSpPr>
        <p:spPr>
          <a:xfrm>
            <a:off x="2300630" y="3218688"/>
            <a:ext cx="0" cy="301752"/>
          </a:xfrm>
          <a:prstGeom prst="line">
            <a:avLst/>
          </a:prstGeom>
          <a:noFill/>
          <a:ln w="19050">
            <a:solidFill>
              <a:schemeClr val="accent5"/>
            </a:solidFill>
            <a:prstDash val="dash"/>
          </a:ln>
        </p:spPr>
      </p:sp>
      <p:sp>
        <p:nvSpPr>
          <p:cNvPr id="52" name="Shape 50"/>
          <p:cNvSpPr/>
          <p:nvPr/>
        </p:nvSpPr>
        <p:spPr>
          <a:xfrm flipH="1">
            <a:off x="1234440" y="3520440"/>
            <a:ext cx="1066190" cy="0"/>
          </a:xfrm>
          <a:prstGeom prst="line">
            <a:avLst/>
          </a:prstGeom>
          <a:noFill/>
          <a:ln w="19050">
            <a:solidFill>
              <a:schemeClr val="accent5"/>
            </a:solidFill>
            <a:prstDash val="dash"/>
          </a:ln>
        </p:spPr>
      </p:sp>
      <p:sp>
        <p:nvSpPr>
          <p:cNvPr id="53" name="Shape 51"/>
          <p:cNvSpPr/>
          <p:nvPr/>
        </p:nvSpPr>
        <p:spPr>
          <a:xfrm flipV="1">
            <a:off x="1234440" y="3227832"/>
            <a:ext cx="0" cy="292608"/>
          </a:xfrm>
          <a:prstGeom prst="line">
            <a:avLst/>
          </a:prstGeom>
          <a:noFill/>
          <a:ln w="19050">
            <a:solidFill>
              <a:schemeClr val="accent5"/>
            </a:solidFill>
            <a:prstDash val="dash"/>
            <a:tailEnd type="triangle"/>
          </a:ln>
        </p:spPr>
      </p:sp>
      <p:sp>
        <p:nvSpPr>
          <p:cNvPr id="54" name="Text 52"/>
          <p:cNvSpPr txBox="1"/>
          <p:nvPr/>
        </p:nvSpPr>
        <p:spPr>
          <a:xfrm>
            <a:off x="1234440" y="3547872"/>
            <a:ext cx="1066190" cy="274320"/>
          </a:xfrm>
          <a:prstGeom prst="rect">
            <a:avLst/>
          </a:prstGeom>
          <a:noFill/>
          <a:ln/>
        </p:spPr>
        <p:txBody>
          <a:bodyPr wrap="square" lIns="0" tIns="0" rIns="0" bIns="0" rtlCol="0" anchor="t"/>
          <a:lstStyle/>
          <a:p>
            <a:pPr algn="ctr" indent="0" marL="0">
              <a:buNone/>
            </a:pPr>
            <a:r>
              <a:rPr lang="en-US" sz="1000" i="1" dirty="0">
                <a:solidFill>
                  <a:schemeClr val="tx2"/>
                </a:solidFill>
              </a:rPr>
              <a:t>two-bin kanban</a:t>
            </a:r>
            <a:endParaRPr lang="en-US" sz="1000" dirty="0"/>
          </a:p>
        </p:txBody>
      </p:sp>
      <p:sp>
        <p:nvSpPr>
          <p:cNvPr id="55" name="Pull rule 1"/>
          <p:cNvSpPr/>
          <p:nvPr/>
        </p:nvSpPr>
        <p:spPr>
          <a:xfrm>
            <a:off x="411480" y="4114800"/>
            <a:ext cx="2670048" cy="1828800"/>
          </a:xfrm>
          <a:prstGeom prst="roundRect">
            <a:avLst>
              <a:gd name="adj" fmla="val 4000"/>
            </a:avLst>
          </a:prstGeom>
          <a:solidFill>
            <a:schemeClr val="bg2"/>
          </a:solidFill>
          <a:ln/>
        </p:spPr>
      </p:sp>
      <p:sp>
        <p:nvSpPr>
          <p:cNvPr id="56" name="Shape 54"/>
          <p:cNvSpPr/>
          <p:nvPr/>
        </p:nvSpPr>
        <p:spPr>
          <a:xfrm>
            <a:off x="594360" y="4297680"/>
            <a:ext cx="502920" cy="502920"/>
          </a:xfrm>
          <a:prstGeom prst="ellipse">
            <a:avLst/>
          </a:prstGeom>
          <a:solidFill>
            <a:schemeClr val="accent1"/>
          </a:solidFill>
          <a:ln/>
        </p:spPr>
      </p:sp>
      <p:pic>
        <p:nvPicPr>
          <p:cNvPr id="57" name="Image 0" descr="preencoded.png">    </p:cNvPr>
          <p:cNvPicPr>
            <a:picLocks noChangeAspect="1"/>
          </p:cNvPicPr>
          <p:nvPr/>
        </p:nvPicPr>
        <p:blipFill>
          <a:blip r:embed="rId1"/>
          <a:stretch>
            <a:fillRect/>
          </a:stretch>
        </p:blipFill>
        <p:spPr>
          <a:xfrm>
            <a:off x="715061" y="4418381"/>
            <a:ext cx="261518" cy="261518"/>
          </a:xfrm>
          <a:prstGeom prst="rect">
            <a:avLst/>
          </a:prstGeom>
        </p:spPr>
      </p:pic>
      <p:sp>
        <p:nvSpPr>
          <p:cNvPr id="58" name="Text 55"/>
          <p:cNvSpPr txBox="1"/>
          <p:nvPr/>
        </p:nvSpPr>
        <p:spPr>
          <a:xfrm>
            <a:off x="1216152" y="4297680"/>
            <a:ext cx="1755648" cy="502920"/>
          </a:xfrm>
          <a:prstGeom prst="rect">
            <a:avLst/>
          </a:prstGeom>
          <a:noFill/>
          <a:ln/>
        </p:spPr>
        <p:txBody>
          <a:bodyPr wrap="square" lIns="0" tIns="0" rIns="0" bIns="0" rtlCol="0" anchor="ctr"/>
          <a:lstStyle/>
          <a:p>
            <a:pPr indent="0" marL="0">
              <a:buNone/>
            </a:pPr>
            <a:r>
              <a:rPr lang="en-US" sz="1300" b="1" dirty="0">
                <a:solidFill>
                  <a:schemeClr val="tx2"/>
                </a:solidFill>
              </a:rPr>
              <a:t>FIFO lanes with a cap</a:t>
            </a:r>
            <a:endParaRPr lang="en-US" sz="1300" dirty="0"/>
          </a:p>
        </p:txBody>
      </p:sp>
      <p:sp>
        <p:nvSpPr>
          <p:cNvPr id="59" name="Text 56"/>
          <p:cNvSpPr txBox="1"/>
          <p:nvPr/>
        </p:nvSpPr>
        <p:spPr>
          <a:xfrm>
            <a:off x="594360" y="4956048"/>
            <a:ext cx="2304288" cy="914400"/>
          </a:xfrm>
          <a:prstGeom prst="rect">
            <a:avLst/>
          </a:prstGeom>
          <a:noFill/>
          <a:ln/>
        </p:spPr>
        <p:txBody>
          <a:bodyPr wrap="square" lIns="0" tIns="0" rIns="0" bIns="0" rtlCol="0" anchor="t"/>
          <a:lstStyle/>
          <a:p>
            <a:pPr indent="0" marL="0">
              <a:buNone/>
            </a:pPr>
            <a:r>
              <a:rPr lang="en-US" sz="1250" dirty="0">
                <a:solidFill>
                  <a:schemeClr val="tx1"/>
                </a:solidFill>
              </a:rPr>
              <a:t>At most 1 drive waits between stations. If the lane is full, upstream stops and helps.</a:t>
            </a:r>
            <a:endParaRPr lang="en-US" sz="1250" dirty="0"/>
          </a:p>
        </p:txBody>
      </p:sp>
      <p:sp>
        <p:nvSpPr>
          <p:cNvPr id="60" name="Pull rule 2"/>
          <p:cNvSpPr/>
          <p:nvPr/>
        </p:nvSpPr>
        <p:spPr>
          <a:xfrm>
            <a:off x="3310128" y="4114800"/>
            <a:ext cx="2670048" cy="1828800"/>
          </a:xfrm>
          <a:prstGeom prst="roundRect">
            <a:avLst>
              <a:gd name="adj" fmla="val 4000"/>
            </a:avLst>
          </a:prstGeom>
          <a:solidFill>
            <a:schemeClr val="bg2"/>
          </a:solidFill>
          <a:ln/>
        </p:spPr>
      </p:sp>
      <p:sp>
        <p:nvSpPr>
          <p:cNvPr id="61" name="Shape 58"/>
          <p:cNvSpPr/>
          <p:nvPr/>
        </p:nvSpPr>
        <p:spPr>
          <a:xfrm>
            <a:off x="3493008" y="4297680"/>
            <a:ext cx="502920" cy="502920"/>
          </a:xfrm>
          <a:prstGeom prst="ellipse">
            <a:avLst/>
          </a:prstGeom>
          <a:solidFill>
            <a:schemeClr val="accent1"/>
          </a:solidFill>
          <a:ln/>
        </p:spPr>
      </p:sp>
      <p:pic>
        <p:nvPicPr>
          <p:cNvPr id="62" name="Image 1" descr="preencoded.png">    </p:cNvPr>
          <p:cNvPicPr>
            <a:picLocks noChangeAspect="1"/>
          </p:cNvPicPr>
          <p:nvPr/>
        </p:nvPicPr>
        <p:blipFill>
          <a:blip r:embed="rId2"/>
          <a:stretch>
            <a:fillRect/>
          </a:stretch>
        </p:blipFill>
        <p:spPr>
          <a:xfrm>
            <a:off x="3613709" y="4418381"/>
            <a:ext cx="261518" cy="261518"/>
          </a:xfrm>
          <a:prstGeom prst="rect">
            <a:avLst/>
          </a:prstGeom>
        </p:spPr>
      </p:pic>
      <p:sp>
        <p:nvSpPr>
          <p:cNvPr id="63" name="Text 59"/>
          <p:cNvSpPr txBox="1"/>
          <p:nvPr/>
        </p:nvSpPr>
        <p:spPr>
          <a:xfrm>
            <a:off x="4114800" y="4297680"/>
            <a:ext cx="1755648" cy="502920"/>
          </a:xfrm>
          <a:prstGeom prst="rect">
            <a:avLst/>
          </a:prstGeom>
          <a:noFill/>
          <a:ln/>
        </p:spPr>
        <p:txBody>
          <a:bodyPr wrap="square" lIns="0" tIns="0" rIns="0" bIns="0" rtlCol="0" anchor="ctr"/>
          <a:lstStyle/>
          <a:p>
            <a:pPr indent="0" marL="0">
              <a:buNone/>
            </a:pPr>
            <a:r>
              <a:rPr lang="en-US" sz="1300" b="1" dirty="0">
                <a:solidFill>
                  <a:schemeClr val="tx2"/>
                </a:solidFill>
              </a:rPr>
              <a:t>Kit before you start</a:t>
            </a:r>
            <a:endParaRPr lang="en-US" sz="1300" dirty="0"/>
          </a:p>
        </p:txBody>
      </p:sp>
      <p:sp>
        <p:nvSpPr>
          <p:cNvPr id="64" name="Text 60"/>
          <p:cNvSpPr txBox="1"/>
          <p:nvPr/>
        </p:nvSpPr>
        <p:spPr>
          <a:xfrm>
            <a:off x="3493008" y="4956048"/>
            <a:ext cx="2304288" cy="914400"/>
          </a:xfrm>
          <a:prstGeom prst="rect">
            <a:avLst/>
          </a:prstGeom>
          <a:noFill/>
          <a:ln/>
        </p:spPr>
        <p:txBody>
          <a:bodyPr wrap="square" lIns="0" tIns="0" rIns="0" bIns="0" rtlCol="0" anchor="t"/>
          <a:lstStyle/>
          <a:p>
            <a:pPr indent="0" marL="0">
              <a:buNone/>
            </a:pPr>
            <a:r>
              <a:rPr lang="en-US" sz="1250" dirty="0">
                <a:solidFill>
                  <a:schemeClr val="tx1"/>
                </a:solidFill>
              </a:rPr>
              <a:t>The supermarket issues a complete kit per drive per pitch. No partial starts.</a:t>
            </a:r>
            <a:endParaRPr lang="en-US" sz="1250" dirty="0"/>
          </a:p>
        </p:txBody>
      </p:sp>
      <p:sp>
        <p:nvSpPr>
          <p:cNvPr id="65" name="Pull rule 3"/>
          <p:cNvSpPr/>
          <p:nvPr/>
        </p:nvSpPr>
        <p:spPr>
          <a:xfrm>
            <a:off x="6208776" y="4114800"/>
            <a:ext cx="2670048" cy="1828800"/>
          </a:xfrm>
          <a:prstGeom prst="roundRect">
            <a:avLst>
              <a:gd name="adj" fmla="val 4000"/>
            </a:avLst>
          </a:prstGeom>
          <a:solidFill>
            <a:schemeClr val="bg2"/>
          </a:solidFill>
          <a:ln/>
        </p:spPr>
      </p:sp>
      <p:sp>
        <p:nvSpPr>
          <p:cNvPr id="66" name="Shape 62"/>
          <p:cNvSpPr/>
          <p:nvPr/>
        </p:nvSpPr>
        <p:spPr>
          <a:xfrm>
            <a:off x="6391656" y="4297680"/>
            <a:ext cx="502920" cy="502920"/>
          </a:xfrm>
          <a:prstGeom prst="ellipse">
            <a:avLst/>
          </a:prstGeom>
          <a:solidFill>
            <a:schemeClr val="accent1"/>
          </a:solidFill>
          <a:ln/>
        </p:spPr>
      </p:sp>
      <p:pic>
        <p:nvPicPr>
          <p:cNvPr id="67" name="Image 2" descr="preencoded.png">    </p:cNvPr>
          <p:cNvPicPr>
            <a:picLocks noChangeAspect="1"/>
          </p:cNvPicPr>
          <p:nvPr/>
        </p:nvPicPr>
        <p:blipFill>
          <a:blip r:embed="rId3"/>
          <a:stretch>
            <a:fillRect/>
          </a:stretch>
        </p:blipFill>
        <p:spPr>
          <a:xfrm>
            <a:off x="6512357" y="4418381"/>
            <a:ext cx="261518" cy="261518"/>
          </a:xfrm>
          <a:prstGeom prst="rect">
            <a:avLst/>
          </a:prstGeom>
        </p:spPr>
      </p:pic>
      <p:sp>
        <p:nvSpPr>
          <p:cNvPr id="68" name="Text 63"/>
          <p:cNvSpPr txBox="1"/>
          <p:nvPr/>
        </p:nvSpPr>
        <p:spPr>
          <a:xfrm>
            <a:off x="7013448" y="4297680"/>
            <a:ext cx="1755648" cy="502920"/>
          </a:xfrm>
          <a:prstGeom prst="rect">
            <a:avLst/>
          </a:prstGeom>
          <a:noFill/>
          <a:ln/>
        </p:spPr>
        <p:txBody>
          <a:bodyPr wrap="square" lIns="0" tIns="0" rIns="0" bIns="0" rtlCol="0" anchor="ctr"/>
          <a:lstStyle/>
          <a:p>
            <a:pPr indent="0" marL="0">
              <a:buNone/>
            </a:pPr>
            <a:r>
              <a:rPr lang="en-US" sz="1300" b="1" dirty="0">
                <a:solidFill>
                  <a:schemeClr val="tx2"/>
                </a:solidFill>
              </a:rPr>
              <a:t>Kanban for common parts</a:t>
            </a:r>
            <a:endParaRPr lang="en-US" sz="1300" dirty="0"/>
          </a:p>
        </p:txBody>
      </p:sp>
      <p:sp>
        <p:nvSpPr>
          <p:cNvPr id="69" name="Text 64"/>
          <p:cNvSpPr txBox="1"/>
          <p:nvPr/>
        </p:nvSpPr>
        <p:spPr>
          <a:xfrm>
            <a:off x="6391656" y="4956048"/>
            <a:ext cx="2304288" cy="914400"/>
          </a:xfrm>
          <a:prstGeom prst="rect">
            <a:avLst/>
          </a:prstGeom>
          <a:noFill/>
          <a:ln/>
        </p:spPr>
        <p:txBody>
          <a:bodyPr wrap="square" lIns="0" tIns="0" rIns="0" bIns="0" rtlCol="0" anchor="t"/>
          <a:lstStyle/>
          <a:p>
            <a:pPr indent="0" marL="0">
              <a:buNone/>
            </a:pPr>
            <a:r>
              <a:rPr lang="en-US" sz="1250" dirty="0">
                <a:solidFill>
                  <a:schemeClr val="tx1"/>
                </a:solidFill>
              </a:rPr>
              <a:t>Two-bin kanban for fasteners, seals and bearings; custom parts are ordered against the drive.</a:t>
            </a:r>
            <a:endParaRPr lang="en-US" sz="1250" dirty="0"/>
          </a:p>
        </p:txBody>
      </p:sp>
      <p:sp>
        <p:nvSpPr>
          <p:cNvPr id="70" name="Pull rule 4"/>
          <p:cNvSpPr/>
          <p:nvPr/>
        </p:nvSpPr>
        <p:spPr>
          <a:xfrm>
            <a:off x="9107424" y="4114800"/>
            <a:ext cx="2670048" cy="1828800"/>
          </a:xfrm>
          <a:prstGeom prst="roundRect">
            <a:avLst>
              <a:gd name="adj" fmla="val 4000"/>
            </a:avLst>
          </a:prstGeom>
          <a:solidFill>
            <a:schemeClr val="bg2"/>
          </a:solidFill>
          <a:ln/>
        </p:spPr>
      </p:sp>
      <p:sp>
        <p:nvSpPr>
          <p:cNvPr id="71" name="Shape 66"/>
          <p:cNvSpPr/>
          <p:nvPr/>
        </p:nvSpPr>
        <p:spPr>
          <a:xfrm>
            <a:off x="9290304" y="4297680"/>
            <a:ext cx="502920" cy="502920"/>
          </a:xfrm>
          <a:prstGeom prst="ellipse">
            <a:avLst/>
          </a:prstGeom>
          <a:solidFill>
            <a:schemeClr val="accent1"/>
          </a:solidFill>
          <a:ln/>
        </p:spPr>
      </p:sp>
      <p:pic>
        <p:nvPicPr>
          <p:cNvPr id="72" name="Image 3" descr="preencoded.png">    </p:cNvPr>
          <p:cNvPicPr>
            <a:picLocks noChangeAspect="1"/>
          </p:cNvPicPr>
          <p:nvPr/>
        </p:nvPicPr>
        <p:blipFill>
          <a:blip r:embed="rId4"/>
          <a:stretch>
            <a:fillRect/>
          </a:stretch>
        </p:blipFill>
        <p:spPr>
          <a:xfrm>
            <a:off x="9411005" y="4418381"/>
            <a:ext cx="261518" cy="261518"/>
          </a:xfrm>
          <a:prstGeom prst="rect">
            <a:avLst/>
          </a:prstGeom>
        </p:spPr>
      </p:pic>
      <p:sp>
        <p:nvSpPr>
          <p:cNvPr id="73" name="Text 67"/>
          <p:cNvSpPr txBox="1"/>
          <p:nvPr/>
        </p:nvSpPr>
        <p:spPr>
          <a:xfrm>
            <a:off x="9912096" y="4297680"/>
            <a:ext cx="1755648" cy="502920"/>
          </a:xfrm>
          <a:prstGeom prst="rect">
            <a:avLst/>
          </a:prstGeom>
          <a:noFill/>
          <a:ln/>
        </p:spPr>
        <p:txBody>
          <a:bodyPr wrap="square" lIns="0" tIns="0" rIns="0" bIns="0" rtlCol="0" anchor="ctr"/>
          <a:lstStyle/>
          <a:p>
            <a:pPr indent="0" marL="0">
              <a:buNone/>
            </a:pPr>
            <a:r>
              <a:rPr lang="en-US" sz="1300" b="1" dirty="0">
                <a:solidFill>
                  <a:schemeClr val="tx2"/>
                </a:solidFill>
              </a:rPr>
              <a:t>One scheduling point</a:t>
            </a:r>
            <a:endParaRPr lang="en-US" sz="1300" dirty="0"/>
          </a:p>
        </p:txBody>
      </p:sp>
      <p:sp>
        <p:nvSpPr>
          <p:cNvPr id="74" name="Text 68"/>
          <p:cNvSpPr txBox="1"/>
          <p:nvPr/>
        </p:nvSpPr>
        <p:spPr>
          <a:xfrm>
            <a:off x="9290304" y="4956048"/>
            <a:ext cx="2304288" cy="914400"/>
          </a:xfrm>
          <a:prstGeom prst="rect">
            <a:avLst/>
          </a:prstGeom>
          <a:noFill/>
          <a:ln/>
        </p:spPr>
        <p:txBody>
          <a:bodyPr wrap="square" lIns="0" tIns="0" rIns="0" bIns="0" rtlCol="0" anchor="t"/>
          <a:lstStyle/>
          <a:p>
            <a:pPr indent="0" marL="0">
              <a:buNone/>
            </a:pPr>
            <a:r>
              <a:rPr lang="en-US" sz="1250" dirty="0">
                <a:solidFill>
                  <a:schemeClr val="tx1"/>
                </a:solidFill>
              </a:rPr>
              <a:t>Only the cell entry is scheduled (FIFO by due date). Everything downstream flows.</a:t>
            </a:r>
            <a:endParaRPr lang="en-US" sz="125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FUTURE STATE</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Before → Improvement → After: the same people and products, run as a visible flow system.</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1600200"/>
                <a:gridCol w="3255264"/>
                <a:gridCol w="3255264"/>
                <a:gridCol w="3255264"/>
              </a:tblGrid>
              <a:tr h="438912">
                <a:tc>
                  <a:txBody>
                    <a:bodyPr/>
                    <a:lstStyle/>
                    <a:p>
                      <a:pPr indent="0" marL="0">
                        <a:buNone/>
                      </a:pP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rPr>
                        <a:t>BEFORE</a:t>
                      </a:r>
                      <a:endParaRPr lang="en-US" sz="13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8560D"/>
                    </a:solidFill>
                  </a:tcPr>
                </a:tc>
                <a:tc>
                  <a:txBody>
                    <a:bodyPr/>
                    <a:lstStyle/>
                    <a:p>
                      <a:pPr algn="ctr" indent="0" marL="0">
                        <a:buNone/>
                      </a:pPr>
                      <a:r>
                        <a:rPr lang="en-US" sz="1300" b="1" dirty="0">
                          <a:solidFill>
                            <a:srgbClr val="FFFFFF"/>
                          </a:solidFill>
                        </a:rPr>
                        <a:t>IMPROVEMENT</a:t>
                      </a:r>
                      <a:endParaRPr lang="en-US" sz="13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582C5"/>
                    </a:solidFill>
                  </a:tcPr>
                </a:tc>
                <a:tc>
                  <a:txBody>
                    <a:bodyPr/>
                    <a:lstStyle/>
                    <a:p>
                      <a:pPr algn="ctr" indent="0" marL="0">
                        <a:buNone/>
                      </a:pPr>
                      <a:r>
                        <a:rPr lang="en-US" sz="1300" b="1" dirty="0">
                          <a:solidFill>
                            <a:srgbClr val="FFFFFF"/>
                          </a:solidFill>
                        </a:rPr>
                        <a:t>AFTER</a:t>
                      </a:r>
                      <a:endParaRPr lang="en-US" sz="13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E7D4F"/>
                    </a:solidFill>
                  </a:tcPr>
                </a:tc>
              </a:tr>
              <a:tr h="585216">
                <a:tc>
                  <a:txBody>
                    <a:bodyPr/>
                    <a:lstStyle/>
                    <a:p>
                      <a:pPr indent="0" marL="0">
                        <a:buNone/>
                      </a:pPr>
                      <a:r>
                        <a:rPr lang="en-US" sz="1200" b="1" dirty="0">
                          <a:solidFill>
                            <a:srgbClr val="FFFFFF"/>
                          </a:solidFill>
                        </a:rPr>
                        <a:t>Layout</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200" dirty="0">
                          <a:solidFill>
                            <a:srgbClr val="1F1F1F"/>
                          </a:solidFill>
                        </a:rPr>
                        <a:t>Functional job shop; ~7 miles walked per unit</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c>
                  <a:txBody>
                    <a:bodyPr/>
                    <a:lstStyle/>
                    <a:p>
                      <a:pPr indent="0" marL="0">
                        <a:buNone/>
                      </a:pPr>
                      <a:r>
                        <a:rPr lang="en-US" sz="1200" dirty="0">
                          <a:solidFill>
                            <a:srgbClr val="1F1F1F"/>
                          </a:solidFill>
                        </a:rPr>
                        <a:t>P-Q analysis → two size-based assembly cells; defined work areas</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c>
                  <a:txBody>
                    <a:bodyPr/>
                    <a:lstStyle/>
                    <a:p>
                      <a:pPr indent="0" marL="0">
                        <a:buNone/>
                      </a:pPr>
                      <a:r>
                        <a:rPr lang="en-US" sz="1200" b="1" dirty="0">
                          <a:solidFill>
                            <a:srgbClr val="1F1F1F"/>
                          </a:solidFill>
                        </a:rPr>
                        <a:t>Short, one-direction flow; parts at the point of use</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r>
              <a:tr h="585216">
                <a:tc>
                  <a:txBody>
                    <a:bodyPr/>
                    <a:lstStyle/>
                    <a:p>
                      <a:pPr indent="0" marL="0">
                        <a:buNone/>
                      </a:pPr>
                      <a:r>
                        <a:rPr lang="en-US" sz="1200" b="1" dirty="0">
                          <a:solidFill>
                            <a:srgbClr val="FFFFFF"/>
                          </a:solidFill>
                        </a:rPr>
                        <a:t>Scheduling</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200" dirty="0">
                          <a:solidFill>
                            <a:srgbClr val="1F1F1F"/>
                          </a:solidFill>
                        </a:rPr>
                        <a:t>MRP / APS push; ~30% schedule attainment</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rPr>
                        <a:t>Visual FIFO schedule + 3-day pitch</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b="1" dirty="0">
                          <a:solidFill>
                            <a:srgbClr val="1F1F1F"/>
                          </a:solidFill>
                        </a:rPr>
                        <a:t>Predictable cadence; ~80% schedule attainment*</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585216">
                <a:tc>
                  <a:txBody>
                    <a:bodyPr/>
                    <a:lstStyle/>
                    <a:p>
                      <a:pPr indent="0" marL="0">
                        <a:buNone/>
                      </a:pPr>
                      <a:r>
                        <a:rPr lang="en-US" sz="1200" b="1" dirty="0">
                          <a:solidFill>
                            <a:srgbClr val="FFFFFF"/>
                          </a:solidFill>
                        </a:rPr>
                        <a:t>Work method</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200" dirty="0">
                          <a:solidFill>
                            <a:srgbClr val="1F1F1F"/>
                          </a:solidFill>
                        </a:rPr>
                        <a:t>Tacit and person-dependent</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c>
                  <a:txBody>
                    <a:bodyPr/>
                    <a:lstStyle/>
                    <a:p>
                      <a:pPr indent="0" marL="0">
                        <a:buNone/>
                      </a:pPr>
                      <a:r>
                        <a:rPr lang="en-US" sz="1200" dirty="0">
                          <a:solidFill>
                            <a:srgbClr val="1F1F1F"/>
                          </a:solidFill>
                        </a:rPr>
                        <a:t>Standard work posted at every station</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c>
                  <a:txBody>
                    <a:bodyPr/>
                    <a:lstStyle/>
                    <a:p>
                      <a:pPr indent="0" marL="0">
                        <a:buNone/>
                      </a:pPr>
                      <a:r>
                        <a:rPr lang="en-US" sz="1200" b="1" dirty="0">
                          <a:solidFill>
                            <a:srgbClr val="1F1F1F"/>
                          </a:solidFill>
                        </a:rPr>
                        <a:t>Repeatable work; faster onboarding</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r>
              <a:tr h="585216">
                <a:tc>
                  <a:txBody>
                    <a:bodyPr/>
                    <a:lstStyle/>
                    <a:p>
                      <a:pPr indent="0" marL="0">
                        <a:buNone/>
                      </a:pPr>
                      <a:r>
                        <a:rPr lang="en-US" sz="1200" b="1" dirty="0">
                          <a:solidFill>
                            <a:srgbClr val="FFFFFF"/>
                          </a:solidFill>
                        </a:rPr>
                        <a:t>WIP</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200" dirty="0">
                          <a:solidFill>
                            <a:srgbClr val="1F1F1F"/>
                          </a:solidFill>
                        </a:rPr>
                        <a:t>High, invisible, uncounted</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rPr>
                        <a:t>Kits + FIFO lanes capped per station</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b="1" dirty="0">
                          <a:solidFill>
                            <a:srgbClr val="1F1F1F"/>
                          </a:solidFill>
                        </a:rPr>
                        <a:t>Low WIP, visible and countable</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585216">
                <a:tc>
                  <a:txBody>
                    <a:bodyPr/>
                    <a:lstStyle/>
                    <a:p>
                      <a:pPr indent="0" marL="0">
                        <a:buNone/>
                      </a:pPr>
                      <a:r>
                        <a:rPr lang="en-US" sz="1200" b="1" dirty="0">
                          <a:solidFill>
                            <a:srgbClr val="FFFFFF"/>
                          </a:solidFill>
                        </a:rPr>
                        <a:t>Quality</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200" dirty="0">
                          <a:solidFill>
                            <a:srgbClr val="1F1F1F"/>
                          </a:solidFill>
                        </a:rPr>
                        <a:t>~50% FPY; defects found at test</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c>
                  <a:txBody>
                    <a:bodyPr/>
                    <a:lstStyle/>
                    <a:p>
                      <a:pPr indent="0" marL="0">
                        <a:buNone/>
                      </a:pPr>
                      <a:r>
                        <a:rPr lang="en-US" sz="1200" dirty="0">
                          <a:solidFill>
                            <a:srgbClr val="1F1F1F"/>
                          </a:solidFill>
                        </a:rPr>
                        <a:t>Built-in checks; stop and fix</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c>
                  <a:txBody>
                    <a:bodyPr/>
                    <a:lstStyle/>
                    <a:p>
                      <a:pPr indent="0" marL="0">
                        <a:buNone/>
                      </a:pPr>
                      <a:r>
                        <a:rPr lang="en-US" sz="1200" b="1" dirty="0">
                          <a:solidFill>
                            <a:srgbClr val="1F1F1F"/>
                          </a:solidFill>
                        </a:rPr>
                        <a:t>FPY target ≥ 90%</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r>
              <a:tr h="585216">
                <a:tc>
                  <a:txBody>
                    <a:bodyPr/>
                    <a:lstStyle/>
                    <a:p>
                      <a:pPr indent="0" marL="0">
                        <a:buNone/>
                      </a:pPr>
                      <a:r>
                        <a:rPr lang="en-US" sz="1200" b="1" dirty="0">
                          <a:solidFill>
                            <a:srgbClr val="FFFFFF"/>
                          </a:solidFill>
                        </a:rPr>
                        <a:t>Delivery</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200" dirty="0">
                          <a:solidFill>
                            <a:srgbClr val="1F1F1F"/>
                          </a:solidFill>
                        </a:rPr>
                        <a:t>~20% on-time delivery</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1F1F1F"/>
                          </a:solidFill>
                        </a:rPr>
                        <a:t>Pull + pitch + daily huddles</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b="1" dirty="0">
                          <a:solidFill>
                            <a:srgbClr val="1F1F1F"/>
                          </a:solidFill>
                        </a:rPr>
                        <a:t>100% on-time delivery within ~18 months*</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585216">
                <a:tc>
                  <a:txBody>
                    <a:bodyPr/>
                    <a:lstStyle/>
                    <a:p>
                      <a:pPr indent="0" marL="0">
                        <a:buNone/>
                      </a:pPr>
                      <a:r>
                        <a:rPr lang="en-US" sz="1200" b="1" dirty="0">
                          <a:solidFill>
                            <a:srgbClr val="FFFFFF"/>
                          </a:solidFill>
                        </a:rPr>
                        <a:t>People</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200" dirty="0">
                          <a:solidFill>
                            <a:srgbClr val="1F1F1F"/>
                          </a:solidFill>
                        </a:rPr>
                        <a:t>Firefighting and overtime</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c>
                  <a:txBody>
                    <a:bodyPr/>
                    <a:lstStyle/>
                    <a:p>
                      <a:pPr indent="0" marL="0">
                        <a:buNone/>
                      </a:pPr>
                      <a:r>
                        <a:rPr lang="en-US" sz="1200" dirty="0">
                          <a:solidFill>
                            <a:srgbClr val="1F1F1F"/>
                          </a:solidFill>
                        </a:rPr>
                        <a:t>Cell teams, gemba walks, kaizen</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c>
                  <a:txBody>
                    <a:bodyPr/>
                    <a:lstStyle/>
                    <a:p>
                      <a:pPr indent="0" marL="0">
                        <a:buNone/>
                      </a:pPr>
                      <a:r>
                        <a:rPr lang="en-US" sz="1200" b="1" dirty="0">
                          <a:solidFill>
                            <a:srgbClr val="1F1F1F"/>
                          </a:solidFill>
                        </a:rPr>
                        <a:t>Teams solving problems daily</a:t>
                      </a:r>
                      <a:endParaRPr lang="en-US" sz="1200" dirty="0"/>
                    </a:p>
                  </a:txBody>
                  <a:tcPr marL="73152" marR="73152" marT="73152" marB="7315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FA"/>
                    </a:solidFill>
                  </a:tcPr>
                </a:tc>
              </a:tr>
            </a:tbl>
          </a:graphicData>
        </a:graphic>
      </p:graphicFrame>
      <p:sp>
        <p:nvSpPr>
          <p:cNvPr id="5" name="Text 2"/>
          <p:cNvSpPr txBox="1"/>
          <p:nvPr/>
        </p:nvSpPr>
        <p:spPr>
          <a:xfrm>
            <a:off x="411480" y="5833872"/>
            <a:ext cx="11365992" cy="228600"/>
          </a:xfrm>
          <a:prstGeom prst="rect">
            <a:avLst/>
          </a:prstGeom>
          <a:noFill/>
          <a:ln/>
        </p:spPr>
        <p:txBody>
          <a:bodyPr wrap="square" lIns="0" tIns="0" rIns="0" bIns="0" rtlCol="0" anchor="t"/>
          <a:lstStyle/>
          <a:p>
            <a:pPr indent="0" marL="0">
              <a:buNone/>
            </a:pPr>
            <a:r>
              <a:rPr lang="en-US" sz="900" i="1" dirty="0">
                <a:solidFill>
                  <a:srgbClr val="5B6675"/>
                </a:solidFill>
              </a:rPr>
              <a:t>* Actual results reported by LEI (2016). Other 'After' entries are WG-3 targets.</a:t>
            </a:r>
            <a:endParaRPr lang="en-US" sz="90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KPI DASHBOARD</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Eight KPIs to steer the transformation: baselines from the case, targets set by WG-3.</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2331720"/>
                <a:gridCol w="2514600"/>
                <a:gridCol w="3063240"/>
                <a:gridCol w="3456432"/>
              </a:tblGrid>
              <a:tr h="393192">
                <a:tc>
                  <a:txBody>
                    <a:bodyPr/>
                    <a:lstStyle/>
                    <a:p>
                      <a:pPr indent="0" marL="0">
                        <a:buNone/>
                      </a:pPr>
                      <a:r>
                        <a:rPr lang="en-US" sz="1150" b="1" dirty="0">
                          <a:solidFill>
                            <a:srgbClr val="FFFFFF"/>
                          </a:solidFill>
                        </a:rPr>
                        <a:t>KPI</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150" b="1" dirty="0">
                          <a:solidFill>
                            <a:srgbClr val="FFFFFF"/>
                          </a:solidFill>
                        </a:rPr>
                        <a:t>Before</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150" b="1" dirty="0">
                          <a:solidFill>
                            <a:srgbClr val="FFFFFF"/>
                          </a:solidFill>
                        </a:rPr>
                        <a:t>Target</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150" b="1" dirty="0">
                          <a:solidFill>
                            <a:srgbClr val="FFFFFF"/>
                          </a:solidFill>
                        </a:rPr>
                        <a:t>How we measure it</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r>
              <a:tr h="393192">
                <a:tc>
                  <a:txBody>
                    <a:bodyPr/>
                    <a:lstStyle/>
                    <a:p>
                      <a:pPr indent="0" marL="0">
                        <a:buNone/>
                      </a:pPr>
                      <a:r>
                        <a:rPr lang="en-US" sz="1150" b="1" dirty="0">
                          <a:solidFill>
                            <a:srgbClr val="FFFFFF"/>
                          </a:solidFill>
                        </a:rPr>
                        <a:t>On-time delivery</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150" dirty="0">
                          <a:solidFill>
                            <a:srgbClr val="1F1F1F"/>
                          </a:solidFill>
                        </a:rPr>
                        <a:t>~20% (Q1 2014)</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D2D8"/>
                    </a:solidFill>
                  </a:tcPr>
                </a:tc>
                <a:tc>
                  <a:txBody>
                    <a:bodyPr/>
                    <a:lstStyle/>
                    <a:p>
                      <a:pPr indent="0" marL="0">
                        <a:buNone/>
                      </a:pPr>
                      <a:r>
                        <a:rPr lang="en-US" sz="1150" b="1" dirty="0">
                          <a:solidFill>
                            <a:srgbClr val="1F1F1F"/>
                          </a:solidFill>
                        </a:rPr>
                        <a:t>≥ 95% (Thrustmaster reached 100%)</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D2D8"/>
                    </a:solidFill>
                  </a:tcPr>
                </a:tc>
                <a:tc>
                  <a:txBody>
                    <a:bodyPr/>
                    <a:lstStyle/>
                    <a:p>
                      <a:pPr indent="0" marL="0">
                        <a:buNone/>
                      </a:pPr>
                      <a:r>
                        <a:rPr lang="en-US" sz="1150" dirty="0">
                          <a:solidFill>
                            <a:srgbClr val="1F1F1F"/>
                          </a:solidFill>
                        </a:rPr>
                        <a:t>Orders shipped by promise date ÷ total, weekly</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D2D8"/>
                    </a:solidFill>
                  </a:tcPr>
                </a:tc>
              </a:tr>
              <a:tr h="393192">
                <a:tc>
                  <a:txBody>
                    <a:bodyPr/>
                    <a:lstStyle/>
                    <a:p>
                      <a:pPr indent="0" marL="0">
                        <a:buNone/>
                      </a:pPr>
                      <a:r>
                        <a:rPr lang="en-US" sz="1150" b="1" dirty="0">
                          <a:solidFill>
                            <a:srgbClr val="FFFFFF"/>
                          </a:solidFill>
                        </a:rPr>
                        <a:t>First-pass yield</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150" dirty="0">
                          <a:solidFill>
                            <a:srgbClr val="1F1F1F"/>
                          </a:solidFill>
                        </a:rPr>
                        <a:t>~50% (est., Q1 2014)</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AED"/>
                    </a:solidFill>
                  </a:tcPr>
                </a:tc>
                <a:tc>
                  <a:txBody>
                    <a:bodyPr/>
                    <a:lstStyle/>
                    <a:p>
                      <a:pPr indent="0" marL="0">
                        <a:buNone/>
                      </a:pPr>
                      <a:r>
                        <a:rPr lang="en-US" sz="1150" b="1" dirty="0">
                          <a:solidFill>
                            <a:srgbClr val="1F1F1F"/>
                          </a:solidFill>
                        </a:rPr>
                        <a:t>≥ 90%</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AED"/>
                    </a:solidFill>
                  </a:tcPr>
                </a:tc>
                <a:tc>
                  <a:txBody>
                    <a:bodyPr/>
                    <a:lstStyle/>
                    <a:p>
                      <a:pPr indent="0" marL="0">
                        <a:buNone/>
                      </a:pPr>
                      <a:r>
                        <a:rPr lang="en-US" sz="1150" dirty="0">
                          <a:solidFill>
                            <a:srgbClr val="1F1F1F"/>
                          </a:solidFill>
                        </a:rPr>
                        <a:t>Units passing test first time ÷ units tested</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AED"/>
                    </a:solidFill>
                  </a:tcPr>
                </a:tc>
              </a:tr>
              <a:tr h="393192">
                <a:tc>
                  <a:txBody>
                    <a:bodyPr/>
                    <a:lstStyle/>
                    <a:p>
                      <a:pPr indent="0" marL="0">
                        <a:buNone/>
                      </a:pPr>
                      <a:r>
                        <a:rPr lang="en-US" sz="1150" b="1" dirty="0">
                          <a:solidFill>
                            <a:srgbClr val="FFFFFF"/>
                          </a:solidFill>
                        </a:rPr>
                        <a:t>Schedule attainment</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150" dirty="0">
                          <a:solidFill>
                            <a:srgbClr val="1F1F1F"/>
                          </a:solidFill>
                        </a:rPr>
                        <a:t>~30%</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D2D8"/>
                    </a:solidFill>
                  </a:tcPr>
                </a:tc>
                <a:tc>
                  <a:txBody>
                    <a:bodyPr/>
                    <a:lstStyle/>
                    <a:p>
                      <a:pPr indent="0" marL="0">
                        <a:buNone/>
                      </a:pPr>
                      <a:r>
                        <a:rPr lang="en-US" sz="1150" b="1" dirty="0">
                          <a:solidFill>
                            <a:srgbClr val="1F1F1F"/>
                          </a:solidFill>
                        </a:rPr>
                        <a:t>≥ 80%</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D2D8"/>
                    </a:solidFill>
                  </a:tcPr>
                </a:tc>
                <a:tc>
                  <a:txBody>
                    <a:bodyPr/>
                    <a:lstStyle/>
                    <a:p>
                      <a:pPr indent="0" marL="0">
                        <a:buNone/>
                      </a:pPr>
                      <a:r>
                        <a:rPr lang="en-US" sz="1150" dirty="0">
                          <a:solidFill>
                            <a:srgbClr val="1F1F1F"/>
                          </a:solidFill>
                        </a:rPr>
                        <a:t>Pitches completed on time ÷ pitches planned</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D2D8"/>
                    </a:solidFill>
                  </a:tcPr>
                </a:tc>
              </a:tr>
              <a:tr h="393192">
                <a:tc>
                  <a:txBody>
                    <a:bodyPr/>
                    <a:lstStyle/>
                    <a:p>
                      <a:pPr indent="0" marL="0">
                        <a:buNone/>
                      </a:pPr>
                      <a:r>
                        <a:rPr lang="en-US" sz="1150" b="1" dirty="0">
                          <a:solidFill>
                            <a:srgbClr val="FFFFFF"/>
                          </a:solidFill>
                        </a:rPr>
                        <a:t>Assembly lead time</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150" dirty="0">
                          <a:solidFill>
                            <a:srgbClr val="1F1F1F"/>
                          </a:solidFill>
                        </a:rPr>
                        <a:t>Unpredictable; no cadence</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AED"/>
                    </a:solidFill>
                  </a:tcPr>
                </a:tc>
                <a:tc>
                  <a:txBody>
                    <a:bodyPr/>
                    <a:lstStyle/>
                    <a:p>
                      <a:pPr indent="0" marL="0">
                        <a:buNone/>
                      </a:pPr>
                      <a:r>
                        <a:rPr lang="en-US" sz="1150" b="1" dirty="0">
                          <a:solidFill>
                            <a:srgbClr val="1F1F1F"/>
                          </a:solidFill>
                        </a:rPr>
                        <a:t>4 pitches (~12 days) per drive in the cell</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AED"/>
                    </a:solidFill>
                  </a:tcPr>
                </a:tc>
                <a:tc>
                  <a:txBody>
                    <a:bodyPr/>
                    <a:lstStyle/>
                    <a:p>
                      <a:pPr indent="0" marL="0">
                        <a:buNone/>
                      </a:pPr>
                      <a:r>
                        <a:rPr lang="en-US" sz="1150" dirty="0">
                          <a:solidFill>
                            <a:srgbClr val="1F1F1F"/>
                          </a:solidFill>
                        </a:rPr>
                        <a:t>Kit release → test pass, per drive</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AED"/>
                    </a:solidFill>
                  </a:tcPr>
                </a:tc>
              </a:tr>
              <a:tr h="393192">
                <a:tc>
                  <a:txBody>
                    <a:bodyPr/>
                    <a:lstStyle/>
                    <a:p>
                      <a:pPr indent="0" marL="0">
                        <a:buNone/>
                      </a:pPr>
                      <a:r>
                        <a:rPr lang="en-US" sz="1150" b="1" dirty="0">
                          <a:solidFill>
                            <a:srgbClr val="FFFFFF"/>
                          </a:solidFill>
                        </a:rPr>
                        <a:t>WIP</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150" dirty="0">
                          <a:solidFill>
                            <a:srgbClr val="1F1F1F"/>
                          </a:solidFill>
                        </a:rPr>
                        <a:t>Not visible or counted</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D2D8"/>
                    </a:solidFill>
                  </a:tcPr>
                </a:tc>
                <a:tc>
                  <a:txBody>
                    <a:bodyPr/>
                    <a:lstStyle/>
                    <a:p>
                      <a:pPr indent="0" marL="0">
                        <a:buNone/>
                      </a:pPr>
                      <a:r>
                        <a:rPr lang="en-US" sz="1150" b="1" dirty="0">
                          <a:solidFill>
                            <a:srgbClr val="1F1F1F"/>
                          </a:solidFill>
                        </a:rPr>
                        <a:t>≤ 1 drive per station + 1 per FIFO lane</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D2D8"/>
                    </a:solidFill>
                  </a:tcPr>
                </a:tc>
                <a:tc>
                  <a:txBody>
                    <a:bodyPr/>
                    <a:lstStyle/>
                    <a:p>
                      <a:pPr indent="0" marL="0">
                        <a:buNone/>
                      </a:pPr>
                      <a:r>
                        <a:rPr lang="en-US" sz="1150" dirty="0">
                          <a:solidFill>
                            <a:srgbClr val="1F1F1F"/>
                          </a:solidFill>
                        </a:rPr>
                        <a:t>Count on the pitch board, daily</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D2D8"/>
                    </a:solidFill>
                  </a:tcPr>
                </a:tc>
              </a:tr>
              <a:tr h="393192">
                <a:tc>
                  <a:txBody>
                    <a:bodyPr/>
                    <a:lstStyle/>
                    <a:p>
                      <a:pPr indent="0" marL="0">
                        <a:buNone/>
                      </a:pPr>
                      <a:r>
                        <a:rPr lang="en-US" sz="1150" b="1" dirty="0">
                          <a:solidFill>
                            <a:srgbClr val="FFFFFF"/>
                          </a:solidFill>
                        </a:rPr>
                        <a:t>Walking (motion)</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150" dirty="0">
                          <a:solidFill>
                            <a:srgbClr val="1F1F1F"/>
                          </a:solidFill>
                        </a:rPr>
                        <a:t>~7 miles, ~10 h waste per unit</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AED"/>
                    </a:solidFill>
                  </a:tcPr>
                </a:tc>
                <a:tc>
                  <a:txBody>
                    <a:bodyPr/>
                    <a:lstStyle/>
                    <a:p>
                      <a:pPr indent="0" marL="0">
                        <a:buNone/>
                      </a:pPr>
                      <a:r>
                        <a:rPr lang="en-US" sz="1150" b="1" dirty="0">
                          <a:solidFill>
                            <a:srgbClr val="1F1F1F"/>
                          </a:solidFill>
                        </a:rPr>
                        <a:t>&lt; 1 mile and &lt; 1 h per unit</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AED"/>
                    </a:solidFill>
                  </a:tcPr>
                </a:tc>
                <a:tc>
                  <a:txBody>
                    <a:bodyPr/>
                    <a:lstStyle/>
                    <a:p>
                      <a:pPr indent="0" marL="0">
                        <a:buNone/>
                      </a:pPr>
                      <a:r>
                        <a:rPr lang="en-US" sz="1150" dirty="0">
                          <a:solidFill>
                            <a:srgbClr val="1F1F1F"/>
                          </a:solidFill>
                        </a:rPr>
                        <a:t>Spaghetti chart re-study, quarterly</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AED"/>
                    </a:solidFill>
                  </a:tcPr>
                </a:tc>
              </a:tr>
              <a:tr h="393192">
                <a:tc>
                  <a:txBody>
                    <a:bodyPr/>
                    <a:lstStyle/>
                    <a:p>
                      <a:pPr indent="0" marL="0">
                        <a:buNone/>
                      </a:pPr>
                      <a:r>
                        <a:rPr lang="en-US" sz="1150" b="1" dirty="0">
                          <a:solidFill>
                            <a:srgbClr val="FFFFFF"/>
                          </a:solidFill>
                        </a:rPr>
                        <a:t>Project cost vs. target</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150" dirty="0">
                          <a:solidFill>
                            <a:srgbClr val="1F1F1F"/>
                          </a:solidFill>
                        </a:rPr>
                        <a:t>&gt; 100% of target</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D2D8"/>
                    </a:solidFill>
                  </a:tcPr>
                </a:tc>
                <a:tc>
                  <a:txBody>
                    <a:bodyPr/>
                    <a:lstStyle/>
                    <a:p>
                      <a:pPr indent="0" marL="0">
                        <a:buNone/>
                      </a:pPr>
                      <a:r>
                        <a:rPr lang="en-US" sz="1150" b="1" dirty="0">
                          <a:solidFill>
                            <a:srgbClr val="1F1F1F"/>
                          </a:solidFill>
                        </a:rPr>
                        <a:t>≤ 100% (on or under budget)</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D2D8"/>
                    </a:solidFill>
                  </a:tcPr>
                </a:tc>
                <a:tc>
                  <a:txBody>
                    <a:bodyPr/>
                    <a:lstStyle/>
                    <a:p>
                      <a:pPr indent="0" marL="0">
                        <a:buNone/>
                      </a:pPr>
                      <a:r>
                        <a:rPr lang="en-US" sz="1150" dirty="0">
                          <a:solidFill>
                            <a:srgbClr val="1F1F1F"/>
                          </a:solidFill>
                        </a:rPr>
                        <a:t>Actual vs. quoted cost per project</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D2D8"/>
                    </a:solidFill>
                  </a:tcPr>
                </a:tc>
              </a:tr>
              <a:tr h="393192">
                <a:tc>
                  <a:txBody>
                    <a:bodyPr/>
                    <a:lstStyle/>
                    <a:p>
                      <a:pPr indent="0" marL="0">
                        <a:buNone/>
                      </a:pPr>
                      <a:r>
                        <a:rPr lang="en-US" sz="1150" b="1" dirty="0">
                          <a:solidFill>
                            <a:srgbClr val="FFFFFF"/>
                          </a:solidFill>
                        </a:rPr>
                        <a:t>Standard-work coverage</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3426C"/>
                    </a:solidFill>
                  </a:tcPr>
                </a:tc>
                <a:tc>
                  <a:txBody>
                    <a:bodyPr/>
                    <a:lstStyle/>
                    <a:p>
                      <a:pPr indent="0" marL="0">
                        <a:buNone/>
                      </a:pPr>
                      <a:r>
                        <a:rPr lang="en-US" sz="1150" dirty="0">
                          <a:solidFill>
                            <a:srgbClr val="1F1F1F"/>
                          </a:solidFill>
                        </a:rPr>
                        <a:t>Limited; tacit knowledge</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AED"/>
                    </a:solidFill>
                  </a:tcPr>
                </a:tc>
                <a:tc>
                  <a:txBody>
                    <a:bodyPr/>
                    <a:lstStyle/>
                    <a:p>
                      <a:pPr indent="0" marL="0">
                        <a:buNone/>
                      </a:pPr>
                      <a:r>
                        <a:rPr lang="en-US" sz="1150" b="1" dirty="0">
                          <a:solidFill>
                            <a:srgbClr val="1F1F1F"/>
                          </a:solidFill>
                        </a:rPr>
                        <a:t>100% of cell stations</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AED"/>
                    </a:solidFill>
                  </a:tcPr>
                </a:tc>
                <a:tc>
                  <a:txBody>
                    <a:bodyPr/>
                    <a:lstStyle/>
                    <a:p>
                      <a:pPr indent="0" marL="0">
                        <a:buNone/>
                      </a:pPr>
                      <a:r>
                        <a:rPr lang="en-US" sz="1150" dirty="0">
                          <a:solidFill>
                            <a:srgbClr val="1F1F1F"/>
                          </a:solidFill>
                        </a:rPr>
                        <a:t>Stations with current, posted standard work</a:t>
                      </a:r>
                      <a:endParaRPr lang="en-US" sz="1150" dirty="0"/>
                    </a:p>
                  </a:txBody>
                  <a:tcPr marL="54864" marR="54864" marT="54864" marB="54864"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AED"/>
                    </a:solidFill>
                  </a:tcPr>
                </a:tc>
              </a:tr>
            </a:tbl>
          </a:graphicData>
        </a:graphic>
      </p:graphicFrame>
      <p:sp>
        <p:nvSpPr>
          <p:cNvPr id="5" name="KPI tile On-time delivery"/>
          <p:cNvSpPr/>
          <p:nvPr/>
        </p:nvSpPr>
        <p:spPr>
          <a:xfrm>
            <a:off x="411480" y="4919472"/>
            <a:ext cx="3636264" cy="1234440"/>
          </a:xfrm>
          <a:prstGeom prst="roundRect">
            <a:avLst>
              <a:gd name="adj" fmla="val 5926"/>
            </a:avLst>
          </a:prstGeom>
          <a:solidFill>
            <a:schemeClr val="bg2"/>
          </a:solidFill>
          <a:ln/>
        </p:spPr>
      </p:sp>
      <p:sp>
        <p:nvSpPr>
          <p:cNvPr id="6" name="Text 3"/>
          <p:cNvSpPr txBox="1"/>
          <p:nvPr/>
        </p:nvSpPr>
        <p:spPr>
          <a:xfrm>
            <a:off x="640080" y="5010912"/>
            <a:ext cx="3179064" cy="274320"/>
          </a:xfrm>
          <a:prstGeom prst="rect">
            <a:avLst/>
          </a:prstGeom>
          <a:noFill/>
          <a:ln/>
        </p:spPr>
        <p:txBody>
          <a:bodyPr wrap="square" lIns="0" tIns="0" rIns="0" bIns="0" rtlCol="0" anchor="t"/>
          <a:lstStyle/>
          <a:p>
            <a:pPr indent="0" marL="0">
              <a:buNone/>
            </a:pPr>
            <a:r>
              <a:rPr lang="en-US" sz="1100" b="1" dirty="0">
                <a:solidFill>
                  <a:schemeClr val="tx2"/>
                </a:solidFill>
              </a:rPr>
              <a:t>ON-TIME DELIVERY</a:t>
            </a:r>
            <a:endParaRPr lang="en-US" sz="1100" dirty="0"/>
          </a:p>
        </p:txBody>
      </p:sp>
      <p:sp>
        <p:nvSpPr>
          <p:cNvPr id="7" name="Text 4"/>
          <p:cNvSpPr txBox="1"/>
          <p:nvPr/>
        </p:nvSpPr>
        <p:spPr>
          <a:xfrm>
            <a:off x="640080" y="5303520"/>
            <a:ext cx="3179064" cy="548640"/>
          </a:xfrm>
          <a:prstGeom prst="rect">
            <a:avLst/>
          </a:prstGeom>
          <a:noFill/>
          <a:ln/>
        </p:spPr>
        <p:txBody>
          <a:bodyPr wrap="square" lIns="0" tIns="0" rIns="0" bIns="0" rtlCol="0" anchor="ctr"/>
          <a:lstStyle/>
          <a:p>
            <a:pPr indent="0" marL="0">
              <a:buNone/>
            </a:pPr>
            <a:r>
              <a:rPr lang="en-US" sz="2600" dirty="0">
                <a:solidFill>
                  <a:srgbClr val="5B6675"/>
                </a:solidFill>
              </a:rPr>
              <a:t>~20%</a:t>
            </a:r>
            <a:pPr indent="0" marL="0">
              <a:buNone/>
            </a:pPr>
            <a:r>
              <a:rPr lang="en-US" sz="2600" dirty="0">
                <a:solidFill>
                  <a:srgbClr val="5B6675"/>
                </a:solidFill>
              </a:rPr>
              <a:t>  →  </a:t>
            </a:r>
            <a:pPr indent="0" marL="0">
              <a:buNone/>
            </a:pPr>
            <a:r>
              <a:rPr lang="en-US" sz="2600" b="1" dirty="0">
                <a:solidFill>
                  <a:schemeClr val="tx2"/>
                </a:solidFill>
              </a:rPr>
              <a:t>≥ 95%</a:t>
            </a:r>
            <a:endParaRPr lang="en-US" sz="2600" dirty="0"/>
          </a:p>
        </p:txBody>
      </p:sp>
      <p:sp>
        <p:nvSpPr>
          <p:cNvPr id="8" name="Text 5"/>
          <p:cNvSpPr txBox="1"/>
          <p:nvPr/>
        </p:nvSpPr>
        <p:spPr>
          <a:xfrm>
            <a:off x="640080" y="5833872"/>
            <a:ext cx="3179064" cy="228600"/>
          </a:xfrm>
          <a:prstGeom prst="rect">
            <a:avLst/>
          </a:prstGeom>
          <a:noFill/>
          <a:ln/>
        </p:spPr>
        <p:txBody>
          <a:bodyPr wrap="square" lIns="0" tIns="0" rIns="0" bIns="0" rtlCol="0" anchor="t"/>
          <a:lstStyle/>
          <a:p>
            <a:pPr indent="0" marL="0">
              <a:buNone/>
            </a:pPr>
            <a:r>
              <a:rPr lang="en-US" sz="1000" dirty="0">
                <a:solidFill>
                  <a:srgbClr val="5B6675"/>
                </a:solidFill>
              </a:rPr>
              <a:t>before  →  target</a:t>
            </a:r>
            <a:endParaRPr lang="en-US" sz="1000" dirty="0"/>
          </a:p>
        </p:txBody>
      </p:sp>
      <p:sp>
        <p:nvSpPr>
          <p:cNvPr id="9" name="KPI tile First-pass yield"/>
          <p:cNvSpPr/>
          <p:nvPr/>
        </p:nvSpPr>
        <p:spPr>
          <a:xfrm>
            <a:off x="4276344" y="4919472"/>
            <a:ext cx="3636264" cy="1234440"/>
          </a:xfrm>
          <a:prstGeom prst="roundRect">
            <a:avLst>
              <a:gd name="adj" fmla="val 5926"/>
            </a:avLst>
          </a:prstGeom>
          <a:solidFill>
            <a:schemeClr val="bg2"/>
          </a:solidFill>
          <a:ln/>
        </p:spPr>
      </p:sp>
      <p:sp>
        <p:nvSpPr>
          <p:cNvPr id="10" name="Text 7"/>
          <p:cNvSpPr txBox="1"/>
          <p:nvPr/>
        </p:nvSpPr>
        <p:spPr>
          <a:xfrm>
            <a:off x="4504944" y="5010912"/>
            <a:ext cx="3179064" cy="274320"/>
          </a:xfrm>
          <a:prstGeom prst="rect">
            <a:avLst/>
          </a:prstGeom>
          <a:noFill/>
          <a:ln/>
        </p:spPr>
        <p:txBody>
          <a:bodyPr wrap="square" lIns="0" tIns="0" rIns="0" bIns="0" rtlCol="0" anchor="t"/>
          <a:lstStyle/>
          <a:p>
            <a:pPr indent="0" marL="0">
              <a:buNone/>
            </a:pPr>
            <a:r>
              <a:rPr lang="en-US" sz="1100" b="1" dirty="0">
                <a:solidFill>
                  <a:schemeClr val="tx2"/>
                </a:solidFill>
              </a:rPr>
              <a:t>FIRST-PASS YIELD</a:t>
            </a:r>
            <a:endParaRPr lang="en-US" sz="1100" dirty="0"/>
          </a:p>
        </p:txBody>
      </p:sp>
      <p:sp>
        <p:nvSpPr>
          <p:cNvPr id="11" name="Text 8"/>
          <p:cNvSpPr txBox="1"/>
          <p:nvPr/>
        </p:nvSpPr>
        <p:spPr>
          <a:xfrm>
            <a:off x="4504944" y="5303520"/>
            <a:ext cx="3179064" cy="548640"/>
          </a:xfrm>
          <a:prstGeom prst="rect">
            <a:avLst/>
          </a:prstGeom>
          <a:noFill/>
          <a:ln/>
        </p:spPr>
        <p:txBody>
          <a:bodyPr wrap="square" lIns="0" tIns="0" rIns="0" bIns="0" rtlCol="0" anchor="ctr"/>
          <a:lstStyle/>
          <a:p>
            <a:pPr indent="0" marL="0">
              <a:buNone/>
            </a:pPr>
            <a:r>
              <a:rPr lang="en-US" sz="2600" dirty="0">
                <a:solidFill>
                  <a:srgbClr val="5B6675"/>
                </a:solidFill>
              </a:rPr>
              <a:t>~50%</a:t>
            </a:r>
            <a:pPr indent="0" marL="0">
              <a:buNone/>
            </a:pPr>
            <a:r>
              <a:rPr lang="en-US" sz="2600" dirty="0">
                <a:solidFill>
                  <a:srgbClr val="5B6675"/>
                </a:solidFill>
              </a:rPr>
              <a:t>  →  </a:t>
            </a:r>
            <a:pPr indent="0" marL="0">
              <a:buNone/>
            </a:pPr>
            <a:r>
              <a:rPr lang="en-US" sz="2600" b="1" dirty="0">
                <a:solidFill>
                  <a:schemeClr val="tx2"/>
                </a:solidFill>
              </a:rPr>
              <a:t>≥ 90%</a:t>
            </a:r>
            <a:endParaRPr lang="en-US" sz="2600" dirty="0"/>
          </a:p>
        </p:txBody>
      </p:sp>
      <p:sp>
        <p:nvSpPr>
          <p:cNvPr id="12" name="Text 9"/>
          <p:cNvSpPr txBox="1"/>
          <p:nvPr/>
        </p:nvSpPr>
        <p:spPr>
          <a:xfrm>
            <a:off x="4504944" y="5833872"/>
            <a:ext cx="3179064" cy="228600"/>
          </a:xfrm>
          <a:prstGeom prst="rect">
            <a:avLst/>
          </a:prstGeom>
          <a:noFill/>
          <a:ln/>
        </p:spPr>
        <p:txBody>
          <a:bodyPr wrap="square" lIns="0" tIns="0" rIns="0" bIns="0" rtlCol="0" anchor="t"/>
          <a:lstStyle/>
          <a:p>
            <a:pPr indent="0" marL="0">
              <a:buNone/>
            </a:pPr>
            <a:r>
              <a:rPr lang="en-US" sz="1000" dirty="0">
                <a:solidFill>
                  <a:srgbClr val="5B6675"/>
                </a:solidFill>
              </a:rPr>
              <a:t>before  →  target</a:t>
            </a:r>
            <a:endParaRPr lang="en-US" sz="1000" dirty="0"/>
          </a:p>
        </p:txBody>
      </p:sp>
      <p:sp>
        <p:nvSpPr>
          <p:cNvPr id="13" name="KPI tile Schedule attainment"/>
          <p:cNvSpPr/>
          <p:nvPr/>
        </p:nvSpPr>
        <p:spPr>
          <a:xfrm>
            <a:off x="8141208" y="4919472"/>
            <a:ext cx="3636264" cy="1234440"/>
          </a:xfrm>
          <a:prstGeom prst="roundRect">
            <a:avLst>
              <a:gd name="adj" fmla="val 5926"/>
            </a:avLst>
          </a:prstGeom>
          <a:solidFill>
            <a:schemeClr val="bg2"/>
          </a:solidFill>
          <a:ln/>
        </p:spPr>
      </p:sp>
      <p:sp>
        <p:nvSpPr>
          <p:cNvPr id="14" name="Text 11"/>
          <p:cNvSpPr txBox="1"/>
          <p:nvPr/>
        </p:nvSpPr>
        <p:spPr>
          <a:xfrm>
            <a:off x="8369808" y="5010912"/>
            <a:ext cx="3179064" cy="274320"/>
          </a:xfrm>
          <a:prstGeom prst="rect">
            <a:avLst/>
          </a:prstGeom>
          <a:noFill/>
          <a:ln/>
        </p:spPr>
        <p:txBody>
          <a:bodyPr wrap="square" lIns="0" tIns="0" rIns="0" bIns="0" rtlCol="0" anchor="t"/>
          <a:lstStyle/>
          <a:p>
            <a:pPr indent="0" marL="0">
              <a:buNone/>
            </a:pPr>
            <a:r>
              <a:rPr lang="en-US" sz="1100" b="1" dirty="0">
                <a:solidFill>
                  <a:schemeClr val="tx2"/>
                </a:solidFill>
              </a:rPr>
              <a:t>SCHEDULE ATTAINMENT</a:t>
            </a:r>
            <a:endParaRPr lang="en-US" sz="1100" dirty="0"/>
          </a:p>
        </p:txBody>
      </p:sp>
      <p:sp>
        <p:nvSpPr>
          <p:cNvPr id="15" name="Text 12"/>
          <p:cNvSpPr txBox="1"/>
          <p:nvPr/>
        </p:nvSpPr>
        <p:spPr>
          <a:xfrm>
            <a:off x="8369808" y="5303520"/>
            <a:ext cx="3179064" cy="548640"/>
          </a:xfrm>
          <a:prstGeom prst="rect">
            <a:avLst/>
          </a:prstGeom>
          <a:noFill/>
          <a:ln/>
        </p:spPr>
        <p:txBody>
          <a:bodyPr wrap="square" lIns="0" tIns="0" rIns="0" bIns="0" rtlCol="0" anchor="ctr"/>
          <a:lstStyle/>
          <a:p>
            <a:pPr indent="0" marL="0">
              <a:buNone/>
            </a:pPr>
            <a:r>
              <a:rPr lang="en-US" sz="2600" dirty="0">
                <a:solidFill>
                  <a:srgbClr val="5B6675"/>
                </a:solidFill>
              </a:rPr>
              <a:t>~30%</a:t>
            </a:r>
            <a:pPr indent="0" marL="0">
              <a:buNone/>
            </a:pPr>
            <a:r>
              <a:rPr lang="en-US" sz="2600" dirty="0">
                <a:solidFill>
                  <a:srgbClr val="5B6675"/>
                </a:solidFill>
              </a:rPr>
              <a:t>  →  </a:t>
            </a:r>
            <a:pPr indent="0" marL="0">
              <a:buNone/>
            </a:pPr>
            <a:r>
              <a:rPr lang="en-US" sz="2600" b="1" dirty="0">
                <a:solidFill>
                  <a:schemeClr val="tx2"/>
                </a:solidFill>
              </a:rPr>
              <a:t>≥ 80%</a:t>
            </a:r>
            <a:endParaRPr lang="en-US" sz="2600" dirty="0"/>
          </a:p>
        </p:txBody>
      </p:sp>
      <p:sp>
        <p:nvSpPr>
          <p:cNvPr id="16" name="Text 13"/>
          <p:cNvSpPr txBox="1"/>
          <p:nvPr/>
        </p:nvSpPr>
        <p:spPr>
          <a:xfrm>
            <a:off x="8369808" y="5833872"/>
            <a:ext cx="3179064" cy="228600"/>
          </a:xfrm>
          <a:prstGeom prst="rect">
            <a:avLst/>
          </a:prstGeom>
          <a:noFill/>
          <a:ln/>
        </p:spPr>
        <p:txBody>
          <a:bodyPr wrap="square" lIns="0" tIns="0" rIns="0" bIns="0" rtlCol="0" anchor="t"/>
          <a:lstStyle/>
          <a:p>
            <a:pPr indent="0" marL="0">
              <a:buNone/>
            </a:pPr>
            <a:r>
              <a:rPr lang="en-US" sz="1000" dirty="0">
                <a:solidFill>
                  <a:srgbClr val="5B6675"/>
                </a:solidFill>
              </a:rPr>
              <a:t>before  →  target</a:t>
            </a:r>
            <a:endParaRPr lang="en-US" sz="1000" dirty="0"/>
          </a:p>
        </p:txBody>
      </p:sp>
      <p:sp>
        <p:nvSpPr>
          <p:cNvPr id="17" name="Text 14"/>
          <p:cNvSpPr txBox="1"/>
          <p:nvPr/>
        </p:nvSpPr>
        <p:spPr>
          <a:xfrm>
            <a:off x="411480" y="6263640"/>
            <a:ext cx="11365992" cy="228600"/>
          </a:xfrm>
          <a:prstGeom prst="rect">
            <a:avLst/>
          </a:prstGeom>
          <a:noFill/>
          <a:ln/>
        </p:spPr>
        <p:txBody>
          <a:bodyPr wrap="square" lIns="0" tIns="0" rIns="0" bIns="0" rtlCol="0" anchor="t"/>
          <a:lstStyle/>
          <a:p>
            <a:pPr indent="0" marL="0">
              <a:buNone/>
            </a:pPr>
            <a:r>
              <a:rPr lang="en-US" sz="900" i="1" dirty="0">
                <a:solidFill>
                  <a:srgbClr val="5B6675"/>
                </a:solidFill>
              </a:rPr>
              <a:t>'Before' values: LEI (2016), Q1 2014 baseline where dated. Targets and measures: WG-3.</a:t>
            </a:r>
            <a:endParaRPr lang="en-US" sz="90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IMPLEMENTATION PLAN</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0–30 days → 30–60 days → 60–90 days: pilot one product family, prove it, then extend pull across the shop.</a:t>
            </a:r>
            <a:endParaRPr lang="en-US" sz="1400" dirty="0"/>
          </a:p>
        </p:txBody>
      </p:sp>
      <p:sp>
        <p:nvSpPr>
          <p:cNvPr id="4" name="Phase 0–30 DAYS"/>
          <p:cNvSpPr/>
          <p:nvPr/>
        </p:nvSpPr>
        <p:spPr>
          <a:xfrm>
            <a:off x="411480" y="1188720"/>
            <a:ext cx="3636264" cy="640080"/>
          </a:xfrm>
          <a:prstGeom prst="homePlate">
            <a:avLst/>
          </a:prstGeom>
          <a:solidFill>
            <a:schemeClr val="accent1"/>
          </a:solidFill>
          <a:ln/>
        </p:spPr>
      </p:sp>
      <p:sp>
        <p:nvSpPr>
          <p:cNvPr id="5" name="Text 3"/>
          <p:cNvSpPr txBox="1"/>
          <p:nvPr/>
        </p:nvSpPr>
        <p:spPr>
          <a:xfrm>
            <a:off x="594360" y="1188720"/>
            <a:ext cx="3179064" cy="640080"/>
          </a:xfrm>
          <a:prstGeom prst="rect">
            <a:avLst/>
          </a:prstGeom>
          <a:noFill/>
          <a:ln/>
        </p:spPr>
        <p:txBody>
          <a:bodyPr wrap="square" lIns="0" tIns="0" rIns="0" bIns="0" rtlCol="0" anchor="ctr"/>
          <a:lstStyle/>
          <a:p>
            <a:pPr indent="0" marL="0">
              <a:buNone/>
            </a:pPr>
            <a:r>
              <a:rPr lang="en-US" sz="1500" b="1" dirty="0">
                <a:solidFill>
                  <a:schemeClr val="bg1"/>
                </a:solidFill>
              </a:rPr>
              <a:t>0–30 DAYS</a:t>
            </a:r>
            <a:pPr indent="0" marL="0">
              <a:buNone/>
            </a:pPr>
            <a:r>
              <a:rPr lang="en-US" sz="1250" dirty="0">
                <a:solidFill>
                  <a:schemeClr val="bg1"/>
                </a:solidFill>
              </a:rPr>
              <a:t>   See &amp; stabilize</a:t>
            </a:r>
            <a:endParaRPr lang="en-US" sz="1200" dirty="0"/>
          </a:p>
        </p:txBody>
      </p:sp>
      <p:sp>
        <p:nvSpPr>
          <p:cNvPr id="6" name="Phase 0–30 DAYS actions"/>
          <p:cNvSpPr/>
          <p:nvPr/>
        </p:nvSpPr>
        <p:spPr>
          <a:xfrm>
            <a:off x="411480" y="1965960"/>
            <a:ext cx="3636264" cy="3154680"/>
          </a:xfrm>
          <a:prstGeom prst="roundRect">
            <a:avLst>
              <a:gd name="adj" fmla="val 2319"/>
            </a:avLst>
          </a:prstGeom>
          <a:solidFill>
            <a:schemeClr val="bg2"/>
          </a:solidFill>
          <a:ln/>
        </p:spPr>
      </p:sp>
      <p:sp>
        <p:nvSpPr>
          <p:cNvPr id="7" name="Text 5"/>
          <p:cNvSpPr txBox="1"/>
          <p:nvPr/>
        </p:nvSpPr>
        <p:spPr>
          <a:xfrm>
            <a:off x="594360" y="2103120"/>
            <a:ext cx="3270504" cy="29260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chemeClr val="tx1"/>
                </a:solidFill>
              </a:rPr>
              <a:t>Form the lean team (GM, CI manager, cell leads); train on Lean basics</a:t>
            </a:r>
            <a:endParaRPr lang="en-US" sz="1300" dirty="0"/>
          </a:p>
          <a:p>
            <a:pPr marL="152400" indent="-152400">
              <a:spcAft>
                <a:spcPts val="700"/>
              </a:spcAft>
              <a:buSzPct val="100000"/>
              <a:buChar char="•"/>
            </a:pPr>
            <a:r>
              <a:rPr lang="en-US" sz="1300" dirty="0">
                <a:solidFill>
                  <a:schemeClr val="tx1"/>
                </a:solidFill>
              </a:rPr>
              <a:t>Map the current-state VSM and a spaghetti chart for tunnel-thruster assembly</a:t>
            </a:r>
            <a:endParaRPr lang="en-US" sz="1300" dirty="0"/>
          </a:p>
          <a:p>
            <a:pPr marL="152400" indent="-152400">
              <a:spcAft>
                <a:spcPts val="700"/>
              </a:spcAft>
              <a:buSzPct val="100000"/>
              <a:buChar char="•"/>
            </a:pPr>
            <a:r>
              <a:rPr lang="en-US" sz="1300" dirty="0">
                <a:solidFill>
                  <a:schemeClr val="tx1"/>
                </a:solidFill>
              </a:rPr>
              <a:t>P-Q analysis: group drives into size-based families</a:t>
            </a:r>
            <a:endParaRPr lang="en-US" sz="1300" dirty="0"/>
          </a:p>
          <a:p>
            <a:pPr marL="152400" indent="-152400">
              <a:spcAft>
                <a:spcPts val="700"/>
              </a:spcAft>
              <a:buSzPct val="100000"/>
              <a:buChar char="•"/>
            </a:pPr>
            <a:r>
              <a:rPr lang="en-US" sz="1300" dirty="0">
                <a:solidFill>
                  <a:schemeClr val="tx1"/>
                </a:solidFill>
              </a:rPr>
              <a:t>5S and mark work areas in the pilot zone</a:t>
            </a:r>
            <a:endParaRPr lang="en-US" sz="1300" dirty="0"/>
          </a:p>
          <a:p>
            <a:pPr marL="152400" indent="-152400">
              <a:spcAft>
                <a:spcPts val="700"/>
              </a:spcAft>
              <a:buSzPct val="100000"/>
              <a:buChar char="•"/>
            </a:pPr>
            <a:r>
              <a:rPr lang="en-US" sz="1300" dirty="0">
                <a:solidFill>
                  <a:schemeClr val="tx1"/>
                </a:solidFill>
              </a:rPr>
              <a:t>Baseline KPIs: OTD, FPY, WIP, walking</a:t>
            </a:r>
            <a:endParaRPr lang="en-US" sz="1300" dirty="0"/>
          </a:p>
        </p:txBody>
      </p:sp>
      <p:sp>
        <p:nvSpPr>
          <p:cNvPr id="8" name="Shape 6"/>
          <p:cNvSpPr/>
          <p:nvPr/>
        </p:nvSpPr>
        <p:spPr>
          <a:xfrm>
            <a:off x="411480" y="5257800"/>
            <a:ext cx="3636264" cy="868680"/>
          </a:xfrm>
          <a:prstGeom prst="roundRect">
            <a:avLst>
              <a:gd name="adj" fmla="val 8421"/>
            </a:avLst>
          </a:prstGeom>
          <a:solidFill>
            <a:schemeClr val="bg1"/>
          </a:solidFill>
          <a:ln w="19050">
            <a:solidFill>
              <a:schemeClr val="accent1"/>
            </a:solidFill>
            <a:prstDash val="solid"/>
          </a:ln>
        </p:spPr>
      </p:sp>
      <p:pic>
        <p:nvPicPr>
          <p:cNvPr id="9" name="Image 0" descr="preencoded.png">    </p:cNvPr>
          <p:cNvPicPr>
            <a:picLocks noChangeAspect="1"/>
          </p:cNvPicPr>
          <p:nvPr/>
        </p:nvPicPr>
        <p:blipFill>
          <a:blip r:embed="rId1"/>
          <a:stretch>
            <a:fillRect/>
          </a:stretch>
        </p:blipFill>
        <p:spPr>
          <a:xfrm>
            <a:off x="594360" y="5468112"/>
            <a:ext cx="411480" cy="411480"/>
          </a:xfrm>
          <a:prstGeom prst="rect">
            <a:avLst/>
          </a:prstGeom>
        </p:spPr>
      </p:pic>
      <p:sp>
        <p:nvSpPr>
          <p:cNvPr id="10" name="Text 7"/>
          <p:cNvSpPr txBox="1"/>
          <p:nvPr/>
        </p:nvSpPr>
        <p:spPr>
          <a:xfrm>
            <a:off x="1143000" y="5257800"/>
            <a:ext cx="2721864" cy="868680"/>
          </a:xfrm>
          <a:prstGeom prst="rect">
            <a:avLst/>
          </a:prstGeom>
          <a:noFill/>
          <a:ln/>
        </p:spPr>
        <p:txBody>
          <a:bodyPr wrap="square" lIns="0" tIns="0" rIns="0" bIns="0" rtlCol="0" anchor="ctr"/>
          <a:lstStyle/>
          <a:p>
            <a:pPr indent="0" marL="0">
              <a:buNone/>
            </a:pPr>
            <a:r>
              <a:rPr lang="en-US" sz="1000" b="1" dirty="0">
                <a:solidFill>
                  <a:srgbClr val="5B6675"/>
                </a:solidFill>
              </a:rPr>
              <a:t>MILESTONE</a:t>
            </a:r>
            <a:endParaRPr lang="en-US" sz="1200" dirty="0"/>
          </a:p>
          <a:p>
            <a:pPr indent="0" marL="0">
              <a:buNone/>
            </a:pPr>
            <a:r>
              <a:rPr lang="en-US" sz="1250" b="1" dirty="0">
                <a:solidFill>
                  <a:schemeClr val="tx2"/>
                </a:solidFill>
              </a:rPr>
              <a:t>Baseline set; pilot zone 5S'd</a:t>
            </a:r>
            <a:endParaRPr lang="en-US" sz="1200" dirty="0"/>
          </a:p>
        </p:txBody>
      </p:sp>
      <p:sp>
        <p:nvSpPr>
          <p:cNvPr id="11" name="Phase 30–60 DAYS"/>
          <p:cNvSpPr/>
          <p:nvPr/>
        </p:nvSpPr>
        <p:spPr>
          <a:xfrm>
            <a:off x="4276344" y="1188720"/>
            <a:ext cx="3636264" cy="640080"/>
          </a:xfrm>
          <a:prstGeom prst="homePlate">
            <a:avLst/>
          </a:prstGeom>
          <a:solidFill>
            <a:schemeClr val="accent3"/>
          </a:solidFill>
          <a:ln/>
        </p:spPr>
      </p:sp>
      <p:sp>
        <p:nvSpPr>
          <p:cNvPr id="12" name="Text 9"/>
          <p:cNvSpPr txBox="1"/>
          <p:nvPr/>
        </p:nvSpPr>
        <p:spPr>
          <a:xfrm>
            <a:off x="4459224" y="1188720"/>
            <a:ext cx="3179064" cy="640080"/>
          </a:xfrm>
          <a:prstGeom prst="rect">
            <a:avLst/>
          </a:prstGeom>
          <a:noFill/>
          <a:ln/>
        </p:spPr>
        <p:txBody>
          <a:bodyPr wrap="square" lIns="0" tIns="0" rIns="0" bIns="0" rtlCol="0" anchor="ctr"/>
          <a:lstStyle/>
          <a:p>
            <a:pPr indent="0" marL="0">
              <a:buNone/>
            </a:pPr>
            <a:r>
              <a:rPr lang="en-US" sz="1500" b="1" dirty="0">
                <a:solidFill>
                  <a:schemeClr val="bg1"/>
                </a:solidFill>
              </a:rPr>
              <a:t>30–60 DAYS</a:t>
            </a:r>
            <a:pPr indent="0" marL="0">
              <a:buNone/>
            </a:pPr>
            <a:r>
              <a:rPr lang="en-US" sz="1250" dirty="0">
                <a:solidFill>
                  <a:schemeClr val="bg1"/>
                </a:solidFill>
              </a:rPr>
              <a:t>   Build flow</a:t>
            </a:r>
            <a:endParaRPr lang="en-US" sz="1200" dirty="0"/>
          </a:p>
        </p:txBody>
      </p:sp>
      <p:sp>
        <p:nvSpPr>
          <p:cNvPr id="13" name="Phase 30–60 DAYS actions"/>
          <p:cNvSpPr/>
          <p:nvPr/>
        </p:nvSpPr>
        <p:spPr>
          <a:xfrm>
            <a:off x="4276344" y="1965960"/>
            <a:ext cx="3636264" cy="3154680"/>
          </a:xfrm>
          <a:prstGeom prst="roundRect">
            <a:avLst>
              <a:gd name="adj" fmla="val 2319"/>
            </a:avLst>
          </a:prstGeom>
          <a:solidFill>
            <a:schemeClr val="bg2"/>
          </a:solidFill>
          <a:ln/>
        </p:spPr>
      </p:sp>
      <p:sp>
        <p:nvSpPr>
          <p:cNvPr id="14" name="Text 11"/>
          <p:cNvSpPr txBox="1"/>
          <p:nvPr/>
        </p:nvSpPr>
        <p:spPr>
          <a:xfrm>
            <a:off x="4459224" y="2103120"/>
            <a:ext cx="3270504" cy="29260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chemeClr val="tx1"/>
                </a:solidFill>
              </a:rPr>
              <a:t>Design the future-state VSM and cell layouts</a:t>
            </a:r>
            <a:endParaRPr lang="en-US" sz="1300" dirty="0"/>
          </a:p>
          <a:p>
            <a:pPr marL="152400" indent="-152400">
              <a:spcAft>
                <a:spcPts val="700"/>
              </a:spcAft>
              <a:buSzPct val="100000"/>
              <a:buChar char="•"/>
            </a:pPr>
            <a:r>
              <a:rPr lang="en-US" sz="1300" dirty="0">
                <a:solidFill>
                  <a:schemeClr val="tx1"/>
                </a:solidFill>
              </a:rPr>
              <a:t>Move equipment; launch Cell A (small / medium drives)</a:t>
            </a:r>
            <a:endParaRPr lang="en-US" sz="1300" dirty="0"/>
          </a:p>
          <a:p>
            <a:pPr marL="152400" indent="-152400">
              <a:spcAft>
                <a:spcPts val="700"/>
              </a:spcAft>
              <a:buSzPct val="100000"/>
              <a:buChar char="•"/>
            </a:pPr>
            <a:r>
              <a:rPr lang="en-US" sz="1300" dirty="0">
                <a:solidFill>
                  <a:schemeClr val="tx1"/>
                </a:solidFill>
              </a:rPr>
              <a:t>Write and post standard work for each station</a:t>
            </a:r>
            <a:endParaRPr lang="en-US" sz="1300" dirty="0"/>
          </a:p>
          <a:p>
            <a:pPr marL="152400" indent="-152400">
              <a:spcAft>
                <a:spcPts val="700"/>
              </a:spcAft>
              <a:buSzPct val="100000"/>
              <a:buChar char="•"/>
            </a:pPr>
            <a:r>
              <a:rPr lang="en-US" sz="1300" dirty="0">
                <a:solidFill>
                  <a:schemeClr val="tx1"/>
                </a:solidFill>
              </a:rPr>
              <a:t>Start the kitting supermarket and 3-day pitch board</a:t>
            </a:r>
            <a:endParaRPr lang="en-US" sz="1300" dirty="0"/>
          </a:p>
          <a:p>
            <a:pPr marL="152400" indent="-152400">
              <a:spcAft>
                <a:spcPts val="700"/>
              </a:spcAft>
              <a:buSzPct val="100000"/>
              <a:buChar char="•"/>
            </a:pPr>
            <a:r>
              <a:rPr lang="en-US" sz="1300" dirty="0">
                <a:solidFill>
                  <a:schemeClr val="tx1"/>
                </a:solidFill>
              </a:rPr>
              <a:t>Daily 10-minute huddles at the pitch board</a:t>
            </a:r>
            <a:endParaRPr lang="en-US" sz="1300" dirty="0"/>
          </a:p>
        </p:txBody>
      </p:sp>
      <p:sp>
        <p:nvSpPr>
          <p:cNvPr id="15" name="Shape 12"/>
          <p:cNvSpPr/>
          <p:nvPr/>
        </p:nvSpPr>
        <p:spPr>
          <a:xfrm>
            <a:off x="4276344" y="5257800"/>
            <a:ext cx="3636264" cy="868680"/>
          </a:xfrm>
          <a:prstGeom prst="roundRect">
            <a:avLst>
              <a:gd name="adj" fmla="val 8421"/>
            </a:avLst>
          </a:prstGeom>
          <a:solidFill>
            <a:schemeClr val="bg1"/>
          </a:solidFill>
          <a:ln w="19050">
            <a:solidFill>
              <a:schemeClr val="accent3"/>
            </a:solidFill>
            <a:prstDash val="solid"/>
          </a:ln>
        </p:spPr>
      </p:sp>
      <p:pic>
        <p:nvPicPr>
          <p:cNvPr id="16" name="Image 1" descr="preencoded.png">    </p:cNvPr>
          <p:cNvPicPr>
            <a:picLocks noChangeAspect="1"/>
          </p:cNvPicPr>
          <p:nvPr/>
        </p:nvPicPr>
        <p:blipFill>
          <a:blip r:embed="rId2"/>
          <a:stretch>
            <a:fillRect/>
          </a:stretch>
        </p:blipFill>
        <p:spPr>
          <a:xfrm>
            <a:off x="4459224" y="5468112"/>
            <a:ext cx="411480" cy="411480"/>
          </a:xfrm>
          <a:prstGeom prst="rect">
            <a:avLst/>
          </a:prstGeom>
        </p:spPr>
      </p:pic>
      <p:sp>
        <p:nvSpPr>
          <p:cNvPr id="17" name="Text 13"/>
          <p:cNvSpPr txBox="1"/>
          <p:nvPr/>
        </p:nvSpPr>
        <p:spPr>
          <a:xfrm>
            <a:off x="5007864" y="5257800"/>
            <a:ext cx="2721864" cy="868680"/>
          </a:xfrm>
          <a:prstGeom prst="rect">
            <a:avLst/>
          </a:prstGeom>
          <a:noFill/>
          <a:ln/>
        </p:spPr>
        <p:txBody>
          <a:bodyPr wrap="square" lIns="0" tIns="0" rIns="0" bIns="0" rtlCol="0" anchor="ctr"/>
          <a:lstStyle/>
          <a:p>
            <a:pPr indent="0" marL="0">
              <a:buNone/>
            </a:pPr>
            <a:r>
              <a:rPr lang="en-US" sz="1000" b="1" dirty="0">
                <a:solidFill>
                  <a:srgbClr val="5B6675"/>
                </a:solidFill>
              </a:rPr>
              <a:t>MILESTONE</a:t>
            </a:r>
            <a:endParaRPr lang="en-US" sz="1200" dirty="0"/>
          </a:p>
          <a:p>
            <a:pPr indent="0" marL="0">
              <a:buNone/>
            </a:pPr>
            <a:r>
              <a:rPr lang="en-US" sz="1250" b="1" dirty="0">
                <a:solidFill>
                  <a:schemeClr val="tx2"/>
                </a:solidFill>
              </a:rPr>
              <a:t>Cell A running to a 3-day pitch</a:t>
            </a:r>
            <a:endParaRPr lang="en-US" sz="1200" dirty="0"/>
          </a:p>
        </p:txBody>
      </p:sp>
      <p:sp>
        <p:nvSpPr>
          <p:cNvPr id="18" name="Phase 60–90 DAYS"/>
          <p:cNvSpPr/>
          <p:nvPr/>
        </p:nvSpPr>
        <p:spPr>
          <a:xfrm>
            <a:off x="8141208" y="1188720"/>
            <a:ext cx="3636264" cy="640080"/>
          </a:xfrm>
          <a:prstGeom prst="homePlate">
            <a:avLst/>
          </a:prstGeom>
          <a:solidFill>
            <a:schemeClr val="tx2"/>
          </a:solidFill>
          <a:ln/>
        </p:spPr>
      </p:sp>
      <p:sp>
        <p:nvSpPr>
          <p:cNvPr id="19" name="Text 15"/>
          <p:cNvSpPr txBox="1"/>
          <p:nvPr/>
        </p:nvSpPr>
        <p:spPr>
          <a:xfrm>
            <a:off x="8324088" y="1188720"/>
            <a:ext cx="3179064" cy="640080"/>
          </a:xfrm>
          <a:prstGeom prst="rect">
            <a:avLst/>
          </a:prstGeom>
          <a:noFill/>
          <a:ln/>
        </p:spPr>
        <p:txBody>
          <a:bodyPr wrap="square" lIns="0" tIns="0" rIns="0" bIns="0" rtlCol="0" anchor="ctr"/>
          <a:lstStyle/>
          <a:p>
            <a:pPr indent="0" marL="0">
              <a:buNone/>
            </a:pPr>
            <a:r>
              <a:rPr lang="en-US" sz="1500" b="1" dirty="0">
                <a:solidFill>
                  <a:schemeClr val="bg1"/>
                </a:solidFill>
              </a:rPr>
              <a:t>60–90 DAYS</a:t>
            </a:r>
            <a:pPr indent="0" marL="0">
              <a:buNone/>
            </a:pPr>
            <a:r>
              <a:rPr lang="en-US" sz="1250" dirty="0">
                <a:solidFill>
                  <a:schemeClr val="bg1"/>
                </a:solidFill>
              </a:rPr>
              <a:t>   Pull &amp; sustain</a:t>
            </a:r>
            <a:endParaRPr lang="en-US" sz="1200" dirty="0"/>
          </a:p>
        </p:txBody>
      </p:sp>
      <p:sp>
        <p:nvSpPr>
          <p:cNvPr id="20" name="Phase 60–90 DAYS actions"/>
          <p:cNvSpPr/>
          <p:nvPr/>
        </p:nvSpPr>
        <p:spPr>
          <a:xfrm>
            <a:off x="8141208" y="1965960"/>
            <a:ext cx="3636264" cy="3154680"/>
          </a:xfrm>
          <a:prstGeom prst="roundRect">
            <a:avLst>
              <a:gd name="adj" fmla="val 2319"/>
            </a:avLst>
          </a:prstGeom>
          <a:solidFill>
            <a:schemeClr val="bg2"/>
          </a:solidFill>
          <a:ln/>
        </p:spPr>
      </p:sp>
      <p:sp>
        <p:nvSpPr>
          <p:cNvPr id="21" name="Text 17"/>
          <p:cNvSpPr txBox="1"/>
          <p:nvPr/>
        </p:nvSpPr>
        <p:spPr>
          <a:xfrm>
            <a:off x="8324088" y="2103120"/>
            <a:ext cx="3270504" cy="292608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chemeClr val="tx1"/>
                </a:solidFill>
              </a:rPr>
              <a:t>Launch Cell B (large drives, crane bay)</a:t>
            </a:r>
            <a:endParaRPr lang="en-US" sz="1300" dirty="0"/>
          </a:p>
          <a:p>
            <a:pPr marL="152400" indent="-152400">
              <a:spcAft>
                <a:spcPts val="700"/>
              </a:spcAft>
              <a:buSzPct val="100000"/>
              <a:buChar char="•"/>
            </a:pPr>
            <a:r>
              <a:rPr lang="en-US" sz="1300" dirty="0">
                <a:solidFill>
                  <a:schemeClr val="tx1"/>
                </a:solidFill>
              </a:rPr>
              <a:t>FIFO lanes + kanban from machining and fabrication</a:t>
            </a:r>
            <a:endParaRPr lang="en-US" sz="1300" dirty="0"/>
          </a:p>
          <a:p>
            <a:pPr marL="152400" indent="-152400">
              <a:spcAft>
                <a:spcPts val="700"/>
              </a:spcAft>
              <a:buSzPct val="100000"/>
              <a:buChar char="•"/>
            </a:pPr>
            <a:r>
              <a:rPr lang="en-US" sz="1300" dirty="0">
                <a:solidFill>
                  <a:schemeClr val="tx1"/>
                </a:solidFill>
              </a:rPr>
              <a:t>Replace MRP dispatch with a visual FIFO schedule</a:t>
            </a:r>
            <a:endParaRPr lang="en-US" sz="1300" dirty="0"/>
          </a:p>
          <a:p>
            <a:pPr marL="152400" indent="-152400">
              <a:spcAft>
                <a:spcPts val="700"/>
              </a:spcAft>
              <a:buSzPct val="100000"/>
              <a:buChar char="•"/>
            </a:pPr>
            <a:r>
              <a:rPr lang="en-US" sz="1300" dirty="0">
                <a:solidFill>
                  <a:schemeClr val="tx1"/>
                </a:solidFill>
              </a:rPr>
              <a:t>Built-in quality checks at every station</a:t>
            </a:r>
            <a:endParaRPr lang="en-US" sz="1300" dirty="0"/>
          </a:p>
          <a:p>
            <a:pPr marL="152400" indent="-152400">
              <a:spcAft>
                <a:spcPts val="700"/>
              </a:spcAft>
              <a:buSzPct val="100000"/>
              <a:buChar char="•"/>
            </a:pPr>
            <a:r>
              <a:rPr lang="en-US" sz="1300" dirty="0">
                <a:solidFill>
                  <a:schemeClr val="tx1"/>
                </a:solidFill>
              </a:rPr>
              <a:t>Leader standard work, gemba walks, monthly KPI review (PDCA)</a:t>
            </a:r>
            <a:endParaRPr lang="en-US" sz="1300" dirty="0"/>
          </a:p>
        </p:txBody>
      </p:sp>
      <p:sp>
        <p:nvSpPr>
          <p:cNvPr id="22" name="Shape 18"/>
          <p:cNvSpPr/>
          <p:nvPr/>
        </p:nvSpPr>
        <p:spPr>
          <a:xfrm>
            <a:off x="8141208" y="5257800"/>
            <a:ext cx="3636264" cy="868680"/>
          </a:xfrm>
          <a:prstGeom prst="roundRect">
            <a:avLst>
              <a:gd name="adj" fmla="val 8421"/>
            </a:avLst>
          </a:prstGeom>
          <a:solidFill>
            <a:schemeClr val="bg1"/>
          </a:solidFill>
          <a:ln w="19050">
            <a:solidFill>
              <a:schemeClr val="tx2"/>
            </a:solidFill>
            <a:prstDash val="solid"/>
          </a:ln>
        </p:spPr>
      </p:sp>
      <p:pic>
        <p:nvPicPr>
          <p:cNvPr id="23" name="Image 2" descr="preencoded.png">    </p:cNvPr>
          <p:cNvPicPr>
            <a:picLocks noChangeAspect="1"/>
          </p:cNvPicPr>
          <p:nvPr/>
        </p:nvPicPr>
        <p:blipFill>
          <a:blip r:embed="rId3"/>
          <a:stretch>
            <a:fillRect/>
          </a:stretch>
        </p:blipFill>
        <p:spPr>
          <a:xfrm>
            <a:off x="8324088" y="5468112"/>
            <a:ext cx="411480" cy="411480"/>
          </a:xfrm>
          <a:prstGeom prst="rect">
            <a:avLst/>
          </a:prstGeom>
        </p:spPr>
      </p:pic>
      <p:sp>
        <p:nvSpPr>
          <p:cNvPr id="24" name="Text 19"/>
          <p:cNvSpPr txBox="1"/>
          <p:nvPr/>
        </p:nvSpPr>
        <p:spPr>
          <a:xfrm>
            <a:off x="8872728" y="5257800"/>
            <a:ext cx="2721864" cy="868680"/>
          </a:xfrm>
          <a:prstGeom prst="rect">
            <a:avLst/>
          </a:prstGeom>
          <a:noFill/>
          <a:ln/>
        </p:spPr>
        <p:txBody>
          <a:bodyPr wrap="square" lIns="0" tIns="0" rIns="0" bIns="0" rtlCol="0" anchor="ctr"/>
          <a:lstStyle/>
          <a:p>
            <a:pPr indent="0" marL="0">
              <a:buNone/>
            </a:pPr>
            <a:r>
              <a:rPr lang="en-US" sz="1000" b="1" dirty="0">
                <a:solidFill>
                  <a:srgbClr val="5B6675"/>
                </a:solidFill>
              </a:rPr>
              <a:t>MILESTONE</a:t>
            </a:r>
            <a:endParaRPr lang="en-US" sz="1200" dirty="0"/>
          </a:p>
          <a:p>
            <a:pPr indent="0" marL="0">
              <a:buNone/>
            </a:pPr>
            <a:r>
              <a:rPr lang="en-US" sz="1250" b="1" dirty="0">
                <a:solidFill>
                  <a:schemeClr val="tx2"/>
                </a:solidFill>
              </a:rPr>
              <a:t>Both cells on pull; KPI dashboard live</a:t>
            </a:r>
            <a:endParaRPr lang="en-US" sz="120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EXPECTED BUSINESS BENEFITS</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Cost ↓  ·  Quality ↑  ·  Lead time ↓  ·  Productivity ↑  ·  Customer satisfaction ↑</a:t>
            </a:r>
            <a:endParaRPr lang="en-US" sz="1400" dirty="0"/>
          </a:p>
        </p:txBody>
      </p:sp>
      <p:sp>
        <p:nvSpPr>
          <p:cNvPr id="4" name="Benefit COST ↓"/>
          <p:cNvSpPr/>
          <p:nvPr/>
        </p:nvSpPr>
        <p:spPr>
          <a:xfrm>
            <a:off x="411480" y="1188720"/>
            <a:ext cx="2514600" cy="841248"/>
          </a:xfrm>
          <a:prstGeom prst="roundRect">
            <a:avLst>
              <a:gd name="adj" fmla="val 8696"/>
            </a:avLst>
          </a:prstGeom>
          <a:solidFill>
            <a:schemeClr val="accent1"/>
          </a:solidFill>
          <a:ln/>
        </p:spPr>
      </p:sp>
      <p:sp>
        <p:nvSpPr>
          <p:cNvPr id="5" name="Text 3"/>
          <p:cNvSpPr txBox="1"/>
          <p:nvPr/>
        </p:nvSpPr>
        <p:spPr>
          <a:xfrm>
            <a:off x="548640" y="1188720"/>
            <a:ext cx="2240280" cy="841248"/>
          </a:xfrm>
          <a:prstGeom prst="rect">
            <a:avLst/>
          </a:prstGeom>
          <a:noFill/>
          <a:ln/>
        </p:spPr>
        <p:txBody>
          <a:bodyPr wrap="square" lIns="0" tIns="0" rIns="0" bIns="0" rtlCol="0" anchor="ctr"/>
          <a:lstStyle/>
          <a:p>
            <a:pPr indent="0" marL="0">
              <a:buNone/>
            </a:pPr>
            <a:r>
              <a:rPr lang="en-US" sz="1400" b="1" dirty="0">
                <a:solidFill>
                  <a:schemeClr val="bg1"/>
                </a:solidFill>
              </a:rPr>
              <a:t>COST ↓</a:t>
            </a:r>
            <a:endParaRPr lang="en-US" sz="1400" dirty="0"/>
          </a:p>
        </p:txBody>
      </p:sp>
      <p:sp>
        <p:nvSpPr>
          <p:cNvPr id="6" name="Shape 4"/>
          <p:cNvSpPr/>
          <p:nvPr/>
        </p:nvSpPr>
        <p:spPr>
          <a:xfrm>
            <a:off x="3063240" y="1188720"/>
            <a:ext cx="4434840" cy="841248"/>
          </a:xfrm>
          <a:prstGeom prst="roundRect">
            <a:avLst>
              <a:gd name="adj" fmla="val 8696"/>
            </a:avLst>
          </a:prstGeom>
          <a:solidFill>
            <a:schemeClr val="bg2"/>
          </a:solidFill>
          <a:ln/>
        </p:spPr>
      </p:sp>
      <p:sp>
        <p:nvSpPr>
          <p:cNvPr id="7" name="Text 5"/>
          <p:cNvSpPr txBox="1"/>
          <p:nvPr/>
        </p:nvSpPr>
        <p:spPr>
          <a:xfrm>
            <a:off x="3227832" y="1188720"/>
            <a:ext cx="4114800" cy="841248"/>
          </a:xfrm>
          <a:prstGeom prst="rect">
            <a:avLst/>
          </a:prstGeom>
          <a:noFill/>
          <a:ln/>
        </p:spPr>
        <p:txBody>
          <a:bodyPr wrap="square" lIns="0" tIns="0" rIns="0" bIns="0" rtlCol="0" anchor="ctr"/>
          <a:lstStyle/>
          <a:p>
            <a:pPr indent="0" marL="0">
              <a:buNone/>
            </a:pPr>
            <a:r>
              <a:rPr lang="en-US" sz="1250" dirty="0">
                <a:solidFill>
                  <a:schemeClr val="tx1"/>
                </a:solidFill>
              </a:rPr>
              <a:t>Less overtime, rework and WIP carrying cost; projects back within target and margins widen</a:t>
            </a:r>
            <a:endParaRPr lang="en-US" sz="1250" dirty="0"/>
          </a:p>
        </p:txBody>
      </p:sp>
      <p:sp>
        <p:nvSpPr>
          <p:cNvPr id="8" name="Benefit QUALITY ↑"/>
          <p:cNvSpPr/>
          <p:nvPr/>
        </p:nvSpPr>
        <p:spPr>
          <a:xfrm>
            <a:off x="411480" y="2167128"/>
            <a:ext cx="2514600" cy="841248"/>
          </a:xfrm>
          <a:prstGeom prst="roundRect">
            <a:avLst>
              <a:gd name="adj" fmla="val 8696"/>
            </a:avLst>
          </a:prstGeom>
          <a:solidFill>
            <a:schemeClr val="accent1"/>
          </a:solidFill>
          <a:ln/>
        </p:spPr>
      </p:sp>
      <p:sp>
        <p:nvSpPr>
          <p:cNvPr id="9" name="Text 7"/>
          <p:cNvSpPr txBox="1"/>
          <p:nvPr/>
        </p:nvSpPr>
        <p:spPr>
          <a:xfrm>
            <a:off x="548640" y="2167128"/>
            <a:ext cx="2240280" cy="841248"/>
          </a:xfrm>
          <a:prstGeom prst="rect">
            <a:avLst/>
          </a:prstGeom>
          <a:noFill/>
          <a:ln/>
        </p:spPr>
        <p:txBody>
          <a:bodyPr wrap="square" lIns="0" tIns="0" rIns="0" bIns="0" rtlCol="0" anchor="ctr"/>
          <a:lstStyle/>
          <a:p>
            <a:pPr indent="0" marL="0">
              <a:buNone/>
            </a:pPr>
            <a:r>
              <a:rPr lang="en-US" sz="1400" b="1" dirty="0">
                <a:solidFill>
                  <a:schemeClr val="bg1"/>
                </a:solidFill>
              </a:rPr>
              <a:t>QUALITY ↑</a:t>
            </a:r>
            <a:endParaRPr lang="en-US" sz="1400" dirty="0"/>
          </a:p>
        </p:txBody>
      </p:sp>
      <p:sp>
        <p:nvSpPr>
          <p:cNvPr id="10" name="Shape 8"/>
          <p:cNvSpPr/>
          <p:nvPr/>
        </p:nvSpPr>
        <p:spPr>
          <a:xfrm>
            <a:off x="3063240" y="2167128"/>
            <a:ext cx="4434840" cy="841248"/>
          </a:xfrm>
          <a:prstGeom prst="roundRect">
            <a:avLst>
              <a:gd name="adj" fmla="val 8696"/>
            </a:avLst>
          </a:prstGeom>
          <a:solidFill>
            <a:schemeClr val="bg2"/>
          </a:solidFill>
          <a:ln/>
        </p:spPr>
      </p:sp>
      <p:sp>
        <p:nvSpPr>
          <p:cNvPr id="11" name="Text 9"/>
          <p:cNvSpPr txBox="1"/>
          <p:nvPr/>
        </p:nvSpPr>
        <p:spPr>
          <a:xfrm>
            <a:off x="3227832" y="2167128"/>
            <a:ext cx="4114800" cy="841248"/>
          </a:xfrm>
          <a:prstGeom prst="rect">
            <a:avLst/>
          </a:prstGeom>
          <a:noFill/>
          <a:ln/>
        </p:spPr>
        <p:txBody>
          <a:bodyPr wrap="square" lIns="0" tIns="0" rIns="0" bIns="0" rtlCol="0" anchor="ctr"/>
          <a:lstStyle/>
          <a:p>
            <a:pPr indent="0" marL="0">
              <a:buNone/>
            </a:pPr>
            <a:r>
              <a:rPr lang="en-US" sz="1250" dirty="0">
                <a:solidFill>
                  <a:schemeClr val="tx1"/>
                </a:solidFill>
              </a:rPr>
              <a:t>Built-in checks and standard work raise first-pass yield from ~50% toward ≥ 90%</a:t>
            </a:r>
            <a:endParaRPr lang="en-US" sz="1250" dirty="0"/>
          </a:p>
        </p:txBody>
      </p:sp>
      <p:sp>
        <p:nvSpPr>
          <p:cNvPr id="12" name="Benefit LEAD TIME ↓"/>
          <p:cNvSpPr/>
          <p:nvPr/>
        </p:nvSpPr>
        <p:spPr>
          <a:xfrm>
            <a:off x="411480" y="3145536"/>
            <a:ext cx="2514600" cy="841248"/>
          </a:xfrm>
          <a:prstGeom prst="roundRect">
            <a:avLst>
              <a:gd name="adj" fmla="val 8696"/>
            </a:avLst>
          </a:prstGeom>
          <a:solidFill>
            <a:schemeClr val="accent1"/>
          </a:solidFill>
          <a:ln/>
        </p:spPr>
      </p:sp>
      <p:sp>
        <p:nvSpPr>
          <p:cNvPr id="13" name="Text 11"/>
          <p:cNvSpPr txBox="1"/>
          <p:nvPr/>
        </p:nvSpPr>
        <p:spPr>
          <a:xfrm>
            <a:off x="548640" y="3145536"/>
            <a:ext cx="2240280" cy="841248"/>
          </a:xfrm>
          <a:prstGeom prst="rect">
            <a:avLst/>
          </a:prstGeom>
          <a:noFill/>
          <a:ln/>
        </p:spPr>
        <p:txBody>
          <a:bodyPr wrap="square" lIns="0" tIns="0" rIns="0" bIns="0" rtlCol="0" anchor="ctr"/>
          <a:lstStyle/>
          <a:p>
            <a:pPr indent="0" marL="0">
              <a:buNone/>
            </a:pPr>
            <a:r>
              <a:rPr lang="en-US" sz="1400" b="1" dirty="0">
                <a:solidFill>
                  <a:schemeClr val="bg1"/>
                </a:solidFill>
              </a:rPr>
              <a:t>LEAD TIME ↓</a:t>
            </a:r>
            <a:endParaRPr lang="en-US" sz="1400" dirty="0"/>
          </a:p>
        </p:txBody>
      </p:sp>
      <p:sp>
        <p:nvSpPr>
          <p:cNvPr id="14" name="Shape 12"/>
          <p:cNvSpPr/>
          <p:nvPr/>
        </p:nvSpPr>
        <p:spPr>
          <a:xfrm>
            <a:off x="3063240" y="3145536"/>
            <a:ext cx="4434840" cy="841248"/>
          </a:xfrm>
          <a:prstGeom prst="roundRect">
            <a:avLst>
              <a:gd name="adj" fmla="val 8696"/>
            </a:avLst>
          </a:prstGeom>
          <a:solidFill>
            <a:schemeClr val="bg2"/>
          </a:solidFill>
          <a:ln/>
        </p:spPr>
      </p:sp>
      <p:sp>
        <p:nvSpPr>
          <p:cNvPr id="15" name="Text 13"/>
          <p:cNvSpPr txBox="1"/>
          <p:nvPr/>
        </p:nvSpPr>
        <p:spPr>
          <a:xfrm>
            <a:off x="3227832" y="3145536"/>
            <a:ext cx="4114800" cy="841248"/>
          </a:xfrm>
          <a:prstGeom prst="rect">
            <a:avLst/>
          </a:prstGeom>
          <a:noFill/>
          <a:ln/>
        </p:spPr>
        <p:txBody>
          <a:bodyPr wrap="square" lIns="0" tIns="0" rIns="0" bIns="0" rtlCol="0" anchor="ctr"/>
          <a:lstStyle/>
          <a:p>
            <a:pPr indent="0" marL="0">
              <a:buNone/>
            </a:pPr>
            <a:r>
              <a:rPr lang="en-US" sz="1250" dirty="0">
                <a:solidFill>
                  <a:schemeClr val="tx1"/>
                </a:solidFill>
              </a:rPr>
              <a:t>A fixed 3-day cadence and low WIP make completion dates predictable</a:t>
            </a:r>
            <a:endParaRPr lang="en-US" sz="1250" dirty="0"/>
          </a:p>
        </p:txBody>
      </p:sp>
      <p:sp>
        <p:nvSpPr>
          <p:cNvPr id="16" name="Benefit PRODUCTIVITY ↑"/>
          <p:cNvSpPr/>
          <p:nvPr/>
        </p:nvSpPr>
        <p:spPr>
          <a:xfrm>
            <a:off x="411480" y="4123944"/>
            <a:ext cx="2514600" cy="841248"/>
          </a:xfrm>
          <a:prstGeom prst="roundRect">
            <a:avLst>
              <a:gd name="adj" fmla="val 8696"/>
            </a:avLst>
          </a:prstGeom>
          <a:solidFill>
            <a:schemeClr val="accent1"/>
          </a:solidFill>
          <a:ln/>
        </p:spPr>
      </p:sp>
      <p:sp>
        <p:nvSpPr>
          <p:cNvPr id="17" name="Text 15"/>
          <p:cNvSpPr txBox="1"/>
          <p:nvPr/>
        </p:nvSpPr>
        <p:spPr>
          <a:xfrm>
            <a:off x="548640" y="4123944"/>
            <a:ext cx="2240280" cy="841248"/>
          </a:xfrm>
          <a:prstGeom prst="rect">
            <a:avLst/>
          </a:prstGeom>
          <a:noFill/>
          <a:ln/>
        </p:spPr>
        <p:txBody>
          <a:bodyPr wrap="square" lIns="0" tIns="0" rIns="0" bIns="0" rtlCol="0" anchor="ctr"/>
          <a:lstStyle/>
          <a:p>
            <a:pPr indent="0" marL="0">
              <a:buNone/>
            </a:pPr>
            <a:r>
              <a:rPr lang="en-US" sz="1400" b="1" dirty="0">
                <a:solidFill>
                  <a:schemeClr val="bg1"/>
                </a:solidFill>
              </a:rPr>
              <a:t>PRODUCTIVITY ↑</a:t>
            </a:r>
            <a:endParaRPr lang="en-US" sz="1400" dirty="0"/>
          </a:p>
        </p:txBody>
      </p:sp>
      <p:sp>
        <p:nvSpPr>
          <p:cNvPr id="18" name="Shape 16"/>
          <p:cNvSpPr/>
          <p:nvPr/>
        </p:nvSpPr>
        <p:spPr>
          <a:xfrm>
            <a:off x="3063240" y="4123944"/>
            <a:ext cx="4434840" cy="841248"/>
          </a:xfrm>
          <a:prstGeom prst="roundRect">
            <a:avLst>
              <a:gd name="adj" fmla="val 8696"/>
            </a:avLst>
          </a:prstGeom>
          <a:solidFill>
            <a:schemeClr val="bg2"/>
          </a:solidFill>
          <a:ln/>
        </p:spPr>
      </p:sp>
      <p:sp>
        <p:nvSpPr>
          <p:cNvPr id="19" name="Text 17"/>
          <p:cNvSpPr txBox="1"/>
          <p:nvPr/>
        </p:nvSpPr>
        <p:spPr>
          <a:xfrm>
            <a:off x="3227832" y="4123944"/>
            <a:ext cx="4114800" cy="841248"/>
          </a:xfrm>
          <a:prstGeom prst="rect">
            <a:avLst/>
          </a:prstGeom>
          <a:noFill/>
          <a:ln/>
        </p:spPr>
        <p:txBody>
          <a:bodyPr wrap="square" lIns="0" tIns="0" rIns="0" bIns="0" rtlCol="0" anchor="ctr"/>
          <a:lstStyle/>
          <a:p>
            <a:pPr indent="0" marL="0">
              <a:buNone/>
            </a:pPr>
            <a:r>
              <a:rPr lang="en-US" sz="1250" dirty="0">
                <a:solidFill>
                  <a:schemeClr val="tx1"/>
                </a:solidFill>
              </a:rPr>
              <a:t>Walking and searching (~10 h of waste per unit) removed; labour needs visible per cell</a:t>
            </a:r>
            <a:endParaRPr lang="en-US" sz="1250" dirty="0"/>
          </a:p>
        </p:txBody>
      </p:sp>
      <p:sp>
        <p:nvSpPr>
          <p:cNvPr id="20" name="Benefit CUSTOMER SATISFACTION ↑"/>
          <p:cNvSpPr/>
          <p:nvPr/>
        </p:nvSpPr>
        <p:spPr>
          <a:xfrm>
            <a:off x="411480" y="5102352"/>
            <a:ext cx="2514600" cy="841248"/>
          </a:xfrm>
          <a:prstGeom prst="roundRect">
            <a:avLst>
              <a:gd name="adj" fmla="val 8696"/>
            </a:avLst>
          </a:prstGeom>
          <a:solidFill>
            <a:schemeClr val="accent1"/>
          </a:solidFill>
          <a:ln/>
        </p:spPr>
      </p:sp>
      <p:sp>
        <p:nvSpPr>
          <p:cNvPr id="21" name="Text 19"/>
          <p:cNvSpPr txBox="1"/>
          <p:nvPr/>
        </p:nvSpPr>
        <p:spPr>
          <a:xfrm>
            <a:off x="548640" y="5102352"/>
            <a:ext cx="2240280" cy="841248"/>
          </a:xfrm>
          <a:prstGeom prst="rect">
            <a:avLst/>
          </a:prstGeom>
          <a:noFill/>
          <a:ln/>
        </p:spPr>
        <p:txBody>
          <a:bodyPr wrap="square" lIns="0" tIns="0" rIns="0" bIns="0" rtlCol="0" anchor="ctr"/>
          <a:lstStyle/>
          <a:p>
            <a:pPr indent="0" marL="0">
              <a:buNone/>
            </a:pPr>
            <a:r>
              <a:rPr lang="en-US" sz="1400" b="1" dirty="0">
                <a:solidFill>
                  <a:schemeClr val="bg1"/>
                </a:solidFill>
              </a:rPr>
              <a:t>CUSTOMER SATISFACTION ↑</a:t>
            </a:r>
            <a:endParaRPr lang="en-US" sz="1400" dirty="0"/>
          </a:p>
        </p:txBody>
      </p:sp>
      <p:sp>
        <p:nvSpPr>
          <p:cNvPr id="22" name="Shape 20"/>
          <p:cNvSpPr/>
          <p:nvPr/>
        </p:nvSpPr>
        <p:spPr>
          <a:xfrm>
            <a:off x="3063240" y="5102352"/>
            <a:ext cx="4434840" cy="841248"/>
          </a:xfrm>
          <a:prstGeom prst="roundRect">
            <a:avLst>
              <a:gd name="adj" fmla="val 8696"/>
            </a:avLst>
          </a:prstGeom>
          <a:solidFill>
            <a:schemeClr val="bg2"/>
          </a:solidFill>
          <a:ln/>
        </p:spPr>
      </p:sp>
      <p:sp>
        <p:nvSpPr>
          <p:cNvPr id="23" name="Text 21"/>
          <p:cNvSpPr txBox="1"/>
          <p:nvPr/>
        </p:nvSpPr>
        <p:spPr>
          <a:xfrm>
            <a:off x="3227832" y="5102352"/>
            <a:ext cx="4114800" cy="841248"/>
          </a:xfrm>
          <a:prstGeom prst="rect">
            <a:avLst/>
          </a:prstGeom>
          <a:noFill/>
          <a:ln/>
        </p:spPr>
        <p:txBody>
          <a:bodyPr wrap="square" lIns="0" tIns="0" rIns="0" bIns="0" rtlCol="0" anchor="ctr"/>
          <a:lstStyle/>
          <a:p>
            <a:pPr indent="0" marL="0">
              <a:buNone/>
            </a:pPr>
            <a:r>
              <a:rPr lang="en-US" sz="1250" dirty="0">
                <a:solidFill>
                  <a:schemeClr val="tx1"/>
                </a:solidFill>
              </a:rPr>
              <a:t>Reliable promise dates for shipyards; on-time delivery from ~20% toward 100%</a:t>
            </a:r>
            <a:endParaRPr lang="en-US" sz="1250" dirty="0"/>
          </a:p>
        </p:txBody>
      </p:sp>
      <p:sp>
        <p:nvSpPr>
          <p:cNvPr id="24" name="Actual results"/>
          <p:cNvSpPr/>
          <p:nvPr/>
        </p:nvSpPr>
        <p:spPr>
          <a:xfrm>
            <a:off x="7818120" y="1188720"/>
            <a:ext cx="3959352" cy="4754880"/>
          </a:xfrm>
          <a:prstGeom prst="roundRect">
            <a:avLst>
              <a:gd name="adj" fmla="val 1848"/>
            </a:avLst>
          </a:prstGeom>
          <a:solidFill>
            <a:schemeClr val="tx2"/>
          </a:solidFill>
          <a:ln/>
        </p:spPr>
      </p:sp>
      <p:sp>
        <p:nvSpPr>
          <p:cNvPr id="25" name="Text 23"/>
          <p:cNvSpPr txBox="1"/>
          <p:nvPr/>
        </p:nvSpPr>
        <p:spPr>
          <a:xfrm>
            <a:off x="8046720" y="1325880"/>
            <a:ext cx="3566160" cy="274320"/>
          </a:xfrm>
          <a:prstGeom prst="rect">
            <a:avLst/>
          </a:prstGeom>
          <a:noFill/>
          <a:ln/>
        </p:spPr>
        <p:txBody>
          <a:bodyPr wrap="square" lIns="0" tIns="0" rIns="0" bIns="0" rtlCol="0" anchor="t"/>
          <a:lstStyle/>
          <a:p>
            <a:pPr indent="0" marL="0">
              <a:buNone/>
            </a:pPr>
            <a:r>
              <a:rPr lang="en-US" sz="1150" b="1" dirty="0">
                <a:solidFill>
                  <a:schemeClr val="accent2"/>
                </a:solidFill>
              </a:rPr>
              <a:t>WHAT THRUSTMASTER ACTUALLY ACHIEVED</a:t>
            </a:r>
            <a:endParaRPr lang="en-US" sz="1150" dirty="0"/>
          </a:p>
        </p:txBody>
      </p:sp>
      <p:sp>
        <p:nvSpPr>
          <p:cNvPr id="26" name="Text 24"/>
          <p:cNvSpPr txBox="1"/>
          <p:nvPr/>
        </p:nvSpPr>
        <p:spPr>
          <a:xfrm>
            <a:off x="8046720" y="1691640"/>
            <a:ext cx="3566160" cy="640080"/>
          </a:xfrm>
          <a:prstGeom prst="rect">
            <a:avLst/>
          </a:prstGeom>
          <a:noFill/>
          <a:ln/>
        </p:spPr>
        <p:txBody>
          <a:bodyPr wrap="square" lIns="0" tIns="0" rIns="0" bIns="0" rtlCol="0" anchor="b"/>
          <a:lstStyle/>
          <a:p>
            <a:pPr indent="0" marL="0">
              <a:buNone/>
            </a:pPr>
            <a:r>
              <a:rPr lang="en-US" sz="4000" b="1" dirty="0">
                <a:solidFill>
                  <a:schemeClr val="bg1"/>
                </a:solidFill>
              </a:rPr>
              <a:t>100%</a:t>
            </a:r>
            <a:endParaRPr lang="en-US" sz="4000" dirty="0"/>
          </a:p>
        </p:txBody>
      </p:sp>
      <p:sp>
        <p:nvSpPr>
          <p:cNvPr id="27" name="Text 25"/>
          <p:cNvSpPr txBox="1"/>
          <p:nvPr/>
        </p:nvSpPr>
        <p:spPr>
          <a:xfrm>
            <a:off x="8046720" y="2350008"/>
            <a:ext cx="3566160" cy="502920"/>
          </a:xfrm>
          <a:prstGeom prst="rect">
            <a:avLst/>
          </a:prstGeom>
          <a:noFill/>
          <a:ln/>
        </p:spPr>
        <p:txBody>
          <a:bodyPr wrap="square" lIns="0" tIns="0" rIns="0" bIns="0" rtlCol="0" anchor="t"/>
          <a:lstStyle/>
          <a:p>
            <a:pPr indent="0" marL="0">
              <a:buNone/>
            </a:pPr>
            <a:r>
              <a:rPr lang="en-US" sz="1250" dirty="0">
                <a:solidFill>
                  <a:schemeClr val="bg1"/>
                </a:solidFill>
              </a:rPr>
              <a:t>on-time delivery within ~18 months (from ~20%)</a:t>
            </a:r>
            <a:endParaRPr lang="en-US" sz="1250" dirty="0"/>
          </a:p>
        </p:txBody>
      </p:sp>
      <p:sp>
        <p:nvSpPr>
          <p:cNvPr id="28" name="Text 26"/>
          <p:cNvSpPr txBox="1"/>
          <p:nvPr/>
        </p:nvSpPr>
        <p:spPr>
          <a:xfrm>
            <a:off x="8046720" y="2926080"/>
            <a:ext cx="3566160" cy="640080"/>
          </a:xfrm>
          <a:prstGeom prst="rect">
            <a:avLst/>
          </a:prstGeom>
          <a:noFill/>
          <a:ln/>
        </p:spPr>
        <p:txBody>
          <a:bodyPr wrap="square" lIns="0" tIns="0" rIns="0" bIns="0" rtlCol="0" anchor="b"/>
          <a:lstStyle/>
          <a:p>
            <a:pPr indent="0" marL="0">
              <a:buNone/>
            </a:pPr>
            <a:r>
              <a:rPr lang="en-US" sz="3000" b="1" dirty="0">
                <a:solidFill>
                  <a:schemeClr val="bg1"/>
                </a:solidFill>
              </a:rPr>
              <a:t>30% → 80%</a:t>
            </a:r>
            <a:endParaRPr lang="en-US" sz="3000" dirty="0"/>
          </a:p>
        </p:txBody>
      </p:sp>
      <p:sp>
        <p:nvSpPr>
          <p:cNvPr id="29" name="Text 27"/>
          <p:cNvSpPr txBox="1"/>
          <p:nvPr/>
        </p:nvSpPr>
        <p:spPr>
          <a:xfrm>
            <a:off x="8046720" y="3584448"/>
            <a:ext cx="3566160" cy="502920"/>
          </a:xfrm>
          <a:prstGeom prst="rect">
            <a:avLst/>
          </a:prstGeom>
          <a:noFill/>
          <a:ln/>
        </p:spPr>
        <p:txBody>
          <a:bodyPr wrap="square" lIns="0" tIns="0" rIns="0" bIns="0" rtlCol="0" anchor="t"/>
          <a:lstStyle/>
          <a:p>
            <a:pPr indent="0" marL="0">
              <a:buNone/>
            </a:pPr>
            <a:r>
              <a:rPr lang="en-US" sz="1250" dirty="0">
                <a:solidFill>
                  <a:schemeClr val="bg1"/>
                </a:solidFill>
              </a:rPr>
              <a:t>schedule attainment</a:t>
            </a:r>
            <a:endParaRPr lang="en-US" sz="1250" dirty="0"/>
          </a:p>
        </p:txBody>
      </p:sp>
      <p:sp>
        <p:nvSpPr>
          <p:cNvPr id="30" name="Text 28"/>
          <p:cNvSpPr txBox="1"/>
          <p:nvPr/>
        </p:nvSpPr>
        <p:spPr>
          <a:xfrm>
            <a:off x="8046720" y="4160520"/>
            <a:ext cx="3566160" cy="640080"/>
          </a:xfrm>
          <a:prstGeom prst="rect">
            <a:avLst/>
          </a:prstGeom>
          <a:noFill/>
          <a:ln/>
        </p:spPr>
        <p:txBody>
          <a:bodyPr wrap="square" lIns="0" tIns="0" rIns="0" bIns="0" rtlCol="0" anchor="b"/>
          <a:lstStyle/>
          <a:p>
            <a:pPr indent="0" marL="0">
              <a:buNone/>
            </a:pPr>
            <a:r>
              <a:rPr lang="en-US" sz="3000" b="1" dirty="0">
                <a:solidFill>
                  <a:schemeClr val="bg1"/>
                </a:solidFill>
              </a:rPr>
              <a:t>Lower cost</a:t>
            </a:r>
            <a:endParaRPr lang="en-US" sz="3000" dirty="0"/>
          </a:p>
        </p:txBody>
      </p:sp>
      <p:sp>
        <p:nvSpPr>
          <p:cNvPr id="31" name="Text 29"/>
          <p:cNvSpPr txBox="1"/>
          <p:nvPr/>
        </p:nvSpPr>
        <p:spPr>
          <a:xfrm>
            <a:off x="8046720" y="4818888"/>
            <a:ext cx="3566160" cy="502920"/>
          </a:xfrm>
          <a:prstGeom prst="rect">
            <a:avLst/>
          </a:prstGeom>
          <a:noFill/>
          <a:ln/>
        </p:spPr>
        <p:txBody>
          <a:bodyPr wrap="square" lIns="0" tIns="0" rIns="0" bIns="0" rtlCol="0" anchor="t"/>
          <a:lstStyle/>
          <a:p>
            <a:pPr indent="0" marL="0">
              <a:buNone/>
            </a:pPr>
            <a:r>
              <a:rPr lang="en-US" sz="1250" dirty="0">
                <a:solidFill>
                  <a:schemeClr val="bg1"/>
                </a:solidFill>
              </a:rPr>
              <a:t>significant cost reductions and wider profit margins</a:t>
            </a:r>
            <a:endParaRPr lang="en-US" sz="1250" dirty="0"/>
          </a:p>
        </p:txBody>
      </p:sp>
      <p:sp>
        <p:nvSpPr>
          <p:cNvPr id="32" name="Text 30"/>
          <p:cNvSpPr txBox="1"/>
          <p:nvPr/>
        </p:nvSpPr>
        <p:spPr>
          <a:xfrm>
            <a:off x="8046720" y="5440680"/>
            <a:ext cx="3566160" cy="365760"/>
          </a:xfrm>
          <a:prstGeom prst="rect">
            <a:avLst/>
          </a:prstGeom>
          <a:noFill/>
          <a:ln/>
        </p:spPr>
        <p:txBody>
          <a:bodyPr wrap="square" lIns="0" tIns="0" rIns="0" bIns="0" rtlCol="0" anchor="t"/>
          <a:lstStyle/>
          <a:p>
            <a:pPr indent="0" marL="0">
              <a:buNone/>
            </a:pPr>
            <a:r>
              <a:rPr lang="en-US" sz="900" i="1" dirty="0">
                <a:solidFill>
                  <a:srgbClr val="BDDBF0"/>
                </a:solidFill>
              </a:rPr>
              <a:t>Source: LEI, "Thrustmaster Comes Around" (2016); LEI Summit 2016 deck.</a:t>
            </a:r>
            <a:endParaRPr lang="en-US" sz="90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DISCUSSION: CAN LEAN WORK IN A HIGH-VARIETY, LOW-VOLUME ENVIRONMENT?</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Our answer: yes, if you adapt the tools and standardize the process, not the product.</a:t>
            </a:r>
            <a:endParaRPr lang="en-US" sz="1400" dirty="0"/>
          </a:p>
        </p:txBody>
      </p:sp>
      <p:sp>
        <p:nvSpPr>
          <p:cNvPr id="4" name="Text 2"/>
          <p:cNvSpPr txBox="1"/>
          <p:nvPr/>
        </p:nvSpPr>
        <p:spPr>
          <a:xfrm>
            <a:off x="411480" y="1188720"/>
            <a:ext cx="3931920" cy="274320"/>
          </a:xfrm>
          <a:prstGeom prst="rect">
            <a:avLst/>
          </a:prstGeom>
          <a:noFill/>
          <a:ln/>
        </p:spPr>
        <p:txBody>
          <a:bodyPr wrap="square" lIns="0" tIns="0" rIns="0" bIns="0" rtlCol="0" anchor="t"/>
          <a:lstStyle/>
          <a:p>
            <a:pPr indent="0" marL="0">
              <a:buNone/>
            </a:pPr>
            <a:r>
              <a:rPr lang="en-US" sz="1150" b="1" dirty="0">
                <a:solidFill>
                  <a:schemeClr val="accent5"/>
                </a:solidFill>
              </a:rPr>
              <a:t>THE OBJECTION</a:t>
            </a:r>
            <a:endParaRPr lang="en-US" sz="1150" dirty="0"/>
          </a:p>
        </p:txBody>
      </p:sp>
      <p:sp>
        <p:nvSpPr>
          <p:cNvPr id="5" name="Text 3"/>
          <p:cNvSpPr txBox="1"/>
          <p:nvPr/>
        </p:nvSpPr>
        <p:spPr>
          <a:xfrm>
            <a:off x="4937760" y="1188720"/>
            <a:ext cx="6839712" cy="274320"/>
          </a:xfrm>
          <a:prstGeom prst="rect">
            <a:avLst/>
          </a:prstGeom>
          <a:noFill/>
          <a:ln/>
        </p:spPr>
        <p:txBody>
          <a:bodyPr wrap="square" lIns="0" tIns="0" rIns="0" bIns="0" rtlCol="0" anchor="t"/>
          <a:lstStyle/>
          <a:p>
            <a:pPr indent="0" marL="0">
              <a:buNone/>
            </a:pPr>
            <a:r>
              <a:rPr lang="en-US" sz="1150" b="1" dirty="0">
                <a:solidFill>
                  <a:schemeClr val="accent1"/>
                </a:solidFill>
              </a:rPr>
              <a:t>HOW THRUSTMASTER ANSWERED IT</a:t>
            </a:r>
            <a:endParaRPr lang="en-US" sz="1150" dirty="0"/>
          </a:p>
        </p:txBody>
      </p:sp>
      <p:sp>
        <p:nvSpPr>
          <p:cNvPr id="6" name="Shape 4"/>
          <p:cNvSpPr/>
          <p:nvPr/>
        </p:nvSpPr>
        <p:spPr>
          <a:xfrm>
            <a:off x="411480" y="1536192"/>
            <a:ext cx="3931920" cy="621792"/>
          </a:xfrm>
          <a:prstGeom prst="roundRect">
            <a:avLst>
              <a:gd name="adj" fmla="val 11765"/>
            </a:avLst>
          </a:prstGeom>
          <a:solidFill>
            <a:schemeClr val="accent5">
              <a:alpha val="13000"/>
            </a:schemeClr>
          </a:solidFill>
          <a:ln/>
        </p:spPr>
      </p:sp>
      <p:sp>
        <p:nvSpPr>
          <p:cNvPr id="7" name="Text 5"/>
          <p:cNvSpPr txBox="1"/>
          <p:nvPr/>
        </p:nvSpPr>
        <p:spPr>
          <a:xfrm>
            <a:off x="576072" y="1536192"/>
            <a:ext cx="3657600" cy="621792"/>
          </a:xfrm>
          <a:prstGeom prst="rect">
            <a:avLst/>
          </a:prstGeom>
          <a:noFill/>
          <a:ln/>
        </p:spPr>
        <p:txBody>
          <a:bodyPr wrap="square" lIns="0" tIns="0" rIns="0" bIns="0" rtlCol="0" anchor="ctr"/>
          <a:lstStyle/>
          <a:p>
            <a:pPr indent="0" marL="0">
              <a:buNone/>
            </a:pPr>
            <a:r>
              <a:rPr lang="en-US" sz="1250" b="1" i="1" dirty="0">
                <a:solidFill>
                  <a:schemeClr val="tx1"/>
                </a:solidFill>
              </a:rPr>
              <a:t>"Every order is different."</a:t>
            </a:r>
            <a:endParaRPr lang="en-US" sz="1250" dirty="0"/>
          </a:p>
        </p:txBody>
      </p:sp>
      <p:sp>
        <p:nvSpPr>
          <p:cNvPr id="8" name="Shape 6"/>
          <p:cNvSpPr/>
          <p:nvPr/>
        </p:nvSpPr>
        <p:spPr>
          <a:xfrm>
            <a:off x="4443984" y="1691640"/>
            <a:ext cx="384048" cy="310896"/>
          </a:xfrm>
          <a:prstGeom prst="rightArrow">
            <a:avLst/>
          </a:prstGeom>
          <a:solidFill>
            <a:schemeClr val="accent1"/>
          </a:solidFill>
          <a:ln/>
        </p:spPr>
      </p:sp>
      <p:sp>
        <p:nvSpPr>
          <p:cNvPr id="9" name="Shape 7"/>
          <p:cNvSpPr/>
          <p:nvPr/>
        </p:nvSpPr>
        <p:spPr>
          <a:xfrm>
            <a:off x="4937760" y="1536192"/>
            <a:ext cx="6839712" cy="621792"/>
          </a:xfrm>
          <a:prstGeom prst="roundRect">
            <a:avLst>
              <a:gd name="adj" fmla="val 11765"/>
            </a:avLst>
          </a:prstGeom>
          <a:solidFill>
            <a:schemeClr val="bg2"/>
          </a:solidFill>
          <a:ln/>
        </p:spPr>
      </p:sp>
      <p:sp>
        <p:nvSpPr>
          <p:cNvPr id="10" name="Text 8"/>
          <p:cNvSpPr txBox="1"/>
          <p:nvPr/>
        </p:nvSpPr>
        <p:spPr>
          <a:xfrm>
            <a:off x="5102352" y="1536192"/>
            <a:ext cx="6537960" cy="621792"/>
          </a:xfrm>
          <a:prstGeom prst="rect">
            <a:avLst/>
          </a:prstGeom>
          <a:noFill/>
          <a:ln/>
        </p:spPr>
        <p:txBody>
          <a:bodyPr wrap="square" lIns="0" tIns="0" rIns="0" bIns="0" rtlCol="0" anchor="ctr"/>
          <a:lstStyle/>
          <a:p>
            <a:pPr indent="0" marL="0">
              <a:buNone/>
            </a:pPr>
            <a:r>
              <a:rPr lang="en-US" sz="1250" dirty="0">
                <a:solidFill>
                  <a:schemeClr val="tx1"/>
                </a:solidFill>
              </a:rPr>
              <a:t>Build steps are roughly the same; group products by size into families. The router carries the specs.</a:t>
            </a:r>
            <a:endParaRPr lang="en-US" sz="1250" dirty="0"/>
          </a:p>
        </p:txBody>
      </p:sp>
      <p:sp>
        <p:nvSpPr>
          <p:cNvPr id="11" name="Shape 9"/>
          <p:cNvSpPr/>
          <p:nvPr/>
        </p:nvSpPr>
        <p:spPr>
          <a:xfrm>
            <a:off x="411480" y="2267712"/>
            <a:ext cx="3931920" cy="621792"/>
          </a:xfrm>
          <a:prstGeom prst="roundRect">
            <a:avLst>
              <a:gd name="adj" fmla="val 11765"/>
            </a:avLst>
          </a:prstGeom>
          <a:solidFill>
            <a:schemeClr val="accent5">
              <a:alpha val="13000"/>
            </a:schemeClr>
          </a:solidFill>
          <a:ln/>
        </p:spPr>
      </p:sp>
      <p:sp>
        <p:nvSpPr>
          <p:cNvPr id="12" name="Text 10"/>
          <p:cNvSpPr txBox="1"/>
          <p:nvPr/>
        </p:nvSpPr>
        <p:spPr>
          <a:xfrm>
            <a:off x="576072" y="2267712"/>
            <a:ext cx="3657600" cy="621792"/>
          </a:xfrm>
          <a:prstGeom prst="rect">
            <a:avLst/>
          </a:prstGeom>
          <a:noFill/>
          <a:ln/>
        </p:spPr>
        <p:txBody>
          <a:bodyPr wrap="square" lIns="0" tIns="0" rIns="0" bIns="0" rtlCol="0" anchor="ctr"/>
          <a:lstStyle/>
          <a:p>
            <a:pPr indent="0" marL="0">
              <a:buNone/>
            </a:pPr>
            <a:r>
              <a:rPr lang="en-US" sz="1250" b="1" i="1" dirty="0">
                <a:solidFill>
                  <a:schemeClr val="tx1"/>
                </a:solidFill>
              </a:rPr>
              <a:t>"Takt time is meaningless at low volume."</a:t>
            </a:r>
            <a:endParaRPr lang="en-US" sz="1250" dirty="0"/>
          </a:p>
        </p:txBody>
      </p:sp>
      <p:sp>
        <p:nvSpPr>
          <p:cNvPr id="13" name="Shape 11"/>
          <p:cNvSpPr/>
          <p:nvPr/>
        </p:nvSpPr>
        <p:spPr>
          <a:xfrm>
            <a:off x="4443984" y="2423160"/>
            <a:ext cx="384048" cy="310896"/>
          </a:xfrm>
          <a:prstGeom prst="rightArrow">
            <a:avLst/>
          </a:prstGeom>
          <a:solidFill>
            <a:schemeClr val="accent1"/>
          </a:solidFill>
          <a:ln/>
        </p:spPr>
      </p:sp>
      <p:sp>
        <p:nvSpPr>
          <p:cNvPr id="14" name="Shape 12"/>
          <p:cNvSpPr/>
          <p:nvPr/>
        </p:nvSpPr>
        <p:spPr>
          <a:xfrm>
            <a:off x="4937760" y="2267712"/>
            <a:ext cx="6839712" cy="621792"/>
          </a:xfrm>
          <a:prstGeom prst="roundRect">
            <a:avLst>
              <a:gd name="adj" fmla="val 11765"/>
            </a:avLst>
          </a:prstGeom>
          <a:solidFill>
            <a:schemeClr val="bg2"/>
          </a:solidFill>
          <a:ln/>
        </p:spPr>
      </p:sp>
      <p:sp>
        <p:nvSpPr>
          <p:cNvPr id="15" name="Text 13"/>
          <p:cNvSpPr txBox="1"/>
          <p:nvPr/>
        </p:nvSpPr>
        <p:spPr>
          <a:xfrm>
            <a:off x="5102352" y="2267712"/>
            <a:ext cx="6537960" cy="621792"/>
          </a:xfrm>
          <a:prstGeom prst="rect">
            <a:avLst/>
          </a:prstGeom>
          <a:noFill/>
          <a:ln/>
        </p:spPr>
        <p:txBody>
          <a:bodyPr wrap="square" lIns="0" tIns="0" rIns="0" bIns="0" rtlCol="0" anchor="ctr"/>
          <a:lstStyle/>
          <a:p>
            <a:pPr indent="0" marL="0">
              <a:buNone/>
            </a:pPr>
            <a:r>
              <a:rPr lang="en-US" sz="1250" dirty="0">
                <a:solidFill>
                  <a:schemeClr val="tx1"/>
                </a:solidFill>
              </a:rPr>
              <a:t>Use a pitch as the heartbeat: one drive every 3 days.</a:t>
            </a:r>
            <a:endParaRPr lang="en-US" sz="1250" dirty="0"/>
          </a:p>
        </p:txBody>
      </p:sp>
      <p:sp>
        <p:nvSpPr>
          <p:cNvPr id="16" name="Shape 14"/>
          <p:cNvSpPr/>
          <p:nvPr/>
        </p:nvSpPr>
        <p:spPr>
          <a:xfrm>
            <a:off x="411480" y="2999232"/>
            <a:ext cx="3931920" cy="621792"/>
          </a:xfrm>
          <a:prstGeom prst="roundRect">
            <a:avLst>
              <a:gd name="adj" fmla="val 11765"/>
            </a:avLst>
          </a:prstGeom>
          <a:solidFill>
            <a:schemeClr val="accent5">
              <a:alpha val="13000"/>
            </a:schemeClr>
          </a:solidFill>
          <a:ln/>
        </p:spPr>
      </p:sp>
      <p:sp>
        <p:nvSpPr>
          <p:cNvPr id="17" name="Text 15"/>
          <p:cNvSpPr txBox="1"/>
          <p:nvPr/>
        </p:nvSpPr>
        <p:spPr>
          <a:xfrm>
            <a:off x="576072" y="2999232"/>
            <a:ext cx="3657600" cy="621792"/>
          </a:xfrm>
          <a:prstGeom prst="rect">
            <a:avLst/>
          </a:prstGeom>
          <a:noFill/>
          <a:ln/>
        </p:spPr>
        <p:txBody>
          <a:bodyPr wrap="square" lIns="0" tIns="0" rIns="0" bIns="0" rtlCol="0" anchor="ctr"/>
          <a:lstStyle/>
          <a:p>
            <a:pPr indent="0" marL="0">
              <a:buNone/>
            </a:pPr>
            <a:r>
              <a:rPr lang="en-US" sz="1250" b="1" i="1" dirty="0">
                <a:solidFill>
                  <a:schemeClr val="tx1"/>
                </a:solidFill>
              </a:rPr>
              <a:t>"Kanban needs repetitive demand."</a:t>
            </a:r>
            <a:endParaRPr lang="en-US" sz="1250" dirty="0"/>
          </a:p>
        </p:txBody>
      </p:sp>
      <p:sp>
        <p:nvSpPr>
          <p:cNvPr id="18" name="Shape 16"/>
          <p:cNvSpPr/>
          <p:nvPr/>
        </p:nvSpPr>
        <p:spPr>
          <a:xfrm>
            <a:off x="4443984" y="3154680"/>
            <a:ext cx="384048" cy="310896"/>
          </a:xfrm>
          <a:prstGeom prst="rightArrow">
            <a:avLst/>
          </a:prstGeom>
          <a:solidFill>
            <a:schemeClr val="accent1"/>
          </a:solidFill>
          <a:ln/>
        </p:spPr>
      </p:sp>
      <p:sp>
        <p:nvSpPr>
          <p:cNvPr id="19" name="Shape 17"/>
          <p:cNvSpPr/>
          <p:nvPr/>
        </p:nvSpPr>
        <p:spPr>
          <a:xfrm>
            <a:off x="4937760" y="2999232"/>
            <a:ext cx="6839712" cy="621792"/>
          </a:xfrm>
          <a:prstGeom prst="roundRect">
            <a:avLst>
              <a:gd name="adj" fmla="val 11765"/>
            </a:avLst>
          </a:prstGeom>
          <a:solidFill>
            <a:schemeClr val="bg2"/>
          </a:solidFill>
          <a:ln/>
        </p:spPr>
      </p:sp>
      <p:sp>
        <p:nvSpPr>
          <p:cNvPr id="20" name="Text 18"/>
          <p:cNvSpPr txBox="1"/>
          <p:nvPr/>
        </p:nvSpPr>
        <p:spPr>
          <a:xfrm>
            <a:off x="5102352" y="2999232"/>
            <a:ext cx="6537960" cy="621792"/>
          </a:xfrm>
          <a:prstGeom prst="rect">
            <a:avLst/>
          </a:prstGeom>
          <a:noFill/>
          <a:ln/>
        </p:spPr>
        <p:txBody>
          <a:bodyPr wrap="square" lIns="0" tIns="0" rIns="0" bIns="0" rtlCol="0" anchor="ctr"/>
          <a:lstStyle/>
          <a:p>
            <a:pPr indent="0" marL="0">
              <a:buNone/>
            </a:pPr>
            <a:r>
              <a:rPr lang="en-US" sz="1250" dirty="0">
                <a:solidFill>
                  <a:schemeClr val="tx1"/>
                </a:solidFill>
              </a:rPr>
              <a:t>FIFO lanes and kits for custom parts; kanban only for common parts.</a:t>
            </a:r>
            <a:endParaRPr lang="en-US" sz="1250" dirty="0"/>
          </a:p>
        </p:txBody>
      </p:sp>
      <p:sp>
        <p:nvSpPr>
          <p:cNvPr id="21" name="Shape 19"/>
          <p:cNvSpPr/>
          <p:nvPr/>
        </p:nvSpPr>
        <p:spPr>
          <a:xfrm>
            <a:off x="411480" y="3730752"/>
            <a:ext cx="3931920" cy="621792"/>
          </a:xfrm>
          <a:prstGeom prst="roundRect">
            <a:avLst>
              <a:gd name="adj" fmla="val 11765"/>
            </a:avLst>
          </a:prstGeom>
          <a:solidFill>
            <a:schemeClr val="accent5">
              <a:alpha val="13000"/>
            </a:schemeClr>
          </a:solidFill>
          <a:ln/>
        </p:spPr>
      </p:sp>
      <p:sp>
        <p:nvSpPr>
          <p:cNvPr id="22" name="Text 20"/>
          <p:cNvSpPr txBox="1"/>
          <p:nvPr/>
        </p:nvSpPr>
        <p:spPr>
          <a:xfrm>
            <a:off x="576072" y="3730752"/>
            <a:ext cx="3657600" cy="621792"/>
          </a:xfrm>
          <a:prstGeom prst="rect">
            <a:avLst/>
          </a:prstGeom>
          <a:noFill/>
          <a:ln/>
        </p:spPr>
        <p:txBody>
          <a:bodyPr wrap="square" lIns="0" tIns="0" rIns="0" bIns="0" rtlCol="0" anchor="ctr"/>
          <a:lstStyle/>
          <a:p>
            <a:pPr indent="0" marL="0">
              <a:buNone/>
            </a:pPr>
            <a:r>
              <a:rPr lang="en-US" sz="1250" b="1" i="1" dirty="0">
                <a:solidFill>
                  <a:schemeClr val="tx1"/>
                </a:solidFill>
              </a:rPr>
              <a:t>"Standard work kills flexibility."</a:t>
            </a:r>
            <a:endParaRPr lang="en-US" sz="1250" dirty="0"/>
          </a:p>
        </p:txBody>
      </p:sp>
      <p:sp>
        <p:nvSpPr>
          <p:cNvPr id="23" name="Shape 21"/>
          <p:cNvSpPr/>
          <p:nvPr/>
        </p:nvSpPr>
        <p:spPr>
          <a:xfrm>
            <a:off x="4443984" y="3886200"/>
            <a:ext cx="384048" cy="310896"/>
          </a:xfrm>
          <a:prstGeom prst="rightArrow">
            <a:avLst/>
          </a:prstGeom>
          <a:solidFill>
            <a:schemeClr val="accent1"/>
          </a:solidFill>
          <a:ln/>
        </p:spPr>
      </p:sp>
      <p:sp>
        <p:nvSpPr>
          <p:cNvPr id="24" name="Shape 22"/>
          <p:cNvSpPr/>
          <p:nvPr/>
        </p:nvSpPr>
        <p:spPr>
          <a:xfrm>
            <a:off x="4937760" y="3730752"/>
            <a:ext cx="6839712" cy="621792"/>
          </a:xfrm>
          <a:prstGeom prst="roundRect">
            <a:avLst>
              <a:gd name="adj" fmla="val 11765"/>
            </a:avLst>
          </a:prstGeom>
          <a:solidFill>
            <a:schemeClr val="bg2"/>
          </a:solidFill>
          <a:ln/>
        </p:spPr>
      </p:sp>
      <p:sp>
        <p:nvSpPr>
          <p:cNvPr id="25" name="Text 23"/>
          <p:cNvSpPr txBox="1"/>
          <p:nvPr/>
        </p:nvSpPr>
        <p:spPr>
          <a:xfrm>
            <a:off x="5102352" y="3730752"/>
            <a:ext cx="6537960" cy="621792"/>
          </a:xfrm>
          <a:prstGeom prst="rect">
            <a:avLst/>
          </a:prstGeom>
          <a:noFill/>
          <a:ln/>
        </p:spPr>
        <p:txBody>
          <a:bodyPr wrap="square" lIns="0" tIns="0" rIns="0" bIns="0" rtlCol="0" anchor="ctr"/>
          <a:lstStyle/>
          <a:p>
            <a:pPr indent="0" marL="0">
              <a:buNone/>
            </a:pPr>
            <a:r>
              <a:rPr lang="en-US" sz="1250" dirty="0">
                <a:solidFill>
                  <a:schemeClr val="tx1"/>
                </a:solidFill>
              </a:rPr>
              <a:t>Standard steps free experts for the truly unique work; cross-trained cell teams flex.</a:t>
            </a:r>
            <a:endParaRPr lang="en-US" sz="1250" dirty="0"/>
          </a:p>
        </p:txBody>
      </p:sp>
      <p:sp>
        <p:nvSpPr>
          <p:cNvPr id="26" name="Shape 24"/>
          <p:cNvSpPr/>
          <p:nvPr/>
        </p:nvSpPr>
        <p:spPr>
          <a:xfrm>
            <a:off x="411480" y="4462272"/>
            <a:ext cx="3931920" cy="621792"/>
          </a:xfrm>
          <a:prstGeom prst="roundRect">
            <a:avLst>
              <a:gd name="adj" fmla="val 11765"/>
            </a:avLst>
          </a:prstGeom>
          <a:solidFill>
            <a:schemeClr val="accent5">
              <a:alpha val="13000"/>
            </a:schemeClr>
          </a:solidFill>
          <a:ln/>
        </p:spPr>
      </p:sp>
      <p:sp>
        <p:nvSpPr>
          <p:cNvPr id="27" name="Text 25"/>
          <p:cNvSpPr txBox="1"/>
          <p:nvPr/>
        </p:nvSpPr>
        <p:spPr>
          <a:xfrm>
            <a:off x="576072" y="4462272"/>
            <a:ext cx="3657600" cy="621792"/>
          </a:xfrm>
          <a:prstGeom prst="rect">
            <a:avLst/>
          </a:prstGeom>
          <a:noFill/>
          <a:ln/>
        </p:spPr>
        <p:txBody>
          <a:bodyPr wrap="square" lIns="0" tIns="0" rIns="0" bIns="0" rtlCol="0" anchor="ctr"/>
          <a:lstStyle/>
          <a:p>
            <a:pPr indent="0" marL="0">
              <a:buNone/>
            </a:pPr>
            <a:r>
              <a:rPr lang="en-US" sz="1250" b="1" i="1" dirty="0">
                <a:solidFill>
                  <a:schemeClr val="tx1"/>
                </a:solidFill>
              </a:rPr>
              <a:t>"Better software will fix scheduling."</a:t>
            </a:r>
            <a:endParaRPr lang="en-US" sz="1250" dirty="0"/>
          </a:p>
        </p:txBody>
      </p:sp>
      <p:sp>
        <p:nvSpPr>
          <p:cNvPr id="28" name="Shape 26"/>
          <p:cNvSpPr/>
          <p:nvPr/>
        </p:nvSpPr>
        <p:spPr>
          <a:xfrm>
            <a:off x="4443984" y="4617720"/>
            <a:ext cx="384048" cy="310896"/>
          </a:xfrm>
          <a:prstGeom prst="rightArrow">
            <a:avLst/>
          </a:prstGeom>
          <a:solidFill>
            <a:schemeClr val="accent1"/>
          </a:solidFill>
          <a:ln/>
        </p:spPr>
      </p:sp>
      <p:sp>
        <p:nvSpPr>
          <p:cNvPr id="29" name="Shape 27"/>
          <p:cNvSpPr/>
          <p:nvPr/>
        </p:nvSpPr>
        <p:spPr>
          <a:xfrm>
            <a:off x="4937760" y="4462272"/>
            <a:ext cx="6839712" cy="621792"/>
          </a:xfrm>
          <a:prstGeom prst="roundRect">
            <a:avLst>
              <a:gd name="adj" fmla="val 11765"/>
            </a:avLst>
          </a:prstGeom>
          <a:solidFill>
            <a:schemeClr val="bg2"/>
          </a:solidFill>
          <a:ln/>
        </p:spPr>
      </p:sp>
      <p:sp>
        <p:nvSpPr>
          <p:cNvPr id="30" name="Text 28"/>
          <p:cNvSpPr txBox="1"/>
          <p:nvPr/>
        </p:nvSpPr>
        <p:spPr>
          <a:xfrm>
            <a:off x="5102352" y="4462272"/>
            <a:ext cx="6537960" cy="621792"/>
          </a:xfrm>
          <a:prstGeom prst="rect">
            <a:avLst/>
          </a:prstGeom>
          <a:noFill/>
          <a:ln/>
        </p:spPr>
        <p:txBody>
          <a:bodyPr wrap="square" lIns="0" tIns="0" rIns="0" bIns="0" rtlCol="0" anchor="ctr"/>
          <a:lstStyle/>
          <a:p>
            <a:pPr indent="0" marL="0">
              <a:buNone/>
            </a:pPr>
            <a:r>
              <a:rPr lang="en-US" sz="1250" dirty="0">
                <a:solidFill>
                  <a:schemeClr val="tx1"/>
                </a:solidFill>
              </a:rPr>
              <a:t>ERP and APS didn't. Visual flow did: on-time delivery went from ~20% to 100% in ~18 months.</a:t>
            </a:r>
            <a:endParaRPr lang="en-US" sz="1250" dirty="0"/>
          </a:p>
        </p:txBody>
      </p:sp>
      <p:sp>
        <p:nvSpPr>
          <p:cNvPr id="31" name="Verdict"/>
          <p:cNvSpPr/>
          <p:nvPr/>
        </p:nvSpPr>
        <p:spPr>
          <a:xfrm>
            <a:off x="411480" y="5303520"/>
            <a:ext cx="11365992" cy="868680"/>
          </a:xfrm>
          <a:prstGeom prst="roundRect">
            <a:avLst>
              <a:gd name="adj" fmla="val 8421"/>
            </a:avLst>
          </a:prstGeom>
          <a:solidFill>
            <a:schemeClr val="tx2"/>
          </a:solidFill>
          <a:ln/>
        </p:spPr>
      </p:sp>
      <p:sp>
        <p:nvSpPr>
          <p:cNvPr id="32" name="Shape 30"/>
          <p:cNvSpPr/>
          <p:nvPr/>
        </p:nvSpPr>
        <p:spPr>
          <a:xfrm>
            <a:off x="594360" y="5468112"/>
            <a:ext cx="548640" cy="548640"/>
          </a:xfrm>
          <a:prstGeom prst="ellipse">
            <a:avLst/>
          </a:prstGeom>
          <a:solidFill>
            <a:schemeClr val="accent1"/>
          </a:solidFill>
          <a:ln/>
        </p:spPr>
      </p:sp>
      <p:pic>
        <p:nvPicPr>
          <p:cNvPr id="33" name="Image 0" descr="preencoded.png">    </p:cNvPr>
          <p:cNvPicPr>
            <a:picLocks noChangeAspect="1"/>
          </p:cNvPicPr>
          <p:nvPr/>
        </p:nvPicPr>
        <p:blipFill>
          <a:blip r:embed="rId1"/>
          <a:stretch>
            <a:fillRect/>
          </a:stretch>
        </p:blipFill>
        <p:spPr>
          <a:xfrm>
            <a:off x="726034" y="5599786"/>
            <a:ext cx="285293" cy="285293"/>
          </a:xfrm>
          <a:prstGeom prst="rect">
            <a:avLst/>
          </a:prstGeom>
        </p:spPr>
      </p:pic>
      <p:sp>
        <p:nvSpPr>
          <p:cNvPr id="34" name="Text 31"/>
          <p:cNvSpPr txBox="1"/>
          <p:nvPr/>
        </p:nvSpPr>
        <p:spPr>
          <a:xfrm>
            <a:off x="1325880" y="5303520"/>
            <a:ext cx="10268712" cy="868680"/>
          </a:xfrm>
          <a:prstGeom prst="rect">
            <a:avLst/>
          </a:prstGeom>
          <a:noFill/>
          <a:ln/>
        </p:spPr>
        <p:txBody>
          <a:bodyPr wrap="square" lIns="0" tIns="0" rIns="0" bIns="0" rtlCol="0" anchor="ctr"/>
          <a:lstStyle/>
          <a:p>
            <a:pPr indent="0" marL="0">
              <a:buNone/>
            </a:pPr>
            <a:r>
              <a:rPr lang="en-US" sz="1250" b="1" dirty="0">
                <a:solidFill>
                  <a:schemeClr val="accent2"/>
                </a:solidFill>
              </a:rPr>
              <a:t>VERDICT: YES, IF ADAPTED.  </a:t>
            </a:r>
            <a:pPr indent="0" marL="0">
              <a:buNone/>
            </a:pPr>
            <a:r>
              <a:rPr lang="en-US" sz="1250" dirty="0">
                <a:solidFill>
                  <a:schemeClr val="bg1"/>
                </a:solidFill>
              </a:rPr>
              <a:t>Lean principles (value, flow, pull, standard work, built-in quality) are universal; the tools must fit the product. High-mix shops often gain the most, because their waste (queues, searching, rework) is largest.</a:t>
            </a:r>
            <a:endParaRPr lang="en-US" sz="125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KEY LEARNING</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Three lessons from Thrustmaster's transformation.</a:t>
            </a:r>
            <a:endParaRPr lang="en-US" sz="1400" dirty="0"/>
          </a:p>
        </p:txBody>
      </p:sp>
      <p:sp>
        <p:nvSpPr>
          <p:cNvPr id="4" name="Key learning 01"/>
          <p:cNvSpPr/>
          <p:nvPr/>
        </p:nvSpPr>
        <p:spPr>
          <a:xfrm>
            <a:off x="411480" y="1188720"/>
            <a:ext cx="11365992" cy="1463040"/>
          </a:xfrm>
          <a:prstGeom prst="roundRect">
            <a:avLst>
              <a:gd name="adj" fmla="val 5000"/>
            </a:avLst>
          </a:prstGeom>
          <a:solidFill>
            <a:schemeClr val="bg2"/>
          </a:solidFill>
          <a:ln/>
        </p:spPr>
      </p:sp>
      <p:sp>
        <p:nvSpPr>
          <p:cNvPr id="5" name="Text 3"/>
          <p:cNvSpPr txBox="1"/>
          <p:nvPr/>
        </p:nvSpPr>
        <p:spPr>
          <a:xfrm>
            <a:off x="640080" y="1188720"/>
            <a:ext cx="1188720" cy="1463040"/>
          </a:xfrm>
          <a:prstGeom prst="rect">
            <a:avLst/>
          </a:prstGeom>
          <a:noFill/>
          <a:ln/>
        </p:spPr>
        <p:txBody>
          <a:bodyPr wrap="square" lIns="0" tIns="0" rIns="0" bIns="0" rtlCol="0" anchor="ctr"/>
          <a:lstStyle/>
          <a:p>
            <a:pPr indent="0" marL="0">
              <a:buNone/>
            </a:pPr>
            <a:r>
              <a:rPr lang="en-US" sz="4000" b="1" dirty="0">
                <a:solidFill>
                  <a:schemeClr val="accent1"/>
                </a:solidFill>
              </a:rPr>
              <a:t>01</a:t>
            </a:r>
            <a:endParaRPr lang="en-US" sz="4000" dirty="0"/>
          </a:p>
        </p:txBody>
      </p:sp>
      <p:sp>
        <p:nvSpPr>
          <p:cNvPr id="6" name="Text 4"/>
          <p:cNvSpPr txBox="1"/>
          <p:nvPr/>
        </p:nvSpPr>
        <p:spPr>
          <a:xfrm>
            <a:off x="1783080" y="1389888"/>
            <a:ext cx="8778240" cy="457200"/>
          </a:xfrm>
          <a:prstGeom prst="rect">
            <a:avLst/>
          </a:prstGeom>
          <a:noFill/>
          <a:ln/>
        </p:spPr>
        <p:txBody>
          <a:bodyPr wrap="square" lIns="0" tIns="0" rIns="0" bIns="0" rtlCol="0" anchor="t"/>
          <a:lstStyle/>
          <a:p>
            <a:pPr indent="0" marL="0">
              <a:buNone/>
            </a:pPr>
            <a:r>
              <a:rPr lang="en-US" sz="1800" b="1" dirty="0">
                <a:solidFill>
                  <a:schemeClr val="tx2"/>
                </a:solidFill>
              </a:rPr>
              <a:t>Make the work visible before you try to improve it</a:t>
            </a:r>
            <a:endParaRPr lang="en-US" sz="1800" dirty="0"/>
          </a:p>
        </p:txBody>
      </p:sp>
      <p:sp>
        <p:nvSpPr>
          <p:cNvPr id="7" name="Text 5"/>
          <p:cNvSpPr txBox="1"/>
          <p:nvPr/>
        </p:nvSpPr>
        <p:spPr>
          <a:xfrm>
            <a:off x="1783080" y="1874520"/>
            <a:ext cx="8778240" cy="640080"/>
          </a:xfrm>
          <a:prstGeom prst="rect">
            <a:avLst/>
          </a:prstGeom>
          <a:noFill/>
          <a:ln/>
        </p:spPr>
        <p:txBody>
          <a:bodyPr wrap="square" lIns="0" tIns="0" rIns="0" bIns="0" rtlCol="0" anchor="t"/>
          <a:lstStyle/>
          <a:p>
            <a:pPr indent="0" marL="0">
              <a:buNone/>
            </a:pPr>
            <a:r>
              <a:rPr lang="en-US" sz="1350" dirty="0">
                <a:solidFill>
                  <a:schemeClr val="tx1"/>
                </a:solidFill>
              </a:rPr>
              <a:t>A value-stream map and a simple spaghetti chart revealed ~7 miles of walking per unit that no report showed.</a:t>
            </a:r>
            <a:endParaRPr lang="en-US" sz="1350" dirty="0"/>
          </a:p>
        </p:txBody>
      </p:sp>
      <p:sp>
        <p:nvSpPr>
          <p:cNvPr id="8" name="Shape 6"/>
          <p:cNvSpPr/>
          <p:nvPr/>
        </p:nvSpPr>
        <p:spPr>
          <a:xfrm>
            <a:off x="10835640" y="1508760"/>
            <a:ext cx="777240" cy="777240"/>
          </a:xfrm>
          <a:prstGeom prst="ellipse">
            <a:avLst/>
          </a:prstGeom>
          <a:solidFill>
            <a:schemeClr val="accent1"/>
          </a:solidFill>
          <a:ln/>
        </p:spPr>
      </p:sp>
      <p:pic>
        <p:nvPicPr>
          <p:cNvPr id="9" name="Image 0" descr="preencoded.png">    </p:cNvPr>
          <p:cNvPicPr>
            <a:picLocks noChangeAspect="1"/>
          </p:cNvPicPr>
          <p:nvPr/>
        </p:nvPicPr>
        <p:blipFill>
          <a:blip r:embed="rId1"/>
          <a:stretch>
            <a:fillRect/>
          </a:stretch>
        </p:blipFill>
        <p:spPr>
          <a:xfrm>
            <a:off x="11022178" y="1695298"/>
            <a:ext cx="404165" cy="404165"/>
          </a:xfrm>
          <a:prstGeom prst="rect">
            <a:avLst/>
          </a:prstGeom>
        </p:spPr>
      </p:pic>
      <p:sp>
        <p:nvSpPr>
          <p:cNvPr id="10" name="Key learning 02"/>
          <p:cNvSpPr/>
          <p:nvPr/>
        </p:nvSpPr>
        <p:spPr>
          <a:xfrm>
            <a:off x="411480" y="2834640"/>
            <a:ext cx="11365992" cy="1463040"/>
          </a:xfrm>
          <a:prstGeom prst="roundRect">
            <a:avLst>
              <a:gd name="adj" fmla="val 5000"/>
            </a:avLst>
          </a:prstGeom>
          <a:solidFill>
            <a:schemeClr val="bg2"/>
          </a:solidFill>
          <a:ln/>
        </p:spPr>
      </p:sp>
      <p:sp>
        <p:nvSpPr>
          <p:cNvPr id="11" name="Text 8"/>
          <p:cNvSpPr txBox="1"/>
          <p:nvPr/>
        </p:nvSpPr>
        <p:spPr>
          <a:xfrm>
            <a:off x="640080" y="2834640"/>
            <a:ext cx="1188720" cy="1463040"/>
          </a:xfrm>
          <a:prstGeom prst="rect">
            <a:avLst/>
          </a:prstGeom>
          <a:noFill/>
          <a:ln/>
        </p:spPr>
        <p:txBody>
          <a:bodyPr wrap="square" lIns="0" tIns="0" rIns="0" bIns="0" rtlCol="0" anchor="ctr"/>
          <a:lstStyle/>
          <a:p>
            <a:pPr indent="0" marL="0">
              <a:buNone/>
            </a:pPr>
            <a:r>
              <a:rPr lang="en-US" sz="4000" b="1" dirty="0">
                <a:solidFill>
                  <a:schemeClr val="accent1"/>
                </a:solidFill>
              </a:rPr>
              <a:t>02</a:t>
            </a:r>
            <a:endParaRPr lang="en-US" sz="4000" dirty="0"/>
          </a:p>
        </p:txBody>
      </p:sp>
      <p:sp>
        <p:nvSpPr>
          <p:cNvPr id="12" name="Text 9"/>
          <p:cNvSpPr txBox="1"/>
          <p:nvPr/>
        </p:nvSpPr>
        <p:spPr>
          <a:xfrm>
            <a:off x="1783080" y="3035808"/>
            <a:ext cx="8778240" cy="457200"/>
          </a:xfrm>
          <a:prstGeom prst="rect">
            <a:avLst/>
          </a:prstGeom>
          <a:noFill/>
          <a:ln/>
        </p:spPr>
        <p:txBody>
          <a:bodyPr wrap="square" lIns="0" tIns="0" rIns="0" bIns="0" rtlCol="0" anchor="t"/>
          <a:lstStyle/>
          <a:p>
            <a:pPr indent="0" marL="0">
              <a:buNone/>
            </a:pPr>
            <a:r>
              <a:rPr lang="en-US" sz="1800" b="1" dirty="0">
                <a:solidFill>
                  <a:schemeClr val="tx2"/>
                </a:solidFill>
              </a:rPr>
              <a:t>Flow beats software</a:t>
            </a:r>
            <a:endParaRPr lang="en-US" sz="1800" dirty="0"/>
          </a:p>
        </p:txBody>
      </p:sp>
      <p:sp>
        <p:nvSpPr>
          <p:cNvPr id="13" name="Text 10"/>
          <p:cNvSpPr txBox="1"/>
          <p:nvPr/>
        </p:nvSpPr>
        <p:spPr>
          <a:xfrm>
            <a:off x="1783080" y="3520440"/>
            <a:ext cx="8778240" cy="640080"/>
          </a:xfrm>
          <a:prstGeom prst="rect">
            <a:avLst/>
          </a:prstGeom>
          <a:noFill/>
          <a:ln/>
        </p:spPr>
        <p:txBody>
          <a:bodyPr wrap="square" lIns="0" tIns="0" rIns="0" bIns="0" rtlCol="0" anchor="t"/>
          <a:lstStyle/>
          <a:p>
            <a:pPr indent="0" marL="0">
              <a:buNone/>
            </a:pPr>
            <a:r>
              <a:rPr lang="en-US" sz="1350" dirty="0">
                <a:solidFill>
                  <a:schemeClr val="tx1"/>
                </a:solidFill>
              </a:rPr>
              <a:t>ERP, an APS system and new machines didn't lift on-time delivery. Cells, pitch, pull and standard work did.</a:t>
            </a:r>
            <a:endParaRPr lang="en-US" sz="1350" dirty="0"/>
          </a:p>
        </p:txBody>
      </p:sp>
      <p:sp>
        <p:nvSpPr>
          <p:cNvPr id="14" name="Shape 11"/>
          <p:cNvSpPr/>
          <p:nvPr/>
        </p:nvSpPr>
        <p:spPr>
          <a:xfrm>
            <a:off x="10835640" y="3154680"/>
            <a:ext cx="777240" cy="777240"/>
          </a:xfrm>
          <a:prstGeom prst="ellipse">
            <a:avLst/>
          </a:prstGeom>
          <a:solidFill>
            <a:schemeClr val="accent1"/>
          </a:solidFill>
          <a:ln/>
        </p:spPr>
      </p:sp>
      <p:pic>
        <p:nvPicPr>
          <p:cNvPr id="15" name="Image 1" descr="preencoded.png">    </p:cNvPr>
          <p:cNvPicPr>
            <a:picLocks noChangeAspect="1"/>
          </p:cNvPicPr>
          <p:nvPr/>
        </p:nvPicPr>
        <p:blipFill>
          <a:blip r:embed="rId2"/>
          <a:stretch>
            <a:fillRect/>
          </a:stretch>
        </p:blipFill>
        <p:spPr>
          <a:xfrm>
            <a:off x="11022178" y="3341218"/>
            <a:ext cx="404165" cy="404165"/>
          </a:xfrm>
          <a:prstGeom prst="rect">
            <a:avLst/>
          </a:prstGeom>
        </p:spPr>
      </p:pic>
      <p:sp>
        <p:nvSpPr>
          <p:cNvPr id="16" name="Key learning 03"/>
          <p:cNvSpPr/>
          <p:nvPr/>
        </p:nvSpPr>
        <p:spPr>
          <a:xfrm>
            <a:off x="411480" y="4480560"/>
            <a:ext cx="11365992" cy="1463040"/>
          </a:xfrm>
          <a:prstGeom prst="roundRect">
            <a:avLst>
              <a:gd name="adj" fmla="val 5000"/>
            </a:avLst>
          </a:prstGeom>
          <a:solidFill>
            <a:schemeClr val="bg2"/>
          </a:solidFill>
          <a:ln/>
        </p:spPr>
      </p:sp>
      <p:sp>
        <p:nvSpPr>
          <p:cNvPr id="17" name="Text 13"/>
          <p:cNvSpPr txBox="1"/>
          <p:nvPr/>
        </p:nvSpPr>
        <p:spPr>
          <a:xfrm>
            <a:off x="640080" y="4480560"/>
            <a:ext cx="1188720" cy="1463040"/>
          </a:xfrm>
          <a:prstGeom prst="rect">
            <a:avLst/>
          </a:prstGeom>
          <a:noFill/>
          <a:ln/>
        </p:spPr>
        <p:txBody>
          <a:bodyPr wrap="square" lIns="0" tIns="0" rIns="0" bIns="0" rtlCol="0" anchor="ctr"/>
          <a:lstStyle/>
          <a:p>
            <a:pPr indent="0" marL="0">
              <a:buNone/>
            </a:pPr>
            <a:r>
              <a:rPr lang="en-US" sz="4000" b="1" dirty="0">
                <a:solidFill>
                  <a:schemeClr val="accent1"/>
                </a:solidFill>
              </a:rPr>
              <a:t>03</a:t>
            </a:r>
            <a:endParaRPr lang="en-US" sz="4000" dirty="0"/>
          </a:p>
        </p:txBody>
      </p:sp>
      <p:sp>
        <p:nvSpPr>
          <p:cNvPr id="18" name="Text 14"/>
          <p:cNvSpPr txBox="1"/>
          <p:nvPr/>
        </p:nvSpPr>
        <p:spPr>
          <a:xfrm>
            <a:off x="1783080" y="4681728"/>
            <a:ext cx="8778240" cy="457200"/>
          </a:xfrm>
          <a:prstGeom prst="rect">
            <a:avLst/>
          </a:prstGeom>
          <a:noFill/>
          <a:ln/>
        </p:spPr>
        <p:txBody>
          <a:bodyPr wrap="square" lIns="0" tIns="0" rIns="0" bIns="0" rtlCol="0" anchor="t"/>
          <a:lstStyle/>
          <a:p>
            <a:pPr indent="0" marL="0">
              <a:buNone/>
            </a:pPr>
            <a:r>
              <a:rPr lang="en-US" sz="1800" b="1" dirty="0">
                <a:solidFill>
                  <a:schemeClr val="tx2"/>
                </a:solidFill>
              </a:rPr>
              <a:t>Lean fits high-mix, low-volume work</a:t>
            </a:r>
            <a:endParaRPr lang="en-US" sz="1800" dirty="0"/>
          </a:p>
        </p:txBody>
      </p:sp>
      <p:sp>
        <p:nvSpPr>
          <p:cNvPr id="19" name="Text 15"/>
          <p:cNvSpPr txBox="1"/>
          <p:nvPr/>
        </p:nvSpPr>
        <p:spPr>
          <a:xfrm>
            <a:off x="1783080" y="5166360"/>
            <a:ext cx="8778240" cy="640080"/>
          </a:xfrm>
          <a:prstGeom prst="rect">
            <a:avLst/>
          </a:prstGeom>
          <a:noFill/>
          <a:ln/>
        </p:spPr>
        <p:txBody>
          <a:bodyPr wrap="square" lIns="0" tIns="0" rIns="0" bIns="0" rtlCol="0" anchor="t"/>
          <a:lstStyle/>
          <a:p>
            <a:pPr indent="0" marL="0">
              <a:buNone/>
            </a:pPr>
            <a:r>
              <a:rPr lang="en-US" sz="1350" dirty="0">
                <a:solidFill>
                  <a:schemeClr val="tx1"/>
                </a:solidFill>
              </a:rPr>
              <a:t>Standardize the process (steps, cadence, work areas), not the product. Variety stays; chaos goes.</a:t>
            </a:r>
            <a:endParaRPr lang="en-US" sz="1350" dirty="0"/>
          </a:p>
        </p:txBody>
      </p:sp>
      <p:sp>
        <p:nvSpPr>
          <p:cNvPr id="20" name="Shape 16"/>
          <p:cNvSpPr/>
          <p:nvPr/>
        </p:nvSpPr>
        <p:spPr>
          <a:xfrm>
            <a:off x="10835640" y="4800600"/>
            <a:ext cx="777240" cy="777240"/>
          </a:xfrm>
          <a:prstGeom prst="ellipse">
            <a:avLst/>
          </a:prstGeom>
          <a:solidFill>
            <a:schemeClr val="accent1"/>
          </a:solidFill>
          <a:ln/>
        </p:spPr>
      </p:sp>
      <p:pic>
        <p:nvPicPr>
          <p:cNvPr id="21" name="Image 2" descr="preencoded.png">    </p:cNvPr>
          <p:cNvPicPr>
            <a:picLocks noChangeAspect="1"/>
          </p:cNvPicPr>
          <p:nvPr/>
        </p:nvPicPr>
        <p:blipFill>
          <a:blip r:embed="rId3"/>
          <a:stretch>
            <a:fillRect/>
          </a:stretch>
        </p:blipFill>
        <p:spPr>
          <a:xfrm>
            <a:off x="11022178" y="4987138"/>
            <a:ext cx="404165" cy="404165"/>
          </a:xfrm>
          <a:prstGeom prst="rect">
            <a:avLst/>
          </a:prstGeom>
        </p:spPr>
      </p:pic>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KEY LEARNING</a:t>
            </a:r>
            <a:endParaRPr lang="en-US" sz="1800" dirty="0"/>
          </a:p>
        </p:txBody>
      </p:sp>
      <p:sp>
        <p:nvSpPr>
          <p:cNvPr id="3" name="Text 1"/>
          <p:cNvSpPr txBox="1"/>
          <p:nvPr/>
        </p:nvSpPr>
        <p:spPr>
          <a:xfrm>
            <a:off x="182880" y="658368"/>
            <a:ext cx="11795760" cy="365760"/>
          </a:xfrm>
          <a:prstGeom prst="rect">
            <a:avLst/>
          </a:prstGeom>
          <a:noFill/>
          <a:ln/>
        </p:spPr>
        <p:txBody>
          <a:bodyPr wrap="square" lIns="0" tIns="0" rIns="0" bIns="0" rtlCol="0" anchor="t"/>
          <a:lstStyle/>
          <a:p>
            <a:pPr indent="0" marL="0">
              <a:buNone/>
            </a:pPr>
            <a:r>
              <a:rPr lang="en-US" sz="1400" dirty="0">
                <a:solidFill>
                  <a:schemeClr val="tx1"/>
                </a:solidFill>
              </a:rPr>
              <a:t>What can other organizations learn from this case?</a:t>
            </a:r>
            <a:endParaRPr lang="en-US" sz="1400" dirty="0"/>
          </a:p>
        </p:txBody>
      </p:sp>
      <p:sp>
        <p:nvSpPr>
          <p:cNvPr id="4" name="Lesson 1"/>
          <p:cNvSpPr/>
          <p:nvPr/>
        </p:nvSpPr>
        <p:spPr>
          <a:xfrm>
            <a:off x="411480" y="1188720"/>
            <a:ext cx="3605784" cy="2331720"/>
          </a:xfrm>
          <a:prstGeom prst="roundRect">
            <a:avLst>
              <a:gd name="adj" fmla="val 3137"/>
            </a:avLst>
          </a:prstGeom>
          <a:solidFill>
            <a:schemeClr val="bg2"/>
          </a:solidFill>
          <a:ln/>
        </p:spPr>
      </p:sp>
      <p:sp>
        <p:nvSpPr>
          <p:cNvPr id="5" name="Shape 3"/>
          <p:cNvSpPr/>
          <p:nvPr/>
        </p:nvSpPr>
        <p:spPr>
          <a:xfrm>
            <a:off x="612648" y="1389888"/>
            <a:ext cx="548640" cy="5486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44322" y="1521562"/>
            <a:ext cx="285293" cy="285293"/>
          </a:xfrm>
          <a:prstGeom prst="rect">
            <a:avLst/>
          </a:prstGeom>
        </p:spPr>
      </p:pic>
      <p:sp>
        <p:nvSpPr>
          <p:cNvPr id="7" name="Text 4"/>
          <p:cNvSpPr txBox="1"/>
          <p:nvPr/>
        </p:nvSpPr>
        <p:spPr>
          <a:xfrm>
            <a:off x="1280160" y="1371600"/>
            <a:ext cx="2554224" cy="594360"/>
          </a:xfrm>
          <a:prstGeom prst="rect">
            <a:avLst/>
          </a:prstGeom>
          <a:noFill/>
          <a:ln/>
        </p:spPr>
        <p:txBody>
          <a:bodyPr wrap="square" lIns="0" tIns="0" rIns="0" bIns="0" rtlCol="0" anchor="ctr"/>
          <a:lstStyle/>
          <a:p>
            <a:pPr indent="0" marL="0">
              <a:buNone/>
            </a:pPr>
            <a:r>
              <a:rPr lang="en-US" sz="1400" b="1" dirty="0">
                <a:solidFill>
                  <a:schemeClr val="tx2"/>
                </a:solidFill>
              </a:rPr>
              <a:t>Start small, at the gemba</a:t>
            </a:r>
            <a:endParaRPr lang="en-US" sz="1400" dirty="0"/>
          </a:p>
        </p:txBody>
      </p:sp>
      <p:sp>
        <p:nvSpPr>
          <p:cNvPr id="8" name="Text 5"/>
          <p:cNvSpPr txBox="1"/>
          <p:nvPr/>
        </p:nvSpPr>
        <p:spPr>
          <a:xfrm>
            <a:off x="612648" y="2084832"/>
            <a:ext cx="3203448" cy="685800"/>
          </a:xfrm>
          <a:prstGeom prst="rect">
            <a:avLst/>
          </a:prstGeom>
          <a:noFill/>
          <a:ln/>
        </p:spPr>
        <p:txBody>
          <a:bodyPr wrap="square" lIns="0" tIns="0" rIns="0" bIns="0" rtlCol="0" anchor="t"/>
          <a:lstStyle/>
          <a:p>
            <a:pPr indent="0" marL="0">
              <a:buNone/>
            </a:pPr>
            <a:r>
              <a:rPr lang="en-US" sz="1300" dirty="0">
                <a:solidFill>
                  <a:schemeClr val="tx1"/>
                </a:solidFill>
              </a:rPr>
              <a:t>Pilot one product family and prove results fast.</a:t>
            </a:r>
            <a:endParaRPr lang="en-US" sz="1300" dirty="0"/>
          </a:p>
        </p:txBody>
      </p:sp>
      <p:sp>
        <p:nvSpPr>
          <p:cNvPr id="9" name="Shape 6"/>
          <p:cNvSpPr/>
          <p:nvPr/>
        </p:nvSpPr>
        <p:spPr>
          <a:xfrm>
            <a:off x="539496" y="2670048"/>
            <a:ext cx="3349752" cy="731520"/>
          </a:xfrm>
          <a:prstGeom prst="roundRect">
            <a:avLst>
              <a:gd name="adj" fmla="val 10000"/>
            </a:avLst>
          </a:prstGeom>
          <a:solidFill>
            <a:schemeClr val="bg1"/>
          </a:solidFill>
          <a:ln/>
        </p:spPr>
      </p:sp>
      <p:sp>
        <p:nvSpPr>
          <p:cNvPr id="10" name="Text 7"/>
          <p:cNvSpPr txBox="1"/>
          <p:nvPr/>
        </p:nvSpPr>
        <p:spPr>
          <a:xfrm>
            <a:off x="667512" y="2670048"/>
            <a:ext cx="3093720" cy="731520"/>
          </a:xfrm>
          <a:prstGeom prst="rect">
            <a:avLst/>
          </a:prstGeom>
          <a:noFill/>
          <a:ln/>
        </p:spPr>
        <p:txBody>
          <a:bodyPr wrap="square" lIns="0" tIns="0" rIns="0" bIns="0" rtlCol="0" anchor="ctr"/>
          <a:lstStyle/>
          <a:p>
            <a:pPr indent="0" marL="0">
              <a:buNone/>
            </a:pPr>
            <a:r>
              <a:rPr lang="en-US" sz="950" b="1" dirty="0">
                <a:solidFill>
                  <a:schemeClr val="accent1"/>
                </a:solidFill>
              </a:rPr>
              <a:t>AT THRUSTMASTER</a:t>
            </a:r>
            <a:endParaRPr lang="en-US" sz="1200" dirty="0"/>
          </a:p>
          <a:p>
            <a:pPr indent="0" marL="0">
              <a:buNone/>
            </a:pPr>
            <a:r>
              <a:rPr lang="en-US" sz="1150" dirty="0">
                <a:solidFill>
                  <a:schemeClr val="tx2"/>
                </a:solidFill>
              </a:rPr>
              <a:t>The spaghetti chart targeted tunnel-thruster assembly</a:t>
            </a:r>
            <a:endParaRPr lang="en-US" sz="1200" dirty="0"/>
          </a:p>
        </p:txBody>
      </p:sp>
      <p:sp>
        <p:nvSpPr>
          <p:cNvPr id="11" name="Lesson 2"/>
          <p:cNvSpPr/>
          <p:nvPr/>
        </p:nvSpPr>
        <p:spPr>
          <a:xfrm>
            <a:off x="4291584" y="1188720"/>
            <a:ext cx="3605784" cy="2331720"/>
          </a:xfrm>
          <a:prstGeom prst="roundRect">
            <a:avLst>
              <a:gd name="adj" fmla="val 3137"/>
            </a:avLst>
          </a:prstGeom>
          <a:solidFill>
            <a:schemeClr val="bg2"/>
          </a:solidFill>
          <a:ln/>
        </p:spPr>
      </p:sp>
      <p:sp>
        <p:nvSpPr>
          <p:cNvPr id="12" name="Shape 9"/>
          <p:cNvSpPr/>
          <p:nvPr/>
        </p:nvSpPr>
        <p:spPr>
          <a:xfrm>
            <a:off x="4492752" y="1389888"/>
            <a:ext cx="548640" cy="54864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4624426" y="1521562"/>
            <a:ext cx="285293" cy="285293"/>
          </a:xfrm>
          <a:prstGeom prst="rect">
            <a:avLst/>
          </a:prstGeom>
        </p:spPr>
      </p:pic>
      <p:sp>
        <p:nvSpPr>
          <p:cNvPr id="14" name="Text 10"/>
          <p:cNvSpPr txBox="1"/>
          <p:nvPr/>
        </p:nvSpPr>
        <p:spPr>
          <a:xfrm>
            <a:off x="5160264" y="1371600"/>
            <a:ext cx="2554224" cy="594360"/>
          </a:xfrm>
          <a:prstGeom prst="rect">
            <a:avLst/>
          </a:prstGeom>
          <a:noFill/>
          <a:ln/>
        </p:spPr>
        <p:txBody>
          <a:bodyPr wrap="square" lIns="0" tIns="0" rIns="0" bIns="0" rtlCol="0" anchor="ctr"/>
          <a:lstStyle/>
          <a:p>
            <a:pPr indent="0" marL="0">
              <a:buNone/>
            </a:pPr>
            <a:r>
              <a:rPr lang="en-US" sz="1400" b="1" dirty="0">
                <a:solidFill>
                  <a:schemeClr val="tx2"/>
                </a:solidFill>
              </a:rPr>
              <a:t>Segment by product characteristics</a:t>
            </a:r>
            <a:endParaRPr lang="en-US" sz="1400" dirty="0"/>
          </a:p>
        </p:txBody>
      </p:sp>
      <p:sp>
        <p:nvSpPr>
          <p:cNvPr id="15" name="Text 11"/>
          <p:cNvSpPr txBox="1"/>
          <p:nvPr/>
        </p:nvSpPr>
        <p:spPr>
          <a:xfrm>
            <a:off x="4492752" y="2084832"/>
            <a:ext cx="3203448" cy="685800"/>
          </a:xfrm>
          <a:prstGeom prst="rect">
            <a:avLst/>
          </a:prstGeom>
          <a:noFill/>
          <a:ln/>
        </p:spPr>
        <p:txBody>
          <a:bodyPr wrap="square" lIns="0" tIns="0" rIns="0" bIns="0" rtlCol="0" anchor="t"/>
          <a:lstStyle/>
          <a:p>
            <a:pPr indent="0" marL="0">
              <a:buNone/>
            </a:pPr>
            <a:r>
              <a:rPr lang="en-US" sz="1300" dirty="0">
                <a:solidFill>
                  <a:schemeClr val="tx1"/>
                </a:solidFill>
              </a:rPr>
              <a:t>Size-based families make flow possible without giving up variety.</a:t>
            </a:r>
            <a:endParaRPr lang="en-US" sz="1300" dirty="0"/>
          </a:p>
        </p:txBody>
      </p:sp>
      <p:sp>
        <p:nvSpPr>
          <p:cNvPr id="16" name="Shape 12"/>
          <p:cNvSpPr/>
          <p:nvPr/>
        </p:nvSpPr>
        <p:spPr>
          <a:xfrm>
            <a:off x="4419600" y="2670048"/>
            <a:ext cx="3349752" cy="731520"/>
          </a:xfrm>
          <a:prstGeom prst="roundRect">
            <a:avLst>
              <a:gd name="adj" fmla="val 10000"/>
            </a:avLst>
          </a:prstGeom>
          <a:solidFill>
            <a:schemeClr val="bg1"/>
          </a:solidFill>
          <a:ln/>
        </p:spPr>
      </p:sp>
      <p:sp>
        <p:nvSpPr>
          <p:cNvPr id="17" name="Text 13"/>
          <p:cNvSpPr txBox="1"/>
          <p:nvPr/>
        </p:nvSpPr>
        <p:spPr>
          <a:xfrm>
            <a:off x="4547616" y="2670048"/>
            <a:ext cx="3093720" cy="731520"/>
          </a:xfrm>
          <a:prstGeom prst="rect">
            <a:avLst/>
          </a:prstGeom>
          <a:noFill/>
          <a:ln/>
        </p:spPr>
        <p:txBody>
          <a:bodyPr wrap="square" lIns="0" tIns="0" rIns="0" bIns="0" rtlCol="0" anchor="ctr"/>
          <a:lstStyle/>
          <a:p>
            <a:pPr indent="0" marL="0">
              <a:buNone/>
            </a:pPr>
            <a:r>
              <a:rPr lang="en-US" sz="950" b="1" dirty="0">
                <a:solidFill>
                  <a:schemeClr val="accent1"/>
                </a:solidFill>
              </a:rPr>
              <a:t>AT THRUSTMASTER</a:t>
            </a:r>
            <a:endParaRPr lang="en-US" sz="1200" dirty="0"/>
          </a:p>
          <a:p>
            <a:pPr indent="0" marL="0">
              <a:buNone/>
            </a:pPr>
            <a:r>
              <a:rPr lang="en-US" sz="1150" dirty="0">
                <a:solidFill>
                  <a:schemeClr val="tx2"/>
                </a:solidFill>
              </a:rPr>
              <a:t>Two assembly-cell configurations by product size</a:t>
            </a:r>
            <a:endParaRPr lang="en-US" sz="1200" dirty="0"/>
          </a:p>
        </p:txBody>
      </p:sp>
      <p:sp>
        <p:nvSpPr>
          <p:cNvPr id="18" name="Lesson 3"/>
          <p:cNvSpPr/>
          <p:nvPr/>
        </p:nvSpPr>
        <p:spPr>
          <a:xfrm>
            <a:off x="8171688" y="1188720"/>
            <a:ext cx="3605784" cy="2331720"/>
          </a:xfrm>
          <a:prstGeom prst="roundRect">
            <a:avLst>
              <a:gd name="adj" fmla="val 3137"/>
            </a:avLst>
          </a:prstGeom>
          <a:solidFill>
            <a:schemeClr val="bg2"/>
          </a:solidFill>
          <a:ln/>
        </p:spPr>
      </p:sp>
      <p:sp>
        <p:nvSpPr>
          <p:cNvPr id="19" name="Shape 15"/>
          <p:cNvSpPr/>
          <p:nvPr/>
        </p:nvSpPr>
        <p:spPr>
          <a:xfrm>
            <a:off x="8372856" y="1389888"/>
            <a:ext cx="548640" cy="548640"/>
          </a:xfrm>
          <a:prstGeom prst="ellipse">
            <a:avLst/>
          </a:prstGeom>
          <a:solidFill>
            <a:schemeClr val="accent1"/>
          </a:solidFill>
          <a:ln/>
        </p:spPr>
      </p:sp>
      <p:pic>
        <p:nvPicPr>
          <p:cNvPr id="20" name="Image 2" descr="preencoded.png">    </p:cNvPr>
          <p:cNvPicPr>
            <a:picLocks noChangeAspect="1"/>
          </p:cNvPicPr>
          <p:nvPr/>
        </p:nvPicPr>
        <p:blipFill>
          <a:blip r:embed="rId3"/>
          <a:stretch>
            <a:fillRect/>
          </a:stretch>
        </p:blipFill>
        <p:spPr>
          <a:xfrm>
            <a:off x="8504530" y="1521562"/>
            <a:ext cx="285293" cy="285293"/>
          </a:xfrm>
          <a:prstGeom prst="rect">
            <a:avLst/>
          </a:prstGeom>
        </p:spPr>
      </p:pic>
      <p:sp>
        <p:nvSpPr>
          <p:cNvPr id="21" name="Text 16"/>
          <p:cNvSpPr txBox="1"/>
          <p:nvPr/>
        </p:nvSpPr>
        <p:spPr>
          <a:xfrm>
            <a:off x="9040368" y="1371600"/>
            <a:ext cx="2554224" cy="594360"/>
          </a:xfrm>
          <a:prstGeom prst="rect">
            <a:avLst/>
          </a:prstGeom>
          <a:noFill/>
          <a:ln/>
        </p:spPr>
        <p:txBody>
          <a:bodyPr wrap="square" lIns="0" tIns="0" rIns="0" bIns="0" rtlCol="0" anchor="ctr"/>
          <a:lstStyle/>
          <a:p>
            <a:pPr indent="0" marL="0">
              <a:buNone/>
            </a:pPr>
            <a:r>
              <a:rPr lang="en-US" sz="1400" b="1" dirty="0">
                <a:solidFill>
                  <a:schemeClr val="tx2"/>
                </a:solidFill>
              </a:rPr>
              <a:t>Turn tacit knowledge into standard work</a:t>
            </a:r>
            <a:endParaRPr lang="en-US" sz="1400" dirty="0"/>
          </a:p>
        </p:txBody>
      </p:sp>
      <p:sp>
        <p:nvSpPr>
          <p:cNvPr id="22" name="Text 17"/>
          <p:cNvSpPr txBox="1"/>
          <p:nvPr/>
        </p:nvSpPr>
        <p:spPr>
          <a:xfrm>
            <a:off x="8372856" y="2084832"/>
            <a:ext cx="3203448" cy="685800"/>
          </a:xfrm>
          <a:prstGeom prst="rect">
            <a:avLst/>
          </a:prstGeom>
          <a:noFill/>
          <a:ln/>
        </p:spPr>
        <p:txBody>
          <a:bodyPr wrap="square" lIns="0" tIns="0" rIns="0" bIns="0" rtlCol="0" anchor="t"/>
          <a:lstStyle/>
          <a:p>
            <a:pPr indent="0" marL="0">
              <a:buNone/>
            </a:pPr>
            <a:r>
              <a:rPr lang="en-US" sz="1300" dirty="0">
                <a:solidFill>
                  <a:schemeClr val="tx1"/>
                </a:solidFill>
              </a:rPr>
              <a:t>It protects quality and speeds onboarding while the workforce grows.</a:t>
            </a:r>
            <a:endParaRPr lang="en-US" sz="1300" dirty="0"/>
          </a:p>
        </p:txBody>
      </p:sp>
      <p:sp>
        <p:nvSpPr>
          <p:cNvPr id="23" name="Shape 18"/>
          <p:cNvSpPr/>
          <p:nvPr/>
        </p:nvSpPr>
        <p:spPr>
          <a:xfrm>
            <a:off x="8299704" y="2670048"/>
            <a:ext cx="3349752" cy="731520"/>
          </a:xfrm>
          <a:prstGeom prst="roundRect">
            <a:avLst>
              <a:gd name="adj" fmla="val 10000"/>
            </a:avLst>
          </a:prstGeom>
          <a:solidFill>
            <a:schemeClr val="bg1"/>
          </a:solidFill>
          <a:ln/>
        </p:spPr>
      </p:sp>
      <p:sp>
        <p:nvSpPr>
          <p:cNvPr id="24" name="Text 19"/>
          <p:cNvSpPr txBox="1"/>
          <p:nvPr/>
        </p:nvSpPr>
        <p:spPr>
          <a:xfrm>
            <a:off x="8427720" y="2670048"/>
            <a:ext cx="3093720" cy="731520"/>
          </a:xfrm>
          <a:prstGeom prst="rect">
            <a:avLst/>
          </a:prstGeom>
          <a:noFill/>
          <a:ln/>
        </p:spPr>
        <p:txBody>
          <a:bodyPr wrap="square" lIns="0" tIns="0" rIns="0" bIns="0" rtlCol="0" anchor="ctr"/>
          <a:lstStyle/>
          <a:p>
            <a:pPr indent="0" marL="0">
              <a:buNone/>
            </a:pPr>
            <a:r>
              <a:rPr lang="en-US" sz="950" b="1" dirty="0">
                <a:solidFill>
                  <a:schemeClr val="accent1"/>
                </a:solidFill>
              </a:rPr>
              <a:t>AT THRUSTMASTER</a:t>
            </a:r>
            <a:endParaRPr lang="en-US" sz="1200" dirty="0"/>
          </a:p>
          <a:p>
            <a:pPr indent="0" marL="0">
              <a:buNone/>
            </a:pPr>
            <a:r>
              <a:rPr lang="en-US" sz="1150" dirty="0">
                <a:solidFill>
                  <a:schemeClr val="tx2"/>
                </a:solidFill>
              </a:rPr>
              <a:t>Standard work posted and visible in each work area</a:t>
            </a:r>
            <a:endParaRPr lang="en-US" sz="1200" dirty="0"/>
          </a:p>
        </p:txBody>
      </p:sp>
      <p:sp>
        <p:nvSpPr>
          <p:cNvPr id="25" name="Lesson 4"/>
          <p:cNvSpPr/>
          <p:nvPr/>
        </p:nvSpPr>
        <p:spPr>
          <a:xfrm>
            <a:off x="411480" y="3749040"/>
            <a:ext cx="3605784" cy="2331720"/>
          </a:xfrm>
          <a:prstGeom prst="roundRect">
            <a:avLst>
              <a:gd name="adj" fmla="val 3137"/>
            </a:avLst>
          </a:prstGeom>
          <a:solidFill>
            <a:schemeClr val="bg2"/>
          </a:solidFill>
          <a:ln/>
        </p:spPr>
      </p:sp>
      <p:sp>
        <p:nvSpPr>
          <p:cNvPr id="26" name="Shape 21"/>
          <p:cNvSpPr/>
          <p:nvPr/>
        </p:nvSpPr>
        <p:spPr>
          <a:xfrm>
            <a:off x="612648" y="3950208"/>
            <a:ext cx="548640" cy="548640"/>
          </a:xfrm>
          <a:prstGeom prst="ellipse">
            <a:avLst/>
          </a:prstGeom>
          <a:solidFill>
            <a:schemeClr val="accent1"/>
          </a:solidFill>
          <a:ln/>
        </p:spPr>
      </p:sp>
      <p:pic>
        <p:nvPicPr>
          <p:cNvPr id="27" name="Image 3" descr="preencoded.png">    </p:cNvPr>
          <p:cNvPicPr>
            <a:picLocks noChangeAspect="1"/>
          </p:cNvPicPr>
          <p:nvPr/>
        </p:nvPicPr>
        <p:blipFill>
          <a:blip r:embed="rId4"/>
          <a:stretch>
            <a:fillRect/>
          </a:stretch>
        </p:blipFill>
        <p:spPr>
          <a:xfrm>
            <a:off x="744322" y="4081882"/>
            <a:ext cx="285293" cy="285293"/>
          </a:xfrm>
          <a:prstGeom prst="rect">
            <a:avLst/>
          </a:prstGeom>
        </p:spPr>
      </p:pic>
      <p:sp>
        <p:nvSpPr>
          <p:cNvPr id="28" name="Text 22"/>
          <p:cNvSpPr txBox="1"/>
          <p:nvPr/>
        </p:nvSpPr>
        <p:spPr>
          <a:xfrm>
            <a:off x="1280160" y="3931920"/>
            <a:ext cx="2554224" cy="594360"/>
          </a:xfrm>
          <a:prstGeom prst="rect">
            <a:avLst/>
          </a:prstGeom>
          <a:noFill/>
          <a:ln/>
        </p:spPr>
        <p:txBody>
          <a:bodyPr wrap="square" lIns="0" tIns="0" rIns="0" bIns="0" rtlCol="0" anchor="ctr"/>
          <a:lstStyle/>
          <a:p>
            <a:pPr indent="0" marL="0">
              <a:buNone/>
            </a:pPr>
            <a:r>
              <a:rPr lang="en-US" sz="1400" b="1" dirty="0">
                <a:solidFill>
                  <a:schemeClr val="tx2"/>
                </a:solidFill>
              </a:rPr>
              <a:t>Find your heartbeat</a:t>
            </a:r>
            <a:endParaRPr lang="en-US" sz="1400" dirty="0"/>
          </a:p>
        </p:txBody>
      </p:sp>
      <p:sp>
        <p:nvSpPr>
          <p:cNvPr id="29" name="Text 23"/>
          <p:cNvSpPr txBox="1"/>
          <p:nvPr/>
        </p:nvSpPr>
        <p:spPr>
          <a:xfrm>
            <a:off x="612648" y="4645152"/>
            <a:ext cx="3203448" cy="685800"/>
          </a:xfrm>
          <a:prstGeom prst="rect">
            <a:avLst/>
          </a:prstGeom>
          <a:noFill/>
          <a:ln/>
        </p:spPr>
        <p:txBody>
          <a:bodyPr wrap="square" lIns="0" tIns="0" rIns="0" bIns="0" rtlCol="0" anchor="t"/>
          <a:lstStyle/>
          <a:p>
            <a:pPr indent="0" marL="0">
              <a:buNone/>
            </a:pPr>
            <a:r>
              <a:rPr lang="en-US" sz="1300" dirty="0">
                <a:solidFill>
                  <a:schemeClr val="tx1"/>
                </a:solidFill>
              </a:rPr>
              <a:t>When takt is long, use a pitch to create rhythm and catch problems early.</a:t>
            </a:r>
            <a:endParaRPr lang="en-US" sz="1300" dirty="0"/>
          </a:p>
        </p:txBody>
      </p:sp>
      <p:sp>
        <p:nvSpPr>
          <p:cNvPr id="30" name="Shape 24"/>
          <p:cNvSpPr/>
          <p:nvPr/>
        </p:nvSpPr>
        <p:spPr>
          <a:xfrm>
            <a:off x="539496" y="5230368"/>
            <a:ext cx="3349752" cy="731520"/>
          </a:xfrm>
          <a:prstGeom prst="roundRect">
            <a:avLst>
              <a:gd name="adj" fmla="val 10000"/>
            </a:avLst>
          </a:prstGeom>
          <a:solidFill>
            <a:schemeClr val="bg1"/>
          </a:solidFill>
          <a:ln/>
        </p:spPr>
      </p:sp>
      <p:sp>
        <p:nvSpPr>
          <p:cNvPr id="31" name="Text 25"/>
          <p:cNvSpPr txBox="1"/>
          <p:nvPr/>
        </p:nvSpPr>
        <p:spPr>
          <a:xfrm>
            <a:off x="667512" y="5230368"/>
            <a:ext cx="3093720" cy="731520"/>
          </a:xfrm>
          <a:prstGeom prst="rect">
            <a:avLst/>
          </a:prstGeom>
          <a:noFill/>
          <a:ln/>
        </p:spPr>
        <p:txBody>
          <a:bodyPr wrap="square" lIns="0" tIns="0" rIns="0" bIns="0" rtlCol="0" anchor="ctr"/>
          <a:lstStyle/>
          <a:p>
            <a:pPr indent="0" marL="0">
              <a:buNone/>
            </a:pPr>
            <a:r>
              <a:rPr lang="en-US" sz="950" b="1" dirty="0">
                <a:solidFill>
                  <a:schemeClr val="accent1"/>
                </a:solidFill>
              </a:rPr>
              <a:t>AT THRUSTMASTER</a:t>
            </a:r>
            <a:endParaRPr lang="en-US" sz="1200" dirty="0"/>
          </a:p>
          <a:p>
            <a:pPr indent="0" marL="0">
              <a:buNone/>
            </a:pPr>
            <a:r>
              <a:rPr lang="en-US" sz="1150" dirty="0">
                <a:solidFill>
                  <a:schemeClr val="tx2"/>
                </a:solidFill>
              </a:rPr>
              <a:t>A three-day production pitch</a:t>
            </a:r>
            <a:endParaRPr lang="en-US" sz="1200" dirty="0"/>
          </a:p>
        </p:txBody>
      </p:sp>
      <p:sp>
        <p:nvSpPr>
          <p:cNvPr id="32" name="Lesson 5"/>
          <p:cNvSpPr/>
          <p:nvPr/>
        </p:nvSpPr>
        <p:spPr>
          <a:xfrm>
            <a:off x="4291584" y="3749040"/>
            <a:ext cx="3605784" cy="2331720"/>
          </a:xfrm>
          <a:prstGeom prst="roundRect">
            <a:avLst>
              <a:gd name="adj" fmla="val 3137"/>
            </a:avLst>
          </a:prstGeom>
          <a:solidFill>
            <a:schemeClr val="bg2"/>
          </a:solidFill>
          <a:ln/>
        </p:spPr>
      </p:sp>
      <p:sp>
        <p:nvSpPr>
          <p:cNvPr id="33" name="Shape 27"/>
          <p:cNvSpPr/>
          <p:nvPr/>
        </p:nvSpPr>
        <p:spPr>
          <a:xfrm>
            <a:off x="4492752" y="3950208"/>
            <a:ext cx="548640" cy="548640"/>
          </a:xfrm>
          <a:prstGeom prst="ellipse">
            <a:avLst/>
          </a:prstGeom>
          <a:solidFill>
            <a:schemeClr val="accent1"/>
          </a:solidFill>
          <a:ln/>
        </p:spPr>
      </p:sp>
      <p:pic>
        <p:nvPicPr>
          <p:cNvPr id="34" name="Image 4" descr="preencoded.png">    </p:cNvPr>
          <p:cNvPicPr>
            <a:picLocks noChangeAspect="1"/>
          </p:cNvPicPr>
          <p:nvPr/>
        </p:nvPicPr>
        <p:blipFill>
          <a:blip r:embed="rId5"/>
          <a:stretch>
            <a:fillRect/>
          </a:stretch>
        </p:blipFill>
        <p:spPr>
          <a:xfrm>
            <a:off x="4624426" y="4081882"/>
            <a:ext cx="285293" cy="285293"/>
          </a:xfrm>
          <a:prstGeom prst="rect">
            <a:avLst/>
          </a:prstGeom>
        </p:spPr>
      </p:pic>
      <p:sp>
        <p:nvSpPr>
          <p:cNvPr id="35" name="Text 28"/>
          <p:cNvSpPr txBox="1"/>
          <p:nvPr/>
        </p:nvSpPr>
        <p:spPr>
          <a:xfrm>
            <a:off x="5160264" y="3931920"/>
            <a:ext cx="2554224" cy="594360"/>
          </a:xfrm>
          <a:prstGeom prst="rect">
            <a:avLst/>
          </a:prstGeom>
          <a:noFill/>
          <a:ln/>
        </p:spPr>
        <p:txBody>
          <a:bodyPr wrap="square" lIns="0" tIns="0" rIns="0" bIns="0" rtlCol="0" anchor="ctr"/>
          <a:lstStyle/>
          <a:p>
            <a:pPr indent="0" marL="0">
              <a:buNone/>
            </a:pPr>
            <a:r>
              <a:rPr lang="en-US" sz="1400" b="1" dirty="0">
                <a:solidFill>
                  <a:schemeClr val="tx2"/>
                </a:solidFill>
              </a:rPr>
              <a:t>Prefer simple pull to complex scheduling</a:t>
            </a:r>
            <a:endParaRPr lang="en-US" sz="1400" dirty="0"/>
          </a:p>
        </p:txBody>
      </p:sp>
      <p:sp>
        <p:nvSpPr>
          <p:cNvPr id="36" name="Text 29"/>
          <p:cNvSpPr txBox="1"/>
          <p:nvPr/>
        </p:nvSpPr>
        <p:spPr>
          <a:xfrm>
            <a:off x="4492752" y="4645152"/>
            <a:ext cx="3203448" cy="685800"/>
          </a:xfrm>
          <a:prstGeom prst="rect">
            <a:avLst/>
          </a:prstGeom>
          <a:noFill/>
          <a:ln/>
        </p:spPr>
        <p:txBody>
          <a:bodyPr wrap="square" lIns="0" tIns="0" rIns="0" bIns="0" rtlCol="0" anchor="t"/>
          <a:lstStyle/>
          <a:p>
            <a:pPr indent="0" marL="0">
              <a:buNone/>
            </a:pPr>
            <a:r>
              <a:rPr lang="en-US" sz="1300" dirty="0">
                <a:solidFill>
                  <a:schemeClr val="tx1"/>
                </a:solidFill>
              </a:rPr>
              <a:t>FIFO lanes, kits and a visual board beat sophisticated software.</a:t>
            </a:r>
            <a:endParaRPr lang="en-US" sz="1300" dirty="0"/>
          </a:p>
        </p:txBody>
      </p:sp>
      <p:sp>
        <p:nvSpPr>
          <p:cNvPr id="37" name="Shape 30"/>
          <p:cNvSpPr/>
          <p:nvPr/>
        </p:nvSpPr>
        <p:spPr>
          <a:xfrm>
            <a:off x="4419600" y="5230368"/>
            <a:ext cx="3349752" cy="731520"/>
          </a:xfrm>
          <a:prstGeom prst="roundRect">
            <a:avLst>
              <a:gd name="adj" fmla="val 10000"/>
            </a:avLst>
          </a:prstGeom>
          <a:solidFill>
            <a:schemeClr val="bg1"/>
          </a:solidFill>
          <a:ln/>
        </p:spPr>
      </p:sp>
      <p:sp>
        <p:nvSpPr>
          <p:cNvPr id="38" name="Text 31"/>
          <p:cNvSpPr txBox="1"/>
          <p:nvPr/>
        </p:nvSpPr>
        <p:spPr>
          <a:xfrm>
            <a:off x="4547616" y="5230368"/>
            <a:ext cx="3093720" cy="731520"/>
          </a:xfrm>
          <a:prstGeom prst="rect">
            <a:avLst/>
          </a:prstGeom>
          <a:noFill/>
          <a:ln/>
        </p:spPr>
        <p:txBody>
          <a:bodyPr wrap="square" lIns="0" tIns="0" rIns="0" bIns="0" rtlCol="0" anchor="ctr"/>
          <a:lstStyle/>
          <a:p>
            <a:pPr indent="0" marL="0">
              <a:buNone/>
            </a:pPr>
            <a:r>
              <a:rPr lang="en-US" sz="950" b="1" dirty="0">
                <a:solidFill>
                  <a:schemeClr val="accent1"/>
                </a:solidFill>
              </a:rPr>
              <a:t>AT THRUSTMASTER</a:t>
            </a:r>
            <a:endParaRPr lang="en-US" sz="1200" dirty="0"/>
          </a:p>
          <a:p>
            <a:pPr indent="0" marL="0">
              <a:buNone/>
            </a:pPr>
            <a:r>
              <a:rPr lang="en-US" sz="1150" dirty="0">
                <a:solidFill>
                  <a:schemeClr val="tx2"/>
                </a:solidFill>
              </a:rPr>
              <a:t>Visual FIFO scheduling replaced MRP scheduling</a:t>
            </a:r>
            <a:endParaRPr lang="en-US" sz="1200" dirty="0"/>
          </a:p>
        </p:txBody>
      </p:sp>
      <p:sp>
        <p:nvSpPr>
          <p:cNvPr id="39" name="Lesson 6"/>
          <p:cNvSpPr/>
          <p:nvPr/>
        </p:nvSpPr>
        <p:spPr>
          <a:xfrm>
            <a:off x="8171688" y="3749040"/>
            <a:ext cx="3605784" cy="2331720"/>
          </a:xfrm>
          <a:prstGeom prst="roundRect">
            <a:avLst>
              <a:gd name="adj" fmla="val 3137"/>
            </a:avLst>
          </a:prstGeom>
          <a:solidFill>
            <a:schemeClr val="bg2"/>
          </a:solidFill>
          <a:ln/>
        </p:spPr>
      </p:sp>
      <p:sp>
        <p:nvSpPr>
          <p:cNvPr id="40" name="Shape 33"/>
          <p:cNvSpPr/>
          <p:nvPr/>
        </p:nvSpPr>
        <p:spPr>
          <a:xfrm>
            <a:off x="8372856" y="3950208"/>
            <a:ext cx="548640" cy="548640"/>
          </a:xfrm>
          <a:prstGeom prst="ellipse">
            <a:avLst/>
          </a:prstGeom>
          <a:solidFill>
            <a:schemeClr val="accent1"/>
          </a:solidFill>
          <a:ln/>
        </p:spPr>
      </p:sp>
      <p:pic>
        <p:nvPicPr>
          <p:cNvPr id="41" name="Image 5" descr="preencoded.png">    </p:cNvPr>
          <p:cNvPicPr>
            <a:picLocks noChangeAspect="1"/>
          </p:cNvPicPr>
          <p:nvPr/>
        </p:nvPicPr>
        <p:blipFill>
          <a:blip r:embed="rId6"/>
          <a:stretch>
            <a:fillRect/>
          </a:stretch>
        </p:blipFill>
        <p:spPr>
          <a:xfrm>
            <a:off x="8504530" y="4081882"/>
            <a:ext cx="285293" cy="285293"/>
          </a:xfrm>
          <a:prstGeom prst="rect">
            <a:avLst/>
          </a:prstGeom>
        </p:spPr>
      </p:pic>
      <p:sp>
        <p:nvSpPr>
          <p:cNvPr id="42" name="Text 34"/>
          <p:cNvSpPr txBox="1"/>
          <p:nvPr/>
        </p:nvSpPr>
        <p:spPr>
          <a:xfrm>
            <a:off x="9040368" y="3931920"/>
            <a:ext cx="2554224" cy="594360"/>
          </a:xfrm>
          <a:prstGeom prst="rect">
            <a:avLst/>
          </a:prstGeom>
          <a:noFill/>
          <a:ln/>
        </p:spPr>
        <p:txBody>
          <a:bodyPr wrap="square" lIns="0" tIns="0" rIns="0" bIns="0" rtlCol="0" anchor="ctr"/>
          <a:lstStyle/>
          <a:p>
            <a:pPr indent="0" marL="0">
              <a:buNone/>
            </a:pPr>
            <a:r>
              <a:rPr lang="en-US" sz="1400" b="1" dirty="0">
                <a:solidFill>
                  <a:schemeClr val="tx2"/>
                </a:solidFill>
              </a:rPr>
              <a:t>Leaders own the system</a:t>
            </a:r>
            <a:endParaRPr lang="en-US" sz="1400" dirty="0"/>
          </a:p>
        </p:txBody>
      </p:sp>
      <p:sp>
        <p:nvSpPr>
          <p:cNvPr id="43" name="Text 35"/>
          <p:cNvSpPr txBox="1"/>
          <p:nvPr/>
        </p:nvSpPr>
        <p:spPr>
          <a:xfrm>
            <a:off x="8372856" y="4645152"/>
            <a:ext cx="3203448" cy="685800"/>
          </a:xfrm>
          <a:prstGeom prst="rect">
            <a:avLst/>
          </a:prstGeom>
          <a:noFill/>
          <a:ln/>
        </p:spPr>
        <p:txBody>
          <a:bodyPr wrap="square" lIns="0" tIns="0" rIns="0" bIns="0" rtlCol="0" anchor="t"/>
          <a:lstStyle/>
          <a:p>
            <a:pPr indent="0" marL="0">
              <a:buNone/>
            </a:pPr>
            <a:r>
              <a:rPr lang="en-US" sz="1300" dirty="0">
                <a:solidFill>
                  <a:schemeClr val="tx1"/>
                </a:solidFill>
              </a:rPr>
              <a:t>A dedicated team and daily leader routines sustain the gains.</a:t>
            </a:r>
            <a:endParaRPr lang="en-US" sz="1300" dirty="0"/>
          </a:p>
        </p:txBody>
      </p:sp>
      <p:sp>
        <p:nvSpPr>
          <p:cNvPr id="44" name="Shape 36"/>
          <p:cNvSpPr/>
          <p:nvPr/>
        </p:nvSpPr>
        <p:spPr>
          <a:xfrm>
            <a:off x="8299704" y="5230368"/>
            <a:ext cx="3349752" cy="731520"/>
          </a:xfrm>
          <a:prstGeom prst="roundRect">
            <a:avLst>
              <a:gd name="adj" fmla="val 10000"/>
            </a:avLst>
          </a:prstGeom>
          <a:solidFill>
            <a:schemeClr val="bg1"/>
          </a:solidFill>
          <a:ln/>
        </p:spPr>
      </p:sp>
      <p:sp>
        <p:nvSpPr>
          <p:cNvPr id="45" name="Text 37"/>
          <p:cNvSpPr txBox="1"/>
          <p:nvPr/>
        </p:nvSpPr>
        <p:spPr>
          <a:xfrm>
            <a:off x="8427720" y="5230368"/>
            <a:ext cx="3093720" cy="731520"/>
          </a:xfrm>
          <a:prstGeom prst="rect">
            <a:avLst/>
          </a:prstGeom>
          <a:noFill/>
          <a:ln/>
        </p:spPr>
        <p:txBody>
          <a:bodyPr wrap="square" lIns="0" tIns="0" rIns="0" bIns="0" rtlCol="0" anchor="ctr"/>
          <a:lstStyle/>
          <a:p>
            <a:pPr indent="0" marL="0">
              <a:buNone/>
            </a:pPr>
            <a:r>
              <a:rPr lang="en-US" sz="950" b="1" dirty="0">
                <a:solidFill>
                  <a:schemeClr val="accent1"/>
                </a:solidFill>
              </a:rPr>
              <a:t>AT THRUSTMASTER</a:t>
            </a:r>
            <a:endParaRPr lang="en-US" sz="1200" dirty="0"/>
          </a:p>
          <a:p>
            <a:pPr indent="0" marL="0">
              <a:buNone/>
            </a:pPr>
            <a:r>
              <a:rPr lang="en-US" sz="1150" dirty="0">
                <a:solidFill>
                  <a:schemeClr val="tx2"/>
                </a:solidFill>
              </a:rPr>
              <a:t>The GM and CI manager led the lean team; 100% OTD in ~18 months</a:t>
            </a:r>
            <a:endParaRPr lang="en-US" sz="120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5"/>
          <p:cNvSpPr/>
          <p:nvPr>
            <p:ph idx="106" type="title" hasCustomPrompt="1"/>
          </p:nvPr>
        </p:nvSpPr>
        <p:spPr>
          <a:xfrm>
            <a:off x="182880" y="237744"/>
            <a:ext cx="11795760" cy="384048"/>
          </a:xfrm>
          <a:prstGeom prst="rect">
            <a:avLst/>
          </a:prstGeom>
          <a:noFill/>
          <a:ln/>
        </p:spPr>
        <p:txBody>
          <a:bodyPr wrap="square" lIns="0" tIns="0" rIns="0" bIns="0" rtlCol="0" anchor="ctr"/>
          <a:lstStyle/>
          <a:p>
            <a:pPr algn="l" indent="0" marL="0">
              <a:buNone/>
            </a:pPr>
            <a:r>
              <a:rPr lang="en-US" sz="1800" b="1" dirty="0">
                <a:solidFill>
                  <a:schemeClr val="accent2"/>
                </a:solidFill>
              </a:rPr>
              <a:t>REFERENCES</a:t>
            </a:r>
            <a:endParaRPr lang="en-US" sz="1800" dirty="0"/>
          </a:p>
        </p:txBody>
      </p:sp>
      <p:sp>
        <p:nvSpPr>
          <p:cNvPr id="3" name="Text 1"/>
          <p:cNvSpPr txBox="1"/>
          <p:nvPr/>
        </p:nvSpPr>
        <p:spPr>
          <a:xfrm>
            <a:off x="411480" y="868680"/>
            <a:ext cx="7223760" cy="484632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200" dirty="0">
                <a:solidFill>
                  <a:schemeClr val="tx1"/>
                </a:solidFill>
              </a:rPr>
              <a:t>Lean Enterprise Institute (2016). "Thrustmaster Comes Around." The Lean Post. lean.org/the-lean-post/articles/thrustmaster-comes-around</a:t>
            </a:r>
            <a:endParaRPr lang="en-US" sz="1200" dirty="0"/>
          </a:p>
          <a:p>
            <a:pPr marL="342900" indent="-342900">
              <a:spcAft>
                <a:spcPts val="800"/>
              </a:spcAft>
              <a:buSzPct val="100000"/>
              <a:buFont typeface="+mj-lt"/>
              <a:buAutoNum type="arabicPeriod" startAt="1"/>
            </a:pPr>
            <a:r>
              <a:rPr lang="en-US" sz="1200" dirty="0">
                <a:solidFill>
                  <a:schemeClr val="tx1"/>
                </a:solidFill>
              </a:rPr>
              <a:t>Lean Enterprise Institute (2016). "Propelling Ahead: Thrustmaster of Texas' Lean Journey." Lean Transformation Summit. lean.org/wp-content/uploads/2022/04/LS_Thrustmaster_summit16.pdf</a:t>
            </a:r>
            <a:endParaRPr lang="en-US" sz="1200" dirty="0"/>
          </a:p>
          <a:p>
            <a:pPr marL="342900" indent="-342900">
              <a:spcAft>
                <a:spcPts val="800"/>
              </a:spcAft>
              <a:buSzPct val="100000"/>
              <a:buFont typeface="+mj-lt"/>
              <a:buAutoNum type="arabicPeriod" startAt="1"/>
            </a:pPr>
            <a:r>
              <a:rPr lang="en-US" sz="1200" dirty="0">
                <a:solidFill>
                  <a:schemeClr val="tx1"/>
                </a:solidFill>
              </a:rPr>
              <a:t>Lean Enterprise Institute. "Small Chart, Big Impact: How a Simple Spaghetti Chart Led to Huge Wins at Thrustmaster of Texas." The Lean Post.</a:t>
            </a:r>
            <a:endParaRPr lang="en-US" sz="1200" dirty="0"/>
          </a:p>
          <a:p>
            <a:pPr marL="342900" indent="-342900">
              <a:spcAft>
                <a:spcPts val="800"/>
              </a:spcAft>
              <a:buSzPct val="100000"/>
              <a:buFont typeface="+mj-lt"/>
              <a:buAutoNum type="arabicPeriod" startAt="1"/>
            </a:pPr>
            <a:r>
              <a:rPr lang="en-US" sz="1200" dirty="0">
                <a:solidFill>
                  <a:schemeClr val="tx1"/>
                </a:solidFill>
              </a:rPr>
              <a:t>DLW Partners. "Thrustmaster of Texas Story." dlw-partners.com/thrustmaster-of-texas-story</a:t>
            </a:r>
            <a:endParaRPr lang="en-US" sz="1200" dirty="0"/>
          </a:p>
          <a:p>
            <a:pPr marL="342900" indent="-342900">
              <a:spcAft>
                <a:spcPts val="800"/>
              </a:spcAft>
              <a:buSzPct val="100000"/>
              <a:buFont typeface="+mj-lt"/>
              <a:buAutoNum type="arabicPeriod" startAt="1"/>
            </a:pPr>
            <a:r>
              <a:rPr lang="en-US" sz="1200" dirty="0">
                <a:solidFill>
                  <a:schemeClr val="tx1"/>
                </a:solidFill>
              </a:rPr>
              <a:t>Rother, M. &amp; Shook, J. (1999). Learning to See. Lean Enterprise Institute.</a:t>
            </a:r>
            <a:endParaRPr lang="en-US" sz="1200" dirty="0"/>
          </a:p>
          <a:p>
            <a:pPr marL="342900" indent="-342900">
              <a:spcAft>
                <a:spcPts val="800"/>
              </a:spcAft>
              <a:buSzPct val="100000"/>
              <a:buFont typeface="+mj-lt"/>
              <a:buAutoNum type="arabicPeriod" startAt="1"/>
            </a:pPr>
            <a:r>
              <a:rPr lang="en-US" sz="1200" dirty="0">
                <a:solidFill>
                  <a:schemeClr val="tx1"/>
                </a:solidFill>
              </a:rPr>
              <a:t>Womack, J. P. &amp; Jones, D. T. (2003). Lean Thinking (2nd ed.). Free Press.</a:t>
            </a:r>
            <a:endParaRPr lang="en-US" sz="1200" dirty="0"/>
          </a:p>
          <a:p>
            <a:pPr marL="342900" indent="-342900">
              <a:spcAft>
                <a:spcPts val="800"/>
              </a:spcAft>
              <a:buSzPct val="100000"/>
              <a:buFont typeface="+mj-lt"/>
              <a:buAutoNum type="arabicPeriod" startAt="1"/>
            </a:pPr>
            <a:r>
              <a:rPr lang="en-US" sz="1200" dirty="0">
                <a:solidFill>
                  <a:schemeClr val="tx1"/>
                </a:solidFill>
              </a:rPr>
              <a:t>Course brief: Case Study 3, Thrustmaster (Working Group-3), Business Operations Excellence.</a:t>
            </a:r>
            <a:endParaRPr lang="en-US" sz="1200" dirty="0"/>
          </a:p>
        </p:txBody>
      </p:sp>
      <p:sp>
        <p:nvSpPr>
          <p:cNvPr id="4" name="Text 2"/>
          <p:cNvSpPr txBox="1"/>
          <p:nvPr/>
        </p:nvSpPr>
        <p:spPr>
          <a:xfrm>
            <a:off x="411480" y="5806440"/>
            <a:ext cx="7223760" cy="365760"/>
          </a:xfrm>
          <a:prstGeom prst="rect">
            <a:avLst/>
          </a:prstGeom>
          <a:noFill/>
          <a:ln/>
        </p:spPr>
        <p:txBody>
          <a:bodyPr wrap="square" lIns="0" tIns="0" rIns="0" bIns="0" rtlCol="0" anchor="t"/>
          <a:lstStyle/>
          <a:p>
            <a:pPr indent="0" marL="0">
              <a:buNone/>
            </a:pPr>
            <a:r>
              <a:rPr lang="en-US" sz="1100" i="1" dirty="0">
                <a:solidFill>
                  <a:srgbClr val="5B6675"/>
                </a:solidFill>
              </a:rPr>
              <a:t>Note: figures labelled 'target' or 'illustrative' are WG-3 assumptions, not reported case data.</a:t>
            </a:r>
            <a:endParaRPr lang="en-US" sz="1100" dirty="0"/>
          </a:p>
        </p:txBody>
      </p:sp>
      <p:sp>
        <p:nvSpPr>
          <p:cNvPr id="5" name="Thank you panel"/>
          <p:cNvSpPr/>
          <p:nvPr/>
        </p:nvSpPr>
        <p:spPr>
          <a:xfrm>
            <a:off x="8001000" y="868680"/>
            <a:ext cx="3776472" cy="5303520"/>
          </a:xfrm>
          <a:prstGeom prst="roundRect">
            <a:avLst>
              <a:gd name="adj" fmla="val 1937"/>
            </a:avLst>
          </a:prstGeom>
          <a:solidFill>
            <a:schemeClr val="accent3"/>
          </a:solidFill>
          <a:ln/>
        </p:spPr>
      </p:sp>
      <p:sp>
        <p:nvSpPr>
          <p:cNvPr id="6" name="Shape 4"/>
          <p:cNvSpPr/>
          <p:nvPr/>
        </p:nvSpPr>
        <p:spPr>
          <a:xfrm>
            <a:off x="9390888" y="1463040"/>
            <a:ext cx="1005840" cy="100584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632290" y="1704442"/>
            <a:ext cx="523037" cy="523037"/>
          </a:xfrm>
          <a:prstGeom prst="rect">
            <a:avLst/>
          </a:prstGeom>
        </p:spPr>
      </p:pic>
      <p:sp>
        <p:nvSpPr>
          <p:cNvPr id="8" name="Text 5"/>
          <p:cNvSpPr txBox="1"/>
          <p:nvPr/>
        </p:nvSpPr>
        <p:spPr>
          <a:xfrm>
            <a:off x="8001000" y="2743200"/>
            <a:ext cx="3776472" cy="731520"/>
          </a:xfrm>
          <a:prstGeom prst="rect">
            <a:avLst/>
          </a:prstGeom>
          <a:noFill/>
          <a:ln/>
        </p:spPr>
        <p:txBody>
          <a:bodyPr wrap="square" lIns="0" tIns="0" rIns="0" bIns="0" rtlCol="0" anchor="t"/>
          <a:lstStyle/>
          <a:p>
            <a:pPr algn="ctr" indent="0" marL="0">
              <a:buNone/>
            </a:pPr>
            <a:r>
              <a:rPr lang="en-US" sz="3400" b="1" dirty="0">
                <a:solidFill>
                  <a:schemeClr val="bg1"/>
                </a:solidFill>
              </a:rPr>
              <a:t>Thank you</a:t>
            </a:r>
            <a:endParaRPr lang="en-US" sz="3400" dirty="0"/>
          </a:p>
        </p:txBody>
      </p:sp>
      <p:sp>
        <p:nvSpPr>
          <p:cNvPr id="9" name="Text 6"/>
          <p:cNvSpPr txBox="1"/>
          <p:nvPr/>
        </p:nvSpPr>
        <p:spPr>
          <a:xfrm>
            <a:off x="8001000" y="3474720"/>
            <a:ext cx="3776472" cy="411480"/>
          </a:xfrm>
          <a:prstGeom prst="rect">
            <a:avLst/>
          </a:prstGeom>
          <a:noFill/>
          <a:ln/>
        </p:spPr>
        <p:txBody>
          <a:bodyPr wrap="square" lIns="0" tIns="0" rIns="0" bIns="0" rtlCol="0" anchor="t"/>
          <a:lstStyle/>
          <a:p>
            <a:pPr algn="ctr" indent="0" marL="0">
              <a:buNone/>
            </a:pPr>
            <a:r>
              <a:rPr lang="en-US" sz="1600" dirty="0">
                <a:solidFill>
                  <a:schemeClr val="bg1"/>
                </a:solidFill>
              </a:rPr>
              <a:t>Questions and discussion</a:t>
            </a:r>
            <a:endParaRPr lang="en-US" sz="1600" dirty="0"/>
          </a:p>
        </p:txBody>
      </p:sp>
      <p:sp>
        <p:nvSpPr>
          <p:cNvPr id="10" name="Text 7"/>
          <p:cNvSpPr txBox="1"/>
          <p:nvPr/>
        </p:nvSpPr>
        <p:spPr>
          <a:xfrm>
            <a:off x="8001000" y="4297680"/>
            <a:ext cx="3776472" cy="320040"/>
          </a:xfrm>
          <a:prstGeom prst="rect">
            <a:avLst/>
          </a:prstGeom>
          <a:noFill/>
          <a:ln/>
        </p:spPr>
        <p:txBody>
          <a:bodyPr wrap="square" lIns="0" tIns="0" rIns="0" bIns="0" rtlCol="0" anchor="t"/>
          <a:lstStyle/>
          <a:p>
            <a:pPr algn="ctr" indent="0" marL="0">
              <a:buNone/>
            </a:pPr>
            <a:r>
              <a:rPr lang="en-US" sz="1300" b="1" dirty="0">
                <a:solidFill>
                  <a:srgbClr val="BDDBF0"/>
                </a:solidFill>
              </a:rPr>
              <a:t>Working Group-3  |  Section O1</a:t>
            </a:r>
            <a:endParaRPr lang="en-US" sz="1300" dirty="0"/>
          </a:p>
        </p:txBody>
      </p:sp>
      <p:sp>
        <p:nvSpPr>
          <p:cNvPr id="11" name="Text 8"/>
          <p:cNvSpPr txBox="1"/>
          <p:nvPr/>
        </p:nvSpPr>
        <p:spPr>
          <a:xfrm>
            <a:off x="8229600" y="4663440"/>
            <a:ext cx="3319272" cy="822960"/>
          </a:xfrm>
          <a:prstGeom prst="rect">
            <a:avLst/>
          </a:prstGeom>
          <a:noFill/>
          <a:ln/>
        </p:spPr>
        <p:txBody>
          <a:bodyPr wrap="square" lIns="0" tIns="0" rIns="0" bIns="0" rtlCol="0" anchor="t"/>
          <a:lstStyle/>
          <a:p>
            <a:pPr algn="ctr" indent="0" marL="0">
              <a:buNone/>
            </a:pPr>
            <a:r>
              <a:rPr lang="en-US" sz="1150" dirty="0">
                <a:solidFill>
                  <a:schemeClr val="bg1"/>
                </a:solidFill>
              </a:rPr>
              <a:t>Arpit Shukla · Yash Vardhan Chauhan · Tasleen Kaur · Naman Khatri · Manu R · Abhinav Dongre</a:t>
            </a:r>
            <a:endParaRPr lang="en-US" sz="1150" dirty="0"/>
          </a:p>
        </p:txBody>
      </p:sp>
      <p:sp>
        <p:nvSpPr>
          <p:cNvPr id="25" name="Slide Number Placeholder 0"/>
          <p:cNvSpPr>
            <a:spLocks noGrp="1"/>
          </p:cNvSpPr>
          <p:nvPr>
            <p:ph type="sldNum" sz="quarter" idx="4294967295"/>
          </p:nvPr>
        </p:nvSpPr>
        <p:spPr>
          <a:xfrm>
            <a:off x="11384280" y="6661404"/>
            <a:ext cx="548640" cy="17373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000000"/>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BOE Case Study">
  <a:themeElements>
    <a:clrScheme name="BOE Case Study">
      <a:dk1>
        <a:srgbClr val="1F1F1F"/>
      </a:dk1>
      <a:lt1>
        <a:srgbClr val="FFFFFF"/>
      </a:lt1>
      <a:dk2>
        <a:srgbClr val="13426C"/>
      </a:dk2>
      <a:lt2>
        <a:srgbClr val="EAF3FA"/>
      </a:lt2>
      <a:accent1>
        <a:srgbClr val="1582C5"/>
      </a:accent1>
      <a:accent2>
        <a:srgbClr val="00B0F0"/>
      </a:accent2>
      <a:accent3>
        <a:srgbClr val="0E4C8B"/>
      </a:accent3>
      <a:accent4>
        <a:srgbClr val="3C9DB8"/>
      </a:accent4>
      <a:accent5>
        <a:srgbClr val="C8560D"/>
      </a:accent5>
      <a:accent6>
        <a:srgbClr val="2E7D4F"/>
      </a:accent6>
      <a:hlink>
        <a:srgbClr val="1582C5"/>
      </a:hlink>
      <a:folHlink>
        <a:srgbClr val="13426C"/>
      </a:folHlink>
    </a:clrScheme>
    <a:fontScheme name="BOE Case Study">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Thrustmaster — Lean Transformation (Case Study 3, WG-3)</dc:title>
  <dc:subject>Business Operations Excellence — Lean Manufacturing + Flow + Standard Work</dc:subject>
  <dc:creator>Working Group-3, Section O1</dc:creator>
  <cp:lastModifiedBy>Working Group-3, Section O1</cp:lastModifiedBy>
  <cp:revision>1</cp:revision>
  <dcterms:created xsi:type="dcterms:W3CDTF">2026-10-26T07:02:05Z</dcterms:created>
  <dcterms:modified xsi:type="dcterms:W3CDTF">2026-10-26T07:02:05Z</dcterms:modified>
</cp:coreProperties>
</file>